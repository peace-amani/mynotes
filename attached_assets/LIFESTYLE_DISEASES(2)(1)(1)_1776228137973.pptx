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696" r:id="rId4"/>
  </p:sldMasterIdLst>
  <p:notesMasterIdLst>
    <p:notesMasterId r:id="rId185"/>
  </p:notesMasterIdLst>
  <p:sldIdLst>
    <p:sldId id="257" r:id="rId5"/>
    <p:sldId id="258" r:id="rId6"/>
    <p:sldId id="259" r:id="rId7"/>
    <p:sldId id="260" r:id="rId8"/>
    <p:sldId id="261" r:id="rId9"/>
    <p:sldId id="262" r:id="rId10"/>
    <p:sldId id="263" r:id="rId11"/>
    <p:sldId id="264" r:id="rId12"/>
    <p:sldId id="266" r:id="rId13"/>
    <p:sldId id="267" r:id="rId14"/>
    <p:sldId id="268" r:id="rId15"/>
    <p:sldId id="270" r:id="rId16"/>
    <p:sldId id="271" r:id="rId17"/>
    <p:sldId id="272"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 id="287" r:id="rId32"/>
    <p:sldId id="288" r:id="rId33"/>
    <p:sldId id="290" r:id="rId34"/>
    <p:sldId id="291"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277" r:id="rId50"/>
    <p:sldId id="307" r:id="rId51"/>
    <p:sldId id="308" r:id="rId52"/>
    <p:sldId id="309" r:id="rId53"/>
    <p:sldId id="310" r:id="rId54"/>
    <p:sldId id="311" r:id="rId55"/>
    <p:sldId id="312" r:id="rId56"/>
    <p:sldId id="313" r:id="rId57"/>
    <p:sldId id="314" r:id="rId58"/>
    <p:sldId id="265" r:id="rId59"/>
    <p:sldId id="315" r:id="rId60"/>
    <p:sldId id="316" r:id="rId61"/>
    <p:sldId id="317" r:id="rId62"/>
    <p:sldId id="269" r:id="rId63"/>
    <p:sldId id="256"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289" r:id="rId94"/>
    <p:sldId id="347" r:id="rId95"/>
    <p:sldId id="348" r:id="rId96"/>
    <p:sldId id="349" r:id="rId97"/>
    <p:sldId id="292"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 id="405" r:id="rId154"/>
    <p:sldId id="406" r:id="rId155"/>
    <p:sldId id="407" r:id="rId156"/>
    <p:sldId id="408" r:id="rId157"/>
    <p:sldId id="409" r:id="rId158"/>
    <p:sldId id="410" r:id="rId159"/>
    <p:sldId id="411" r:id="rId160"/>
    <p:sldId id="412" r:id="rId161"/>
    <p:sldId id="413" r:id="rId162"/>
    <p:sldId id="414" r:id="rId163"/>
    <p:sldId id="415" r:id="rId164"/>
    <p:sldId id="416" r:id="rId165"/>
    <p:sldId id="417" r:id="rId166"/>
    <p:sldId id="418" r:id="rId167"/>
    <p:sldId id="419" r:id="rId168"/>
    <p:sldId id="420" r:id="rId169"/>
    <p:sldId id="421" r:id="rId170"/>
    <p:sldId id="422" r:id="rId171"/>
    <p:sldId id="423" r:id="rId172"/>
    <p:sldId id="424" r:id="rId173"/>
    <p:sldId id="425" r:id="rId174"/>
    <p:sldId id="426" r:id="rId175"/>
    <p:sldId id="427" r:id="rId176"/>
    <p:sldId id="428" r:id="rId177"/>
    <p:sldId id="429" r:id="rId178"/>
    <p:sldId id="430" r:id="rId179"/>
    <p:sldId id="431" r:id="rId180"/>
    <p:sldId id="432" r:id="rId181"/>
    <p:sldId id="433" r:id="rId182"/>
    <p:sldId id="434" r:id="rId183"/>
    <p:sldId id="435" r:id="rId184"/>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42" y="8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183" Type="http://schemas.openxmlformats.org/officeDocument/2006/relationships/slide" Target="slides/slide179.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tableStyles" Target="tableStyles.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80" Type="http://schemas.openxmlformats.org/officeDocument/2006/relationships/slide" Target="slides/slide176.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presProps" Target="pres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viewProps" Target="viewProps.xml"/><Relationship Id="rId1" Type="http://schemas.openxmlformats.org/officeDocument/2006/relationships/slideMaster" Target="slideMasters/slideMaster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B9DE5C-1AA1-43DD-97CD-EF164406EEB5}" type="datetimeFigureOut">
              <a:rPr lang="en-KE" smtClean="0"/>
              <a:t>10/25/2024</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093F28-1742-45AC-B86A-62D5AF7C9604}" type="slidenum">
              <a:rPr lang="en-KE" smtClean="0"/>
              <a:t>‹#›</a:t>
            </a:fld>
            <a:endParaRPr lang="en-KE"/>
          </a:p>
        </p:txBody>
      </p:sp>
    </p:spTree>
    <p:extLst>
      <p:ext uri="{BB962C8B-B14F-4D97-AF65-F5344CB8AC3E}">
        <p14:creationId xmlns:p14="http://schemas.microsoft.com/office/powerpoint/2010/main" val="1624494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87FFB558-5F0B-4EC6-B6E9-515327CF60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B432C6C9-BA18-414E-B49B-E0D4E0C4BA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[JF Jekel, Epidemiology, Biostatistics, and Preventive Medicine, 1996]</a:t>
            </a:r>
            <a:endParaRPr lang="en-US" altLang="en-US" sz="1000"/>
          </a:p>
          <a:p>
            <a:pPr eaLnBrk="1" hangingPunct="1">
              <a:spcBef>
                <a:spcPct val="0"/>
              </a:spcBef>
            </a:pPr>
            <a:endParaRPr lang="en-US" altLang="en-US"/>
          </a:p>
        </p:txBody>
      </p:sp>
      <p:sp>
        <p:nvSpPr>
          <p:cNvPr id="47108" name="Slide Number Placeholder 3">
            <a:extLst>
              <a:ext uri="{FF2B5EF4-FFF2-40B4-BE49-F238E27FC236}">
                <a16:creationId xmlns:a16="http://schemas.microsoft.com/office/drawing/2014/main" id="{A007FDE2-9F8E-493B-8793-8E321BBEEAD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17D3743-7F19-4AFC-BED3-DEA1D5FCD8D6}"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144</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wmf"/><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24A75BA-BC84-4EDF-ADF8-46628E020293}"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2865566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4A75BA-BC84-4EDF-ADF8-46628E020293}"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1416478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24A75BA-BC84-4EDF-ADF8-46628E020293}"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2219318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4A75BA-BC84-4EDF-ADF8-46628E020293}" type="datetimeFigureOut">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1202212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4A75BA-BC84-4EDF-ADF8-46628E020293}" type="datetimeFigureOut">
              <a:rPr lang="en-US" smtClean="0"/>
              <a:t>10/25/2024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2586742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4A75BA-BC84-4EDF-ADF8-46628E020293}" type="datetimeFigureOut">
              <a:rPr lang="en-US" smtClean="0"/>
              <a:t>10/25/2024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199695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4A75BA-BC84-4EDF-ADF8-46628E020293}" type="datetimeFigureOut">
              <a:rPr lang="en-US" smtClean="0"/>
              <a:t>10/25/2024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426068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24A75BA-BC84-4EDF-ADF8-46628E020293}" type="datetimeFigureOut">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2044351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24A75BA-BC84-4EDF-ADF8-46628E020293}" type="datetimeFigureOut">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3825832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4A75BA-BC84-4EDF-ADF8-46628E020293}"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86051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4A75BA-BC84-4EDF-ADF8-46628E020293}"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3DA461-72FE-4F18-9DEE-A180F13A51E7}" type="slidenum">
              <a:rPr lang="en-US" smtClean="0"/>
              <a:t>‹#›</a:t>
            </a:fld>
            <a:endParaRPr lang="en-US"/>
          </a:p>
        </p:txBody>
      </p:sp>
    </p:spTree>
    <p:extLst>
      <p:ext uri="{BB962C8B-B14F-4D97-AF65-F5344CB8AC3E}">
        <p14:creationId xmlns:p14="http://schemas.microsoft.com/office/powerpoint/2010/main" val="21319440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A24F56-63D7-4A7F-856C-3EB94931626C}"/>
              </a:ext>
            </a:extLst>
          </p:cNvPr>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sz="1800"/>
          </a:p>
        </p:txBody>
      </p:sp>
      <p:sp useBgFill="1">
        <p:nvSpPr>
          <p:cNvPr id="5" name="Rounded Rectangle 10">
            <a:extLst>
              <a:ext uri="{FF2B5EF4-FFF2-40B4-BE49-F238E27FC236}">
                <a16:creationId xmlns:a16="http://schemas.microsoft.com/office/drawing/2014/main" id="{C66970A4-B0B1-4A03-9F6F-BBD5598863C4}"/>
              </a:ext>
            </a:extLst>
          </p:cNvPr>
          <p:cNvSpPr/>
          <p:nvPr/>
        </p:nvSpPr>
        <p:spPr>
          <a:xfrm>
            <a:off x="86785" y="69851"/>
            <a:ext cx="12018433"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sz="1800"/>
          </a:p>
        </p:txBody>
      </p:sp>
      <p:sp>
        <p:nvSpPr>
          <p:cNvPr id="6" name="Rectangle 5">
            <a:extLst>
              <a:ext uri="{FF2B5EF4-FFF2-40B4-BE49-F238E27FC236}">
                <a16:creationId xmlns:a16="http://schemas.microsoft.com/office/drawing/2014/main" id="{D3032C45-1E0A-4F03-89AF-901B7115A76A}"/>
              </a:ext>
            </a:extLst>
          </p:cNvPr>
          <p:cNvSpPr/>
          <p:nvPr/>
        </p:nvSpPr>
        <p:spPr>
          <a:xfrm>
            <a:off x="84667" y="1449389"/>
            <a:ext cx="12026900"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7" name="Rectangle 6">
            <a:extLst>
              <a:ext uri="{FF2B5EF4-FFF2-40B4-BE49-F238E27FC236}">
                <a16:creationId xmlns:a16="http://schemas.microsoft.com/office/drawing/2014/main" id="{91CDC395-8B82-4E3E-8A31-2E596054FB01}"/>
              </a:ext>
            </a:extLst>
          </p:cNvPr>
          <p:cNvSpPr/>
          <p:nvPr/>
        </p:nvSpPr>
        <p:spPr>
          <a:xfrm>
            <a:off x="84667" y="1397000"/>
            <a:ext cx="12026900"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10" name="Rectangle 9">
            <a:extLst>
              <a:ext uri="{FF2B5EF4-FFF2-40B4-BE49-F238E27FC236}">
                <a16:creationId xmlns:a16="http://schemas.microsoft.com/office/drawing/2014/main" id="{9ED2B9E9-EC04-42FA-AC49-E1D1246D174E}"/>
              </a:ext>
            </a:extLst>
          </p:cNvPr>
          <p:cNvSpPr/>
          <p:nvPr/>
        </p:nvSpPr>
        <p:spPr>
          <a:xfrm>
            <a:off x="84667" y="2976564"/>
            <a:ext cx="12026900"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a:extLst>
              <a:ext uri="{FF2B5EF4-FFF2-40B4-BE49-F238E27FC236}">
                <a16:creationId xmlns:a16="http://schemas.microsoft.com/office/drawing/2014/main" id="{A225B62D-B7CA-49EF-93C1-58C8B237F4A2}"/>
              </a:ext>
            </a:extLst>
          </p:cNvPr>
          <p:cNvSpPr>
            <a:spLocks noGrp="1"/>
          </p:cNvSpPr>
          <p:nvPr>
            <p:ph type="dt" sz="half" idx="10"/>
          </p:nvPr>
        </p:nvSpPr>
        <p:spPr/>
        <p:txBody>
          <a:bodyPr/>
          <a:lstStyle>
            <a:lvl1pPr>
              <a:defRPr/>
            </a:lvl1pPr>
          </a:lstStyle>
          <a:p>
            <a:pPr>
              <a:defRPr/>
            </a:pPr>
            <a:fld id="{EACF2CF4-CA08-4632-A06A-405A613DD0AE}" type="datetimeFigureOut">
              <a:rPr lang="en-US"/>
              <a:pPr>
                <a:defRPr/>
              </a:pPr>
              <a:t>10/25/2024</a:t>
            </a:fld>
            <a:endParaRPr lang="en-US"/>
          </a:p>
        </p:txBody>
      </p:sp>
      <p:sp>
        <p:nvSpPr>
          <p:cNvPr id="12" name="Footer Placeholder 16">
            <a:extLst>
              <a:ext uri="{FF2B5EF4-FFF2-40B4-BE49-F238E27FC236}">
                <a16:creationId xmlns:a16="http://schemas.microsoft.com/office/drawing/2014/main" id="{DEA7C52C-6163-4146-9CFE-6F5A1F0ABB82}"/>
              </a:ext>
            </a:extLst>
          </p:cNvPr>
          <p:cNvSpPr>
            <a:spLocks noGrp="1"/>
          </p:cNvSpPr>
          <p:nvPr>
            <p:ph type="ftr" sz="quarter" idx="11"/>
          </p:nvPr>
        </p:nvSpPr>
        <p:spPr/>
        <p:txBody>
          <a:bodyPr/>
          <a:lstStyle>
            <a:lvl1pPr>
              <a:defRPr/>
            </a:lvl1pPr>
          </a:lstStyle>
          <a:p>
            <a:pPr>
              <a:defRPr/>
            </a:pPr>
            <a:endParaRPr lang="en-US"/>
          </a:p>
        </p:txBody>
      </p:sp>
      <p:sp>
        <p:nvSpPr>
          <p:cNvPr id="13" name="Slide Number Placeholder 28">
            <a:extLst>
              <a:ext uri="{FF2B5EF4-FFF2-40B4-BE49-F238E27FC236}">
                <a16:creationId xmlns:a16="http://schemas.microsoft.com/office/drawing/2014/main" id="{5BD61639-CD0C-46CB-9BED-7289AEA6D2E7}"/>
              </a:ext>
            </a:extLst>
          </p:cNvPr>
          <p:cNvSpPr>
            <a:spLocks noGrp="1"/>
          </p:cNvSpPr>
          <p:nvPr>
            <p:ph type="sldNum" sz="quarter" idx="12"/>
          </p:nvPr>
        </p:nvSpPr>
        <p:spPr/>
        <p:txBody>
          <a:bodyPr/>
          <a:lstStyle>
            <a:lvl1pPr>
              <a:defRPr/>
            </a:lvl1pPr>
          </a:lstStyle>
          <a:p>
            <a:fld id="{FB8D2275-61F1-4BC2-9CC4-4FCE3FF515BC}" type="slidenum">
              <a:rPr lang="en-US" altLang="en-US"/>
              <a:pPr/>
              <a:t>‹#›</a:t>
            </a:fld>
            <a:endParaRPr lang="en-US" altLang="en-US"/>
          </a:p>
        </p:txBody>
      </p:sp>
    </p:spTree>
    <p:extLst>
      <p:ext uri="{BB962C8B-B14F-4D97-AF65-F5344CB8AC3E}">
        <p14:creationId xmlns:p14="http://schemas.microsoft.com/office/powerpoint/2010/main" val="149720407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1219200" y="1447800"/>
            <a:ext cx="10363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5238997D-0343-44C8-A72B-EDD4599519C5}"/>
              </a:ext>
            </a:extLst>
          </p:cNvPr>
          <p:cNvSpPr>
            <a:spLocks noGrp="1"/>
          </p:cNvSpPr>
          <p:nvPr>
            <p:ph type="dt" sz="half" idx="10"/>
          </p:nvPr>
        </p:nvSpPr>
        <p:spPr/>
        <p:txBody>
          <a:bodyPr/>
          <a:lstStyle>
            <a:lvl1pPr>
              <a:defRPr/>
            </a:lvl1pPr>
          </a:lstStyle>
          <a:p>
            <a:pPr>
              <a:defRPr/>
            </a:pPr>
            <a:fld id="{BF03A62F-8FE5-4367-92C0-16EA4C916EDE}" type="datetimeFigureOut">
              <a:rPr lang="en-US"/>
              <a:pPr>
                <a:defRPr/>
              </a:pPr>
              <a:t>10/25/2024</a:t>
            </a:fld>
            <a:endParaRPr lang="en-US"/>
          </a:p>
        </p:txBody>
      </p:sp>
      <p:sp>
        <p:nvSpPr>
          <p:cNvPr id="5" name="Footer Placeholder 2">
            <a:extLst>
              <a:ext uri="{FF2B5EF4-FFF2-40B4-BE49-F238E27FC236}">
                <a16:creationId xmlns:a16="http://schemas.microsoft.com/office/drawing/2014/main" id="{464E6526-9745-4FD1-AFD9-C23A5B8F3DA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79BC1AC9-3362-4BC6-9F9F-28B702DADF89}"/>
              </a:ext>
            </a:extLst>
          </p:cNvPr>
          <p:cNvSpPr>
            <a:spLocks noGrp="1"/>
          </p:cNvSpPr>
          <p:nvPr>
            <p:ph type="sldNum" sz="quarter" idx="12"/>
          </p:nvPr>
        </p:nvSpPr>
        <p:spPr/>
        <p:txBody>
          <a:bodyPr/>
          <a:lstStyle>
            <a:lvl1pPr>
              <a:defRPr/>
            </a:lvl1pPr>
          </a:lstStyle>
          <a:p>
            <a:fld id="{9CC3B899-2149-4E6E-90F3-DCDB26057E5A}" type="slidenum">
              <a:rPr lang="en-US" altLang="en-US"/>
              <a:pPr/>
              <a:t>‹#›</a:t>
            </a:fld>
            <a:endParaRPr lang="en-US" altLang="en-US"/>
          </a:p>
        </p:txBody>
      </p:sp>
    </p:spTree>
    <p:extLst>
      <p:ext uri="{BB962C8B-B14F-4D97-AF65-F5344CB8AC3E}">
        <p14:creationId xmlns:p14="http://schemas.microsoft.com/office/powerpoint/2010/main" val="287667549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E3A0B06-6F28-478A-A3A1-63407CF2128B}"/>
              </a:ext>
            </a:extLst>
          </p:cNvPr>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sz="1800"/>
          </a:p>
        </p:txBody>
      </p:sp>
      <p:sp useBgFill="1">
        <p:nvSpPr>
          <p:cNvPr id="5" name="Rounded Rectangle 10">
            <a:extLst>
              <a:ext uri="{FF2B5EF4-FFF2-40B4-BE49-F238E27FC236}">
                <a16:creationId xmlns:a16="http://schemas.microsoft.com/office/drawing/2014/main" id="{A3381C45-562B-463A-8A7C-F4FA9E8B53A6}"/>
              </a:ext>
            </a:extLst>
          </p:cNvPr>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hangingPunct="1">
              <a:defRPr/>
            </a:pPr>
            <a:endParaRPr lang="en-US" sz="1800"/>
          </a:p>
        </p:txBody>
      </p:sp>
      <p:sp>
        <p:nvSpPr>
          <p:cNvPr id="6" name="Rectangle 5">
            <a:extLst>
              <a:ext uri="{FF2B5EF4-FFF2-40B4-BE49-F238E27FC236}">
                <a16:creationId xmlns:a16="http://schemas.microsoft.com/office/drawing/2014/main" id="{8934C84E-9BE2-40D1-A358-B981D5236F01}"/>
              </a:ext>
            </a:extLst>
          </p:cNvPr>
          <p:cNvSpPr/>
          <p:nvPr/>
        </p:nvSpPr>
        <p:spPr>
          <a:xfrm flipV="1">
            <a:off x="93134" y="2376489"/>
            <a:ext cx="12018433"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7" name="Rectangle 6">
            <a:extLst>
              <a:ext uri="{FF2B5EF4-FFF2-40B4-BE49-F238E27FC236}">
                <a16:creationId xmlns:a16="http://schemas.microsoft.com/office/drawing/2014/main" id="{9782BE20-6E14-4B25-B65C-8C782734259E}"/>
              </a:ext>
            </a:extLst>
          </p:cNvPr>
          <p:cNvSpPr/>
          <p:nvPr/>
        </p:nvSpPr>
        <p:spPr>
          <a:xfrm>
            <a:off x="93134" y="2341564"/>
            <a:ext cx="12018433"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8" name="Rectangle 7">
            <a:extLst>
              <a:ext uri="{FF2B5EF4-FFF2-40B4-BE49-F238E27FC236}">
                <a16:creationId xmlns:a16="http://schemas.microsoft.com/office/drawing/2014/main" id="{A09B3BA8-0169-45B1-9D4D-B9D74D5F83D2}"/>
              </a:ext>
            </a:extLst>
          </p:cNvPr>
          <p:cNvSpPr/>
          <p:nvPr/>
        </p:nvSpPr>
        <p:spPr>
          <a:xfrm>
            <a:off x="91018" y="2468564"/>
            <a:ext cx="12020549"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2" name="Title 1"/>
          <p:cNvSpPr>
            <a:spLocks noGrp="1"/>
          </p:cNvSpPr>
          <p:nvPr>
            <p:ph type="title"/>
          </p:nvPr>
        </p:nvSpPr>
        <p:spPr>
          <a:xfrm>
            <a:off x="963084" y="952501"/>
            <a:ext cx="103632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963084" y="2547938"/>
            <a:ext cx="103632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CA5E0621-1A0C-4E01-8FE5-D7FB2C5FB468}"/>
              </a:ext>
            </a:extLst>
          </p:cNvPr>
          <p:cNvSpPr>
            <a:spLocks noGrp="1"/>
          </p:cNvSpPr>
          <p:nvPr>
            <p:ph type="dt" sz="half" idx="10"/>
          </p:nvPr>
        </p:nvSpPr>
        <p:spPr/>
        <p:txBody>
          <a:bodyPr/>
          <a:lstStyle>
            <a:lvl1pPr>
              <a:defRPr/>
            </a:lvl1pPr>
          </a:lstStyle>
          <a:p>
            <a:pPr>
              <a:defRPr/>
            </a:pPr>
            <a:fld id="{8A82D46C-AF54-45D4-B274-A25D1457D38C}" type="datetimeFigureOut">
              <a:rPr lang="en-US"/>
              <a:pPr>
                <a:defRPr/>
              </a:pPr>
              <a:t>10/25/2024</a:t>
            </a:fld>
            <a:endParaRPr lang="en-US"/>
          </a:p>
        </p:txBody>
      </p:sp>
      <p:sp>
        <p:nvSpPr>
          <p:cNvPr id="10" name="Footer Placeholder 4">
            <a:extLst>
              <a:ext uri="{FF2B5EF4-FFF2-40B4-BE49-F238E27FC236}">
                <a16:creationId xmlns:a16="http://schemas.microsoft.com/office/drawing/2014/main" id="{229A802C-D5C8-4A2D-A6A1-CDFA62893149}"/>
              </a:ext>
            </a:extLst>
          </p:cNvPr>
          <p:cNvSpPr>
            <a:spLocks noGrp="1"/>
          </p:cNvSpPr>
          <p:nvPr>
            <p:ph type="ftr" sz="quarter" idx="11"/>
          </p:nvPr>
        </p:nvSpPr>
        <p:spPr>
          <a:xfrm>
            <a:off x="1066800" y="6172200"/>
            <a:ext cx="5334000" cy="457200"/>
          </a:xfrm>
        </p:spPr>
        <p:txBody>
          <a:bodyPr/>
          <a:lstStyle>
            <a:lvl1pPr>
              <a:defRPr/>
            </a:lvl1pPr>
          </a:lstStyle>
          <a:p>
            <a:pPr>
              <a:defRPr/>
            </a:pPr>
            <a:endParaRPr lang="en-US"/>
          </a:p>
        </p:txBody>
      </p:sp>
      <p:sp>
        <p:nvSpPr>
          <p:cNvPr id="11" name="Slide Number Placeholder 5">
            <a:extLst>
              <a:ext uri="{FF2B5EF4-FFF2-40B4-BE49-F238E27FC236}">
                <a16:creationId xmlns:a16="http://schemas.microsoft.com/office/drawing/2014/main" id="{10ECE68E-5F63-495A-8198-90403728AFD7}"/>
              </a:ext>
            </a:extLst>
          </p:cNvPr>
          <p:cNvSpPr>
            <a:spLocks noGrp="1"/>
          </p:cNvSpPr>
          <p:nvPr>
            <p:ph type="sldNum" sz="quarter" idx="12"/>
          </p:nvPr>
        </p:nvSpPr>
        <p:spPr>
          <a:xfrm>
            <a:off x="194733" y="6208713"/>
            <a:ext cx="609600" cy="457200"/>
          </a:xfrm>
        </p:spPr>
        <p:txBody>
          <a:bodyPr/>
          <a:lstStyle>
            <a:lvl1pPr>
              <a:defRPr/>
            </a:lvl1pPr>
          </a:lstStyle>
          <a:p>
            <a:fld id="{5B57C1F7-EF67-4F20-BDAD-C28CD5A9A867}" type="slidenum">
              <a:rPr lang="en-US" altLang="en-US"/>
              <a:pPr/>
              <a:t>‹#›</a:t>
            </a:fld>
            <a:endParaRPr lang="en-US" altLang="en-US"/>
          </a:p>
        </p:txBody>
      </p:sp>
    </p:spTree>
    <p:extLst>
      <p:ext uri="{BB962C8B-B14F-4D97-AF65-F5344CB8AC3E}">
        <p14:creationId xmlns:p14="http://schemas.microsoft.com/office/powerpoint/2010/main" val="413950402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12192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65786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F134D46F-F04F-4BE8-B23D-6E55E7393297}"/>
              </a:ext>
            </a:extLst>
          </p:cNvPr>
          <p:cNvSpPr>
            <a:spLocks noGrp="1"/>
          </p:cNvSpPr>
          <p:nvPr>
            <p:ph type="dt" sz="half" idx="10"/>
          </p:nvPr>
        </p:nvSpPr>
        <p:spPr/>
        <p:txBody>
          <a:bodyPr/>
          <a:lstStyle>
            <a:lvl1pPr>
              <a:defRPr/>
            </a:lvl1pPr>
          </a:lstStyle>
          <a:p>
            <a:pPr>
              <a:defRPr/>
            </a:pPr>
            <a:fld id="{F6577771-09FC-43F0-8B86-CBCF0A44BEC3}" type="datetimeFigureOut">
              <a:rPr lang="en-US"/>
              <a:pPr>
                <a:defRPr/>
              </a:pPr>
              <a:t>10/25/2024</a:t>
            </a:fld>
            <a:endParaRPr lang="en-US"/>
          </a:p>
        </p:txBody>
      </p:sp>
      <p:sp>
        <p:nvSpPr>
          <p:cNvPr id="6" name="Footer Placeholder 2">
            <a:extLst>
              <a:ext uri="{FF2B5EF4-FFF2-40B4-BE49-F238E27FC236}">
                <a16:creationId xmlns:a16="http://schemas.microsoft.com/office/drawing/2014/main" id="{2EE7F1E6-3FF3-42FB-B42B-27573C77EE1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407D1580-2375-4344-B6A7-60FF6422B436}"/>
              </a:ext>
            </a:extLst>
          </p:cNvPr>
          <p:cNvSpPr>
            <a:spLocks noGrp="1"/>
          </p:cNvSpPr>
          <p:nvPr>
            <p:ph type="sldNum" sz="quarter" idx="12"/>
          </p:nvPr>
        </p:nvSpPr>
        <p:spPr/>
        <p:txBody>
          <a:bodyPr/>
          <a:lstStyle>
            <a:lvl1pPr>
              <a:defRPr/>
            </a:lvl1pPr>
          </a:lstStyle>
          <a:p>
            <a:fld id="{45CCDC95-42CB-4D22-B840-5A8E53F5DD28}" type="slidenum">
              <a:rPr lang="en-US" altLang="en-US"/>
              <a:pPr/>
              <a:t>‹#›</a:t>
            </a:fld>
            <a:endParaRPr lang="en-US" altLang="en-US"/>
          </a:p>
        </p:txBody>
      </p:sp>
    </p:spTree>
    <p:extLst>
      <p:ext uri="{BB962C8B-B14F-4D97-AF65-F5344CB8AC3E}">
        <p14:creationId xmlns:p14="http://schemas.microsoft.com/office/powerpoint/2010/main" val="169108168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C1E897F7-E8EA-40E3-B16C-EA94A737F45D}"/>
              </a:ext>
            </a:extLst>
          </p:cNvPr>
          <p:cNvSpPr>
            <a:spLocks noGrp="1"/>
          </p:cNvSpPr>
          <p:nvPr>
            <p:ph type="dt" sz="half" idx="10"/>
          </p:nvPr>
        </p:nvSpPr>
        <p:spPr/>
        <p:txBody>
          <a:bodyPr/>
          <a:lstStyle>
            <a:lvl1pPr>
              <a:defRPr/>
            </a:lvl1pPr>
          </a:lstStyle>
          <a:p>
            <a:pPr>
              <a:defRPr/>
            </a:pPr>
            <a:fld id="{D93B0447-2A7E-404C-8BEE-2BA81CE81A3E}" type="datetimeFigureOut">
              <a:rPr lang="en-US"/>
              <a:pPr>
                <a:defRPr/>
              </a:pPr>
              <a:t>10/25/2024</a:t>
            </a:fld>
            <a:endParaRPr lang="en-US"/>
          </a:p>
        </p:txBody>
      </p:sp>
      <p:sp>
        <p:nvSpPr>
          <p:cNvPr id="8" name="Footer Placeholder 2">
            <a:extLst>
              <a:ext uri="{FF2B5EF4-FFF2-40B4-BE49-F238E27FC236}">
                <a16:creationId xmlns:a16="http://schemas.microsoft.com/office/drawing/2014/main" id="{EEEF1DC2-CFC9-4E53-B0B2-92437B704A3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22">
            <a:extLst>
              <a:ext uri="{FF2B5EF4-FFF2-40B4-BE49-F238E27FC236}">
                <a16:creationId xmlns:a16="http://schemas.microsoft.com/office/drawing/2014/main" id="{ECFB2A65-D51B-4364-A79B-C82666D0FCD5}"/>
              </a:ext>
            </a:extLst>
          </p:cNvPr>
          <p:cNvSpPr>
            <a:spLocks noGrp="1"/>
          </p:cNvSpPr>
          <p:nvPr>
            <p:ph type="sldNum" sz="quarter" idx="12"/>
          </p:nvPr>
        </p:nvSpPr>
        <p:spPr/>
        <p:txBody>
          <a:bodyPr/>
          <a:lstStyle>
            <a:lvl1pPr>
              <a:defRPr/>
            </a:lvl1pPr>
          </a:lstStyle>
          <a:p>
            <a:fld id="{10366271-79A3-477C-98C8-3B76745E1664}" type="slidenum">
              <a:rPr lang="en-US" altLang="en-US"/>
              <a:pPr/>
              <a:t>‹#›</a:t>
            </a:fld>
            <a:endParaRPr lang="en-US" altLang="en-US"/>
          </a:p>
        </p:txBody>
      </p:sp>
    </p:spTree>
    <p:extLst>
      <p:ext uri="{BB962C8B-B14F-4D97-AF65-F5344CB8AC3E}">
        <p14:creationId xmlns:p14="http://schemas.microsoft.com/office/powerpoint/2010/main" val="417385223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AD4BF058-49DA-4D54-8A28-2E2DB31884C4}"/>
              </a:ext>
            </a:extLst>
          </p:cNvPr>
          <p:cNvSpPr>
            <a:spLocks noGrp="1"/>
          </p:cNvSpPr>
          <p:nvPr>
            <p:ph type="dt" sz="half" idx="10"/>
          </p:nvPr>
        </p:nvSpPr>
        <p:spPr/>
        <p:txBody>
          <a:bodyPr/>
          <a:lstStyle>
            <a:lvl1pPr>
              <a:defRPr/>
            </a:lvl1pPr>
          </a:lstStyle>
          <a:p>
            <a:pPr>
              <a:defRPr/>
            </a:pPr>
            <a:fld id="{C5588B31-D623-4E2F-AC4C-95165B9F527D}" type="datetimeFigureOut">
              <a:rPr lang="en-US"/>
              <a:pPr>
                <a:defRPr/>
              </a:pPr>
              <a:t>10/25/2024</a:t>
            </a:fld>
            <a:endParaRPr lang="en-US"/>
          </a:p>
        </p:txBody>
      </p:sp>
      <p:sp>
        <p:nvSpPr>
          <p:cNvPr id="4" name="Footer Placeholder 2">
            <a:extLst>
              <a:ext uri="{FF2B5EF4-FFF2-40B4-BE49-F238E27FC236}">
                <a16:creationId xmlns:a16="http://schemas.microsoft.com/office/drawing/2014/main" id="{1DFA7A12-643F-474E-B953-FDF17E72429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0543644A-BDB1-4360-AEDA-315806E0D8A4}"/>
              </a:ext>
            </a:extLst>
          </p:cNvPr>
          <p:cNvSpPr>
            <a:spLocks noGrp="1"/>
          </p:cNvSpPr>
          <p:nvPr>
            <p:ph type="sldNum" sz="quarter" idx="12"/>
          </p:nvPr>
        </p:nvSpPr>
        <p:spPr/>
        <p:txBody>
          <a:bodyPr/>
          <a:lstStyle>
            <a:lvl1pPr>
              <a:defRPr/>
            </a:lvl1pPr>
          </a:lstStyle>
          <a:p>
            <a:fld id="{39A7408F-A3A6-404C-BAA7-56F29AF1F7BE}" type="slidenum">
              <a:rPr lang="en-US" altLang="en-US"/>
              <a:pPr/>
              <a:t>‹#›</a:t>
            </a:fld>
            <a:endParaRPr lang="en-US" altLang="en-US"/>
          </a:p>
        </p:txBody>
      </p:sp>
    </p:spTree>
    <p:extLst>
      <p:ext uri="{BB962C8B-B14F-4D97-AF65-F5344CB8AC3E}">
        <p14:creationId xmlns:p14="http://schemas.microsoft.com/office/powerpoint/2010/main" val="344271367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CB609B04-A4E9-4680-A1F8-98B2BB00757D}"/>
              </a:ext>
            </a:extLst>
          </p:cNvPr>
          <p:cNvSpPr>
            <a:spLocks noGrp="1"/>
          </p:cNvSpPr>
          <p:nvPr>
            <p:ph type="dt" sz="half" idx="10"/>
          </p:nvPr>
        </p:nvSpPr>
        <p:spPr/>
        <p:txBody>
          <a:bodyPr/>
          <a:lstStyle>
            <a:lvl1pPr>
              <a:defRPr/>
            </a:lvl1pPr>
          </a:lstStyle>
          <a:p>
            <a:pPr>
              <a:defRPr/>
            </a:pPr>
            <a:fld id="{CF6A2A10-F54F-4FC0-BDA9-DACE44D94965}" type="datetimeFigureOut">
              <a:rPr lang="en-US"/>
              <a:pPr>
                <a:defRPr/>
              </a:pPr>
              <a:t>10/25/2024</a:t>
            </a:fld>
            <a:endParaRPr lang="en-US"/>
          </a:p>
        </p:txBody>
      </p:sp>
      <p:sp>
        <p:nvSpPr>
          <p:cNvPr id="3" name="Footer Placeholder 2">
            <a:extLst>
              <a:ext uri="{FF2B5EF4-FFF2-40B4-BE49-F238E27FC236}">
                <a16:creationId xmlns:a16="http://schemas.microsoft.com/office/drawing/2014/main" id="{54E2BBA5-FE7E-4524-96B1-ECED029CC33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D34BF08A-FE66-4844-B244-D932257CB86F}"/>
              </a:ext>
            </a:extLst>
          </p:cNvPr>
          <p:cNvSpPr>
            <a:spLocks noGrp="1"/>
          </p:cNvSpPr>
          <p:nvPr>
            <p:ph type="sldNum" sz="quarter" idx="12"/>
          </p:nvPr>
        </p:nvSpPr>
        <p:spPr/>
        <p:txBody>
          <a:bodyPr/>
          <a:lstStyle>
            <a:lvl1pPr>
              <a:defRPr/>
            </a:lvl1pPr>
          </a:lstStyle>
          <a:p>
            <a:fld id="{C03467E8-930B-4164-A17A-1EFB69983E77}" type="slidenum">
              <a:rPr lang="en-US" altLang="en-US"/>
              <a:pPr/>
              <a:t>‹#›</a:t>
            </a:fld>
            <a:endParaRPr lang="en-US" altLang="en-US"/>
          </a:p>
        </p:txBody>
      </p:sp>
    </p:spTree>
    <p:extLst>
      <p:ext uri="{BB962C8B-B14F-4D97-AF65-F5344CB8AC3E}">
        <p14:creationId xmlns:p14="http://schemas.microsoft.com/office/powerpoint/2010/main" val="62925061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FE1476-81A8-449F-B88D-5F35E6C7A60A}"/>
              </a:ext>
            </a:extLst>
          </p:cNvPr>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useBgFill="1">
        <p:nvSpPr>
          <p:cNvPr id="6" name="Rounded Rectangle 10">
            <a:extLst>
              <a:ext uri="{FF2B5EF4-FFF2-40B4-BE49-F238E27FC236}">
                <a16:creationId xmlns:a16="http://schemas.microsoft.com/office/drawing/2014/main" id="{AE2A18BC-83C3-4829-86C7-A4A88EE4D073}"/>
              </a:ext>
            </a:extLst>
          </p:cNvPr>
          <p:cNvSpPr/>
          <p:nvPr/>
        </p:nvSpPr>
        <p:spPr>
          <a:xfrm>
            <a:off x="84668" y="69850"/>
            <a:ext cx="12018433"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sz="1800"/>
          </a:p>
        </p:txBody>
      </p:sp>
      <p:sp>
        <p:nvSpPr>
          <p:cNvPr id="2" name="Title 1"/>
          <p:cNvSpPr>
            <a:spLocks noGrp="1"/>
          </p:cNvSpPr>
          <p:nvPr>
            <p:ph type="title"/>
          </p:nvPr>
        </p:nvSpPr>
        <p:spPr>
          <a:xfrm>
            <a:off x="1219200" y="273050"/>
            <a:ext cx="103632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3962400" y="1600200"/>
            <a:ext cx="7620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8CF8453B-7187-42B2-AFC5-30F1394A6EBF}"/>
              </a:ext>
            </a:extLst>
          </p:cNvPr>
          <p:cNvSpPr>
            <a:spLocks noGrp="1"/>
          </p:cNvSpPr>
          <p:nvPr>
            <p:ph type="dt" sz="half" idx="10"/>
          </p:nvPr>
        </p:nvSpPr>
        <p:spPr/>
        <p:txBody>
          <a:bodyPr/>
          <a:lstStyle>
            <a:lvl1pPr>
              <a:defRPr/>
            </a:lvl1pPr>
          </a:lstStyle>
          <a:p>
            <a:pPr>
              <a:defRPr/>
            </a:pPr>
            <a:fld id="{7A944875-68E7-4860-B386-E589997EBB2F}" type="datetimeFigureOut">
              <a:rPr lang="en-US"/>
              <a:pPr>
                <a:defRPr/>
              </a:pPr>
              <a:t>10/25/2024</a:t>
            </a:fld>
            <a:endParaRPr lang="en-US"/>
          </a:p>
        </p:txBody>
      </p:sp>
      <p:sp>
        <p:nvSpPr>
          <p:cNvPr id="8" name="Footer Placeholder 5">
            <a:extLst>
              <a:ext uri="{FF2B5EF4-FFF2-40B4-BE49-F238E27FC236}">
                <a16:creationId xmlns:a16="http://schemas.microsoft.com/office/drawing/2014/main" id="{E878AA8D-BC99-420B-BC00-44A15A96299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E7A9320D-4C29-4373-BCA5-EA0128A0536F}"/>
              </a:ext>
            </a:extLst>
          </p:cNvPr>
          <p:cNvSpPr>
            <a:spLocks noGrp="1"/>
          </p:cNvSpPr>
          <p:nvPr>
            <p:ph type="sldNum" sz="quarter" idx="12"/>
          </p:nvPr>
        </p:nvSpPr>
        <p:spPr/>
        <p:txBody>
          <a:bodyPr/>
          <a:lstStyle>
            <a:lvl1pPr>
              <a:defRPr/>
            </a:lvl1pPr>
          </a:lstStyle>
          <a:p>
            <a:fld id="{007FD0F8-DFE3-47A8-83DA-C9571C496988}" type="slidenum">
              <a:rPr lang="en-US" altLang="en-US"/>
              <a:pPr/>
              <a:t>‹#›</a:t>
            </a:fld>
            <a:endParaRPr lang="en-US" altLang="en-US"/>
          </a:p>
        </p:txBody>
      </p:sp>
    </p:spTree>
    <p:extLst>
      <p:ext uri="{BB962C8B-B14F-4D97-AF65-F5344CB8AC3E}">
        <p14:creationId xmlns:p14="http://schemas.microsoft.com/office/powerpoint/2010/main" val="32434241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A651172-0A70-42BB-8CCC-5B7E8B5E3060}"/>
              </a:ext>
            </a:extLst>
          </p:cNvPr>
          <p:cNvSpPr/>
          <p:nvPr/>
        </p:nvSpPr>
        <p:spPr>
          <a:xfrm flipV="1">
            <a:off x="91018" y="4683126"/>
            <a:ext cx="12009967"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6" name="Rectangle 5">
            <a:extLst>
              <a:ext uri="{FF2B5EF4-FFF2-40B4-BE49-F238E27FC236}">
                <a16:creationId xmlns:a16="http://schemas.microsoft.com/office/drawing/2014/main" id="{0192B05E-DABE-4924-8B37-CA654DF2B282}"/>
              </a:ext>
            </a:extLst>
          </p:cNvPr>
          <p:cNvSpPr/>
          <p:nvPr/>
        </p:nvSpPr>
        <p:spPr>
          <a:xfrm>
            <a:off x="91018" y="4649789"/>
            <a:ext cx="12009967"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7" name="Rectangle 6">
            <a:extLst>
              <a:ext uri="{FF2B5EF4-FFF2-40B4-BE49-F238E27FC236}">
                <a16:creationId xmlns:a16="http://schemas.microsoft.com/office/drawing/2014/main" id="{7778FEE3-2770-4291-89F5-52CC9D8B1E8B}"/>
              </a:ext>
            </a:extLst>
          </p:cNvPr>
          <p:cNvSpPr/>
          <p:nvPr/>
        </p:nvSpPr>
        <p:spPr>
          <a:xfrm>
            <a:off x="91018" y="4773614"/>
            <a:ext cx="12009967"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CE1DBF85-755D-4156-BF52-8E6E99D0BB19}"/>
              </a:ext>
            </a:extLst>
          </p:cNvPr>
          <p:cNvSpPr>
            <a:spLocks noGrp="1"/>
          </p:cNvSpPr>
          <p:nvPr>
            <p:ph type="dt" sz="half" idx="10"/>
          </p:nvPr>
        </p:nvSpPr>
        <p:spPr/>
        <p:txBody>
          <a:bodyPr/>
          <a:lstStyle>
            <a:lvl1pPr>
              <a:defRPr/>
            </a:lvl1pPr>
          </a:lstStyle>
          <a:p>
            <a:pPr>
              <a:defRPr/>
            </a:pPr>
            <a:fld id="{7CB9AB41-B137-4ABF-9122-4F66AB17E389}" type="datetimeFigureOut">
              <a:rPr lang="en-US"/>
              <a:pPr>
                <a:defRPr/>
              </a:pPr>
              <a:t>10/25/2024</a:t>
            </a:fld>
            <a:endParaRPr lang="en-US"/>
          </a:p>
        </p:txBody>
      </p:sp>
      <p:sp>
        <p:nvSpPr>
          <p:cNvPr id="9" name="Footer Placeholder 5">
            <a:extLst>
              <a:ext uri="{FF2B5EF4-FFF2-40B4-BE49-F238E27FC236}">
                <a16:creationId xmlns:a16="http://schemas.microsoft.com/office/drawing/2014/main" id="{8729B5C6-BD97-46D8-AE2E-C165C4A02E2A}"/>
              </a:ext>
            </a:extLst>
          </p:cNvPr>
          <p:cNvSpPr>
            <a:spLocks noGrp="1"/>
          </p:cNvSpPr>
          <p:nvPr>
            <p:ph type="ftr" sz="quarter" idx="11"/>
          </p:nvPr>
        </p:nvSpPr>
        <p:spPr>
          <a:xfrm>
            <a:off x="1219200" y="6172200"/>
            <a:ext cx="5181600" cy="457200"/>
          </a:xfrm>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8D304BDB-AFAC-499A-829A-F687688B814E}"/>
              </a:ext>
            </a:extLst>
          </p:cNvPr>
          <p:cNvSpPr>
            <a:spLocks noGrp="1"/>
          </p:cNvSpPr>
          <p:nvPr>
            <p:ph type="sldNum" sz="quarter" idx="12"/>
          </p:nvPr>
        </p:nvSpPr>
        <p:spPr>
          <a:xfrm>
            <a:off x="194733" y="6208713"/>
            <a:ext cx="609600" cy="457200"/>
          </a:xfrm>
        </p:spPr>
        <p:txBody>
          <a:bodyPr/>
          <a:lstStyle>
            <a:lvl1pPr>
              <a:defRPr/>
            </a:lvl1pPr>
          </a:lstStyle>
          <a:p>
            <a:fld id="{E54F671A-F643-4072-963C-E347F092C48C}" type="slidenum">
              <a:rPr lang="en-US" altLang="en-US"/>
              <a:pPr/>
              <a:t>‹#›</a:t>
            </a:fld>
            <a:endParaRPr lang="en-US" altLang="en-US"/>
          </a:p>
        </p:txBody>
      </p:sp>
    </p:spTree>
    <p:extLst>
      <p:ext uri="{BB962C8B-B14F-4D97-AF65-F5344CB8AC3E}">
        <p14:creationId xmlns:p14="http://schemas.microsoft.com/office/powerpoint/2010/main" val="20184119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982E0EA9-21CC-41A7-B21D-8000794B00FD}"/>
              </a:ext>
            </a:extLst>
          </p:cNvPr>
          <p:cNvSpPr>
            <a:spLocks noGrp="1"/>
          </p:cNvSpPr>
          <p:nvPr>
            <p:ph type="dt" sz="half" idx="10"/>
          </p:nvPr>
        </p:nvSpPr>
        <p:spPr/>
        <p:txBody>
          <a:bodyPr/>
          <a:lstStyle>
            <a:lvl1pPr>
              <a:defRPr/>
            </a:lvl1pPr>
          </a:lstStyle>
          <a:p>
            <a:pPr>
              <a:defRPr/>
            </a:pPr>
            <a:fld id="{849DB8BC-3D03-4F8B-974D-91EFC67239EE}" type="datetimeFigureOut">
              <a:rPr lang="en-US"/>
              <a:pPr>
                <a:defRPr/>
              </a:pPr>
              <a:t>10/25/2024</a:t>
            </a:fld>
            <a:endParaRPr lang="en-US"/>
          </a:p>
        </p:txBody>
      </p:sp>
      <p:sp>
        <p:nvSpPr>
          <p:cNvPr id="5" name="Footer Placeholder 2">
            <a:extLst>
              <a:ext uri="{FF2B5EF4-FFF2-40B4-BE49-F238E27FC236}">
                <a16:creationId xmlns:a16="http://schemas.microsoft.com/office/drawing/2014/main" id="{D5D96958-FDDB-4F4E-8373-247AF5F6253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E799A9F8-0238-4E7D-858C-BA7EBFCCD471}"/>
              </a:ext>
            </a:extLst>
          </p:cNvPr>
          <p:cNvSpPr>
            <a:spLocks noGrp="1"/>
          </p:cNvSpPr>
          <p:nvPr>
            <p:ph type="sldNum" sz="quarter" idx="12"/>
          </p:nvPr>
        </p:nvSpPr>
        <p:spPr/>
        <p:txBody>
          <a:bodyPr/>
          <a:lstStyle>
            <a:lvl1pPr>
              <a:defRPr/>
            </a:lvl1pPr>
          </a:lstStyle>
          <a:p>
            <a:fld id="{ED702719-28BF-4C4C-B3C4-3B73467B5C7E}" type="slidenum">
              <a:rPr lang="en-US" altLang="en-US"/>
              <a:pPr/>
              <a:t>‹#›</a:t>
            </a:fld>
            <a:endParaRPr lang="en-US" altLang="en-US"/>
          </a:p>
        </p:txBody>
      </p:sp>
    </p:spTree>
    <p:extLst>
      <p:ext uri="{BB962C8B-B14F-4D97-AF65-F5344CB8AC3E}">
        <p14:creationId xmlns:p14="http://schemas.microsoft.com/office/powerpoint/2010/main" val="98858038"/>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BDAB19EA-C8D8-4332-B57C-4A3EA24D8724}"/>
              </a:ext>
            </a:extLst>
          </p:cNvPr>
          <p:cNvSpPr>
            <a:spLocks noGrp="1"/>
          </p:cNvSpPr>
          <p:nvPr>
            <p:ph type="dt" sz="half" idx="10"/>
          </p:nvPr>
        </p:nvSpPr>
        <p:spPr/>
        <p:txBody>
          <a:bodyPr/>
          <a:lstStyle>
            <a:lvl1pPr>
              <a:defRPr/>
            </a:lvl1pPr>
          </a:lstStyle>
          <a:p>
            <a:pPr>
              <a:defRPr/>
            </a:pPr>
            <a:fld id="{BE9A0179-A816-4C27-9D49-7386E0AF4833}" type="datetimeFigureOut">
              <a:rPr lang="en-US"/>
              <a:pPr>
                <a:defRPr/>
              </a:pPr>
              <a:t>10/25/2024</a:t>
            </a:fld>
            <a:endParaRPr lang="en-US"/>
          </a:p>
        </p:txBody>
      </p:sp>
      <p:sp>
        <p:nvSpPr>
          <p:cNvPr id="5" name="Footer Placeholder 2">
            <a:extLst>
              <a:ext uri="{FF2B5EF4-FFF2-40B4-BE49-F238E27FC236}">
                <a16:creationId xmlns:a16="http://schemas.microsoft.com/office/drawing/2014/main" id="{DE7C6CDE-95B1-4EEE-8A39-829D15B476D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8303B8E1-B416-4B9C-8349-00A67EE91993}"/>
              </a:ext>
            </a:extLst>
          </p:cNvPr>
          <p:cNvSpPr>
            <a:spLocks noGrp="1"/>
          </p:cNvSpPr>
          <p:nvPr>
            <p:ph type="sldNum" sz="quarter" idx="12"/>
          </p:nvPr>
        </p:nvSpPr>
        <p:spPr/>
        <p:txBody>
          <a:bodyPr/>
          <a:lstStyle>
            <a:lvl1pPr>
              <a:defRPr/>
            </a:lvl1pPr>
          </a:lstStyle>
          <a:p>
            <a:fld id="{0994DE6A-0686-4497-9E7A-FB5A0BE114D8}" type="slidenum">
              <a:rPr lang="en-US" altLang="en-US"/>
              <a:pPr/>
              <a:t>‹#›</a:t>
            </a:fld>
            <a:endParaRPr lang="en-US" altLang="en-US"/>
          </a:p>
        </p:txBody>
      </p:sp>
    </p:spTree>
    <p:extLst>
      <p:ext uri="{BB962C8B-B14F-4D97-AF65-F5344CB8AC3E}">
        <p14:creationId xmlns:p14="http://schemas.microsoft.com/office/powerpoint/2010/main" val="103871610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2628573-A3D1-40A4-A2CF-0D3496BAFA38}" type="datetime1">
              <a:rPr lang="en-US" smtClean="0"/>
              <a:t>10/25/2024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65E7C573-500D-4A75-B887-95D5BF23D10D}" type="slidenum">
              <a:rPr lang="en-US" smtClean="0"/>
              <a:pPr/>
              <a:t>‹#›</a:t>
            </a:fld>
            <a:endParaRPr lang="en-US"/>
          </a:p>
        </p:txBody>
      </p:sp>
    </p:spTree>
    <p:extLst>
      <p:ext uri="{BB962C8B-B14F-4D97-AF65-F5344CB8AC3E}">
        <p14:creationId xmlns:p14="http://schemas.microsoft.com/office/powerpoint/2010/main" val="10124269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3E5C50F-BBB9-412B-A15C-F613D6844981}" type="datetime1">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7C573-500D-4A75-B887-95D5BF23D10D}"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29909591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2484C-C2B4-4891-A2A4-9A8BCC1C94E0}" type="datetime1">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7C573-500D-4A75-B887-95D5BF23D10D}" type="slidenum">
              <a:rPr lang="en-US" smtClean="0"/>
              <a:pPr/>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3834266236"/>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2EF5BD6-993E-49DD-91B1-F36723A4F7F9}" type="datetime1">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E7C573-500D-4A75-B887-95D5BF23D10D}"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418179873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3D5F117B-F0CF-4A2A-8B49-F7B47F2DBC54}" type="datetime1">
              <a:rPr lang="en-US" smtClean="0"/>
              <a:t>10/25/2024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E7C573-500D-4A75-B887-95D5BF23D10D}" type="slidenum">
              <a:rPr lang="en-US" smtClean="0"/>
              <a:pPr/>
              <a:t>‹#›</a:t>
            </a:fld>
            <a:endParaRPr lang="en-US"/>
          </a:p>
        </p:txBody>
      </p:sp>
    </p:spTree>
    <p:extLst>
      <p:ext uri="{BB962C8B-B14F-4D97-AF65-F5344CB8AC3E}">
        <p14:creationId xmlns:p14="http://schemas.microsoft.com/office/powerpoint/2010/main" val="2728886317"/>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231465C-6651-4336-951D-858BFC9258B2}" type="datetime1">
              <a:rPr lang="en-US" smtClean="0"/>
              <a:t>10/25/2024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E7C573-500D-4A75-B887-95D5BF23D10D}"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3025188520"/>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D2B94C-FADB-47B2-B058-4F068CB15B4D}" type="datetime1">
              <a:rPr lang="en-US" smtClean="0"/>
              <a:t>10/25/2024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E7C573-500D-4A75-B887-95D5BF23D10D}" type="slidenum">
              <a:rPr lang="en-US" smtClean="0"/>
              <a:pPr/>
              <a:t>‹#›</a:t>
            </a:fld>
            <a:endParaRPr lang="en-US"/>
          </a:p>
        </p:txBody>
      </p:sp>
    </p:spTree>
    <p:extLst>
      <p:ext uri="{BB962C8B-B14F-4D97-AF65-F5344CB8AC3E}">
        <p14:creationId xmlns:p14="http://schemas.microsoft.com/office/powerpoint/2010/main" val="4682822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fld id="{E33C45F8-1568-4500-8005-C207FFE5E1E3}" type="datetime1">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E7C573-500D-4A75-B887-95D5BF23D10D}" type="slidenum">
              <a:rPr lang="en-US" smtClean="0"/>
              <a:pPr/>
              <a:t>‹#›</a:t>
            </a:fld>
            <a:endParaRPr lang="en-US"/>
          </a:p>
        </p:txBody>
      </p:sp>
    </p:spTree>
    <p:extLst>
      <p:ext uri="{BB962C8B-B14F-4D97-AF65-F5344CB8AC3E}">
        <p14:creationId xmlns:p14="http://schemas.microsoft.com/office/powerpoint/2010/main" val="3105215781"/>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38256022-5C16-4C5A-BB66-087A12316C3C}" type="datetime1">
              <a:rPr lang="en-US" smtClean="0"/>
              <a:t>10/25/2024</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65E7C573-500D-4A75-B887-95D5BF23D10D}" type="slidenum">
              <a:rPr lang="en-US" smtClean="0"/>
              <a:pPr/>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9" name="Freeform 8"/>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3563391083"/>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909BAAE-3207-4081-B7FE-204B56D60622}" type="datetime1">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7C573-500D-4A75-B887-95D5BF23D10D}" type="slidenum">
              <a:rPr lang="en-US" smtClean="0"/>
              <a:pPr/>
              <a:t>‹#›</a:t>
            </a:fld>
            <a:endParaRPr lang="en-US"/>
          </a:p>
        </p:txBody>
      </p:sp>
    </p:spTree>
    <p:extLst>
      <p:ext uri="{BB962C8B-B14F-4D97-AF65-F5344CB8AC3E}">
        <p14:creationId xmlns:p14="http://schemas.microsoft.com/office/powerpoint/2010/main" val="9234529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D029DCC-D552-4891-8134-A7CD9624051A}" type="datetime1">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7C573-500D-4A75-B887-95D5BF23D10D}" type="slidenum">
              <a:rPr lang="en-US" smtClean="0"/>
              <a:pPr/>
              <a:t>‹#›</a:t>
            </a:fld>
            <a:endParaRPr lang="en-US"/>
          </a:p>
        </p:txBody>
      </p:sp>
    </p:spTree>
    <p:extLst>
      <p:ext uri="{BB962C8B-B14F-4D97-AF65-F5344CB8AC3E}">
        <p14:creationId xmlns:p14="http://schemas.microsoft.com/office/powerpoint/2010/main" val="40132524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BAC391A9-6F1C-4B50-8535-D2DEB8C6F0D3}"/>
              </a:ext>
            </a:extLst>
          </p:cNvPr>
          <p:cNvGrpSpPr>
            <a:grpSpLocks/>
          </p:cNvGrpSpPr>
          <p:nvPr/>
        </p:nvGrpSpPr>
        <p:grpSpPr bwMode="auto">
          <a:xfrm>
            <a:off x="1" y="0"/>
            <a:ext cx="12213167" cy="6870700"/>
            <a:chOff x="0" y="0"/>
            <a:chExt cx="5770" cy="4328"/>
          </a:xfrm>
        </p:grpSpPr>
        <p:sp>
          <p:nvSpPr>
            <p:cNvPr id="5" name="Rectangle 3">
              <a:extLst>
                <a:ext uri="{FF2B5EF4-FFF2-40B4-BE49-F238E27FC236}">
                  <a16:creationId xmlns:a16="http://schemas.microsoft.com/office/drawing/2014/main" id="{E4A1E53B-27CC-4835-B973-7A1FCD1399DF}"/>
                </a:ext>
              </a:extLst>
            </p:cNvPr>
            <p:cNvSpPr>
              <a:spLocks noChangeArrowheads="1"/>
            </p:cNvSpPr>
            <p:nvPr/>
          </p:nvSpPr>
          <p:spPr bwMode="hidden">
            <a:xfrm>
              <a:off x="0" y="4186"/>
              <a:ext cx="5089" cy="142"/>
            </a:xfrm>
            <a:prstGeom prst="rect">
              <a:avLst/>
            </a:prstGeom>
            <a:gradFill rotWithShape="0">
              <a:gsLst>
                <a:gs pos="0">
                  <a:schemeClr val="bg1"/>
                </a:gs>
                <a:gs pos="100000">
                  <a:schemeClr val="bg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1800"/>
            </a:p>
          </p:txBody>
        </p:sp>
        <p:sp>
          <p:nvSpPr>
            <p:cNvPr id="6" name="Rectangle 4">
              <a:extLst>
                <a:ext uri="{FF2B5EF4-FFF2-40B4-BE49-F238E27FC236}">
                  <a16:creationId xmlns:a16="http://schemas.microsoft.com/office/drawing/2014/main" id="{4E6D5BA4-D3A2-4EE2-A161-364EFA5CEBEF}"/>
                </a:ext>
              </a:extLst>
            </p:cNvPr>
            <p:cNvSpPr>
              <a:spLocks noChangeArrowheads="1"/>
            </p:cNvSpPr>
            <p:nvPr/>
          </p:nvSpPr>
          <p:spPr bwMode="hidden">
            <a:xfrm>
              <a:off x="0" y="0"/>
              <a:ext cx="5089" cy="126"/>
            </a:xfrm>
            <a:prstGeom prst="rect">
              <a:avLst/>
            </a:pr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1800"/>
            </a:p>
          </p:txBody>
        </p:sp>
        <p:sp>
          <p:nvSpPr>
            <p:cNvPr id="7" name="Rectangle 5">
              <a:extLst>
                <a:ext uri="{FF2B5EF4-FFF2-40B4-BE49-F238E27FC236}">
                  <a16:creationId xmlns:a16="http://schemas.microsoft.com/office/drawing/2014/main" id="{D8F2217D-80B6-4D6B-AD44-4BBCC19B7A19}"/>
                </a:ext>
              </a:extLst>
            </p:cNvPr>
            <p:cNvSpPr>
              <a:spLocks noChangeArrowheads="1"/>
            </p:cNvSpPr>
            <p:nvPr/>
          </p:nvSpPr>
          <p:spPr bwMode="auto">
            <a:xfrm>
              <a:off x="5010" y="0"/>
              <a:ext cx="758" cy="4320"/>
            </a:xfrm>
            <a:prstGeom prst="rect">
              <a:avLst/>
            </a:prstGeom>
            <a:gradFill rotWithShape="0">
              <a:gsLst>
                <a:gs pos="0">
                  <a:schemeClr val="accent1">
                    <a:gamma/>
                    <a:shade val="84706"/>
                    <a:invGamma/>
                  </a:schemeClr>
                </a:gs>
                <a:gs pos="50000">
                  <a:schemeClr val="accent1"/>
                </a:gs>
                <a:gs pos="100000">
                  <a:schemeClr val="accent1">
                    <a:gamma/>
                    <a:shade val="84706"/>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en-US" altLang="en-US" sz="1800"/>
            </a:p>
          </p:txBody>
        </p:sp>
        <p:grpSp>
          <p:nvGrpSpPr>
            <p:cNvPr id="8" name="Group 6">
              <a:extLst>
                <a:ext uri="{FF2B5EF4-FFF2-40B4-BE49-F238E27FC236}">
                  <a16:creationId xmlns:a16="http://schemas.microsoft.com/office/drawing/2014/main" id="{DE63F286-DC7E-475B-846C-998EEC4E9F42}"/>
                </a:ext>
              </a:extLst>
            </p:cNvPr>
            <p:cNvGrpSpPr>
              <a:grpSpLocks/>
            </p:cNvGrpSpPr>
            <p:nvPr/>
          </p:nvGrpSpPr>
          <p:grpSpPr bwMode="auto">
            <a:xfrm>
              <a:off x="4944" y="1"/>
              <a:ext cx="816" cy="3974"/>
              <a:chOff x="4944" y="1"/>
              <a:chExt cx="816" cy="3974"/>
            </a:xfrm>
          </p:grpSpPr>
          <p:grpSp>
            <p:nvGrpSpPr>
              <p:cNvPr id="20" name="Group 7">
                <a:extLst>
                  <a:ext uri="{FF2B5EF4-FFF2-40B4-BE49-F238E27FC236}">
                    <a16:creationId xmlns:a16="http://schemas.microsoft.com/office/drawing/2014/main" id="{40CF4A60-3821-4B41-9F94-B1210839B60C}"/>
                  </a:ext>
                </a:extLst>
              </p:cNvPr>
              <p:cNvGrpSpPr>
                <a:grpSpLocks/>
              </p:cNvGrpSpPr>
              <p:nvPr userDrawn="1"/>
            </p:nvGrpSpPr>
            <p:grpSpPr bwMode="auto">
              <a:xfrm>
                <a:off x="5280" y="1"/>
                <a:ext cx="480" cy="1430"/>
                <a:chOff x="5280" y="1"/>
                <a:chExt cx="480" cy="1430"/>
              </a:xfrm>
            </p:grpSpPr>
            <p:grpSp>
              <p:nvGrpSpPr>
                <p:cNvPr id="41" name="Group 8">
                  <a:extLst>
                    <a:ext uri="{FF2B5EF4-FFF2-40B4-BE49-F238E27FC236}">
                      <a16:creationId xmlns:a16="http://schemas.microsoft.com/office/drawing/2014/main" id="{9093EA75-6C92-452B-B3E3-7204E4247077}"/>
                    </a:ext>
                  </a:extLst>
                </p:cNvPr>
                <p:cNvGrpSpPr>
                  <a:grpSpLocks/>
                </p:cNvGrpSpPr>
                <p:nvPr userDrawn="1"/>
              </p:nvGrpSpPr>
              <p:grpSpPr bwMode="auto">
                <a:xfrm rot="-5400000">
                  <a:off x="5484" y="0"/>
                  <a:ext cx="174" cy="176"/>
                  <a:chOff x="1657" y="323"/>
                  <a:chExt cx="1691" cy="2560"/>
                </a:xfrm>
              </p:grpSpPr>
              <p:grpSp>
                <p:nvGrpSpPr>
                  <p:cNvPr id="50" name="Group 9">
                    <a:extLst>
                      <a:ext uri="{FF2B5EF4-FFF2-40B4-BE49-F238E27FC236}">
                        <a16:creationId xmlns:a16="http://schemas.microsoft.com/office/drawing/2014/main" id="{A8CB4C50-5CBF-4226-A418-F32BD8D0578B}"/>
                      </a:ext>
                    </a:extLst>
                  </p:cNvPr>
                  <p:cNvGrpSpPr>
                    <a:grpSpLocks/>
                  </p:cNvGrpSpPr>
                  <p:nvPr/>
                </p:nvGrpSpPr>
                <p:grpSpPr bwMode="auto">
                  <a:xfrm>
                    <a:off x="1657" y="323"/>
                    <a:ext cx="1691" cy="2560"/>
                    <a:chOff x="1657" y="323"/>
                    <a:chExt cx="1691" cy="2560"/>
                  </a:xfrm>
                </p:grpSpPr>
                <p:sp>
                  <p:nvSpPr>
                    <p:cNvPr id="57" name="Freeform 10">
                      <a:extLst>
                        <a:ext uri="{FF2B5EF4-FFF2-40B4-BE49-F238E27FC236}">
                          <a16:creationId xmlns:a16="http://schemas.microsoft.com/office/drawing/2014/main" id="{CD624655-107C-4883-8EF5-D6D776AED36F}"/>
                        </a:ext>
                      </a:extLst>
                    </p:cNvPr>
                    <p:cNvSpPr>
                      <a:spLocks/>
                    </p:cNvSpPr>
                    <p:nvPr/>
                  </p:nvSpPr>
                  <p:spPr bwMode="auto">
                    <a:xfrm>
                      <a:off x="2117" y="323"/>
                      <a:ext cx="1231" cy="2560"/>
                    </a:xfrm>
                    <a:custGeom>
                      <a:avLst/>
                      <a:gdLst>
                        <a:gd name="T0" fmla="*/ 337 w 1231"/>
                        <a:gd name="T1" fmla="*/ 283 h 2560"/>
                        <a:gd name="T2" fmla="*/ 415 w 1231"/>
                        <a:gd name="T3" fmla="*/ 115 h 2560"/>
                        <a:gd name="T4" fmla="*/ 583 w 1231"/>
                        <a:gd name="T5" fmla="*/ 7 h 2560"/>
                        <a:gd name="T6" fmla="*/ 895 w 1231"/>
                        <a:gd name="T7" fmla="*/ 61 h 2560"/>
                        <a:gd name="T8" fmla="*/ 1051 w 1231"/>
                        <a:gd name="T9" fmla="*/ 349 h 2560"/>
                        <a:gd name="T10" fmla="*/ 979 w 1231"/>
                        <a:gd name="T11" fmla="*/ 769 h 2560"/>
                        <a:gd name="T12" fmla="*/ 943 w 1231"/>
                        <a:gd name="T13" fmla="*/ 943 h 2560"/>
                        <a:gd name="T14" fmla="*/ 1105 w 1231"/>
                        <a:gd name="T15" fmla="*/ 1075 h 2560"/>
                        <a:gd name="T16" fmla="*/ 1231 w 1231"/>
                        <a:gd name="T17" fmla="*/ 1525 h 2560"/>
                        <a:gd name="T18" fmla="*/ 1123 w 1231"/>
                        <a:gd name="T19" fmla="*/ 1969 h 2560"/>
                        <a:gd name="T20" fmla="*/ 907 w 1231"/>
                        <a:gd name="T21" fmla="*/ 2077 h 2560"/>
                        <a:gd name="T22" fmla="*/ 721 w 1231"/>
                        <a:gd name="T23" fmla="*/ 2059 h 2560"/>
                        <a:gd name="T24" fmla="*/ 655 w 1231"/>
                        <a:gd name="T25" fmla="*/ 2251 h 2560"/>
                        <a:gd name="T26" fmla="*/ 529 w 1231"/>
                        <a:gd name="T27" fmla="*/ 2527 h 2560"/>
                        <a:gd name="T28" fmla="*/ 211 w 1231"/>
                        <a:gd name="T29" fmla="*/ 2509 h 2560"/>
                        <a:gd name="T30" fmla="*/ 31 w 1231"/>
                        <a:gd name="T31" fmla="*/ 2227 h 2560"/>
                        <a:gd name="T32" fmla="*/ 25 w 1231"/>
                        <a:gd name="T33" fmla="*/ 1969 h 2560"/>
                        <a:gd name="T34" fmla="*/ 145 w 1231"/>
                        <a:gd name="T35" fmla="*/ 1651 h 2560"/>
                        <a:gd name="T36" fmla="*/ 259 w 1231"/>
                        <a:gd name="T37" fmla="*/ 1513 h 2560"/>
                        <a:gd name="T38" fmla="*/ 217 w 1231"/>
                        <a:gd name="T39" fmla="*/ 1729 h 2560"/>
                        <a:gd name="T40" fmla="*/ 73 w 1231"/>
                        <a:gd name="T41" fmla="*/ 2023 h 2560"/>
                        <a:gd name="T42" fmla="*/ 169 w 1231"/>
                        <a:gd name="T43" fmla="*/ 2323 h 2560"/>
                        <a:gd name="T44" fmla="*/ 439 w 1231"/>
                        <a:gd name="T45" fmla="*/ 2431 h 2560"/>
                        <a:gd name="T46" fmla="*/ 595 w 1231"/>
                        <a:gd name="T47" fmla="*/ 2227 h 2560"/>
                        <a:gd name="T48" fmla="*/ 577 w 1231"/>
                        <a:gd name="T49" fmla="*/ 1807 h 2560"/>
                        <a:gd name="T50" fmla="*/ 493 w 1231"/>
                        <a:gd name="T51" fmla="*/ 1531 h 2560"/>
                        <a:gd name="T52" fmla="*/ 535 w 1231"/>
                        <a:gd name="T53" fmla="*/ 1459 h 2560"/>
                        <a:gd name="T54" fmla="*/ 625 w 1231"/>
                        <a:gd name="T55" fmla="*/ 1633 h 2560"/>
                        <a:gd name="T56" fmla="*/ 721 w 1231"/>
                        <a:gd name="T57" fmla="*/ 1933 h 2560"/>
                        <a:gd name="T58" fmla="*/ 967 w 1231"/>
                        <a:gd name="T59" fmla="*/ 1963 h 2560"/>
                        <a:gd name="T60" fmla="*/ 1135 w 1231"/>
                        <a:gd name="T61" fmla="*/ 1687 h 2560"/>
                        <a:gd name="T62" fmla="*/ 1117 w 1231"/>
                        <a:gd name="T63" fmla="*/ 1273 h 2560"/>
                        <a:gd name="T64" fmla="*/ 883 w 1231"/>
                        <a:gd name="T65" fmla="*/ 1057 h 2560"/>
                        <a:gd name="T66" fmla="*/ 679 w 1231"/>
                        <a:gd name="T67" fmla="*/ 1129 h 2560"/>
                        <a:gd name="T68" fmla="*/ 577 w 1231"/>
                        <a:gd name="T69" fmla="*/ 1117 h 2560"/>
                        <a:gd name="T70" fmla="*/ 619 w 1231"/>
                        <a:gd name="T71" fmla="*/ 1033 h 2560"/>
                        <a:gd name="T72" fmla="*/ 811 w 1231"/>
                        <a:gd name="T73" fmla="*/ 937 h 2560"/>
                        <a:gd name="T74" fmla="*/ 949 w 1231"/>
                        <a:gd name="T75" fmla="*/ 613 h 2560"/>
                        <a:gd name="T76" fmla="*/ 883 w 1231"/>
                        <a:gd name="T77" fmla="*/ 175 h 2560"/>
                        <a:gd name="T78" fmla="*/ 619 w 1231"/>
                        <a:gd name="T79" fmla="*/ 103 h 2560"/>
                        <a:gd name="T80" fmla="*/ 391 w 1231"/>
                        <a:gd name="T81" fmla="*/ 355 h 2560"/>
                        <a:gd name="T82" fmla="*/ 403 w 1231"/>
                        <a:gd name="T83" fmla="*/ 763 h 2560"/>
                        <a:gd name="T84" fmla="*/ 343 w 1231"/>
                        <a:gd name="T85" fmla="*/ 949 h 2560"/>
                        <a:gd name="T86" fmla="*/ 289 w 1231"/>
                        <a:gd name="T87" fmla="*/ 685 h 2560"/>
                        <a:gd name="T88" fmla="*/ 307 w 1231"/>
                        <a:gd name="T89" fmla="*/ 367 h 256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231" h="2560">
                          <a:moveTo>
                            <a:pt x="307" y="367"/>
                          </a:moveTo>
                          <a:cubicBezTo>
                            <a:pt x="317" y="336"/>
                            <a:pt x="326" y="303"/>
                            <a:pt x="337" y="283"/>
                          </a:cubicBezTo>
                          <a:cubicBezTo>
                            <a:pt x="348" y="263"/>
                            <a:pt x="360" y="275"/>
                            <a:pt x="373" y="247"/>
                          </a:cubicBezTo>
                          <a:cubicBezTo>
                            <a:pt x="386" y="219"/>
                            <a:pt x="400" y="147"/>
                            <a:pt x="415" y="115"/>
                          </a:cubicBezTo>
                          <a:cubicBezTo>
                            <a:pt x="430" y="83"/>
                            <a:pt x="435" y="73"/>
                            <a:pt x="463" y="55"/>
                          </a:cubicBezTo>
                          <a:cubicBezTo>
                            <a:pt x="491" y="37"/>
                            <a:pt x="536" y="14"/>
                            <a:pt x="583" y="7"/>
                          </a:cubicBezTo>
                          <a:cubicBezTo>
                            <a:pt x="630" y="0"/>
                            <a:pt x="693" y="4"/>
                            <a:pt x="745" y="13"/>
                          </a:cubicBezTo>
                          <a:cubicBezTo>
                            <a:pt x="797" y="22"/>
                            <a:pt x="852" y="34"/>
                            <a:pt x="895" y="61"/>
                          </a:cubicBezTo>
                          <a:cubicBezTo>
                            <a:pt x="938" y="88"/>
                            <a:pt x="977" y="127"/>
                            <a:pt x="1003" y="175"/>
                          </a:cubicBezTo>
                          <a:cubicBezTo>
                            <a:pt x="1029" y="223"/>
                            <a:pt x="1044" y="287"/>
                            <a:pt x="1051" y="349"/>
                          </a:cubicBezTo>
                          <a:cubicBezTo>
                            <a:pt x="1058" y="411"/>
                            <a:pt x="1057" y="477"/>
                            <a:pt x="1045" y="547"/>
                          </a:cubicBezTo>
                          <a:cubicBezTo>
                            <a:pt x="1033" y="617"/>
                            <a:pt x="995" y="712"/>
                            <a:pt x="979" y="769"/>
                          </a:cubicBezTo>
                          <a:cubicBezTo>
                            <a:pt x="963" y="826"/>
                            <a:pt x="955" y="860"/>
                            <a:pt x="949" y="889"/>
                          </a:cubicBezTo>
                          <a:cubicBezTo>
                            <a:pt x="943" y="918"/>
                            <a:pt x="936" y="925"/>
                            <a:pt x="943" y="943"/>
                          </a:cubicBezTo>
                          <a:cubicBezTo>
                            <a:pt x="950" y="961"/>
                            <a:pt x="964" y="975"/>
                            <a:pt x="991" y="997"/>
                          </a:cubicBezTo>
                          <a:cubicBezTo>
                            <a:pt x="1018" y="1019"/>
                            <a:pt x="1069" y="1033"/>
                            <a:pt x="1105" y="1075"/>
                          </a:cubicBezTo>
                          <a:cubicBezTo>
                            <a:pt x="1141" y="1117"/>
                            <a:pt x="1186" y="1174"/>
                            <a:pt x="1207" y="1249"/>
                          </a:cubicBezTo>
                          <a:cubicBezTo>
                            <a:pt x="1228" y="1324"/>
                            <a:pt x="1231" y="1441"/>
                            <a:pt x="1231" y="1525"/>
                          </a:cubicBezTo>
                          <a:cubicBezTo>
                            <a:pt x="1231" y="1609"/>
                            <a:pt x="1225" y="1679"/>
                            <a:pt x="1207" y="1753"/>
                          </a:cubicBezTo>
                          <a:cubicBezTo>
                            <a:pt x="1189" y="1827"/>
                            <a:pt x="1153" y="1917"/>
                            <a:pt x="1123" y="1969"/>
                          </a:cubicBezTo>
                          <a:cubicBezTo>
                            <a:pt x="1093" y="2021"/>
                            <a:pt x="1063" y="2047"/>
                            <a:pt x="1027" y="2065"/>
                          </a:cubicBezTo>
                          <a:cubicBezTo>
                            <a:pt x="991" y="2083"/>
                            <a:pt x="951" y="2079"/>
                            <a:pt x="907" y="2077"/>
                          </a:cubicBezTo>
                          <a:cubicBezTo>
                            <a:pt x="863" y="2075"/>
                            <a:pt x="794" y="2056"/>
                            <a:pt x="763" y="2053"/>
                          </a:cubicBezTo>
                          <a:cubicBezTo>
                            <a:pt x="732" y="2050"/>
                            <a:pt x="733" y="2050"/>
                            <a:pt x="721" y="2059"/>
                          </a:cubicBezTo>
                          <a:cubicBezTo>
                            <a:pt x="709" y="2068"/>
                            <a:pt x="702" y="2075"/>
                            <a:pt x="691" y="2107"/>
                          </a:cubicBezTo>
                          <a:cubicBezTo>
                            <a:pt x="680" y="2139"/>
                            <a:pt x="665" y="2205"/>
                            <a:pt x="655" y="2251"/>
                          </a:cubicBezTo>
                          <a:cubicBezTo>
                            <a:pt x="645" y="2297"/>
                            <a:pt x="652" y="2337"/>
                            <a:pt x="631" y="2383"/>
                          </a:cubicBezTo>
                          <a:cubicBezTo>
                            <a:pt x="610" y="2429"/>
                            <a:pt x="574" y="2498"/>
                            <a:pt x="529" y="2527"/>
                          </a:cubicBezTo>
                          <a:cubicBezTo>
                            <a:pt x="484" y="2556"/>
                            <a:pt x="414" y="2560"/>
                            <a:pt x="361" y="2557"/>
                          </a:cubicBezTo>
                          <a:cubicBezTo>
                            <a:pt x="308" y="2554"/>
                            <a:pt x="256" y="2537"/>
                            <a:pt x="211" y="2509"/>
                          </a:cubicBezTo>
                          <a:cubicBezTo>
                            <a:pt x="166" y="2481"/>
                            <a:pt x="121" y="2436"/>
                            <a:pt x="91" y="2389"/>
                          </a:cubicBezTo>
                          <a:cubicBezTo>
                            <a:pt x="61" y="2342"/>
                            <a:pt x="46" y="2275"/>
                            <a:pt x="31" y="2227"/>
                          </a:cubicBezTo>
                          <a:cubicBezTo>
                            <a:pt x="16" y="2179"/>
                            <a:pt x="2" y="2144"/>
                            <a:pt x="1" y="2101"/>
                          </a:cubicBezTo>
                          <a:cubicBezTo>
                            <a:pt x="0" y="2058"/>
                            <a:pt x="13" y="2018"/>
                            <a:pt x="25" y="1969"/>
                          </a:cubicBezTo>
                          <a:cubicBezTo>
                            <a:pt x="37" y="1920"/>
                            <a:pt x="53" y="1860"/>
                            <a:pt x="73" y="1807"/>
                          </a:cubicBezTo>
                          <a:cubicBezTo>
                            <a:pt x="93" y="1754"/>
                            <a:pt x="122" y="1698"/>
                            <a:pt x="145" y="1651"/>
                          </a:cubicBezTo>
                          <a:cubicBezTo>
                            <a:pt x="168" y="1604"/>
                            <a:pt x="192" y="1548"/>
                            <a:pt x="211" y="1525"/>
                          </a:cubicBezTo>
                          <a:cubicBezTo>
                            <a:pt x="230" y="1502"/>
                            <a:pt x="249" y="1502"/>
                            <a:pt x="259" y="1513"/>
                          </a:cubicBezTo>
                          <a:cubicBezTo>
                            <a:pt x="269" y="1524"/>
                            <a:pt x="278" y="1555"/>
                            <a:pt x="271" y="1591"/>
                          </a:cubicBezTo>
                          <a:cubicBezTo>
                            <a:pt x="264" y="1627"/>
                            <a:pt x="242" y="1682"/>
                            <a:pt x="217" y="1729"/>
                          </a:cubicBezTo>
                          <a:cubicBezTo>
                            <a:pt x="192" y="1776"/>
                            <a:pt x="145" y="1824"/>
                            <a:pt x="121" y="1873"/>
                          </a:cubicBezTo>
                          <a:cubicBezTo>
                            <a:pt x="97" y="1922"/>
                            <a:pt x="76" y="1970"/>
                            <a:pt x="73" y="2023"/>
                          </a:cubicBezTo>
                          <a:cubicBezTo>
                            <a:pt x="70" y="2076"/>
                            <a:pt x="87" y="2141"/>
                            <a:pt x="103" y="2191"/>
                          </a:cubicBezTo>
                          <a:cubicBezTo>
                            <a:pt x="119" y="2241"/>
                            <a:pt x="140" y="2285"/>
                            <a:pt x="169" y="2323"/>
                          </a:cubicBezTo>
                          <a:cubicBezTo>
                            <a:pt x="198" y="2361"/>
                            <a:pt x="232" y="2401"/>
                            <a:pt x="277" y="2419"/>
                          </a:cubicBezTo>
                          <a:cubicBezTo>
                            <a:pt x="322" y="2437"/>
                            <a:pt x="395" y="2440"/>
                            <a:pt x="439" y="2431"/>
                          </a:cubicBezTo>
                          <a:cubicBezTo>
                            <a:pt x="483" y="2422"/>
                            <a:pt x="515" y="2399"/>
                            <a:pt x="541" y="2365"/>
                          </a:cubicBezTo>
                          <a:cubicBezTo>
                            <a:pt x="567" y="2331"/>
                            <a:pt x="583" y="2280"/>
                            <a:pt x="595" y="2227"/>
                          </a:cubicBezTo>
                          <a:cubicBezTo>
                            <a:pt x="607" y="2174"/>
                            <a:pt x="616" y="2117"/>
                            <a:pt x="613" y="2047"/>
                          </a:cubicBezTo>
                          <a:cubicBezTo>
                            <a:pt x="610" y="1977"/>
                            <a:pt x="589" y="1871"/>
                            <a:pt x="577" y="1807"/>
                          </a:cubicBezTo>
                          <a:cubicBezTo>
                            <a:pt x="565" y="1743"/>
                            <a:pt x="555" y="1709"/>
                            <a:pt x="541" y="1663"/>
                          </a:cubicBezTo>
                          <a:cubicBezTo>
                            <a:pt x="527" y="1617"/>
                            <a:pt x="502" y="1561"/>
                            <a:pt x="493" y="1531"/>
                          </a:cubicBezTo>
                          <a:cubicBezTo>
                            <a:pt x="484" y="1501"/>
                            <a:pt x="480" y="1495"/>
                            <a:pt x="487" y="1483"/>
                          </a:cubicBezTo>
                          <a:cubicBezTo>
                            <a:pt x="494" y="1471"/>
                            <a:pt x="519" y="1455"/>
                            <a:pt x="535" y="1459"/>
                          </a:cubicBezTo>
                          <a:cubicBezTo>
                            <a:pt x="551" y="1463"/>
                            <a:pt x="568" y="1478"/>
                            <a:pt x="583" y="1507"/>
                          </a:cubicBezTo>
                          <a:cubicBezTo>
                            <a:pt x="598" y="1536"/>
                            <a:pt x="610" y="1583"/>
                            <a:pt x="625" y="1633"/>
                          </a:cubicBezTo>
                          <a:cubicBezTo>
                            <a:pt x="640" y="1683"/>
                            <a:pt x="657" y="1757"/>
                            <a:pt x="673" y="1807"/>
                          </a:cubicBezTo>
                          <a:cubicBezTo>
                            <a:pt x="689" y="1857"/>
                            <a:pt x="697" y="1905"/>
                            <a:pt x="721" y="1933"/>
                          </a:cubicBezTo>
                          <a:cubicBezTo>
                            <a:pt x="745" y="1961"/>
                            <a:pt x="776" y="1970"/>
                            <a:pt x="817" y="1975"/>
                          </a:cubicBezTo>
                          <a:cubicBezTo>
                            <a:pt x="858" y="1980"/>
                            <a:pt x="926" y="1980"/>
                            <a:pt x="967" y="1963"/>
                          </a:cubicBezTo>
                          <a:cubicBezTo>
                            <a:pt x="1008" y="1946"/>
                            <a:pt x="1035" y="1919"/>
                            <a:pt x="1063" y="1873"/>
                          </a:cubicBezTo>
                          <a:cubicBezTo>
                            <a:pt x="1091" y="1827"/>
                            <a:pt x="1122" y="1761"/>
                            <a:pt x="1135" y="1687"/>
                          </a:cubicBezTo>
                          <a:cubicBezTo>
                            <a:pt x="1148" y="1613"/>
                            <a:pt x="1144" y="1498"/>
                            <a:pt x="1141" y="1429"/>
                          </a:cubicBezTo>
                          <a:cubicBezTo>
                            <a:pt x="1138" y="1360"/>
                            <a:pt x="1140" y="1325"/>
                            <a:pt x="1117" y="1273"/>
                          </a:cubicBezTo>
                          <a:cubicBezTo>
                            <a:pt x="1094" y="1221"/>
                            <a:pt x="1042" y="1153"/>
                            <a:pt x="1003" y="1117"/>
                          </a:cubicBezTo>
                          <a:cubicBezTo>
                            <a:pt x="964" y="1081"/>
                            <a:pt x="919" y="1064"/>
                            <a:pt x="883" y="1057"/>
                          </a:cubicBezTo>
                          <a:cubicBezTo>
                            <a:pt x="847" y="1050"/>
                            <a:pt x="821" y="1063"/>
                            <a:pt x="787" y="1075"/>
                          </a:cubicBezTo>
                          <a:cubicBezTo>
                            <a:pt x="753" y="1087"/>
                            <a:pt x="706" y="1117"/>
                            <a:pt x="679" y="1129"/>
                          </a:cubicBezTo>
                          <a:cubicBezTo>
                            <a:pt x="652" y="1141"/>
                            <a:pt x="642" y="1149"/>
                            <a:pt x="625" y="1147"/>
                          </a:cubicBezTo>
                          <a:cubicBezTo>
                            <a:pt x="608" y="1145"/>
                            <a:pt x="584" y="1130"/>
                            <a:pt x="577" y="1117"/>
                          </a:cubicBezTo>
                          <a:cubicBezTo>
                            <a:pt x="570" y="1104"/>
                            <a:pt x="576" y="1083"/>
                            <a:pt x="583" y="1069"/>
                          </a:cubicBezTo>
                          <a:cubicBezTo>
                            <a:pt x="590" y="1055"/>
                            <a:pt x="599" y="1043"/>
                            <a:pt x="619" y="1033"/>
                          </a:cubicBezTo>
                          <a:cubicBezTo>
                            <a:pt x="639" y="1023"/>
                            <a:pt x="671" y="1025"/>
                            <a:pt x="703" y="1009"/>
                          </a:cubicBezTo>
                          <a:cubicBezTo>
                            <a:pt x="735" y="993"/>
                            <a:pt x="780" y="965"/>
                            <a:pt x="811" y="937"/>
                          </a:cubicBezTo>
                          <a:cubicBezTo>
                            <a:pt x="842" y="909"/>
                            <a:pt x="866" y="895"/>
                            <a:pt x="889" y="841"/>
                          </a:cubicBezTo>
                          <a:cubicBezTo>
                            <a:pt x="912" y="787"/>
                            <a:pt x="939" y="696"/>
                            <a:pt x="949" y="613"/>
                          </a:cubicBezTo>
                          <a:cubicBezTo>
                            <a:pt x="959" y="530"/>
                            <a:pt x="960" y="416"/>
                            <a:pt x="949" y="343"/>
                          </a:cubicBezTo>
                          <a:cubicBezTo>
                            <a:pt x="938" y="270"/>
                            <a:pt x="914" y="215"/>
                            <a:pt x="883" y="175"/>
                          </a:cubicBezTo>
                          <a:cubicBezTo>
                            <a:pt x="852" y="135"/>
                            <a:pt x="807" y="115"/>
                            <a:pt x="763" y="103"/>
                          </a:cubicBezTo>
                          <a:cubicBezTo>
                            <a:pt x="719" y="91"/>
                            <a:pt x="665" y="90"/>
                            <a:pt x="619" y="103"/>
                          </a:cubicBezTo>
                          <a:cubicBezTo>
                            <a:pt x="573" y="116"/>
                            <a:pt x="525" y="139"/>
                            <a:pt x="487" y="181"/>
                          </a:cubicBezTo>
                          <a:cubicBezTo>
                            <a:pt x="449" y="223"/>
                            <a:pt x="412" y="301"/>
                            <a:pt x="391" y="355"/>
                          </a:cubicBezTo>
                          <a:cubicBezTo>
                            <a:pt x="370" y="409"/>
                            <a:pt x="359" y="437"/>
                            <a:pt x="361" y="505"/>
                          </a:cubicBezTo>
                          <a:cubicBezTo>
                            <a:pt x="363" y="573"/>
                            <a:pt x="399" y="691"/>
                            <a:pt x="403" y="763"/>
                          </a:cubicBezTo>
                          <a:cubicBezTo>
                            <a:pt x="407" y="835"/>
                            <a:pt x="395" y="906"/>
                            <a:pt x="385" y="937"/>
                          </a:cubicBezTo>
                          <a:cubicBezTo>
                            <a:pt x="375" y="968"/>
                            <a:pt x="356" y="957"/>
                            <a:pt x="343" y="949"/>
                          </a:cubicBezTo>
                          <a:cubicBezTo>
                            <a:pt x="330" y="941"/>
                            <a:pt x="316" y="933"/>
                            <a:pt x="307" y="889"/>
                          </a:cubicBezTo>
                          <a:cubicBezTo>
                            <a:pt x="298" y="845"/>
                            <a:pt x="294" y="755"/>
                            <a:pt x="289" y="685"/>
                          </a:cubicBezTo>
                          <a:cubicBezTo>
                            <a:pt x="284" y="615"/>
                            <a:pt x="273" y="523"/>
                            <a:pt x="277" y="469"/>
                          </a:cubicBezTo>
                          <a:cubicBezTo>
                            <a:pt x="281" y="415"/>
                            <a:pt x="297" y="398"/>
                            <a:pt x="307" y="367"/>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58" name="Freeform 11">
                      <a:extLst>
                        <a:ext uri="{FF2B5EF4-FFF2-40B4-BE49-F238E27FC236}">
                          <a16:creationId xmlns:a16="http://schemas.microsoft.com/office/drawing/2014/main" id="{BF0DC46E-9BA0-464A-B88C-431A85BC5981}"/>
                        </a:ext>
                      </a:extLst>
                    </p:cNvPr>
                    <p:cNvSpPr>
                      <a:spLocks/>
                    </p:cNvSpPr>
                    <p:nvPr/>
                  </p:nvSpPr>
                  <p:spPr bwMode="auto">
                    <a:xfrm>
                      <a:off x="1657" y="376"/>
                      <a:ext cx="865" cy="2071"/>
                    </a:xfrm>
                    <a:custGeom>
                      <a:avLst/>
                      <a:gdLst>
                        <a:gd name="T0" fmla="*/ 785 w 865"/>
                        <a:gd name="T1" fmla="*/ 530 h 2071"/>
                        <a:gd name="T2" fmla="*/ 797 w 865"/>
                        <a:gd name="T3" fmla="*/ 350 h 2071"/>
                        <a:gd name="T4" fmla="*/ 863 w 865"/>
                        <a:gd name="T5" fmla="*/ 206 h 2071"/>
                        <a:gd name="T6" fmla="*/ 809 w 865"/>
                        <a:gd name="T7" fmla="*/ 218 h 2071"/>
                        <a:gd name="T8" fmla="*/ 749 w 865"/>
                        <a:gd name="T9" fmla="*/ 218 h 2071"/>
                        <a:gd name="T10" fmla="*/ 683 w 865"/>
                        <a:gd name="T11" fmla="*/ 116 h 2071"/>
                        <a:gd name="T12" fmla="*/ 611 w 865"/>
                        <a:gd name="T13" fmla="*/ 32 h 2071"/>
                        <a:gd name="T14" fmla="*/ 509 w 865"/>
                        <a:gd name="T15" fmla="*/ 2 h 2071"/>
                        <a:gd name="T16" fmla="*/ 407 w 865"/>
                        <a:gd name="T17" fmla="*/ 20 h 2071"/>
                        <a:gd name="T18" fmla="*/ 281 w 865"/>
                        <a:gd name="T19" fmla="*/ 74 h 2071"/>
                        <a:gd name="T20" fmla="*/ 173 w 865"/>
                        <a:gd name="T21" fmla="*/ 206 h 2071"/>
                        <a:gd name="T22" fmla="*/ 119 w 865"/>
                        <a:gd name="T23" fmla="*/ 404 h 2071"/>
                        <a:gd name="T24" fmla="*/ 131 w 865"/>
                        <a:gd name="T25" fmla="*/ 590 h 2071"/>
                        <a:gd name="T26" fmla="*/ 173 w 865"/>
                        <a:gd name="T27" fmla="*/ 782 h 2071"/>
                        <a:gd name="T28" fmla="*/ 197 w 865"/>
                        <a:gd name="T29" fmla="*/ 884 h 2071"/>
                        <a:gd name="T30" fmla="*/ 167 w 865"/>
                        <a:gd name="T31" fmla="*/ 986 h 2071"/>
                        <a:gd name="T32" fmla="*/ 65 w 865"/>
                        <a:gd name="T33" fmla="*/ 1124 h 2071"/>
                        <a:gd name="T34" fmla="*/ 17 w 865"/>
                        <a:gd name="T35" fmla="*/ 1298 h 2071"/>
                        <a:gd name="T36" fmla="*/ 5 w 865"/>
                        <a:gd name="T37" fmla="*/ 1550 h 2071"/>
                        <a:gd name="T38" fmla="*/ 47 w 865"/>
                        <a:gd name="T39" fmla="*/ 1748 h 2071"/>
                        <a:gd name="T40" fmla="*/ 131 w 865"/>
                        <a:gd name="T41" fmla="*/ 1898 h 2071"/>
                        <a:gd name="T42" fmla="*/ 299 w 865"/>
                        <a:gd name="T43" fmla="*/ 1988 h 2071"/>
                        <a:gd name="T44" fmla="*/ 425 w 865"/>
                        <a:gd name="T45" fmla="*/ 1982 h 2071"/>
                        <a:gd name="T46" fmla="*/ 467 w 865"/>
                        <a:gd name="T47" fmla="*/ 1994 h 2071"/>
                        <a:gd name="T48" fmla="*/ 497 w 865"/>
                        <a:gd name="T49" fmla="*/ 2066 h 2071"/>
                        <a:gd name="T50" fmla="*/ 497 w 865"/>
                        <a:gd name="T51" fmla="*/ 1964 h 2071"/>
                        <a:gd name="T52" fmla="*/ 557 w 865"/>
                        <a:gd name="T53" fmla="*/ 1778 h 2071"/>
                        <a:gd name="T54" fmla="*/ 617 w 865"/>
                        <a:gd name="T55" fmla="*/ 1658 h 2071"/>
                        <a:gd name="T56" fmla="*/ 581 w 865"/>
                        <a:gd name="T57" fmla="*/ 1700 h 2071"/>
                        <a:gd name="T58" fmla="*/ 515 w 865"/>
                        <a:gd name="T59" fmla="*/ 1820 h 2071"/>
                        <a:gd name="T60" fmla="*/ 407 w 865"/>
                        <a:gd name="T61" fmla="*/ 1904 h 2071"/>
                        <a:gd name="T62" fmla="*/ 269 w 865"/>
                        <a:gd name="T63" fmla="*/ 1898 h 2071"/>
                        <a:gd name="T64" fmla="*/ 179 w 865"/>
                        <a:gd name="T65" fmla="*/ 1814 h 2071"/>
                        <a:gd name="T66" fmla="*/ 113 w 865"/>
                        <a:gd name="T67" fmla="*/ 1640 h 2071"/>
                        <a:gd name="T68" fmla="*/ 107 w 865"/>
                        <a:gd name="T69" fmla="*/ 1394 h 2071"/>
                        <a:gd name="T70" fmla="*/ 137 w 865"/>
                        <a:gd name="T71" fmla="*/ 1190 h 2071"/>
                        <a:gd name="T72" fmla="*/ 203 w 865"/>
                        <a:gd name="T73" fmla="*/ 1070 h 2071"/>
                        <a:gd name="T74" fmla="*/ 323 w 865"/>
                        <a:gd name="T75" fmla="*/ 1022 h 2071"/>
                        <a:gd name="T76" fmla="*/ 509 w 865"/>
                        <a:gd name="T77" fmla="*/ 1076 h 2071"/>
                        <a:gd name="T78" fmla="*/ 611 w 865"/>
                        <a:gd name="T79" fmla="*/ 1124 h 2071"/>
                        <a:gd name="T80" fmla="*/ 665 w 865"/>
                        <a:gd name="T81" fmla="*/ 1100 h 2071"/>
                        <a:gd name="T82" fmla="*/ 659 w 865"/>
                        <a:gd name="T83" fmla="*/ 1046 h 2071"/>
                        <a:gd name="T84" fmla="*/ 611 w 865"/>
                        <a:gd name="T85" fmla="*/ 1004 h 2071"/>
                        <a:gd name="T86" fmla="*/ 497 w 865"/>
                        <a:gd name="T87" fmla="*/ 980 h 2071"/>
                        <a:gd name="T88" fmla="*/ 323 w 865"/>
                        <a:gd name="T89" fmla="*/ 896 h 2071"/>
                        <a:gd name="T90" fmla="*/ 233 w 865"/>
                        <a:gd name="T91" fmla="*/ 680 h 2071"/>
                        <a:gd name="T92" fmla="*/ 209 w 865"/>
                        <a:gd name="T93" fmla="*/ 416 h 2071"/>
                        <a:gd name="T94" fmla="*/ 317 w 865"/>
                        <a:gd name="T95" fmla="*/ 170 h 2071"/>
                        <a:gd name="T96" fmla="*/ 485 w 865"/>
                        <a:gd name="T97" fmla="*/ 110 h 2071"/>
                        <a:gd name="T98" fmla="*/ 617 w 865"/>
                        <a:gd name="T99" fmla="*/ 164 h 2071"/>
                        <a:gd name="T100" fmla="*/ 707 w 865"/>
                        <a:gd name="T101" fmla="*/ 290 h 2071"/>
                        <a:gd name="T102" fmla="*/ 737 w 865"/>
                        <a:gd name="T103" fmla="*/ 428 h 2071"/>
                        <a:gd name="T104" fmla="*/ 773 w 865"/>
                        <a:gd name="T105" fmla="*/ 602 h 2071"/>
                        <a:gd name="T106" fmla="*/ 809 w 865"/>
                        <a:gd name="T107" fmla="*/ 584 h 2071"/>
                        <a:gd name="T108" fmla="*/ 785 w 865"/>
                        <a:gd name="T109" fmla="*/ 530 h 207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65" h="2071">
                          <a:moveTo>
                            <a:pt x="785" y="530"/>
                          </a:moveTo>
                          <a:cubicBezTo>
                            <a:pt x="783" y="491"/>
                            <a:pt x="784" y="404"/>
                            <a:pt x="797" y="350"/>
                          </a:cubicBezTo>
                          <a:cubicBezTo>
                            <a:pt x="810" y="296"/>
                            <a:pt x="861" y="228"/>
                            <a:pt x="863" y="206"/>
                          </a:cubicBezTo>
                          <a:cubicBezTo>
                            <a:pt x="865" y="184"/>
                            <a:pt x="828" y="216"/>
                            <a:pt x="809" y="218"/>
                          </a:cubicBezTo>
                          <a:cubicBezTo>
                            <a:pt x="790" y="220"/>
                            <a:pt x="770" y="235"/>
                            <a:pt x="749" y="218"/>
                          </a:cubicBezTo>
                          <a:cubicBezTo>
                            <a:pt x="728" y="201"/>
                            <a:pt x="706" y="147"/>
                            <a:pt x="683" y="116"/>
                          </a:cubicBezTo>
                          <a:cubicBezTo>
                            <a:pt x="660" y="85"/>
                            <a:pt x="640" y="51"/>
                            <a:pt x="611" y="32"/>
                          </a:cubicBezTo>
                          <a:cubicBezTo>
                            <a:pt x="582" y="13"/>
                            <a:pt x="543" y="4"/>
                            <a:pt x="509" y="2"/>
                          </a:cubicBezTo>
                          <a:cubicBezTo>
                            <a:pt x="475" y="0"/>
                            <a:pt x="445" y="8"/>
                            <a:pt x="407" y="20"/>
                          </a:cubicBezTo>
                          <a:cubicBezTo>
                            <a:pt x="369" y="32"/>
                            <a:pt x="320" y="43"/>
                            <a:pt x="281" y="74"/>
                          </a:cubicBezTo>
                          <a:cubicBezTo>
                            <a:pt x="242" y="105"/>
                            <a:pt x="200" y="151"/>
                            <a:pt x="173" y="206"/>
                          </a:cubicBezTo>
                          <a:cubicBezTo>
                            <a:pt x="146" y="261"/>
                            <a:pt x="126" y="340"/>
                            <a:pt x="119" y="404"/>
                          </a:cubicBezTo>
                          <a:cubicBezTo>
                            <a:pt x="112" y="468"/>
                            <a:pt x="122" y="527"/>
                            <a:pt x="131" y="590"/>
                          </a:cubicBezTo>
                          <a:cubicBezTo>
                            <a:pt x="140" y="653"/>
                            <a:pt x="162" y="733"/>
                            <a:pt x="173" y="782"/>
                          </a:cubicBezTo>
                          <a:cubicBezTo>
                            <a:pt x="184" y="831"/>
                            <a:pt x="198" y="850"/>
                            <a:pt x="197" y="884"/>
                          </a:cubicBezTo>
                          <a:cubicBezTo>
                            <a:pt x="196" y="918"/>
                            <a:pt x="189" y="946"/>
                            <a:pt x="167" y="986"/>
                          </a:cubicBezTo>
                          <a:cubicBezTo>
                            <a:pt x="145" y="1026"/>
                            <a:pt x="90" y="1072"/>
                            <a:pt x="65" y="1124"/>
                          </a:cubicBezTo>
                          <a:cubicBezTo>
                            <a:pt x="40" y="1176"/>
                            <a:pt x="27" y="1227"/>
                            <a:pt x="17" y="1298"/>
                          </a:cubicBezTo>
                          <a:cubicBezTo>
                            <a:pt x="7" y="1369"/>
                            <a:pt x="0" y="1475"/>
                            <a:pt x="5" y="1550"/>
                          </a:cubicBezTo>
                          <a:cubicBezTo>
                            <a:pt x="10" y="1625"/>
                            <a:pt x="26" y="1690"/>
                            <a:pt x="47" y="1748"/>
                          </a:cubicBezTo>
                          <a:cubicBezTo>
                            <a:pt x="68" y="1806"/>
                            <a:pt x="89" y="1858"/>
                            <a:pt x="131" y="1898"/>
                          </a:cubicBezTo>
                          <a:cubicBezTo>
                            <a:pt x="173" y="1938"/>
                            <a:pt x="250" y="1974"/>
                            <a:pt x="299" y="1988"/>
                          </a:cubicBezTo>
                          <a:cubicBezTo>
                            <a:pt x="348" y="2002"/>
                            <a:pt x="397" y="1981"/>
                            <a:pt x="425" y="1982"/>
                          </a:cubicBezTo>
                          <a:cubicBezTo>
                            <a:pt x="453" y="1983"/>
                            <a:pt x="455" y="1980"/>
                            <a:pt x="467" y="1994"/>
                          </a:cubicBezTo>
                          <a:cubicBezTo>
                            <a:pt x="479" y="2008"/>
                            <a:pt x="492" y="2071"/>
                            <a:pt x="497" y="2066"/>
                          </a:cubicBezTo>
                          <a:cubicBezTo>
                            <a:pt x="502" y="2061"/>
                            <a:pt x="487" y="2012"/>
                            <a:pt x="497" y="1964"/>
                          </a:cubicBezTo>
                          <a:cubicBezTo>
                            <a:pt x="507" y="1916"/>
                            <a:pt x="537" y="1829"/>
                            <a:pt x="557" y="1778"/>
                          </a:cubicBezTo>
                          <a:cubicBezTo>
                            <a:pt x="577" y="1727"/>
                            <a:pt x="613" y="1671"/>
                            <a:pt x="617" y="1658"/>
                          </a:cubicBezTo>
                          <a:cubicBezTo>
                            <a:pt x="621" y="1645"/>
                            <a:pt x="598" y="1673"/>
                            <a:pt x="581" y="1700"/>
                          </a:cubicBezTo>
                          <a:cubicBezTo>
                            <a:pt x="564" y="1727"/>
                            <a:pt x="544" y="1786"/>
                            <a:pt x="515" y="1820"/>
                          </a:cubicBezTo>
                          <a:cubicBezTo>
                            <a:pt x="486" y="1854"/>
                            <a:pt x="448" y="1891"/>
                            <a:pt x="407" y="1904"/>
                          </a:cubicBezTo>
                          <a:cubicBezTo>
                            <a:pt x="366" y="1917"/>
                            <a:pt x="307" y="1913"/>
                            <a:pt x="269" y="1898"/>
                          </a:cubicBezTo>
                          <a:cubicBezTo>
                            <a:pt x="231" y="1883"/>
                            <a:pt x="205" y="1857"/>
                            <a:pt x="179" y="1814"/>
                          </a:cubicBezTo>
                          <a:cubicBezTo>
                            <a:pt x="153" y="1771"/>
                            <a:pt x="125" y="1710"/>
                            <a:pt x="113" y="1640"/>
                          </a:cubicBezTo>
                          <a:cubicBezTo>
                            <a:pt x="101" y="1570"/>
                            <a:pt x="103" y="1469"/>
                            <a:pt x="107" y="1394"/>
                          </a:cubicBezTo>
                          <a:cubicBezTo>
                            <a:pt x="111" y="1319"/>
                            <a:pt x="121" y="1244"/>
                            <a:pt x="137" y="1190"/>
                          </a:cubicBezTo>
                          <a:cubicBezTo>
                            <a:pt x="153" y="1136"/>
                            <a:pt x="172" y="1098"/>
                            <a:pt x="203" y="1070"/>
                          </a:cubicBezTo>
                          <a:cubicBezTo>
                            <a:pt x="234" y="1042"/>
                            <a:pt x="272" y="1021"/>
                            <a:pt x="323" y="1022"/>
                          </a:cubicBezTo>
                          <a:cubicBezTo>
                            <a:pt x="374" y="1023"/>
                            <a:pt x="461" y="1059"/>
                            <a:pt x="509" y="1076"/>
                          </a:cubicBezTo>
                          <a:cubicBezTo>
                            <a:pt x="557" y="1093"/>
                            <a:pt x="585" y="1120"/>
                            <a:pt x="611" y="1124"/>
                          </a:cubicBezTo>
                          <a:cubicBezTo>
                            <a:pt x="637" y="1128"/>
                            <a:pt x="657" y="1113"/>
                            <a:pt x="665" y="1100"/>
                          </a:cubicBezTo>
                          <a:cubicBezTo>
                            <a:pt x="673" y="1087"/>
                            <a:pt x="668" y="1062"/>
                            <a:pt x="659" y="1046"/>
                          </a:cubicBezTo>
                          <a:cubicBezTo>
                            <a:pt x="650" y="1030"/>
                            <a:pt x="638" y="1015"/>
                            <a:pt x="611" y="1004"/>
                          </a:cubicBezTo>
                          <a:cubicBezTo>
                            <a:pt x="584" y="993"/>
                            <a:pt x="545" y="998"/>
                            <a:pt x="497" y="980"/>
                          </a:cubicBezTo>
                          <a:cubicBezTo>
                            <a:pt x="449" y="962"/>
                            <a:pt x="367" y="946"/>
                            <a:pt x="323" y="896"/>
                          </a:cubicBezTo>
                          <a:cubicBezTo>
                            <a:pt x="279" y="846"/>
                            <a:pt x="252" y="760"/>
                            <a:pt x="233" y="680"/>
                          </a:cubicBezTo>
                          <a:cubicBezTo>
                            <a:pt x="214" y="600"/>
                            <a:pt x="195" y="501"/>
                            <a:pt x="209" y="416"/>
                          </a:cubicBezTo>
                          <a:cubicBezTo>
                            <a:pt x="223" y="331"/>
                            <a:pt x="271" y="221"/>
                            <a:pt x="317" y="170"/>
                          </a:cubicBezTo>
                          <a:cubicBezTo>
                            <a:pt x="363" y="119"/>
                            <a:pt x="435" y="111"/>
                            <a:pt x="485" y="110"/>
                          </a:cubicBezTo>
                          <a:cubicBezTo>
                            <a:pt x="535" y="109"/>
                            <a:pt x="580" y="134"/>
                            <a:pt x="617" y="164"/>
                          </a:cubicBezTo>
                          <a:cubicBezTo>
                            <a:pt x="654" y="194"/>
                            <a:pt x="687" y="246"/>
                            <a:pt x="707" y="290"/>
                          </a:cubicBezTo>
                          <a:cubicBezTo>
                            <a:pt x="727" y="334"/>
                            <a:pt x="726" y="376"/>
                            <a:pt x="737" y="428"/>
                          </a:cubicBezTo>
                          <a:cubicBezTo>
                            <a:pt x="748" y="480"/>
                            <a:pt x="761" y="576"/>
                            <a:pt x="773" y="602"/>
                          </a:cubicBezTo>
                          <a:cubicBezTo>
                            <a:pt x="785" y="628"/>
                            <a:pt x="807" y="597"/>
                            <a:pt x="809" y="584"/>
                          </a:cubicBezTo>
                          <a:cubicBezTo>
                            <a:pt x="811" y="571"/>
                            <a:pt x="787" y="569"/>
                            <a:pt x="785" y="530"/>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grpSp>
              <p:sp>
                <p:nvSpPr>
                  <p:cNvPr id="51" name="Oval 12">
                    <a:extLst>
                      <a:ext uri="{FF2B5EF4-FFF2-40B4-BE49-F238E27FC236}">
                        <a16:creationId xmlns:a16="http://schemas.microsoft.com/office/drawing/2014/main" id="{C3DEBC72-58BE-418F-ABB8-18E5C8D2C579}"/>
                      </a:ext>
                    </a:extLst>
                  </p:cNvPr>
                  <p:cNvSpPr>
                    <a:spLocks noChangeArrowheads="1"/>
                  </p:cNvSpPr>
                  <p:nvPr/>
                </p:nvSpPr>
                <p:spPr bwMode="auto">
                  <a:xfrm>
                    <a:off x="2396" y="1428"/>
                    <a:ext cx="175" cy="247"/>
                  </a:xfrm>
                  <a:prstGeom prst="ellipse">
                    <a:avLst/>
                  </a:prstGeom>
                  <a:solidFill>
                    <a:srgbClr val="E7D6B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800"/>
                  </a:p>
                </p:txBody>
              </p:sp>
              <p:sp>
                <p:nvSpPr>
                  <p:cNvPr id="52" name="Freeform 13">
                    <a:extLst>
                      <a:ext uri="{FF2B5EF4-FFF2-40B4-BE49-F238E27FC236}">
                        <a16:creationId xmlns:a16="http://schemas.microsoft.com/office/drawing/2014/main" id="{B29FE34B-AB39-49E5-BEA3-BFA6D8F1C2FC}"/>
                      </a:ext>
                    </a:extLst>
                  </p:cNvPr>
                  <p:cNvSpPr>
                    <a:spLocks/>
                  </p:cNvSpPr>
                  <p:nvPr/>
                </p:nvSpPr>
                <p:spPr bwMode="auto">
                  <a:xfrm>
                    <a:off x="2595" y="741"/>
                    <a:ext cx="266" cy="521"/>
                  </a:xfrm>
                  <a:custGeom>
                    <a:avLst/>
                    <a:gdLst>
                      <a:gd name="T0" fmla="*/ 3 w 266"/>
                      <a:gd name="T1" fmla="*/ 483 h 521"/>
                      <a:gd name="T2" fmla="*/ 27 w 266"/>
                      <a:gd name="T3" fmla="*/ 273 h 521"/>
                      <a:gd name="T4" fmla="*/ 111 w 266"/>
                      <a:gd name="T5" fmla="*/ 45 h 521"/>
                      <a:gd name="T6" fmla="*/ 183 w 266"/>
                      <a:gd name="T7" fmla="*/ 3 h 521"/>
                      <a:gd name="T8" fmla="*/ 237 w 266"/>
                      <a:gd name="T9" fmla="*/ 39 h 521"/>
                      <a:gd name="T10" fmla="*/ 261 w 266"/>
                      <a:gd name="T11" fmla="*/ 129 h 521"/>
                      <a:gd name="T12" fmla="*/ 207 w 266"/>
                      <a:gd name="T13" fmla="*/ 273 h 521"/>
                      <a:gd name="T14" fmla="*/ 105 w 266"/>
                      <a:gd name="T15" fmla="*/ 477 h 521"/>
                      <a:gd name="T16" fmla="*/ 45 w 266"/>
                      <a:gd name="T17" fmla="*/ 501 h 521"/>
                      <a:gd name="T18" fmla="*/ 3 w 266"/>
                      <a:gd name="T19" fmla="*/ 483 h 5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6" h="521">
                        <a:moveTo>
                          <a:pt x="3" y="483"/>
                        </a:moveTo>
                        <a:cubicBezTo>
                          <a:pt x="0" y="445"/>
                          <a:pt x="9" y="346"/>
                          <a:pt x="27" y="273"/>
                        </a:cubicBezTo>
                        <a:cubicBezTo>
                          <a:pt x="45" y="200"/>
                          <a:pt x="85" y="90"/>
                          <a:pt x="111" y="45"/>
                        </a:cubicBezTo>
                        <a:cubicBezTo>
                          <a:pt x="137" y="0"/>
                          <a:pt x="162" y="4"/>
                          <a:pt x="183" y="3"/>
                        </a:cubicBezTo>
                        <a:cubicBezTo>
                          <a:pt x="204" y="2"/>
                          <a:pt x="224" y="18"/>
                          <a:pt x="237" y="39"/>
                        </a:cubicBezTo>
                        <a:cubicBezTo>
                          <a:pt x="250" y="60"/>
                          <a:pt x="266" y="90"/>
                          <a:pt x="261" y="129"/>
                        </a:cubicBezTo>
                        <a:cubicBezTo>
                          <a:pt x="256" y="168"/>
                          <a:pt x="233" y="215"/>
                          <a:pt x="207" y="273"/>
                        </a:cubicBezTo>
                        <a:cubicBezTo>
                          <a:pt x="181" y="331"/>
                          <a:pt x="132" y="439"/>
                          <a:pt x="105" y="477"/>
                        </a:cubicBezTo>
                        <a:cubicBezTo>
                          <a:pt x="78" y="515"/>
                          <a:pt x="61" y="501"/>
                          <a:pt x="45" y="501"/>
                        </a:cubicBezTo>
                        <a:cubicBezTo>
                          <a:pt x="29" y="501"/>
                          <a:pt x="6" y="521"/>
                          <a:pt x="3" y="483"/>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53" name="Freeform 14">
                    <a:extLst>
                      <a:ext uri="{FF2B5EF4-FFF2-40B4-BE49-F238E27FC236}">
                        <a16:creationId xmlns:a16="http://schemas.microsoft.com/office/drawing/2014/main" id="{4C415EF1-4FC6-4D74-B6E9-D1C6196D6233}"/>
                      </a:ext>
                    </a:extLst>
                  </p:cNvPr>
                  <p:cNvSpPr>
                    <a:spLocks/>
                  </p:cNvSpPr>
                  <p:nvPr/>
                </p:nvSpPr>
                <p:spPr bwMode="auto">
                  <a:xfrm>
                    <a:off x="2672" y="1593"/>
                    <a:ext cx="392" cy="340"/>
                  </a:xfrm>
                  <a:custGeom>
                    <a:avLst/>
                    <a:gdLst>
                      <a:gd name="T0" fmla="*/ 100 w 392"/>
                      <a:gd name="T1" fmla="*/ 201 h 340"/>
                      <a:gd name="T2" fmla="*/ 16 w 392"/>
                      <a:gd name="T3" fmla="*/ 87 h 340"/>
                      <a:gd name="T4" fmla="*/ 4 w 392"/>
                      <a:gd name="T5" fmla="*/ 45 h 340"/>
                      <a:gd name="T6" fmla="*/ 28 w 392"/>
                      <a:gd name="T7" fmla="*/ 3 h 340"/>
                      <a:gd name="T8" fmla="*/ 130 w 392"/>
                      <a:gd name="T9" fmla="*/ 27 h 340"/>
                      <a:gd name="T10" fmla="*/ 250 w 392"/>
                      <a:gd name="T11" fmla="*/ 75 h 340"/>
                      <a:gd name="T12" fmla="*/ 364 w 392"/>
                      <a:gd name="T13" fmla="*/ 159 h 340"/>
                      <a:gd name="T14" fmla="*/ 388 w 392"/>
                      <a:gd name="T15" fmla="*/ 273 h 340"/>
                      <a:gd name="T16" fmla="*/ 340 w 392"/>
                      <a:gd name="T17" fmla="*/ 333 h 340"/>
                      <a:gd name="T18" fmla="*/ 244 w 392"/>
                      <a:gd name="T19" fmla="*/ 315 h 340"/>
                      <a:gd name="T20" fmla="*/ 100 w 392"/>
                      <a:gd name="T21" fmla="*/ 201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92" h="340">
                        <a:moveTo>
                          <a:pt x="100" y="201"/>
                        </a:moveTo>
                        <a:cubicBezTo>
                          <a:pt x="62" y="163"/>
                          <a:pt x="32" y="113"/>
                          <a:pt x="16" y="87"/>
                        </a:cubicBezTo>
                        <a:cubicBezTo>
                          <a:pt x="0" y="61"/>
                          <a:pt x="2" y="59"/>
                          <a:pt x="4" y="45"/>
                        </a:cubicBezTo>
                        <a:cubicBezTo>
                          <a:pt x="6" y="31"/>
                          <a:pt x="7" y="6"/>
                          <a:pt x="28" y="3"/>
                        </a:cubicBezTo>
                        <a:cubicBezTo>
                          <a:pt x="49" y="0"/>
                          <a:pt x="93" y="15"/>
                          <a:pt x="130" y="27"/>
                        </a:cubicBezTo>
                        <a:cubicBezTo>
                          <a:pt x="167" y="39"/>
                          <a:pt x="211" y="53"/>
                          <a:pt x="250" y="75"/>
                        </a:cubicBezTo>
                        <a:cubicBezTo>
                          <a:pt x="289" y="97"/>
                          <a:pt x="341" y="126"/>
                          <a:pt x="364" y="159"/>
                        </a:cubicBezTo>
                        <a:cubicBezTo>
                          <a:pt x="387" y="192"/>
                          <a:pt x="392" y="244"/>
                          <a:pt x="388" y="273"/>
                        </a:cubicBezTo>
                        <a:cubicBezTo>
                          <a:pt x="384" y="302"/>
                          <a:pt x="364" y="326"/>
                          <a:pt x="340" y="333"/>
                        </a:cubicBezTo>
                        <a:cubicBezTo>
                          <a:pt x="316" y="340"/>
                          <a:pt x="282" y="336"/>
                          <a:pt x="244" y="315"/>
                        </a:cubicBezTo>
                        <a:cubicBezTo>
                          <a:pt x="206" y="294"/>
                          <a:pt x="138" y="239"/>
                          <a:pt x="100" y="201"/>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54" name="Freeform 15">
                    <a:extLst>
                      <a:ext uri="{FF2B5EF4-FFF2-40B4-BE49-F238E27FC236}">
                        <a16:creationId xmlns:a16="http://schemas.microsoft.com/office/drawing/2014/main" id="{B337BEEF-AA24-469E-B3B9-7E8B88369360}"/>
                      </a:ext>
                    </a:extLst>
                  </p:cNvPr>
                  <p:cNvSpPr>
                    <a:spLocks/>
                  </p:cNvSpPr>
                  <p:nvPr/>
                </p:nvSpPr>
                <p:spPr bwMode="auto">
                  <a:xfrm>
                    <a:off x="2412" y="1929"/>
                    <a:ext cx="151" cy="558"/>
                  </a:xfrm>
                  <a:custGeom>
                    <a:avLst/>
                    <a:gdLst>
                      <a:gd name="T0" fmla="*/ 18 w 151"/>
                      <a:gd name="T1" fmla="*/ 165 h 558"/>
                      <a:gd name="T2" fmla="*/ 42 w 151"/>
                      <a:gd name="T3" fmla="*/ 39 h 558"/>
                      <a:gd name="T4" fmla="*/ 66 w 151"/>
                      <a:gd name="T5" fmla="*/ 3 h 558"/>
                      <a:gd name="T6" fmla="*/ 108 w 151"/>
                      <a:gd name="T7" fmla="*/ 27 h 558"/>
                      <a:gd name="T8" fmla="*/ 138 w 151"/>
                      <a:gd name="T9" fmla="*/ 165 h 558"/>
                      <a:gd name="T10" fmla="*/ 144 w 151"/>
                      <a:gd name="T11" fmla="*/ 423 h 558"/>
                      <a:gd name="T12" fmla="*/ 96 w 151"/>
                      <a:gd name="T13" fmla="*/ 543 h 558"/>
                      <a:gd name="T14" fmla="*/ 24 w 151"/>
                      <a:gd name="T15" fmla="*/ 513 h 558"/>
                      <a:gd name="T16" fmla="*/ 0 w 151"/>
                      <a:gd name="T17" fmla="*/ 315 h 558"/>
                      <a:gd name="T18" fmla="*/ 18 w 151"/>
                      <a:gd name="T19" fmla="*/ 165 h 5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1" h="558">
                        <a:moveTo>
                          <a:pt x="18" y="165"/>
                        </a:moveTo>
                        <a:cubicBezTo>
                          <a:pt x="25" y="119"/>
                          <a:pt x="34" y="66"/>
                          <a:pt x="42" y="39"/>
                        </a:cubicBezTo>
                        <a:cubicBezTo>
                          <a:pt x="50" y="12"/>
                          <a:pt x="55" y="5"/>
                          <a:pt x="66" y="3"/>
                        </a:cubicBezTo>
                        <a:cubicBezTo>
                          <a:pt x="77" y="1"/>
                          <a:pt x="96" y="0"/>
                          <a:pt x="108" y="27"/>
                        </a:cubicBezTo>
                        <a:cubicBezTo>
                          <a:pt x="120" y="54"/>
                          <a:pt x="132" y="99"/>
                          <a:pt x="138" y="165"/>
                        </a:cubicBezTo>
                        <a:cubicBezTo>
                          <a:pt x="144" y="231"/>
                          <a:pt x="151" y="360"/>
                          <a:pt x="144" y="423"/>
                        </a:cubicBezTo>
                        <a:cubicBezTo>
                          <a:pt x="137" y="486"/>
                          <a:pt x="116" y="528"/>
                          <a:pt x="96" y="543"/>
                        </a:cubicBezTo>
                        <a:cubicBezTo>
                          <a:pt x="76" y="558"/>
                          <a:pt x="40" y="551"/>
                          <a:pt x="24" y="513"/>
                        </a:cubicBezTo>
                        <a:cubicBezTo>
                          <a:pt x="8" y="475"/>
                          <a:pt x="0" y="372"/>
                          <a:pt x="0" y="315"/>
                        </a:cubicBezTo>
                        <a:cubicBezTo>
                          <a:pt x="0" y="258"/>
                          <a:pt x="11" y="211"/>
                          <a:pt x="18" y="165"/>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55" name="Freeform 16">
                    <a:extLst>
                      <a:ext uri="{FF2B5EF4-FFF2-40B4-BE49-F238E27FC236}">
                        <a16:creationId xmlns:a16="http://schemas.microsoft.com/office/drawing/2014/main" id="{E7643380-3FD7-4EAC-8136-37224EA033A8}"/>
                      </a:ext>
                    </a:extLst>
                  </p:cNvPr>
                  <p:cNvSpPr>
                    <a:spLocks/>
                  </p:cNvSpPr>
                  <p:nvPr/>
                </p:nvSpPr>
                <p:spPr bwMode="auto">
                  <a:xfrm>
                    <a:off x="1907" y="1589"/>
                    <a:ext cx="392" cy="253"/>
                  </a:xfrm>
                  <a:custGeom>
                    <a:avLst/>
                    <a:gdLst>
                      <a:gd name="T0" fmla="*/ 175 w 392"/>
                      <a:gd name="T1" fmla="*/ 61 h 253"/>
                      <a:gd name="T2" fmla="*/ 307 w 392"/>
                      <a:gd name="T3" fmla="*/ 19 h 253"/>
                      <a:gd name="T4" fmla="*/ 367 w 392"/>
                      <a:gd name="T5" fmla="*/ 7 h 253"/>
                      <a:gd name="T6" fmla="*/ 385 w 392"/>
                      <a:gd name="T7" fmla="*/ 61 h 253"/>
                      <a:gd name="T8" fmla="*/ 325 w 392"/>
                      <a:gd name="T9" fmla="*/ 133 h 253"/>
                      <a:gd name="T10" fmla="*/ 193 w 392"/>
                      <a:gd name="T11" fmla="*/ 223 h 253"/>
                      <a:gd name="T12" fmla="*/ 37 w 392"/>
                      <a:gd name="T13" fmla="*/ 247 h 253"/>
                      <a:gd name="T14" fmla="*/ 1 w 392"/>
                      <a:gd name="T15" fmla="*/ 187 h 253"/>
                      <a:gd name="T16" fmla="*/ 43 w 392"/>
                      <a:gd name="T17" fmla="*/ 115 h 253"/>
                      <a:gd name="T18" fmla="*/ 175 w 392"/>
                      <a:gd name="T19" fmla="*/ 61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 h="253">
                        <a:moveTo>
                          <a:pt x="175" y="61"/>
                        </a:moveTo>
                        <a:cubicBezTo>
                          <a:pt x="219" y="45"/>
                          <a:pt x="275" y="28"/>
                          <a:pt x="307" y="19"/>
                        </a:cubicBezTo>
                        <a:cubicBezTo>
                          <a:pt x="339" y="10"/>
                          <a:pt x="354" y="0"/>
                          <a:pt x="367" y="7"/>
                        </a:cubicBezTo>
                        <a:cubicBezTo>
                          <a:pt x="380" y="14"/>
                          <a:pt x="392" y="40"/>
                          <a:pt x="385" y="61"/>
                        </a:cubicBezTo>
                        <a:cubicBezTo>
                          <a:pt x="378" y="82"/>
                          <a:pt x="357" y="106"/>
                          <a:pt x="325" y="133"/>
                        </a:cubicBezTo>
                        <a:cubicBezTo>
                          <a:pt x="293" y="160"/>
                          <a:pt x="241" y="204"/>
                          <a:pt x="193" y="223"/>
                        </a:cubicBezTo>
                        <a:cubicBezTo>
                          <a:pt x="145" y="242"/>
                          <a:pt x="69" y="253"/>
                          <a:pt x="37" y="247"/>
                        </a:cubicBezTo>
                        <a:cubicBezTo>
                          <a:pt x="5" y="241"/>
                          <a:pt x="0" y="209"/>
                          <a:pt x="1" y="187"/>
                        </a:cubicBezTo>
                        <a:cubicBezTo>
                          <a:pt x="2" y="165"/>
                          <a:pt x="15" y="136"/>
                          <a:pt x="43" y="115"/>
                        </a:cubicBezTo>
                        <a:cubicBezTo>
                          <a:pt x="71" y="94"/>
                          <a:pt x="131" y="77"/>
                          <a:pt x="175" y="61"/>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56" name="Freeform 17">
                    <a:extLst>
                      <a:ext uri="{FF2B5EF4-FFF2-40B4-BE49-F238E27FC236}">
                        <a16:creationId xmlns:a16="http://schemas.microsoft.com/office/drawing/2014/main" id="{3CAB570D-4E21-4E32-9E66-F4EC82D38D25}"/>
                      </a:ext>
                    </a:extLst>
                  </p:cNvPr>
                  <p:cNvSpPr>
                    <a:spLocks/>
                  </p:cNvSpPr>
                  <p:nvPr/>
                </p:nvSpPr>
                <p:spPr bwMode="auto">
                  <a:xfrm>
                    <a:off x="2094" y="930"/>
                    <a:ext cx="238" cy="386"/>
                  </a:xfrm>
                  <a:custGeom>
                    <a:avLst/>
                    <a:gdLst>
                      <a:gd name="T0" fmla="*/ 78 w 238"/>
                      <a:gd name="T1" fmla="*/ 270 h 386"/>
                      <a:gd name="T2" fmla="*/ 24 w 238"/>
                      <a:gd name="T3" fmla="*/ 192 h 386"/>
                      <a:gd name="T4" fmla="*/ 0 w 238"/>
                      <a:gd name="T5" fmla="*/ 96 h 386"/>
                      <a:gd name="T6" fmla="*/ 24 w 238"/>
                      <a:gd name="T7" fmla="*/ 12 h 386"/>
                      <a:gd name="T8" fmla="*/ 120 w 238"/>
                      <a:gd name="T9" fmla="*/ 24 h 386"/>
                      <a:gd name="T10" fmla="*/ 180 w 238"/>
                      <a:gd name="T11" fmla="*/ 132 h 386"/>
                      <a:gd name="T12" fmla="*/ 234 w 238"/>
                      <a:gd name="T13" fmla="*/ 306 h 386"/>
                      <a:gd name="T14" fmla="*/ 204 w 238"/>
                      <a:gd name="T15" fmla="*/ 378 h 386"/>
                      <a:gd name="T16" fmla="*/ 168 w 238"/>
                      <a:gd name="T17" fmla="*/ 354 h 386"/>
                      <a:gd name="T18" fmla="*/ 78 w 238"/>
                      <a:gd name="T19" fmla="*/ 270 h 3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8" h="386">
                        <a:moveTo>
                          <a:pt x="78" y="270"/>
                        </a:moveTo>
                        <a:cubicBezTo>
                          <a:pt x="54" y="243"/>
                          <a:pt x="37" y="221"/>
                          <a:pt x="24" y="192"/>
                        </a:cubicBezTo>
                        <a:cubicBezTo>
                          <a:pt x="11" y="163"/>
                          <a:pt x="0" y="126"/>
                          <a:pt x="0" y="96"/>
                        </a:cubicBezTo>
                        <a:cubicBezTo>
                          <a:pt x="0" y="66"/>
                          <a:pt x="4" y="24"/>
                          <a:pt x="24" y="12"/>
                        </a:cubicBezTo>
                        <a:cubicBezTo>
                          <a:pt x="44" y="0"/>
                          <a:pt x="94" y="4"/>
                          <a:pt x="120" y="24"/>
                        </a:cubicBezTo>
                        <a:cubicBezTo>
                          <a:pt x="146" y="44"/>
                          <a:pt x="161" y="85"/>
                          <a:pt x="180" y="132"/>
                        </a:cubicBezTo>
                        <a:cubicBezTo>
                          <a:pt x="199" y="179"/>
                          <a:pt x="230" y="265"/>
                          <a:pt x="234" y="306"/>
                        </a:cubicBezTo>
                        <a:cubicBezTo>
                          <a:pt x="238" y="347"/>
                          <a:pt x="215" y="370"/>
                          <a:pt x="204" y="378"/>
                        </a:cubicBezTo>
                        <a:cubicBezTo>
                          <a:pt x="193" y="386"/>
                          <a:pt x="190" y="372"/>
                          <a:pt x="168" y="354"/>
                        </a:cubicBezTo>
                        <a:cubicBezTo>
                          <a:pt x="146" y="336"/>
                          <a:pt x="102" y="297"/>
                          <a:pt x="78" y="270"/>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grpSp>
            <p:pic>
              <p:nvPicPr>
                <p:cNvPr id="42" name="Picture 18">
                  <a:extLst>
                    <a:ext uri="{FF2B5EF4-FFF2-40B4-BE49-F238E27FC236}">
                      <a16:creationId xmlns:a16="http://schemas.microsoft.com/office/drawing/2014/main" id="{6EBD3EE5-DDAB-4264-B28A-4F1385226FD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80" y="144"/>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 name="Picture 19">
                  <a:extLst>
                    <a:ext uri="{FF2B5EF4-FFF2-40B4-BE49-F238E27FC236}">
                      <a16:creationId xmlns:a16="http://schemas.microsoft.com/office/drawing/2014/main" id="{D2877F99-4A60-4CF4-B12E-8B99BD42C8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574" y="144"/>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20">
                  <a:extLst>
                    <a:ext uri="{FF2B5EF4-FFF2-40B4-BE49-F238E27FC236}">
                      <a16:creationId xmlns:a16="http://schemas.microsoft.com/office/drawing/2014/main" id="{F8C49089-2A47-413E-A0FE-B8C4688CB8C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424" y="336"/>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21">
                  <a:extLst>
                    <a:ext uri="{FF2B5EF4-FFF2-40B4-BE49-F238E27FC236}">
                      <a16:creationId xmlns:a16="http://schemas.microsoft.com/office/drawing/2014/main" id="{24F76684-314C-4933-9E84-09186E663DA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76" y="576"/>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22">
                  <a:extLst>
                    <a:ext uri="{FF2B5EF4-FFF2-40B4-BE49-F238E27FC236}">
                      <a16:creationId xmlns:a16="http://schemas.microsoft.com/office/drawing/2014/main" id="{BD3A3C78-4888-4CBB-9C53-599E180C1EF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574" y="52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 name="Picture 23">
                  <a:extLst>
                    <a:ext uri="{FF2B5EF4-FFF2-40B4-BE49-F238E27FC236}">
                      <a16:creationId xmlns:a16="http://schemas.microsoft.com/office/drawing/2014/main" id="{481D733D-BE5F-42A4-97BE-2452DA4FA26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472" y="76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 name="Picture 24">
                  <a:extLst>
                    <a:ext uri="{FF2B5EF4-FFF2-40B4-BE49-F238E27FC236}">
                      <a16:creationId xmlns:a16="http://schemas.microsoft.com/office/drawing/2014/main" id="{B504DF57-DD75-410F-B061-8228B1005D6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574" y="100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 name="Picture 25">
                  <a:extLst>
                    <a:ext uri="{FF2B5EF4-FFF2-40B4-BE49-F238E27FC236}">
                      <a16:creationId xmlns:a16="http://schemas.microsoft.com/office/drawing/2014/main" id="{BDE0DCFC-63CE-4BF3-B261-E5092FBF5F8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574" y="124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1" name="Group 26">
                <a:extLst>
                  <a:ext uri="{FF2B5EF4-FFF2-40B4-BE49-F238E27FC236}">
                    <a16:creationId xmlns:a16="http://schemas.microsoft.com/office/drawing/2014/main" id="{4FA4A069-2B9F-49AA-9E02-536DF9EDA429}"/>
                  </a:ext>
                </a:extLst>
              </p:cNvPr>
              <p:cNvGrpSpPr>
                <a:grpSpLocks/>
              </p:cNvGrpSpPr>
              <p:nvPr userDrawn="1"/>
            </p:nvGrpSpPr>
            <p:grpSpPr bwMode="auto">
              <a:xfrm>
                <a:off x="4944" y="1008"/>
                <a:ext cx="522" cy="2967"/>
                <a:chOff x="4944" y="1008"/>
                <a:chExt cx="522" cy="2967"/>
              </a:xfrm>
            </p:grpSpPr>
            <p:pic>
              <p:nvPicPr>
                <p:cNvPr id="22" name="Picture 27">
                  <a:extLst>
                    <a:ext uri="{FF2B5EF4-FFF2-40B4-BE49-F238E27FC236}">
                      <a16:creationId xmlns:a16="http://schemas.microsoft.com/office/drawing/2014/main" id="{2F2424A4-6707-47B8-B6A1-6FB17E6DC6D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36" y="100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28">
                  <a:extLst>
                    <a:ext uri="{FF2B5EF4-FFF2-40B4-BE49-F238E27FC236}">
                      <a16:creationId xmlns:a16="http://schemas.microsoft.com/office/drawing/2014/main" id="{E0639E92-FC3A-4111-A5B7-6F749D43102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84" y="1200"/>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9">
                  <a:extLst>
                    <a:ext uri="{FF2B5EF4-FFF2-40B4-BE49-F238E27FC236}">
                      <a16:creationId xmlns:a16="http://schemas.microsoft.com/office/drawing/2014/main" id="{8236CEFA-D3AD-41C4-BB49-1301B73EBAA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36" y="1584"/>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30">
                  <a:extLst>
                    <a:ext uri="{FF2B5EF4-FFF2-40B4-BE49-F238E27FC236}">
                      <a16:creationId xmlns:a16="http://schemas.microsoft.com/office/drawing/2014/main" id="{05EDD834-292F-45FF-9B08-91BE3C408FC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80" y="172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31">
                  <a:extLst>
                    <a:ext uri="{FF2B5EF4-FFF2-40B4-BE49-F238E27FC236}">
                      <a16:creationId xmlns:a16="http://schemas.microsoft.com/office/drawing/2014/main" id="{C138ED65-AB2C-4DE3-9B53-1F0287B077D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40" y="1824"/>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32">
                  <a:extLst>
                    <a:ext uri="{FF2B5EF4-FFF2-40B4-BE49-F238E27FC236}">
                      <a16:creationId xmlns:a16="http://schemas.microsoft.com/office/drawing/2014/main" id="{1DB43F97-D37E-440C-99E3-C19681495AF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88" y="2016"/>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33">
                  <a:extLst>
                    <a:ext uri="{FF2B5EF4-FFF2-40B4-BE49-F238E27FC236}">
                      <a16:creationId xmlns:a16="http://schemas.microsoft.com/office/drawing/2014/main" id="{C94A11A8-3747-45A8-8196-0D6B50AC62C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80" y="2064"/>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34">
                  <a:extLst>
                    <a:ext uri="{FF2B5EF4-FFF2-40B4-BE49-F238E27FC236}">
                      <a16:creationId xmlns:a16="http://schemas.microsoft.com/office/drawing/2014/main" id="{29D250C5-363C-4117-B8DC-7417604815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32" y="235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35">
                  <a:extLst>
                    <a:ext uri="{FF2B5EF4-FFF2-40B4-BE49-F238E27FC236}">
                      <a16:creationId xmlns:a16="http://schemas.microsoft.com/office/drawing/2014/main" id="{C9310408-41D1-4860-A0EE-B0D0171F977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92" y="220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36">
                  <a:extLst>
                    <a:ext uri="{FF2B5EF4-FFF2-40B4-BE49-F238E27FC236}">
                      <a16:creationId xmlns:a16="http://schemas.microsoft.com/office/drawing/2014/main" id="{42A97227-9449-4480-84B8-D0BD382C8B8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92" y="244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37">
                  <a:extLst>
                    <a:ext uri="{FF2B5EF4-FFF2-40B4-BE49-F238E27FC236}">
                      <a16:creationId xmlns:a16="http://schemas.microsoft.com/office/drawing/2014/main" id="{0A8C70D8-6D97-42EF-879F-5221A25465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36" y="259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8">
                  <a:extLst>
                    <a:ext uri="{FF2B5EF4-FFF2-40B4-BE49-F238E27FC236}">
                      <a16:creationId xmlns:a16="http://schemas.microsoft.com/office/drawing/2014/main" id="{AEDCA475-8C8E-4ED6-BBD2-4139664D371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32" y="139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39">
                  <a:extLst>
                    <a:ext uri="{FF2B5EF4-FFF2-40B4-BE49-F238E27FC236}">
                      <a16:creationId xmlns:a16="http://schemas.microsoft.com/office/drawing/2014/main" id="{5742A96A-A5BF-40D6-B5C3-C4CD95CF750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44" y="2736"/>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40">
                  <a:extLst>
                    <a:ext uri="{FF2B5EF4-FFF2-40B4-BE49-F238E27FC236}">
                      <a16:creationId xmlns:a16="http://schemas.microsoft.com/office/drawing/2014/main" id="{E205C8C8-0226-4B64-A1CC-5BF9BCF3EB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92" y="307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41">
                  <a:extLst>
                    <a:ext uri="{FF2B5EF4-FFF2-40B4-BE49-F238E27FC236}">
                      <a16:creationId xmlns:a16="http://schemas.microsoft.com/office/drawing/2014/main" id="{49EBD616-4C36-4870-8193-D3D72DB4E60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32" y="331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42">
                  <a:extLst>
                    <a:ext uri="{FF2B5EF4-FFF2-40B4-BE49-F238E27FC236}">
                      <a16:creationId xmlns:a16="http://schemas.microsoft.com/office/drawing/2014/main" id="{8043C631-33DC-4AEB-AC9C-D567FF4174B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92" y="340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43">
                  <a:extLst>
                    <a:ext uri="{FF2B5EF4-FFF2-40B4-BE49-F238E27FC236}">
                      <a16:creationId xmlns:a16="http://schemas.microsoft.com/office/drawing/2014/main" id="{F02CF12D-3E2A-49AC-8314-9C1DB6ABD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88" y="355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44">
                  <a:extLst>
                    <a:ext uri="{FF2B5EF4-FFF2-40B4-BE49-F238E27FC236}">
                      <a16:creationId xmlns:a16="http://schemas.microsoft.com/office/drawing/2014/main" id="{802059CD-A21C-48EB-A3EC-D6224405124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92" y="379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45">
                  <a:extLst>
                    <a:ext uri="{FF2B5EF4-FFF2-40B4-BE49-F238E27FC236}">
                      <a16:creationId xmlns:a16="http://schemas.microsoft.com/office/drawing/2014/main" id="{279EDCAD-62C2-4A82-81B9-9FA5BA61844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84" y="3696"/>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9" name="Freeform 46">
              <a:extLst>
                <a:ext uri="{FF2B5EF4-FFF2-40B4-BE49-F238E27FC236}">
                  <a16:creationId xmlns:a16="http://schemas.microsoft.com/office/drawing/2014/main" id="{FFCEC19B-21D3-446B-9E49-0F673BCB3107}"/>
                </a:ext>
              </a:extLst>
            </p:cNvPr>
            <p:cNvSpPr>
              <a:spLocks/>
            </p:cNvSpPr>
            <p:nvPr/>
          </p:nvSpPr>
          <p:spPr bwMode="auto">
            <a:xfrm>
              <a:off x="5010" y="3092"/>
              <a:ext cx="750" cy="1222"/>
            </a:xfrm>
            <a:custGeom>
              <a:avLst/>
              <a:gdLst>
                <a:gd name="T0" fmla="*/ 372 w 750"/>
                <a:gd name="T1" fmla="*/ 154 h 1222"/>
                <a:gd name="T2" fmla="*/ 378 w 750"/>
                <a:gd name="T3" fmla="*/ 412 h 1222"/>
                <a:gd name="T4" fmla="*/ 312 w 750"/>
                <a:gd name="T5" fmla="*/ 724 h 1222"/>
                <a:gd name="T6" fmla="*/ 138 w 750"/>
                <a:gd name="T7" fmla="*/ 928 h 1222"/>
                <a:gd name="T8" fmla="*/ 0 w 750"/>
                <a:gd name="T9" fmla="*/ 976 h 1222"/>
                <a:gd name="T10" fmla="*/ 0 w 750"/>
                <a:gd name="T11" fmla="*/ 1222 h 1222"/>
                <a:gd name="T12" fmla="*/ 750 w 750"/>
                <a:gd name="T13" fmla="*/ 1222 h 1222"/>
                <a:gd name="T14" fmla="*/ 750 w 750"/>
                <a:gd name="T15" fmla="*/ 178 h 1222"/>
                <a:gd name="T16" fmla="*/ 372 w 750"/>
                <a:gd name="T17" fmla="*/ 154 h 12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0" h="1222">
                  <a:moveTo>
                    <a:pt x="372" y="154"/>
                  </a:moveTo>
                  <a:cubicBezTo>
                    <a:pt x="309" y="193"/>
                    <a:pt x="388" y="317"/>
                    <a:pt x="378" y="412"/>
                  </a:cubicBezTo>
                  <a:cubicBezTo>
                    <a:pt x="368" y="507"/>
                    <a:pt x="352" y="638"/>
                    <a:pt x="312" y="724"/>
                  </a:cubicBezTo>
                  <a:cubicBezTo>
                    <a:pt x="272" y="810"/>
                    <a:pt x="190" y="886"/>
                    <a:pt x="138" y="928"/>
                  </a:cubicBezTo>
                  <a:cubicBezTo>
                    <a:pt x="86" y="970"/>
                    <a:pt x="23" y="927"/>
                    <a:pt x="0" y="976"/>
                  </a:cubicBezTo>
                  <a:lnTo>
                    <a:pt x="0" y="1222"/>
                  </a:lnTo>
                  <a:lnTo>
                    <a:pt x="750" y="1222"/>
                  </a:lnTo>
                  <a:lnTo>
                    <a:pt x="750" y="178"/>
                  </a:lnTo>
                  <a:cubicBezTo>
                    <a:pt x="687" y="0"/>
                    <a:pt x="451" y="159"/>
                    <a:pt x="372" y="154"/>
                  </a:cubicBezTo>
                  <a:close/>
                </a:path>
              </a:pathLst>
            </a:custGeom>
            <a:gradFill rotWithShape="0">
              <a:gsLst>
                <a:gs pos="0">
                  <a:srgbClr val="FAE3B7"/>
                </a:gs>
                <a:gs pos="17999">
                  <a:srgbClr val="A28949"/>
                </a:gs>
                <a:gs pos="31000">
                  <a:srgbClr val="835E17"/>
                </a:gs>
                <a:gs pos="33000">
                  <a:srgbClr val="BD922A"/>
                </a:gs>
                <a:gs pos="37000">
                  <a:srgbClr val="FBE4AE"/>
                </a:gs>
                <a:gs pos="78999">
                  <a:srgbClr val="BD922A"/>
                </a:gs>
                <a:gs pos="87000">
                  <a:srgbClr val="BD922A"/>
                </a:gs>
                <a:gs pos="100000">
                  <a:srgbClr val="FBE4AE"/>
                </a:gs>
              </a:gsLst>
              <a:lin ang="540000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 name="Freeform 47">
              <a:extLst>
                <a:ext uri="{FF2B5EF4-FFF2-40B4-BE49-F238E27FC236}">
                  <a16:creationId xmlns:a16="http://schemas.microsoft.com/office/drawing/2014/main" id="{AD954664-BA1F-4ED6-AE48-D148CA6F4E81}"/>
                </a:ext>
              </a:extLst>
            </p:cNvPr>
            <p:cNvSpPr>
              <a:spLocks/>
            </p:cNvSpPr>
            <p:nvPr/>
          </p:nvSpPr>
          <p:spPr bwMode="auto">
            <a:xfrm>
              <a:off x="5001" y="3060"/>
              <a:ext cx="768" cy="1260"/>
            </a:xfrm>
            <a:custGeom>
              <a:avLst/>
              <a:gdLst>
                <a:gd name="T0" fmla="*/ 0 w 768"/>
                <a:gd name="T1" fmla="*/ 1260 h 1260"/>
                <a:gd name="T2" fmla="*/ 0 w 768"/>
                <a:gd name="T3" fmla="*/ 1134 h 1260"/>
                <a:gd name="T4" fmla="*/ 210 w 768"/>
                <a:gd name="T5" fmla="*/ 1032 h 1260"/>
                <a:gd name="T6" fmla="*/ 324 w 768"/>
                <a:gd name="T7" fmla="*/ 918 h 1260"/>
                <a:gd name="T8" fmla="*/ 414 w 768"/>
                <a:gd name="T9" fmla="*/ 714 h 1260"/>
                <a:gd name="T10" fmla="*/ 450 w 768"/>
                <a:gd name="T11" fmla="*/ 456 h 1260"/>
                <a:gd name="T12" fmla="*/ 438 w 768"/>
                <a:gd name="T13" fmla="*/ 258 h 1260"/>
                <a:gd name="T14" fmla="*/ 684 w 768"/>
                <a:gd name="T15" fmla="*/ 0 h 1260"/>
                <a:gd name="T16" fmla="*/ 768 w 768"/>
                <a:gd name="T17" fmla="*/ 18 h 1260"/>
                <a:gd name="T18" fmla="*/ 768 w 768"/>
                <a:gd name="T19" fmla="*/ 1254 h 1260"/>
                <a:gd name="T20" fmla="*/ 0 w 768"/>
                <a:gd name="T21" fmla="*/ 1260 h 1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8" h="1260">
                  <a:moveTo>
                    <a:pt x="0" y="1260"/>
                  </a:moveTo>
                  <a:lnTo>
                    <a:pt x="0" y="1134"/>
                  </a:lnTo>
                  <a:lnTo>
                    <a:pt x="210" y="1032"/>
                  </a:lnTo>
                  <a:lnTo>
                    <a:pt x="324" y="918"/>
                  </a:lnTo>
                  <a:lnTo>
                    <a:pt x="414" y="714"/>
                  </a:lnTo>
                  <a:lnTo>
                    <a:pt x="450" y="456"/>
                  </a:lnTo>
                  <a:lnTo>
                    <a:pt x="438" y="258"/>
                  </a:lnTo>
                  <a:lnTo>
                    <a:pt x="684" y="0"/>
                  </a:lnTo>
                  <a:lnTo>
                    <a:pt x="768" y="18"/>
                  </a:lnTo>
                  <a:lnTo>
                    <a:pt x="768" y="1254"/>
                  </a:lnTo>
                  <a:lnTo>
                    <a:pt x="0" y="1260"/>
                  </a:lnTo>
                  <a:close/>
                </a:path>
              </a:pathLst>
            </a:custGeom>
            <a:gradFill rotWithShape="0">
              <a:gsLst>
                <a:gs pos="0">
                  <a:schemeClr val="folHlink"/>
                </a:gs>
                <a:gs pos="50000">
                  <a:schemeClr val="hlink"/>
                </a:gs>
                <a:gs pos="100000">
                  <a:schemeClr val="folHlink"/>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p>
          </p:txBody>
        </p:sp>
        <p:sp>
          <p:nvSpPr>
            <p:cNvPr id="11" name="Freeform 48">
              <a:extLst>
                <a:ext uri="{FF2B5EF4-FFF2-40B4-BE49-F238E27FC236}">
                  <a16:creationId xmlns:a16="http://schemas.microsoft.com/office/drawing/2014/main" id="{0BF26B1E-2E3A-4D51-B0CB-FC75A23CE047}"/>
                </a:ext>
              </a:extLst>
            </p:cNvPr>
            <p:cNvSpPr>
              <a:spLocks/>
            </p:cNvSpPr>
            <p:nvPr/>
          </p:nvSpPr>
          <p:spPr bwMode="auto">
            <a:xfrm>
              <a:off x="4994" y="1775"/>
              <a:ext cx="776" cy="2543"/>
            </a:xfrm>
            <a:custGeom>
              <a:avLst/>
              <a:gdLst>
                <a:gd name="T0" fmla="*/ 550 w 776"/>
                <a:gd name="T1" fmla="*/ 115 h 2543"/>
                <a:gd name="T2" fmla="*/ 460 w 776"/>
                <a:gd name="T3" fmla="*/ 529 h 2543"/>
                <a:gd name="T4" fmla="*/ 298 w 776"/>
                <a:gd name="T5" fmla="*/ 925 h 2543"/>
                <a:gd name="T6" fmla="*/ 76 w 776"/>
                <a:gd name="T7" fmla="*/ 1267 h 2543"/>
                <a:gd name="T8" fmla="*/ 4 w 776"/>
                <a:gd name="T9" fmla="*/ 1339 h 2543"/>
                <a:gd name="T10" fmla="*/ 100 w 776"/>
                <a:gd name="T11" fmla="*/ 1351 h 2543"/>
                <a:gd name="T12" fmla="*/ 286 w 776"/>
                <a:gd name="T13" fmla="*/ 1399 h 2543"/>
                <a:gd name="T14" fmla="*/ 394 w 776"/>
                <a:gd name="T15" fmla="*/ 1525 h 2543"/>
                <a:gd name="T16" fmla="*/ 478 w 776"/>
                <a:gd name="T17" fmla="*/ 1705 h 2543"/>
                <a:gd name="T18" fmla="*/ 478 w 776"/>
                <a:gd name="T19" fmla="*/ 1969 h 2543"/>
                <a:gd name="T20" fmla="*/ 370 w 776"/>
                <a:gd name="T21" fmla="*/ 2263 h 2543"/>
                <a:gd name="T22" fmla="*/ 124 w 776"/>
                <a:gd name="T23" fmla="*/ 2479 h 2543"/>
                <a:gd name="T24" fmla="*/ 22 w 776"/>
                <a:gd name="T25" fmla="*/ 2515 h 2543"/>
                <a:gd name="T26" fmla="*/ 196 w 776"/>
                <a:gd name="T27" fmla="*/ 2533 h 2543"/>
                <a:gd name="T28" fmla="*/ 388 w 776"/>
                <a:gd name="T29" fmla="*/ 2455 h 2543"/>
                <a:gd name="T30" fmla="*/ 502 w 776"/>
                <a:gd name="T31" fmla="*/ 2299 h 2543"/>
                <a:gd name="T32" fmla="*/ 598 w 776"/>
                <a:gd name="T33" fmla="*/ 2197 h 2543"/>
                <a:gd name="T34" fmla="*/ 694 w 776"/>
                <a:gd name="T35" fmla="*/ 2197 h 2543"/>
                <a:gd name="T36" fmla="*/ 742 w 776"/>
                <a:gd name="T37" fmla="*/ 2230 h 2543"/>
                <a:gd name="T38" fmla="*/ 712 w 776"/>
                <a:gd name="T39" fmla="*/ 2137 h 2543"/>
                <a:gd name="T40" fmla="*/ 664 w 776"/>
                <a:gd name="T41" fmla="*/ 1807 h 2543"/>
                <a:gd name="T42" fmla="*/ 670 w 776"/>
                <a:gd name="T43" fmla="*/ 1561 h 2543"/>
                <a:gd name="T44" fmla="*/ 718 w 776"/>
                <a:gd name="T45" fmla="*/ 1393 h 2543"/>
                <a:gd name="T46" fmla="*/ 748 w 776"/>
                <a:gd name="T47" fmla="*/ 1219 h 2543"/>
                <a:gd name="T48" fmla="*/ 550 w 776"/>
                <a:gd name="T49" fmla="*/ 115 h 2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76" h="2543">
                  <a:moveTo>
                    <a:pt x="550" y="115"/>
                  </a:moveTo>
                  <a:cubicBezTo>
                    <a:pt x="502" y="0"/>
                    <a:pt x="502" y="394"/>
                    <a:pt x="460" y="529"/>
                  </a:cubicBezTo>
                  <a:cubicBezTo>
                    <a:pt x="418" y="664"/>
                    <a:pt x="362" y="802"/>
                    <a:pt x="298" y="925"/>
                  </a:cubicBezTo>
                  <a:cubicBezTo>
                    <a:pt x="234" y="1048"/>
                    <a:pt x="125" y="1198"/>
                    <a:pt x="76" y="1267"/>
                  </a:cubicBezTo>
                  <a:cubicBezTo>
                    <a:pt x="27" y="1336"/>
                    <a:pt x="0" y="1325"/>
                    <a:pt x="4" y="1339"/>
                  </a:cubicBezTo>
                  <a:cubicBezTo>
                    <a:pt x="8" y="1353"/>
                    <a:pt x="53" y="1341"/>
                    <a:pt x="100" y="1351"/>
                  </a:cubicBezTo>
                  <a:cubicBezTo>
                    <a:pt x="147" y="1361"/>
                    <a:pt x="237" y="1370"/>
                    <a:pt x="286" y="1399"/>
                  </a:cubicBezTo>
                  <a:cubicBezTo>
                    <a:pt x="335" y="1428"/>
                    <a:pt x="362" y="1474"/>
                    <a:pt x="394" y="1525"/>
                  </a:cubicBezTo>
                  <a:cubicBezTo>
                    <a:pt x="426" y="1576"/>
                    <a:pt x="464" y="1631"/>
                    <a:pt x="478" y="1705"/>
                  </a:cubicBezTo>
                  <a:cubicBezTo>
                    <a:pt x="492" y="1779"/>
                    <a:pt x="496" y="1876"/>
                    <a:pt x="478" y="1969"/>
                  </a:cubicBezTo>
                  <a:cubicBezTo>
                    <a:pt x="460" y="2062"/>
                    <a:pt x="429" y="2178"/>
                    <a:pt x="370" y="2263"/>
                  </a:cubicBezTo>
                  <a:cubicBezTo>
                    <a:pt x="311" y="2348"/>
                    <a:pt x="238" y="2428"/>
                    <a:pt x="124" y="2479"/>
                  </a:cubicBezTo>
                  <a:cubicBezTo>
                    <a:pt x="66" y="2521"/>
                    <a:pt x="10" y="2506"/>
                    <a:pt x="22" y="2515"/>
                  </a:cubicBezTo>
                  <a:cubicBezTo>
                    <a:pt x="34" y="2524"/>
                    <a:pt x="135" y="2543"/>
                    <a:pt x="196" y="2533"/>
                  </a:cubicBezTo>
                  <a:cubicBezTo>
                    <a:pt x="257" y="2523"/>
                    <a:pt x="337" y="2494"/>
                    <a:pt x="388" y="2455"/>
                  </a:cubicBezTo>
                  <a:cubicBezTo>
                    <a:pt x="439" y="2416"/>
                    <a:pt x="467" y="2342"/>
                    <a:pt x="502" y="2299"/>
                  </a:cubicBezTo>
                  <a:cubicBezTo>
                    <a:pt x="537" y="2256"/>
                    <a:pt x="566" y="2214"/>
                    <a:pt x="598" y="2197"/>
                  </a:cubicBezTo>
                  <a:cubicBezTo>
                    <a:pt x="630" y="2180"/>
                    <a:pt x="670" y="2191"/>
                    <a:pt x="694" y="2197"/>
                  </a:cubicBezTo>
                  <a:cubicBezTo>
                    <a:pt x="718" y="2203"/>
                    <a:pt x="739" y="2240"/>
                    <a:pt x="742" y="2230"/>
                  </a:cubicBezTo>
                  <a:cubicBezTo>
                    <a:pt x="745" y="2220"/>
                    <a:pt x="725" y="2207"/>
                    <a:pt x="712" y="2137"/>
                  </a:cubicBezTo>
                  <a:cubicBezTo>
                    <a:pt x="699" y="2067"/>
                    <a:pt x="671" y="1903"/>
                    <a:pt x="664" y="1807"/>
                  </a:cubicBezTo>
                  <a:cubicBezTo>
                    <a:pt x="657" y="1711"/>
                    <a:pt x="661" y="1630"/>
                    <a:pt x="670" y="1561"/>
                  </a:cubicBezTo>
                  <a:cubicBezTo>
                    <a:pt x="679" y="1492"/>
                    <a:pt x="705" y="1450"/>
                    <a:pt x="718" y="1393"/>
                  </a:cubicBezTo>
                  <a:cubicBezTo>
                    <a:pt x="731" y="1336"/>
                    <a:pt x="776" y="1427"/>
                    <a:pt x="748" y="1219"/>
                  </a:cubicBezTo>
                  <a:cubicBezTo>
                    <a:pt x="720" y="1011"/>
                    <a:pt x="598" y="230"/>
                    <a:pt x="550" y="115"/>
                  </a:cubicBezTo>
                  <a:close/>
                </a:path>
              </a:pathLst>
            </a:custGeom>
            <a:gradFill rotWithShape="0">
              <a:gsLst>
                <a:gs pos="0">
                  <a:schemeClr val="accent2">
                    <a:gamma/>
                    <a:shade val="46275"/>
                    <a:invGamma/>
                  </a:schemeClr>
                </a:gs>
                <a:gs pos="50000">
                  <a:schemeClr val="accent2"/>
                </a:gs>
                <a:gs pos="100000">
                  <a:schemeClr val="accent2">
                    <a:gamma/>
                    <a:shade val="46275"/>
                    <a:invGamma/>
                  </a:schemeClr>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p>
          </p:txBody>
        </p:sp>
        <p:sp>
          <p:nvSpPr>
            <p:cNvPr id="12" name="Freeform 49" descr="kimonopat1">
              <a:extLst>
                <a:ext uri="{FF2B5EF4-FFF2-40B4-BE49-F238E27FC236}">
                  <a16:creationId xmlns:a16="http://schemas.microsoft.com/office/drawing/2014/main" id="{18A4CF70-6A7D-467D-A7D7-EE99E069F500}"/>
                </a:ext>
              </a:extLst>
            </p:cNvPr>
            <p:cNvSpPr>
              <a:spLocks/>
            </p:cNvSpPr>
            <p:nvPr/>
          </p:nvSpPr>
          <p:spPr bwMode="auto">
            <a:xfrm>
              <a:off x="5046" y="2229"/>
              <a:ext cx="617" cy="1376"/>
            </a:xfrm>
            <a:custGeom>
              <a:avLst/>
              <a:gdLst>
                <a:gd name="T0" fmla="*/ 486 w 617"/>
                <a:gd name="T1" fmla="*/ 3 h 1376"/>
                <a:gd name="T2" fmla="*/ 402 w 617"/>
                <a:gd name="T3" fmla="*/ 381 h 1376"/>
                <a:gd name="T4" fmla="*/ 216 w 617"/>
                <a:gd name="T5" fmla="*/ 777 h 1376"/>
                <a:gd name="T6" fmla="*/ 0 w 617"/>
                <a:gd name="T7" fmla="*/ 1119 h 1376"/>
                <a:gd name="T8" fmla="*/ 102 w 617"/>
                <a:gd name="T9" fmla="*/ 1101 h 1376"/>
                <a:gd name="T10" fmla="*/ 282 w 617"/>
                <a:gd name="T11" fmla="*/ 1119 h 1376"/>
                <a:gd name="T12" fmla="*/ 378 w 617"/>
                <a:gd name="T13" fmla="*/ 1185 h 1376"/>
                <a:gd name="T14" fmla="*/ 432 w 617"/>
                <a:gd name="T15" fmla="*/ 1269 h 1376"/>
                <a:gd name="T16" fmla="*/ 444 w 617"/>
                <a:gd name="T17" fmla="*/ 1365 h 1376"/>
                <a:gd name="T18" fmla="*/ 498 w 617"/>
                <a:gd name="T19" fmla="*/ 1203 h 1376"/>
                <a:gd name="T20" fmla="*/ 564 w 617"/>
                <a:gd name="T21" fmla="*/ 825 h 1376"/>
                <a:gd name="T22" fmla="*/ 606 w 617"/>
                <a:gd name="T23" fmla="*/ 363 h 1376"/>
                <a:gd name="T24" fmla="*/ 486 w 617"/>
                <a:gd name="T25" fmla="*/ 3 h 13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17" h="1376">
                  <a:moveTo>
                    <a:pt x="486" y="3"/>
                  </a:moveTo>
                  <a:cubicBezTo>
                    <a:pt x="452" y="6"/>
                    <a:pt x="447" y="252"/>
                    <a:pt x="402" y="381"/>
                  </a:cubicBezTo>
                  <a:cubicBezTo>
                    <a:pt x="357" y="510"/>
                    <a:pt x="283" y="654"/>
                    <a:pt x="216" y="777"/>
                  </a:cubicBezTo>
                  <a:cubicBezTo>
                    <a:pt x="149" y="900"/>
                    <a:pt x="19" y="1065"/>
                    <a:pt x="0" y="1119"/>
                  </a:cubicBezTo>
                  <a:cubicBezTo>
                    <a:pt x="48" y="1119"/>
                    <a:pt x="55" y="1101"/>
                    <a:pt x="102" y="1101"/>
                  </a:cubicBezTo>
                  <a:cubicBezTo>
                    <a:pt x="149" y="1101"/>
                    <a:pt x="236" y="1105"/>
                    <a:pt x="282" y="1119"/>
                  </a:cubicBezTo>
                  <a:cubicBezTo>
                    <a:pt x="328" y="1133"/>
                    <a:pt x="353" y="1160"/>
                    <a:pt x="378" y="1185"/>
                  </a:cubicBezTo>
                  <a:cubicBezTo>
                    <a:pt x="403" y="1210"/>
                    <a:pt x="421" y="1239"/>
                    <a:pt x="432" y="1269"/>
                  </a:cubicBezTo>
                  <a:cubicBezTo>
                    <a:pt x="443" y="1299"/>
                    <a:pt x="433" y="1376"/>
                    <a:pt x="444" y="1365"/>
                  </a:cubicBezTo>
                  <a:cubicBezTo>
                    <a:pt x="455" y="1354"/>
                    <a:pt x="478" y="1293"/>
                    <a:pt x="498" y="1203"/>
                  </a:cubicBezTo>
                  <a:cubicBezTo>
                    <a:pt x="518" y="1113"/>
                    <a:pt x="546" y="965"/>
                    <a:pt x="564" y="825"/>
                  </a:cubicBezTo>
                  <a:cubicBezTo>
                    <a:pt x="582" y="685"/>
                    <a:pt x="617" y="496"/>
                    <a:pt x="606" y="363"/>
                  </a:cubicBezTo>
                  <a:cubicBezTo>
                    <a:pt x="595" y="230"/>
                    <a:pt x="520" y="0"/>
                    <a:pt x="486" y="3"/>
                  </a:cubicBezTo>
                  <a:close/>
                </a:path>
              </a:pathLst>
            </a:custGeom>
            <a:blipFill dpi="0" rotWithShape="0">
              <a:blip r:embed="rId3"/>
              <a:srcRect/>
              <a:tile tx="0" ty="0" sx="100000" sy="100000" flip="none" algn="tl"/>
            </a:bli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3" name="Freeform 50" descr="kimonopat1">
              <a:extLst>
                <a:ext uri="{FF2B5EF4-FFF2-40B4-BE49-F238E27FC236}">
                  <a16:creationId xmlns:a16="http://schemas.microsoft.com/office/drawing/2014/main" id="{F83B77C6-DB36-4F6D-9ACA-257EBBDF2226}"/>
                </a:ext>
              </a:extLst>
            </p:cNvPr>
            <p:cNvSpPr>
              <a:spLocks/>
            </p:cNvSpPr>
            <p:nvPr/>
          </p:nvSpPr>
          <p:spPr bwMode="auto">
            <a:xfrm>
              <a:off x="5193" y="269"/>
              <a:ext cx="576" cy="3180"/>
            </a:xfrm>
            <a:custGeom>
              <a:avLst/>
              <a:gdLst>
                <a:gd name="T0" fmla="*/ 42 w 576"/>
                <a:gd name="T1" fmla="*/ 61 h 3180"/>
                <a:gd name="T2" fmla="*/ 156 w 576"/>
                <a:gd name="T3" fmla="*/ 517 h 3180"/>
                <a:gd name="T4" fmla="*/ 288 w 576"/>
                <a:gd name="T5" fmla="*/ 991 h 3180"/>
                <a:gd name="T6" fmla="*/ 414 w 576"/>
                <a:gd name="T7" fmla="*/ 1435 h 3180"/>
                <a:gd name="T8" fmla="*/ 576 w 576"/>
                <a:gd name="T9" fmla="*/ 1807 h 3180"/>
                <a:gd name="T10" fmla="*/ 576 w 576"/>
                <a:gd name="T11" fmla="*/ 3055 h 3180"/>
                <a:gd name="T12" fmla="*/ 414 w 576"/>
                <a:gd name="T13" fmla="*/ 2557 h 3180"/>
                <a:gd name="T14" fmla="*/ 252 w 576"/>
                <a:gd name="T15" fmla="*/ 1765 h 3180"/>
                <a:gd name="T16" fmla="*/ 126 w 576"/>
                <a:gd name="T17" fmla="*/ 961 h 3180"/>
                <a:gd name="T18" fmla="*/ 12 w 576"/>
                <a:gd name="T19" fmla="*/ 151 h 3180"/>
                <a:gd name="T20" fmla="*/ 42 w 576"/>
                <a:gd name="T21" fmla="*/ 61 h 31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76" h="3180">
                  <a:moveTo>
                    <a:pt x="42" y="61"/>
                  </a:moveTo>
                  <a:cubicBezTo>
                    <a:pt x="66" y="122"/>
                    <a:pt x="115" y="362"/>
                    <a:pt x="156" y="517"/>
                  </a:cubicBezTo>
                  <a:cubicBezTo>
                    <a:pt x="197" y="672"/>
                    <a:pt x="245" y="838"/>
                    <a:pt x="288" y="991"/>
                  </a:cubicBezTo>
                  <a:cubicBezTo>
                    <a:pt x="331" y="1144"/>
                    <a:pt x="366" y="1299"/>
                    <a:pt x="414" y="1435"/>
                  </a:cubicBezTo>
                  <a:cubicBezTo>
                    <a:pt x="462" y="1571"/>
                    <a:pt x="549" y="1537"/>
                    <a:pt x="576" y="1807"/>
                  </a:cubicBezTo>
                  <a:lnTo>
                    <a:pt x="576" y="3055"/>
                  </a:lnTo>
                  <a:cubicBezTo>
                    <a:pt x="549" y="3180"/>
                    <a:pt x="468" y="2772"/>
                    <a:pt x="414" y="2557"/>
                  </a:cubicBezTo>
                  <a:cubicBezTo>
                    <a:pt x="360" y="2342"/>
                    <a:pt x="300" y="2031"/>
                    <a:pt x="252" y="1765"/>
                  </a:cubicBezTo>
                  <a:cubicBezTo>
                    <a:pt x="204" y="1499"/>
                    <a:pt x="166" y="1230"/>
                    <a:pt x="126" y="961"/>
                  </a:cubicBezTo>
                  <a:cubicBezTo>
                    <a:pt x="86" y="692"/>
                    <a:pt x="24" y="299"/>
                    <a:pt x="12" y="151"/>
                  </a:cubicBezTo>
                  <a:cubicBezTo>
                    <a:pt x="0" y="3"/>
                    <a:pt x="18" y="0"/>
                    <a:pt x="42" y="61"/>
                  </a:cubicBezTo>
                  <a:close/>
                </a:path>
              </a:pathLst>
            </a:custGeom>
            <a:blipFill dpi="0" rotWithShape="0">
              <a:blip r:embed="rId3"/>
              <a:srcRect/>
              <a:tile tx="0" ty="0" sx="100000" sy="100000" flip="none" algn="tl"/>
            </a:bli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4" name="Freeform 51">
              <a:extLst>
                <a:ext uri="{FF2B5EF4-FFF2-40B4-BE49-F238E27FC236}">
                  <a16:creationId xmlns:a16="http://schemas.microsoft.com/office/drawing/2014/main" id="{26D7A8C1-F0F7-46C3-9069-6CECFC7E4B6D}"/>
                </a:ext>
              </a:extLst>
            </p:cNvPr>
            <p:cNvSpPr>
              <a:spLocks/>
            </p:cNvSpPr>
            <p:nvPr/>
          </p:nvSpPr>
          <p:spPr bwMode="auto">
            <a:xfrm>
              <a:off x="5197" y="165"/>
              <a:ext cx="573" cy="1935"/>
            </a:xfrm>
            <a:custGeom>
              <a:avLst/>
              <a:gdLst>
                <a:gd name="T0" fmla="*/ 69 w 573"/>
                <a:gd name="T1" fmla="*/ 63 h 1935"/>
                <a:gd name="T2" fmla="*/ 207 w 573"/>
                <a:gd name="T3" fmla="*/ 549 h 1935"/>
                <a:gd name="T4" fmla="*/ 381 w 573"/>
                <a:gd name="T5" fmla="*/ 1101 h 1935"/>
                <a:gd name="T6" fmla="*/ 573 w 573"/>
                <a:gd name="T7" fmla="*/ 1575 h 1935"/>
                <a:gd name="T8" fmla="*/ 573 w 573"/>
                <a:gd name="T9" fmla="*/ 1935 h 1935"/>
                <a:gd name="T10" fmla="*/ 321 w 573"/>
                <a:gd name="T11" fmla="*/ 1449 h 1935"/>
                <a:gd name="T12" fmla="*/ 147 w 573"/>
                <a:gd name="T13" fmla="*/ 699 h 1935"/>
                <a:gd name="T14" fmla="*/ 15 w 573"/>
                <a:gd name="T15" fmla="*/ 171 h 1935"/>
                <a:gd name="T16" fmla="*/ 69 w 573"/>
                <a:gd name="T17" fmla="*/ 63 h 19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3" h="1935">
                  <a:moveTo>
                    <a:pt x="69" y="63"/>
                  </a:moveTo>
                  <a:cubicBezTo>
                    <a:pt x="101" y="126"/>
                    <a:pt x="155" y="376"/>
                    <a:pt x="207" y="549"/>
                  </a:cubicBezTo>
                  <a:cubicBezTo>
                    <a:pt x="259" y="722"/>
                    <a:pt x="320" y="930"/>
                    <a:pt x="381" y="1101"/>
                  </a:cubicBezTo>
                  <a:cubicBezTo>
                    <a:pt x="442" y="1272"/>
                    <a:pt x="541" y="1436"/>
                    <a:pt x="573" y="1575"/>
                  </a:cubicBezTo>
                  <a:lnTo>
                    <a:pt x="573" y="1935"/>
                  </a:lnTo>
                  <a:cubicBezTo>
                    <a:pt x="531" y="1914"/>
                    <a:pt x="392" y="1655"/>
                    <a:pt x="321" y="1449"/>
                  </a:cubicBezTo>
                  <a:cubicBezTo>
                    <a:pt x="250" y="1243"/>
                    <a:pt x="198" y="912"/>
                    <a:pt x="147" y="699"/>
                  </a:cubicBezTo>
                  <a:cubicBezTo>
                    <a:pt x="96" y="486"/>
                    <a:pt x="30" y="274"/>
                    <a:pt x="15" y="171"/>
                  </a:cubicBezTo>
                  <a:cubicBezTo>
                    <a:pt x="0" y="68"/>
                    <a:pt x="37" y="0"/>
                    <a:pt x="69" y="63"/>
                  </a:cubicBezTo>
                  <a:close/>
                </a:path>
              </a:pathLst>
            </a:custGeom>
            <a:gradFill rotWithShape="0">
              <a:gsLst>
                <a:gs pos="0">
                  <a:schemeClr val="bg1"/>
                </a:gs>
                <a:gs pos="100000">
                  <a:schemeClr val="folHlink"/>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5" name="Freeform 52">
              <a:extLst>
                <a:ext uri="{FF2B5EF4-FFF2-40B4-BE49-F238E27FC236}">
                  <a16:creationId xmlns:a16="http://schemas.microsoft.com/office/drawing/2014/main" id="{64798938-51E7-474E-BFCC-BFA8A6817497}"/>
                </a:ext>
              </a:extLst>
            </p:cNvPr>
            <p:cNvSpPr>
              <a:spLocks/>
            </p:cNvSpPr>
            <p:nvPr/>
          </p:nvSpPr>
          <p:spPr bwMode="auto">
            <a:xfrm>
              <a:off x="5004" y="0"/>
              <a:ext cx="363" cy="2112"/>
            </a:xfrm>
            <a:custGeom>
              <a:avLst/>
              <a:gdLst>
                <a:gd name="T0" fmla="*/ 0 w 363"/>
                <a:gd name="T1" fmla="*/ 2094 h 2112"/>
                <a:gd name="T2" fmla="*/ 66 w 363"/>
                <a:gd name="T3" fmla="*/ 1992 h 2112"/>
                <a:gd name="T4" fmla="*/ 150 w 363"/>
                <a:gd name="T5" fmla="*/ 1464 h 2112"/>
                <a:gd name="T6" fmla="*/ 234 w 363"/>
                <a:gd name="T7" fmla="*/ 678 h 2112"/>
                <a:gd name="T8" fmla="*/ 324 w 363"/>
                <a:gd name="T9" fmla="*/ 0 h 2112"/>
                <a:gd name="T10" fmla="*/ 0 w 363"/>
                <a:gd name="T11" fmla="*/ 0 h 2112"/>
                <a:gd name="T12" fmla="*/ 0 w 363"/>
                <a:gd name="T13" fmla="*/ 2094 h 21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3" h="2112">
                  <a:moveTo>
                    <a:pt x="0" y="2094"/>
                  </a:moveTo>
                  <a:cubicBezTo>
                    <a:pt x="54" y="2112"/>
                    <a:pt x="41" y="2097"/>
                    <a:pt x="66" y="1992"/>
                  </a:cubicBezTo>
                  <a:cubicBezTo>
                    <a:pt x="91" y="1887"/>
                    <a:pt x="122" y="1683"/>
                    <a:pt x="150" y="1464"/>
                  </a:cubicBezTo>
                  <a:cubicBezTo>
                    <a:pt x="178" y="1245"/>
                    <a:pt x="205" y="922"/>
                    <a:pt x="234" y="678"/>
                  </a:cubicBezTo>
                  <a:cubicBezTo>
                    <a:pt x="263" y="434"/>
                    <a:pt x="363" y="113"/>
                    <a:pt x="324" y="0"/>
                  </a:cubicBezTo>
                  <a:lnTo>
                    <a:pt x="0" y="0"/>
                  </a:lnTo>
                  <a:cubicBezTo>
                    <a:pt x="0" y="0"/>
                    <a:pt x="0" y="2094"/>
                    <a:pt x="0" y="2094"/>
                  </a:cubicBezTo>
                  <a:close/>
                </a:path>
              </a:pathLst>
            </a:custGeom>
            <a:gradFill rotWithShape="0">
              <a:gsLst>
                <a:gs pos="0">
                  <a:srgbClr val="FAE3B7"/>
                </a:gs>
                <a:gs pos="17999">
                  <a:srgbClr val="A28949"/>
                </a:gs>
                <a:gs pos="31000">
                  <a:srgbClr val="835E17"/>
                </a:gs>
                <a:gs pos="33000">
                  <a:srgbClr val="BD922A"/>
                </a:gs>
                <a:gs pos="37000">
                  <a:srgbClr val="FBE4AE"/>
                </a:gs>
                <a:gs pos="78999">
                  <a:srgbClr val="BD922A"/>
                </a:gs>
                <a:gs pos="87000">
                  <a:srgbClr val="BD922A"/>
                </a:gs>
                <a:gs pos="100000">
                  <a:srgbClr val="FBE4AE"/>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6" name="Freeform 53">
              <a:extLst>
                <a:ext uri="{FF2B5EF4-FFF2-40B4-BE49-F238E27FC236}">
                  <a16:creationId xmlns:a16="http://schemas.microsoft.com/office/drawing/2014/main" id="{C01BB952-F0BC-477D-9DC5-9660CD4C065C}"/>
                </a:ext>
              </a:extLst>
            </p:cNvPr>
            <p:cNvSpPr>
              <a:spLocks/>
            </p:cNvSpPr>
            <p:nvPr/>
          </p:nvSpPr>
          <p:spPr bwMode="auto">
            <a:xfrm>
              <a:off x="5004" y="1"/>
              <a:ext cx="189" cy="2112"/>
            </a:xfrm>
            <a:custGeom>
              <a:avLst/>
              <a:gdLst>
                <a:gd name="T0" fmla="*/ 0 w 363"/>
                <a:gd name="T1" fmla="*/ 2094 h 2112"/>
                <a:gd name="T2" fmla="*/ 66 w 363"/>
                <a:gd name="T3" fmla="*/ 1992 h 2112"/>
                <a:gd name="T4" fmla="*/ 150 w 363"/>
                <a:gd name="T5" fmla="*/ 1464 h 2112"/>
                <a:gd name="T6" fmla="*/ 234 w 363"/>
                <a:gd name="T7" fmla="*/ 678 h 2112"/>
                <a:gd name="T8" fmla="*/ 324 w 363"/>
                <a:gd name="T9" fmla="*/ 0 h 2112"/>
                <a:gd name="T10" fmla="*/ 0 w 363"/>
                <a:gd name="T11" fmla="*/ 0 h 2112"/>
                <a:gd name="T12" fmla="*/ 0 w 363"/>
                <a:gd name="T13" fmla="*/ 2094 h 2112"/>
              </a:gdLst>
              <a:ahLst/>
              <a:cxnLst>
                <a:cxn ang="0">
                  <a:pos x="T0" y="T1"/>
                </a:cxn>
                <a:cxn ang="0">
                  <a:pos x="T2" y="T3"/>
                </a:cxn>
                <a:cxn ang="0">
                  <a:pos x="T4" y="T5"/>
                </a:cxn>
                <a:cxn ang="0">
                  <a:pos x="T6" y="T7"/>
                </a:cxn>
                <a:cxn ang="0">
                  <a:pos x="T8" y="T9"/>
                </a:cxn>
                <a:cxn ang="0">
                  <a:pos x="T10" y="T11"/>
                </a:cxn>
                <a:cxn ang="0">
                  <a:pos x="T12" y="T13"/>
                </a:cxn>
              </a:cxnLst>
              <a:rect l="0" t="0" r="r" b="b"/>
              <a:pathLst>
                <a:path w="363" h="2112">
                  <a:moveTo>
                    <a:pt x="0" y="2094"/>
                  </a:moveTo>
                  <a:cubicBezTo>
                    <a:pt x="54" y="2112"/>
                    <a:pt x="41" y="2097"/>
                    <a:pt x="66" y="1992"/>
                  </a:cubicBezTo>
                  <a:cubicBezTo>
                    <a:pt x="91" y="1887"/>
                    <a:pt x="122" y="1683"/>
                    <a:pt x="150" y="1464"/>
                  </a:cubicBezTo>
                  <a:cubicBezTo>
                    <a:pt x="178" y="1245"/>
                    <a:pt x="205" y="922"/>
                    <a:pt x="234" y="678"/>
                  </a:cubicBezTo>
                  <a:cubicBezTo>
                    <a:pt x="263" y="434"/>
                    <a:pt x="363" y="113"/>
                    <a:pt x="324" y="0"/>
                  </a:cubicBezTo>
                  <a:lnTo>
                    <a:pt x="0" y="0"/>
                  </a:lnTo>
                  <a:cubicBezTo>
                    <a:pt x="0" y="0"/>
                    <a:pt x="0" y="2094"/>
                    <a:pt x="0" y="2094"/>
                  </a:cubicBezTo>
                  <a:close/>
                </a:path>
              </a:pathLst>
            </a:custGeom>
            <a:gradFill rotWithShape="0">
              <a:gsLst>
                <a:gs pos="0">
                  <a:schemeClr val="folHlink"/>
                </a:gs>
                <a:gs pos="50000">
                  <a:schemeClr val="hlink"/>
                </a:gs>
                <a:gs pos="100000">
                  <a:schemeClr val="folHlink"/>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p>
          </p:txBody>
        </p:sp>
        <p:sp>
          <p:nvSpPr>
            <p:cNvPr id="17" name="Rectangle 54">
              <a:extLst>
                <a:ext uri="{FF2B5EF4-FFF2-40B4-BE49-F238E27FC236}">
                  <a16:creationId xmlns:a16="http://schemas.microsoft.com/office/drawing/2014/main" id="{CDAD5789-F865-449C-BC7B-DB1183C31819}"/>
                </a:ext>
              </a:extLst>
            </p:cNvPr>
            <p:cNvSpPr>
              <a:spLocks noChangeArrowheads="1"/>
            </p:cNvSpPr>
            <p:nvPr/>
          </p:nvSpPr>
          <p:spPr bwMode="auto">
            <a:xfrm>
              <a:off x="4955" y="1"/>
              <a:ext cx="56" cy="4320"/>
            </a:xfrm>
            <a:prstGeom prst="rect">
              <a:avLst/>
            </a:prstGeom>
            <a:gradFill rotWithShape="0">
              <a:gsLst>
                <a:gs pos="0">
                  <a:srgbClr val="FAE3B7"/>
                </a:gs>
                <a:gs pos="17999">
                  <a:srgbClr val="A28949"/>
                </a:gs>
                <a:gs pos="31000">
                  <a:srgbClr val="835E17"/>
                </a:gs>
                <a:gs pos="33000">
                  <a:srgbClr val="BD922A"/>
                </a:gs>
                <a:gs pos="37000">
                  <a:srgbClr val="FBE4AE"/>
                </a:gs>
                <a:gs pos="78999">
                  <a:srgbClr val="BD922A"/>
                </a:gs>
                <a:gs pos="87000">
                  <a:srgbClr val="BD922A"/>
                </a:gs>
                <a:gs pos="100000">
                  <a:srgbClr val="FBE4AE"/>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1800"/>
            </a:p>
          </p:txBody>
        </p:sp>
        <p:sp>
          <p:nvSpPr>
            <p:cNvPr id="18" name="Freeform 55">
              <a:extLst>
                <a:ext uri="{FF2B5EF4-FFF2-40B4-BE49-F238E27FC236}">
                  <a16:creationId xmlns:a16="http://schemas.microsoft.com/office/drawing/2014/main" id="{2E291057-DB27-4D7C-A180-AD3232EBAD08}"/>
                </a:ext>
              </a:extLst>
            </p:cNvPr>
            <p:cNvSpPr>
              <a:spLocks/>
            </p:cNvSpPr>
            <p:nvPr/>
          </p:nvSpPr>
          <p:spPr bwMode="auto">
            <a:xfrm>
              <a:off x="5013" y="3924"/>
              <a:ext cx="734" cy="390"/>
            </a:xfrm>
            <a:custGeom>
              <a:avLst/>
              <a:gdLst>
                <a:gd name="T0" fmla="*/ 1 w 692"/>
                <a:gd name="T1" fmla="*/ 357 h 378"/>
                <a:gd name="T2" fmla="*/ 109 w 692"/>
                <a:gd name="T3" fmla="*/ 341 h 378"/>
                <a:gd name="T4" fmla="*/ 241 w 692"/>
                <a:gd name="T5" fmla="*/ 305 h 378"/>
                <a:gd name="T6" fmla="*/ 353 w 692"/>
                <a:gd name="T7" fmla="*/ 209 h 378"/>
                <a:gd name="T8" fmla="*/ 429 w 692"/>
                <a:gd name="T9" fmla="*/ 89 h 378"/>
                <a:gd name="T10" fmla="*/ 493 w 692"/>
                <a:gd name="T11" fmla="*/ 17 h 378"/>
                <a:gd name="T12" fmla="*/ 577 w 692"/>
                <a:gd name="T13" fmla="*/ 1 h 378"/>
                <a:gd name="T14" fmla="*/ 629 w 692"/>
                <a:gd name="T15" fmla="*/ 21 h 378"/>
                <a:gd name="T16" fmla="*/ 673 w 692"/>
                <a:gd name="T17" fmla="*/ 65 h 378"/>
                <a:gd name="T18" fmla="*/ 673 w 692"/>
                <a:gd name="T19" fmla="*/ 137 h 378"/>
                <a:gd name="T20" fmla="*/ 561 w 692"/>
                <a:gd name="T21" fmla="*/ 225 h 378"/>
                <a:gd name="T22" fmla="*/ 425 w 692"/>
                <a:gd name="T23" fmla="*/ 297 h 378"/>
                <a:gd name="T24" fmla="*/ 245 w 692"/>
                <a:gd name="T25" fmla="*/ 357 h 378"/>
                <a:gd name="T26" fmla="*/ 113 w 692"/>
                <a:gd name="T27" fmla="*/ 377 h 378"/>
                <a:gd name="T28" fmla="*/ 1 w 692"/>
                <a:gd name="T29" fmla="*/ 357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378">
                  <a:moveTo>
                    <a:pt x="1" y="357"/>
                  </a:moveTo>
                  <a:cubicBezTo>
                    <a:pt x="0" y="351"/>
                    <a:pt x="69" y="350"/>
                    <a:pt x="109" y="341"/>
                  </a:cubicBezTo>
                  <a:cubicBezTo>
                    <a:pt x="149" y="332"/>
                    <a:pt x="200" y="327"/>
                    <a:pt x="241" y="305"/>
                  </a:cubicBezTo>
                  <a:cubicBezTo>
                    <a:pt x="282" y="283"/>
                    <a:pt x="322" y="245"/>
                    <a:pt x="353" y="209"/>
                  </a:cubicBezTo>
                  <a:cubicBezTo>
                    <a:pt x="384" y="173"/>
                    <a:pt x="406" y="121"/>
                    <a:pt x="429" y="89"/>
                  </a:cubicBezTo>
                  <a:cubicBezTo>
                    <a:pt x="452" y="57"/>
                    <a:pt x="468" y="32"/>
                    <a:pt x="493" y="17"/>
                  </a:cubicBezTo>
                  <a:cubicBezTo>
                    <a:pt x="518" y="2"/>
                    <a:pt x="554" y="0"/>
                    <a:pt x="577" y="1"/>
                  </a:cubicBezTo>
                  <a:cubicBezTo>
                    <a:pt x="600" y="2"/>
                    <a:pt x="613" y="10"/>
                    <a:pt x="629" y="21"/>
                  </a:cubicBezTo>
                  <a:cubicBezTo>
                    <a:pt x="645" y="32"/>
                    <a:pt x="666" y="46"/>
                    <a:pt x="673" y="65"/>
                  </a:cubicBezTo>
                  <a:cubicBezTo>
                    <a:pt x="680" y="84"/>
                    <a:pt x="692" y="110"/>
                    <a:pt x="673" y="137"/>
                  </a:cubicBezTo>
                  <a:cubicBezTo>
                    <a:pt x="654" y="164"/>
                    <a:pt x="602" y="198"/>
                    <a:pt x="561" y="225"/>
                  </a:cubicBezTo>
                  <a:cubicBezTo>
                    <a:pt x="520" y="252"/>
                    <a:pt x="478" y="275"/>
                    <a:pt x="425" y="297"/>
                  </a:cubicBezTo>
                  <a:cubicBezTo>
                    <a:pt x="372" y="319"/>
                    <a:pt x="297" y="344"/>
                    <a:pt x="245" y="357"/>
                  </a:cubicBezTo>
                  <a:cubicBezTo>
                    <a:pt x="193" y="370"/>
                    <a:pt x="156" y="376"/>
                    <a:pt x="113" y="377"/>
                  </a:cubicBezTo>
                  <a:cubicBezTo>
                    <a:pt x="70" y="378"/>
                    <a:pt x="2" y="363"/>
                    <a:pt x="1" y="357"/>
                  </a:cubicBezTo>
                  <a:close/>
                </a:path>
              </a:pathLst>
            </a:custGeom>
            <a:gradFill rotWithShape="0">
              <a:gsLst>
                <a:gs pos="0">
                  <a:schemeClr val="bg1"/>
                </a:gs>
                <a:gs pos="50000">
                  <a:schemeClr val="folHlink"/>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p>
          </p:txBody>
        </p:sp>
        <p:sp>
          <p:nvSpPr>
            <p:cNvPr id="19" name="AutoShape 56">
              <a:extLst>
                <a:ext uri="{FF2B5EF4-FFF2-40B4-BE49-F238E27FC236}">
                  <a16:creationId xmlns:a16="http://schemas.microsoft.com/office/drawing/2014/main" id="{6AF15443-35FD-4DB6-92CE-26B1005BB313}"/>
                </a:ext>
              </a:extLst>
            </p:cNvPr>
            <p:cNvSpPr>
              <a:spLocks noChangeArrowheads="1"/>
            </p:cNvSpPr>
            <p:nvPr/>
          </p:nvSpPr>
          <p:spPr bwMode="hidden">
            <a:xfrm rot="5400000">
              <a:off x="2724" y="2089"/>
              <a:ext cx="4320" cy="142"/>
            </a:xfrm>
            <a:custGeom>
              <a:avLst/>
              <a:gdLst>
                <a:gd name="T0" fmla="*/ 34 w 21600"/>
                <a:gd name="T1" fmla="*/ 0 h 21600"/>
                <a:gd name="T2" fmla="*/ 17 w 21600"/>
                <a:gd name="T3" fmla="*/ 0 h 21600"/>
                <a:gd name="T4" fmla="*/ 0 w 21600"/>
                <a:gd name="T5" fmla="*/ 0 h 21600"/>
                <a:gd name="T6" fmla="*/ 17 w 21600"/>
                <a:gd name="T7" fmla="*/ 0 h 21600"/>
                <a:gd name="T8" fmla="*/ 0 60000 65536"/>
                <a:gd name="T9" fmla="*/ 0 60000 65536"/>
                <a:gd name="T10" fmla="*/ 0 60000 65536"/>
                <a:gd name="T11" fmla="*/ 0 60000 65536"/>
                <a:gd name="T12" fmla="*/ 2105 w 21600"/>
                <a:gd name="T13" fmla="*/ 2130 h 21600"/>
                <a:gd name="T14" fmla="*/ 19495 w 21600"/>
                <a:gd name="T15" fmla="*/ 19470 h 21600"/>
              </a:gdLst>
              <a:ahLst/>
              <a:cxnLst>
                <a:cxn ang="T8">
                  <a:pos x="T0" y="T1"/>
                </a:cxn>
                <a:cxn ang="T9">
                  <a:pos x="T2" y="T3"/>
                </a:cxn>
                <a:cxn ang="T10">
                  <a:pos x="T4" y="T5"/>
                </a:cxn>
                <a:cxn ang="T11">
                  <a:pos x="T6" y="T7"/>
                </a:cxn>
              </a:cxnLst>
              <a:rect l="T12" t="T13" r="T14" b="T15"/>
              <a:pathLst>
                <a:path w="21600" h="21600">
                  <a:moveTo>
                    <a:pt x="0" y="0"/>
                  </a:moveTo>
                  <a:lnTo>
                    <a:pt x="607" y="21600"/>
                  </a:lnTo>
                  <a:lnTo>
                    <a:pt x="20993" y="21600"/>
                  </a:lnTo>
                  <a:lnTo>
                    <a:pt x="21600" y="0"/>
                  </a:lnTo>
                  <a:lnTo>
                    <a:pt x="0" y="0"/>
                  </a:lnTo>
                  <a:close/>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en-KE" sz="1800"/>
            </a:p>
          </p:txBody>
        </p:sp>
      </p:grpSp>
      <p:sp>
        <p:nvSpPr>
          <p:cNvPr id="11321" name="Rectangle 57"/>
          <p:cNvSpPr>
            <a:spLocks noGrp="1" noChangeArrowheads="1"/>
          </p:cNvSpPr>
          <p:nvPr>
            <p:ph type="ctrTitle" sz="quarter"/>
          </p:nvPr>
        </p:nvSpPr>
        <p:spPr>
          <a:xfrm>
            <a:off x="914400" y="1370013"/>
            <a:ext cx="9287933" cy="2057400"/>
          </a:xfrm>
        </p:spPr>
        <p:txBody>
          <a:bodyPr/>
          <a:lstStyle>
            <a:lvl1pPr>
              <a:defRPr/>
            </a:lvl1pPr>
          </a:lstStyle>
          <a:p>
            <a:pPr lvl="0"/>
            <a:r>
              <a:rPr lang="en-US" altLang="en-US" noProof="0"/>
              <a:t>Click to edit Master title style</a:t>
            </a:r>
          </a:p>
        </p:txBody>
      </p:sp>
      <p:sp>
        <p:nvSpPr>
          <p:cNvPr id="11322" name="Rectangle 58"/>
          <p:cNvSpPr>
            <a:spLocks noGrp="1" noChangeArrowheads="1"/>
          </p:cNvSpPr>
          <p:nvPr>
            <p:ph type="subTitle" sz="quarter" idx="1"/>
          </p:nvPr>
        </p:nvSpPr>
        <p:spPr>
          <a:xfrm>
            <a:off x="2302934" y="3886200"/>
            <a:ext cx="7520517" cy="1752600"/>
          </a:xfrm>
        </p:spPr>
        <p:txBody>
          <a:bodyPr/>
          <a:lstStyle>
            <a:lvl1pPr marL="0" indent="0" algn="ctr">
              <a:buFontTx/>
              <a:buNone/>
              <a:defRPr/>
            </a:lvl1pPr>
          </a:lstStyle>
          <a:p>
            <a:pPr lvl="0"/>
            <a:r>
              <a:rPr lang="en-US" altLang="en-US" noProof="0"/>
              <a:t>Click to edit Master subtitle style</a:t>
            </a:r>
          </a:p>
        </p:txBody>
      </p:sp>
      <p:sp>
        <p:nvSpPr>
          <p:cNvPr id="59" name="Rectangle 59">
            <a:extLst>
              <a:ext uri="{FF2B5EF4-FFF2-40B4-BE49-F238E27FC236}">
                <a16:creationId xmlns:a16="http://schemas.microsoft.com/office/drawing/2014/main" id="{96A5EC9E-4D7E-48B7-BDC5-92A201DE683A}"/>
              </a:ext>
            </a:extLst>
          </p:cNvPr>
          <p:cNvSpPr>
            <a:spLocks noGrp="1" noChangeArrowheads="1"/>
          </p:cNvSpPr>
          <p:nvPr>
            <p:ph type="dt" sz="quarter" idx="10"/>
          </p:nvPr>
        </p:nvSpPr>
        <p:spPr/>
        <p:txBody>
          <a:bodyPr/>
          <a:lstStyle>
            <a:lvl1pPr>
              <a:defRPr/>
            </a:lvl1pPr>
          </a:lstStyle>
          <a:p>
            <a:pPr>
              <a:defRPr/>
            </a:pPr>
            <a:endParaRPr lang="en-US" altLang="en-US"/>
          </a:p>
        </p:txBody>
      </p:sp>
      <p:sp>
        <p:nvSpPr>
          <p:cNvPr id="60" name="Rectangle 60">
            <a:extLst>
              <a:ext uri="{FF2B5EF4-FFF2-40B4-BE49-F238E27FC236}">
                <a16:creationId xmlns:a16="http://schemas.microsoft.com/office/drawing/2014/main" id="{66A585A9-DAA4-49FE-A16C-6E3D6105CCCC}"/>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1" name="Rectangle 61">
            <a:extLst>
              <a:ext uri="{FF2B5EF4-FFF2-40B4-BE49-F238E27FC236}">
                <a16:creationId xmlns:a16="http://schemas.microsoft.com/office/drawing/2014/main" id="{9DFBC92D-807F-46D6-96E2-6B475981348A}"/>
              </a:ext>
            </a:extLst>
          </p:cNvPr>
          <p:cNvSpPr>
            <a:spLocks noGrp="1" noChangeArrowheads="1"/>
          </p:cNvSpPr>
          <p:nvPr>
            <p:ph type="sldNum" sz="quarter" idx="12"/>
          </p:nvPr>
        </p:nvSpPr>
        <p:spPr/>
        <p:txBody>
          <a:bodyPr/>
          <a:lstStyle>
            <a:lvl1pPr>
              <a:defRPr/>
            </a:lvl1pPr>
          </a:lstStyle>
          <a:p>
            <a:fld id="{8E1BA9E1-8CED-490F-9E45-26BA61018743}" type="slidenum">
              <a:rPr lang="ar-SA" altLang="en-US"/>
              <a:pPr/>
              <a:t>‹#›</a:t>
            </a:fld>
            <a:endParaRPr lang="en-US" altLang="en-US"/>
          </a:p>
        </p:txBody>
      </p:sp>
    </p:spTree>
    <p:extLst>
      <p:ext uri="{BB962C8B-B14F-4D97-AF65-F5344CB8AC3E}">
        <p14:creationId xmlns:p14="http://schemas.microsoft.com/office/powerpoint/2010/main" val="38751338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9">
            <a:extLst>
              <a:ext uri="{FF2B5EF4-FFF2-40B4-BE49-F238E27FC236}">
                <a16:creationId xmlns:a16="http://schemas.microsoft.com/office/drawing/2014/main" id="{5EBAAF04-7010-41F2-B024-628DE7CCD4F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0">
            <a:extLst>
              <a:ext uri="{FF2B5EF4-FFF2-40B4-BE49-F238E27FC236}">
                <a16:creationId xmlns:a16="http://schemas.microsoft.com/office/drawing/2014/main" id="{2E8D9422-D5AB-4ADB-8222-E0376C6B687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1">
            <a:extLst>
              <a:ext uri="{FF2B5EF4-FFF2-40B4-BE49-F238E27FC236}">
                <a16:creationId xmlns:a16="http://schemas.microsoft.com/office/drawing/2014/main" id="{45F5D1EB-08A4-4128-BE44-A7669755A482}"/>
              </a:ext>
            </a:extLst>
          </p:cNvPr>
          <p:cNvSpPr>
            <a:spLocks noGrp="1" noChangeArrowheads="1"/>
          </p:cNvSpPr>
          <p:nvPr>
            <p:ph type="sldNum" sz="quarter" idx="12"/>
          </p:nvPr>
        </p:nvSpPr>
        <p:spPr>
          <a:ln/>
        </p:spPr>
        <p:txBody>
          <a:bodyPr/>
          <a:lstStyle>
            <a:lvl1pPr>
              <a:defRPr/>
            </a:lvl1pPr>
          </a:lstStyle>
          <a:p>
            <a:fld id="{D8CB9504-1B5E-43F5-9409-D9D7853019D7}" type="slidenum">
              <a:rPr lang="ar-SA" altLang="en-US"/>
              <a:pPr/>
              <a:t>‹#›</a:t>
            </a:fld>
            <a:endParaRPr lang="en-US" altLang="en-US"/>
          </a:p>
        </p:txBody>
      </p:sp>
    </p:spTree>
    <p:extLst>
      <p:ext uri="{BB962C8B-B14F-4D97-AF65-F5344CB8AC3E}">
        <p14:creationId xmlns:p14="http://schemas.microsoft.com/office/powerpoint/2010/main" val="19533087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59">
            <a:extLst>
              <a:ext uri="{FF2B5EF4-FFF2-40B4-BE49-F238E27FC236}">
                <a16:creationId xmlns:a16="http://schemas.microsoft.com/office/drawing/2014/main" id="{BD1BCF4C-0D0A-4EFE-AD3C-3EE9F14AA08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0">
            <a:extLst>
              <a:ext uri="{FF2B5EF4-FFF2-40B4-BE49-F238E27FC236}">
                <a16:creationId xmlns:a16="http://schemas.microsoft.com/office/drawing/2014/main" id="{B0589335-C1F4-4B83-8DEB-81D36937378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1">
            <a:extLst>
              <a:ext uri="{FF2B5EF4-FFF2-40B4-BE49-F238E27FC236}">
                <a16:creationId xmlns:a16="http://schemas.microsoft.com/office/drawing/2014/main" id="{53A3526C-08CA-41F2-959A-3EB02FC569B8}"/>
              </a:ext>
            </a:extLst>
          </p:cNvPr>
          <p:cNvSpPr>
            <a:spLocks noGrp="1" noChangeArrowheads="1"/>
          </p:cNvSpPr>
          <p:nvPr>
            <p:ph type="sldNum" sz="quarter" idx="12"/>
          </p:nvPr>
        </p:nvSpPr>
        <p:spPr>
          <a:ln/>
        </p:spPr>
        <p:txBody>
          <a:bodyPr/>
          <a:lstStyle>
            <a:lvl1pPr>
              <a:defRPr/>
            </a:lvl1pPr>
          </a:lstStyle>
          <a:p>
            <a:fld id="{58A45EE5-CA3E-48AB-9A44-D7FE66167731}" type="slidenum">
              <a:rPr lang="ar-SA" altLang="en-US"/>
              <a:pPr/>
              <a:t>‹#›</a:t>
            </a:fld>
            <a:endParaRPr lang="en-US" altLang="en-US"/>
          </a:p>
        </p:txBody>
      </p:sp>
    </p:spTree>
    <p:extLst>
      <p:ext uri="{BB962C8B-B14F-4D97-AF65-F5344CB8AC3E}">
        <p14:creationId xmlns:p14="http://schemas.microsoft.com/office/powerpoint/2010/main" val="14423547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1367" y="1598613"/>
            <a:ext cx="4821767" cy="44973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76334" y="1598613"/>
            <a:ext cx="4823884" cy="44973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9">
            <a:extLst>
              <a:ext uri="{FF2B5EF4-FFF2-40B4-BE49-F238E27FC236}">
                <a16:creationId xmlns:a16="http://schemas.microsoft.com/office/drawing/2014/main" id="{80D8F7B3-5F6C-41EF-BB21-4922A521A77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0">
            <a:extLst>
              <a:ext uri="{FF2B5EF4-FFF2-40B4-BE49-F238E27FC236}">
                <a16:creationId xmlns:a16="http://schemas.microsoft.com/office/drawing/2014/main" id="{B2875DC0-F865-4369-B582-D4B420AFB0A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1">
            <a:extLst>
              <a:ext uri="{FF2B5EF4-FFF2-40B4-BE49-F238E27FC236}">
                <a16:creationId xmlns:a16="http://schemas.microsoft.com/office/drawing/2014/main" id="{A5512416-79F2-4AC3-89B8-116C8EB7EA1E}"/>
              </a:ext>
            </a:extLst>
          </p:cNvPr>
          <p:cNvSpPr>
            <a:spLocks noGrp="1" noChangeArrowheads="1"/>
          </p:cNvSpPr>
          <p:nvPr>
            <p:ph type="sldNum" sz="quarter" idx="12"/>
          </p:nvPr>
        </p:nvSpPr>
        <p:spPr>
          <a:ln/>
        </p:spPr>
        <p:txBody>
          <a:bodyPr/>
          <a:lstStyle>
            <a:lvl1pPr>
              <a:defRPr/>
            </a:lvl1pPr>
          </a:lstStyle>
          <a:p>
            <a:fld id="{A96A454C-5BC5-49ED-8BAF-0D0B45622661}" type="slidenum">
              <a:rPr lang="ar-SA" altLang="en-US"/>
              <a:pPr/>
              <a:t>‹#›</a:t>
            </a:fld>
            <a:endParaRPr lang="en-US" altLang="en-US"/>
          </a:p>
        </p:txBody>
      </p:sp>
    </p:spTree>
    <p:extLst>
      <p:ext uri="{BB962C8B-B14F-4D97-AF65-F5344CB8AC3E}">
        <p14:creationId xmlns:p14="http://schemas.microsoft.com/office/powerpoint/2010/main" val="21556846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9">
            <a:extLst>
              <a:ext uri="{FF2B5EF4-FFF2-40B4-BE49-F238E27FC236}">
                <a16:creationId xmlns:a16="http://schemas.microsoft.com/office/drawing/2014/main" id="{87E471C6-F1C6-4410-A790-941CCE96A62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0">
            <a:extLst>
              <a:ext uri="{FF2B5EF4-FFF2-40B4-BE49-F238E27FC236}">
                <a16:creationId xmlns:a16="http://schemas.microsoft.com/office/drawing/2014/main" id="{F2E86522-03B0-462A-9839-B4741B04CBD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1">
            <a:extLst>
              <a:ext uri="{FF2B5EF4-FFF2-40B4-BE49-F238E27FC236}">
                <a16:creationId xmlns:a16="http://schemas.microsoft.com/office/drawing/2014/main" id="{49FB3C27-D705-4F5C-8527-2B807E47CF43}"/>
              </a:ext>
            </a:extLst>
          </p:cNvPr>
          <p:cNvSpPr>
            <a:spLocks noGrp="1" noChangeArrowheads="1"/>
          </p:cNvSpPr>
          <p:nvPr>
            <p:ph type="sldNum" sz="quarter" idx="12"/>
          </p:nvPr>
        </p:nvSpPr>
        <p:spPr>
          <a:ln/>
        </p:spPr>
        <p:txBody>
          <a:bodyPr/>
          <a:lstStyle>
            <a:lvl1pPr>
              <a:defRPr/>
            </a:lvl1pPr>
          </a:lstStyle>
          <a:p>
            <a:fld id="{A747CEB1-8D30-4F0C-8B24-BB6720D42248}" type="slidenum">
              <a:rPr lang="ar-SA" altLang="en-US"/>
              <a:pPr/>
              <a:t>‹#›</a:t>
            </a:fld>
            <a:endParaRPr lang="en-US" altLang="en-US"/>
          </a:p>
        </p:txBody>
      </p:sp>
    </p:spTree>
    <p:extLst>
      <p:ext uri="{BB962C8B-B14F-4D97-AF65-F5344CB8AC3E}">
        <p14:creationId xmlns:p14="http://schemas.microsoft.com/office/powerpoint/2010/main" val="544631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9">
            <a:extLst>
              <a:ext uri="{FF2B5EF4-FFF2-40B4-BE49-F238E27FC236}">
                <a16:creationId xmlns:a16="http://schemas.microsoft.com/office/drawing/2014/main" id="{C11A3C95-8D66-472B-8DE6-70D4F02FAB4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0">
            <a:extLst>
              <a:ext uri="{FF2B5EF4-FFF2-40B4-BE49-F238E27FC236}">
                <a16:creationId xmlns:a16="http://schemas.microsoft.com/office/drawing/2014/main" id="{D8F90E26-FB78-46BA-8067-FEB9EB3D14A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1">
            <a:extLst>
              <a:ext uri="{FF2B5EF4-FFF2-40B4-BE49-F238E27FC236}">
                <a16:creationId xmlns:a16="http://schemas.microsoft.com/office/drawing/2014/main" id="{2477FDB6-7072-4692-8E28-EF8A1A7D9674}"/>
              </a:ext>
            </a:extLst>
          </p:cNvPr>
          <p:cNvSpPr>
            <a:spLocks noGrp="1" noChangeArrowheads="1"/>
          </p:cNvSpPr>
          <p:nvPr>
            <p:ph type="sldNum" sz="quarter" idx="12"/>
          </p:nvPr>
        </p:nvSpPr>
        <p:spPr>
          <a:ln/>
        </p:spPr>
        <p:txBody>
          <a:bodyPr/>
          <a:lstStyle>
            <a:lvl1pPr>
              <a:defRPr/>
            </a:lvl1pPr>
          </a:lstStyle>
          <a:p>
            <a:fld id="{5FDE3A8C-720B-434A-B229-664F92FC3B7B}" type="slidenum">
              <a:rPr lang="ar-SA" altLang="en-US"/>
              <a:pPr/>
              <a:t>‹#›</a:t>
            </a:fld>
            <a:endParaRPr lang="en-US" altLang="en-US"/>
          </a:p>
        </p:txBody>
      </p:sp>
    </p:spTree>
    <p:extLst>
      <p:ext uri="{BB962C8B-B14F-4D97-AF65-F5344CB8AC3E}">
        <p14:creationId xmlns:p14="http://schemas.microsoft.com/office/powerpoint/2010/main" val="10319276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9">
            <a:extLst>
              <a:ext uri="{FF2B5EF4-FFF2-40B4-BE49-F238E27FC236}">
                <a16:creationId xmlns:a16="http://schemas.microsoft.com/office/drawing/2014/main" id="{42A8BF07-8926-42E8-9D32-A4000BE8859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0">
            <a:extLst>
              <a:ext uri="{FF2B5EF4-FFF2-40B4-BE49-F238E27FC236}">
                <a16:creationId xmlns:a16="http://schemas.microsoft.com/office/drawing/2014/main" id="{E585F9BC-CF8C-480C-8056-0B3F51DD83D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1">
            <a:extLst>
              <a:ext uri="{FF2B5EF4-FFF2-40B4-BE49-F238E27FC236}">
                <a16:creationId xmlns:a16="http://schemas.microsoft.com/office/drawing/2014/main" id="{5877F8D2-62FC-4A1A-A0DB-FFD2458D8350}"/>
              </a:ext>
            </a:extLst>
          </p:cNvPr>
          <p:cNvSpPr>
            <a:spLocks noGrp="1" noChangeArrowheads="1"/>
          </p:cNvSpPr>
          <p:nvPr>
            <p:ph type="sldNum" sz="quarter" idx="12"/>
          </p:nvPr>
        </p:nvSpPr>
        <p:spPr>
          <a:ln/>
        </p:spPr>
        <p:txBody>
          <a:bodyPr/>
          <a:lstStyle>
            <a:lvl1pPr>
              <a:defRPr/>
            </a:lvl1pPr>
          </a:lstStyle>
          <a:p>
            <a:fld id="{7F3770FF-397D-4CDF-A0B7-BD169FD0AE03}" type="slidenum">
              <a:rPr lang="ar-SA" altLang="en-US"/>
              <a:pPr/>
              <a:t>‹#›</a:t>
            </a:fld>
            <a:endParaRPr lang="en-US" altLang="en-US"/>
          </a:p>
        </p:txBody>
      </p:sp>
    </p:spTree>
    <p:extLst>
      <p:ext uri="{BB962C8B-B14F-4D97-AF65-F5344CB8AC3E}">
        <p14:creationId xmlns:p14="http://schemas.microsoft.com/office/powerpoint/2010/main" val="40578435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59">
            <a:extLst>
              <a:ext uri="{FF2B5EF4-FFF2-40B4-BE49-F238E27FC236}">
                <a16:creationId xmlns:a16="http://schemas.microsoft.com/office/drawing/2014/main" id="{9F41CD34-579C-4DEA-9D2A-00A37BD63B1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0">
            <a:extLst>
              <a:ext uri="{FF2B5EF4-FFF2-40B4-BE49-F238E27FC236}">
                <a16:creationId xmlns:a16="http://schemas.microsoft.com/office/drawing/2014/main" id="{93C95732-68FB-4A23-8440-C0E0913CE7F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1">
            <a:extLst>
              <a:ext uri="{FF2B5EF4-FFF2-40B4-BE49-F238E27FC236}">
                <a16:creationId xmlns:a16="http://schemas.microsoft.com/office/drawing/2014/main" id="{A7B627AC-CF8B-4FB0-953E-9CA57178EE4F}"/>
              </a:ext>
            </a:extLst>
          </p:cNvPr>
          <p:cNvSpPr>
            <a:spLocks noGrp="1" noChangeArrowheads="1"/>
          </p:cNvSpPr>
          <p:nvPr>
            <p:ph type="sldNum" sz="quarter" idx="12"/>
          </p:nvPr>
        </p:nvSpPr>
        <p:spPr>
          <a:ln/>
        </p:spPr>
        <p:txBody>
          <a:bodyPr/>
          <a:lstStyle>
            <a:lvl1pPr>
              <a:defRPr/>
            </a:lvl1pPr>
          </a:lstStyle>
          <a:p>
            <a:fld id="{66DF504E-8D6A-41A8-9670-668AE1B87295}" type="slidenum">
              <a:rPr lang="ar-SA" altLang="en-US"/>
              <a:pPr/>
              <a:t>‹#›</a:t>
            </a:fld>
            <a:endParaRPr lang="en-US" altLang="en-US"/>
          </a:p>
        </p:txBody>
      </p:sp>
    </p:spTree>
    <p:extLst>
      <p:ext uri="{BB962C8B-B14F-4D97-AF65-F5344CB8AC3E}">
        <p14:creationId xmlns:p14="http://schemas.microsoft.com/office/powerpoint/2010/main" val="19480240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59">
            <a:extLst>
              <a:ext uri="{FF2B5EF4-FFF2-40B4-BE49-F238E27FC236}">
                <a16:creationId xmlns:a16="http://schemas.microsoft.com/office/drawing/2014/main" id="{2960055C-E4B2-4EF2-8951-C8E9F88B0CE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0">
            <a:extLst>
              <a:ext uri="{FF2B5EF4-FFF2-40B4-BE49-F238E27FC236}">
                <a16:creationId xmlns:a16="http://schemas.microsoft.com/office/drawing/2014/main" id="{0FF77AFE-5F93-4B41-AD5C-A82E351B1B8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1">
            <a:extLst>
              <a:ext uri="{FF2B5EF4-FFF2-40B4-BE49-F238E27FC236}">
                <a16:creationId xmlns:a16="http://schemas.microsoft.com/office/drawing/2014/main" id="{2407308E-BE78-4862-AA67-A5D25A862D61}"/>
              </a:ext>
            </a:extLst>
          </p:cNvPr>
          <p:cNvSpPr>
            <a:spLocks noGrp="1" noChangeArrowheads="1"/>
          </p:cNvSpPr>
          <p:nvPr>
            <p:ph type="sldNum" sz="quarter" idx="12"/>
          </p:nvPr>
        </p:nvSpPr>
        <p:spPr>
          <a:ln/>
        </p:spPr>
        <p:txBody>
          <a:bodyPr/>
          <a:lstStyle>
            <a:lvl1pPr>
              <a:defRPr/>
            </a:lvl1pPr>
          </a:lstStyle>
          <a:p>
            <a:fld id="{2E6F33FE-4229-46D7-A474-B647B688C666}" type="slidenum">
              <a:rPr lang="ar-SA" altLang="en-US"/>
              <a:pPr/>
              <a:t>‹#›</a:t>
            </a:fld>
            <a:endParaRPr lang="en-US" altLang="en-US"/>
          </a:p>
        </p:txBody>
      </p:sp>
    </p:spTree>
    <p:extLst>
      <p:ext uri="{BB962C8B-B14F-4D97-AF65-F5344CB8AC3E}">
        <p14:creationId xmlns:p14="http://schemas.microsoft.com/office/powerpoint/2010/main" val="18789983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9">
            <a:extLst>
              <a:ext uri="{FF2B5EF4-FFF2-40B4-BE49-F238E27FC236}">
                <a16:creationId xmlns:a16="http://schemas.microsoft.com/office/drawing/2014/main" id="{1CE0DBD3-17EB-483A-9D31-6223B5E7C6B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0">
            <a:extLst>
              <a:ext uri="{FF2B5EF4-FFF2-40B4-BE49-F238E27FC236}">
                <a16:creationId xmlns:a16="http://schemas.microsoft.com/office/drawing/2014/main" id="{469BD859-94C5-49AA-8F62-F6212B2A8DA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1">
            <a:extLst>
              <a:ext uri="{FF2B5EF4-FFF2-40B4-BE49-F238E27FC236}">
                <a16:creationId xmlns:a16="http://schemas.microsoft.com/office/drawing/2014/main" id="{E578FEAA-A72A-4702-98FC-618CCBE273DE}"/>
              </a:ext>
            </a:extLst>
          </p:cNvPr>
          <p:cNvSpPr>
            <a:spLocks noGrp="1" noChangeArrowheads="1"/>
          </p:cNvSpPr>
          <p:nvPr>
            <p:ph type="sldNum" sz="quarter" idx="12"/>
          </p:nvPr>
        </p:nvSpPr>
        <p:spPr>
          <a:ln/>
        </p:spPr>
        <p:txBody>
          <a:bodyPr/>
          <a:lstStyle>
            <a:lvl1pPr>
              <a:defRPr/>
            </a:lvl1pPr>
          </a:lstStyle>
          <a:p>
            <a:fld id="{93B00572-FBBC-40EF-AEF0-15D5919E61CA}" type="slidenum">
              <a:rPr lang="ar-SA" altLang="en-US"/>
              <a:pPr/>
              <a:t>‹#›</a:t>
            </a:fld>
            <a:endParaRPr lang="en-US" altLang="en-US"/>
          </a:p>
        </p:txBody>
      </p:sp>
    </p:spTree>
    <p:extLst>
      <p:ext uri="{BB962C8B-B14F-4D97-AF65-F5344CB8AC3E}">
        <p14:creationId xmlns:p14="http://schemas.microsoft.com/office/powerpoint/2010/main" val="10804107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70285" y="227014"/>
            <a:ext cx="2491316" cy="58689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2100" y="227014"/>
            <a:ext cx="7274984" cy="586898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9">
            <a:extLst>
              <a:ext uri="{FF2B5EF4-FFF2-40B4-BE49-F238E27FC236}">
                <a16:creationId xmlns:a16="http://schemas.microsoft.com/office/drawing/2014/main" id="{09DE478C-219F-41CA-AB54-A3461CFDAD8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0">
            <a:extLst>
              <a:ext uri="{FF2B5EF4-FFF2-40B4-BE49-F238E27FC236}">
                <a16:creationId xmlns:a16="http://schemas.microsoft.com/office/drawing/2014/main" id="{F3E36111-BE06-409D-A72B-64EFC65E42D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1">
            <a:extLst>
              <a:ext uri="{FF2B5EF4-FFF2-40B4-BE49-F238E27FC236}">
                <a16:creationId xmlns:a16="http://schemas.microsoft.com/office/drawing/2014/main" id="{3EEFE91C-B545-45AE-AD56-7424166EA64E}"/>
              </a:ext>
            </a:extLst>
          </p:cNvPr>
          <p:cNvSpPr>
            <a:spLocks noGrp="1" noChangeArrowheads="1"/>
          </p:cNvSpPr>
          <p:nvPr>
            <p:ph type="sldNum" sz="quarter" idx="12"/>
          </p:nvPr>
        </p:nvSpPr>
        <p:spPr>
          <a:ln/>
        </p:spPr>
        <p:txBody>
          <a:bodyPr/>
          <a:lstStyle>
            <a:lvl1pPr>
              <a:defRPr/>
            </a:lvl1pPr>
          </a:lstStyle>
          <a:p>
            <a:fld id="{BDA36A6C-D39E-4234-982A-0003155888B2}" type="slidenum">
              <a:rPr lang="ar-SA" altLang="en-US"/>
              <a:pPr/>
              <a:t>‹#›</a:t>
            </a:fld>
            <a:endParaRPr lang="en-US" altLang="en-US"/>
          </a:p>
        </p:txBody>
      </p:sp>
    </p:spTree>
    <p:extLst>
      <p:ext uri="{BB962C8B-B14F-4D97-AF65-F5344CB8AC3E}">
        <p14:creationId xmlns:p14="http://schemas.microsoft.com/office/powerpoint/2010/main" val="35149116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92101" y="227013"/>
            <a:ext cx="9969500" cy="1143000"/>
          </a:xfrm>
        </p:spPr>
        <p:txBody>
          <a:bodyPr/>
          <a:lstStyle/>
          <a:p>
            <a:r>
              <a:rPr lang="en-US"/>
              <a:t>Click to edit Master title style</a:t>
            </a:r>
          </a:p>
        </p:txBody>
      </p:sp>
      <p:sp>
        <p:nvSpPr>
          <p:cNvPr id="3" name="Table Placeholder 2"/>
          <p:cNvSpPr>
            <a:spLocks noGrp="1"/>
          </p:cNvSpPr>
          <p:nvPr>
            <p:ph type="tbl" idx="1"/>
          </p:nvPr>
        </p:nvSpPr>
        <p:spPr>
          <a:xfrm>
            <a:off x="351367" y="1598613"/>
            <a:ext cx="9848851" cy="4497387"/>
          </a:xfrm>
        </p:spPr>
        <p:txBody>
          <a:bodyPr/>
          <a:lstStyle/>
          <a:p>
            <a:pPr lvl="0"/>
            <a:endParaRPr lang="en-US" noProof="0"/>
          </a:p>
        </p:txBody>
      </p:sp>
      <p:sp>
        <p:nvSpPr>
          <p:cNvPr id="4" name="Rectangle 59">
            <a:extLst>
              <a:ext uri="{FF2B5EF4-FFF2-40B4-BE49-F238E27FC236}">
                <a16:creationId xmlns:a16="http://schemas.microsoft.com/office/drawing/2014/main" id="{7FBB8D6E-C104-47C6-BB78-B49E7DFC66C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0">
            <a:extLst>
              <a:ext uri="{FF2B5EF4-FFF2-40B4-BE49-F238E27FC236}">
                <a16:creationId xmlns:a16="http://schemas.microsoft.com/office/drawing/2014/main" id="{B50DE684-C464-4D8B-9971-DB7E3E1CFD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1">
            <a:extLst>
              <a:ext uri="{FF2B5EF4-FFF2-40B4-BE49-F238E27FC236}">
                <a16:creationId xmlns:a16="http://schemas.microsoft.com/office/drawing/2014/main" id="{DF3C644C-97E8-4A88-80C9-E75CC51ED65C}"/>
              </a:ext>
            </a:extLst>
          </p:cNvPr>
          <p:cNvSpPr>
            <a:spLocks noGrp="1" noChangeArrowheads="1"/>
          </p:cNvSpPr>
          <p:nvPr>
            <p:ph type="sldNum" sz="quarter" idx="12"/>
          </p:nvPr>
        </p:nvSpPr>
        <p:spPr>
          <a:ln/>
        </p:spPr>
        <p:txBody>
          <a:bodyPr/>
          <a:lstStyle>
            <a:lvl1pPr>
              <a:defRPr/>
            </a:lvl1pPr>
          </a:lstStyle>
          <a:p>
            <a:fld id="{AE687C04-E654-4983-838B-E3A53CD5DC8D}" type="slidenum">
              <a:rPr lang="ar-SA" altLang="en-US"/>
              <a:pPr/>
              <a:t>‹#›</a:t>
            </a:fld>
            <a:endParaRPr lang="en-US" altLang="en-US"/>
          </a:p>
        </p:txBody>
      </p:sp>
    </p:spTree>
    <p:extLst>
      <p:ext uri="{BB962C8B-B14F-4D97-AF65-F5344CB8AC3E}">
        <p14:creationId xmlns:p14="http://schemas.microsoft.com/office/powerpoint/2010/main" val="1713948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18" Type="http://schemas.openxmlformats.org/officeDocument/2006/relationships/image" Target="../media/image8.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image" Target="../media/image7.png"/><Relationship Id="rId2" Type="http://schemas.openxmlformats.org/officeDocument/2006/relationships/slideLayout" Target="../slideLayouts/slideLayout35.xml"/><Relationship Id="rId16" Type="http://schemas.openxmlformats.org/officeDocument/2006/relationships/image" Target="../media/image6.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5.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4.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4A75BA-BC84-4EDF-ADF8-46628E020293}" type="datetimeFigureOut">
              <a:rPr lang="en-US" smtClean="0"/>
              <a:t>10/25/2024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3DA461-72FE-4F18-9DEE-A180F13A51E7}" type="slidenum">
              <a:rPr lang="en-US" smtClean="0"/>
              <a:t>‹#›</a:t>
            </a:fld>
            <a:endParaRPr lang="en-US"/>
          </a:p>
        </p:txBody>
      </p:sp>
    </p:spTree>
    <p:extLst>
      <p:ext uri="{BB962C8B-B14F-4D97-AF65-F5344CB8AC3E}">
        <p14:creationId xmlns:p14="http://schemas.microsoft.com/office/powerpoint/2010/main" val="3231796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D83E92D-516B-4E70-B379-3A2EB0BC3F59}"/>
              </a:ext>
            </a:extLst>
          </p:cNvPr>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sz="1800"/>
          </a:p>
        </p:txBody>
      </p:sp>
      <p:sp useBgFill="1">
        <p:nvSpPr>
          <p:cNvPr id="8" name="Rounded Rectangle 7">
            <a:extLst>
              <a:ext uri="{FF2B5EF4-FFF2-40B4-BE49-F238E27FC236}">
                <a16:creationId xmlns:a16="http://schemas.microsoft.com/office/drawing/2014/main" id="{0961B55B-9E43-4F45-AC78-12A1682CF28E}"/>
              </a:ext>
            </a:extLst>
          </p:cNvPr>
          <p:cNvSpPr/>
          <p:nvPr/>
        </p:nvSpPr>
        <p:spPr>
          <a:xfrm>
            <a:off x="84668" y="69850"/>
            <a:ext cx="12018433"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sz="1800"/>
          </a:p>
        </p:txBody>
      </p:sp>
      <p:sp>
        <p:nvSpPr>
          <p:cNvPr id="1028" name="Title Placeholder 21">
            <a:extLst>
              <a:ext uri="{FF2B5EF4-FFF2-40B4-BE49-F238E27FC236}">
                <a16:creationId xmlns:a16="http://schemas.microsoft.com/office/drawing/2014/main" id="{C7FCF51E-DE92-42CE-914A-588E29AFF238}"/>
              </a:ext>
            </a:extLst>
          </p:cNvPr>
          <p:cNvSpPr>
            <a:spLocks noGrp="1"/>
          </p:cNvSpPr>
          <p:nvPr>
            <p:ph type="title"/>
          </p:nvPr>
        </p:nvSpPr>
        <p:spPr bwMode="auto">
          <a:xfrm>
            <a:off x="1219200" y="274638"/>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1029" name="Text Placeholder 12">
            <a:extLst>
              <a:ext uri="{FF2B5EF4-FFF2-40B4-BE49-F238E27FC236}">
                <a16:creationId xmlns:a16="http://schemas.microsoft.com/office/drawing/2014/main" id="{74411D3B-43E1-44BC-B1FD-BCF68E5A6BE7}"/>
              </a:ext>
            </a:extLst>
          </p:cNvPr>
          <p:cNvSpPr>
            <a:spLocks noGrp="1"/>
          </p:cNvSpPr>
          <p:nvPr>
            <p:ph type="body" idx="1"/>
          </p:nvPr>
        </p:nvSpPr>
        <p:spPr bwMode="auto">
          <a:xfrm>
            <a:off x="1219200" y="1447800"/>
            <a:ext cx="10363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D4120647-5954-4048-93EE-C28EDCD08CBB}"/>
              </a:ext>
            </a:extLst>
          </p:cNvPr>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latin typeface="Arial" charset="0"/>
              </a:defRPr>
            </a:lvl1pPr>
          </a:lstStyle>
          <a:p>
            <a:pPr>
              <a:defRPr/>
            </a:pPr>
            <a:fld id="{09CEF905-5513-41D9-BA1D-DBB2425AA130}" type="datetimeFigureOut">
              <a:rPr lang="en-US"/>
              <a:pPr>
                <a:defRPr/>
              </a:pPr>
              <a:t>10/25/2024</a:t>
            </a:fld>
            <a:endParaRPr lang="en-US"/>
          </a:p>
        </p:txBody>
      </p:sp>
      <p:sp>
        <p:nvSpPr>
          <p:cNvPr id="3" name="Footer Placeholder 2">
            <a:extLst>
              <a:ext uri="{FF2B5EF4-FFF2-40B4-BE49-F238E27FC236}">
                <a16:creationId xmlns:a16="http://schemas.microsoft.com/office/drawing/2014/main" id="{AFD2804A-1FEF-46B5-BA84-77BC4DD39684}"/>
              </a:ext>
            </a:extLst>
          </p:cNvPr>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latin typeface="Arial" charset="0"/>
              </a:defRPr>
            </a:lvl1pPr>
          </a:lstStyle>
          <a:p>
            <a:pPr>
              <a:defRPr/>
            </a:pPr>
            <a:endParaRPr lang="en-US"/>
          </a:p>
        </p:txBody>
      </p:sp>
      <p:sp>
        <p:nvSpPr>
          <p:cNvPr id="23" name="Slide Number Placeholder 22">
            <a:extLst>
              <a:ext uri="{FF2B5EF4-FFF2-40B4-BE49-F238E27FC236}">
                <a16:creationId xmlns:a16="http://schemas.microsoft.com/office/drawing/2014/main" id="{FC8BAD02-991C-430C-84E0-71AE66D87E37}"/>
              </a:ext>
            </a:extLst>
          </p:cNvPr>
          <p:cNvSpPr>
            <a:spLocks noGrp="1"/>
          </p:cNvSpPr>
          <p:nvPr>
            <p:ph type="sldNum" sz="quarter" idx="4"/>
          </p:nvPr>
        </p:nvSpPr>
        <p:spPr>
          <a:xfrm>
            <a:off x="194733" y="6210300"/>
            <a:ext cx="6096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panose="020B0503020102020204" pitchFamily="34" charset="0"/>
              </a:defRPr>
            </a:lvl1pPr>
          </a:lstStyle>
          <a:p>
            <a:fld id="{ECE3F87F-B754-4D7F-92A4-78E4C157C59C}" type="slidenum">
              <a:rPr lang="en-US" altLang="en-US"/>
              <a:pPr/>
              <a:t>‹#›</a:t>
            </a:fld>
            <a:endParaRPr lang="en-US" altLang="en-US"/>
          </a:p>
        </p:txBody>
      </p:sp>
    </p:spTree>
    <p:extLst>
      <p:ext uri="{BB962C8B-B14F-4D97-AF65-F5344CB8AC3E}">
        <p14:creationId xmlns:p14="http://schemas.microsoft.com/office/powerpoint/2010/main" val="21040758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p:transition>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2" name="Freeform 11"/>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E084B0AF-BFAA-40C8-ADCA-280BD366C518}" type="datetime1">
              <a:rPr lang="en-US" smtClean="0"/>
              <a:t>10/25/2024</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65E7C573-500D-4A75-B887-95D5BF23D10D}" type="slidenum">
              <a:rPr lang="en-US" smtClean="0"/>
              <a:pPr/>
              <a:t>‹#›</a:t>
            </a:fld>
            <a:endParaRPr lang="en-US"/>
          </a:p>
        </p:txBody>
      </p:sp>
    </p:spTree>
    <p:extLst>
      <p:ext uri="{BB962C8B-B14F-4D97-AF65-F5344CB8AC3E}">
        <p14:creationId xmlns:p14="http://schemas.microsoft.com/office/powerpoint/2010/main" val="150452080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71A571AF-1CBD-41B0-BA9E-97070860E33F}"/>
              </a:ext>
            </a:extLst>
          </p:cNvPr>
          <p:cNvGrpSpPr>
            <a:grpSpLocks/>
          </p:cNvGrpSpPr>
          <p:nvPr/>
        </p:nvGrpSpPr>
        <p:grpSpPr bwMode="auto">
          <a:xfrm>
            <a:off x="1" y="0"/>
            <a:ext cx="12213167" cy="6870700"/>
            <a:chOff x="0" y="0"/>
            <a:chExt cx="5770" cy="4328"/>
          </a:xfrm>
        </p:grpSpPr>
        <p:sp>
          <p:nvSpPr>
            <p:cNvPr id="1032" name="Rectangle 3">
              <a:extLst>
                <a:ext uri="{FF2B5EF4-FFF2-40B4-BE49-F238E27FC236}">
                  <a16:creationId xmlns:a16="http://schemas.microsoft.com/office/drawing/2014/main" id="{537D7394-7C57-466C-AE8A-06478B7913CE}"/>
                </a:ext>
              </a:extLst>
            </p:cNvPr>
            <p:cNvSpPr>
              <a:spLocks noChangeArrowheads="1"/>
            </p:cNvSpPr>
            <p:nvPr/>
          </p:nvSpPr>
          <p:spPr bwMode="hidden">
            <a:xfrm>
              <a:off x="0" y="4186"/>
              <a:ext cx="5089" cy="142"/>
            </a:xfrm>
            <a:prstGeom prst="rect">
              <a:avLst/>
            </a:prstGeom>
            <a:gradFill rotWithShape="0">
              <a:gsLst>
                <a:gs pos="0">
                  <a:schemeClr val="bg1"/>
                </a:gs>
                <a:gs pos="100000">
                  <a:schemeClr val="bg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1800"/>
            </a:p>
          </p:txBody>
        </p:sp>
        <p:sp>
          <p:nvSpPr>
            <p:cNvPr id="1033" name="Rectangle 4">
              <a:extLst>
                <a:ext uri="{FF2B5EF4-FFF2-40B4-BE49-F238E27FC236}">
                  <a16:creationId xmlns:a16="http://schemas.microsoft.com/office/drawing/2014/main" id="{6E555A7C-1D83-4A83-87EF-26674C811808}"/>
                </a:ext>
              </a:extLst>
            </p:cNvPr>
            <p:cNvSpPr>
              <a:spLocks noChangeArrowheads="1"/>
            </p:cNvSpPr>
            <p:nvPr/>
          </p:nvSpPr>
          <p:spPr bwMode="hidden">
            <a:xfrm>
              <a:off x="0" y="0"/>
              <a:ext cx="5089" cy="126"/>
            </a:xfrm>
            <a:prstGeom prst="rect">
              <a:avLst/>
            </a:pr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1800"/>
            </a:p>
          </p:txBody>
        </p:sp>
        <p:sp>
          <p:nvSpPr>
            <p:cNvPr id="10245" name="Rectangle 5">
              <a:extLst>
                <a:ext uri="{FF2B5EF4-FFF2-40B4-BE49-F238E27FC236}">
                  <a16:creationId xmlns:a16="http://schemas.microsoft.com/office/drawing/2014/main" id="{D7F54306-70D0-46B2-9F23-41C2379200BE}"/>
                </a:ext>
              </a:extLst>
            </p:cNvPr>
            <p:cNvSpPr>
              <a:spLocks noChangeArrowheads="1"/>
            </p:cNvSpPr>
            <p:nvPr/>
          </p:nvSpPr>
          <p:spPr bwMode="auto">
            <a:xfrm>
              <a:off x="5010" y="0"/>
              <a:ext cx="758" cy="4320"/>
            </a:xfrm>
            <a:prstGeom prst="rect">
              <a:avLst/>
            </a:prstGeom>
            <a:gradFill rotWithShape="0">
              <a:gsLst>
                <a:gs pos="0">
                  <a:schemeClr val="accent1">
                    <a:gamma/>
                    <a:shade val="84706"/>
                    <a:invGamma/>
                  </a:schemeClr>
                </a:gs>
                <a:gs pos="50000">
                  <a:schemeClr val="accent1"/>
                </a:gs>
                <a:gs pos="100000">
                  <a:schemeClr val="accent1">
                    <a:gamma/>
                    <a:shade val="84706"/>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en-US" altLang="en-US" sz="1800"/>
            </a:p>
          </p:txBody>
        </p:sp>
        <p:grpSp>
          <p:nvGrpSpPr>
            <p:cNvPr id="1035" name="Group 6">
              <a:extLst>
                <a:ext uri="{FF2B5EF4-FFF2-40B4-BE49-F238E27FC236}">
                  <a16:creationId xmlns:a16="http://schemas.microsoft.com/office/drawing/2014/main" id="{CA56E864-EF69-4B6A-B768-DDAC4E8F5774}"/>
                </a:ext>
              </a:extLst>
            </p:cNvPr>
            <p:cNvGrpSpPr>
              <a:grpSpLocks/>
            </p:cNvGrpSpPr>
            <p:nvPr/>
          </p:nvGrpSpPr>
          <p:grpSpPr bwMode="auto">
            <a:xfrm>
              <a:off x="4944" y="1"/>
              <a:ext cx="816" cy="3974"/>
              <a:chOff x="4944" y="1"/>
              <a:chExt cx="816" cy="3974"/>
            </a:xfrm>
          </p:grpSpPr>
          <p:grpSp>
            <p:nvGrpSpPr>
              <p:cNvPr id="1047" name="Group 7">
                <a:extLst>
                  <a:ext uri="{FF2B5EF4-FFF2-40B4-BE49-F238E27FC236}">
                    <a16:creationId xmlns:a16="http://schemas.microsoft.com/office/drawing/2014/main" id="{3FBE21CF-EE3C-47AC-B958-A1BDC7BE4CB1}"/>
                  </a:ext>
                </a:extLst>
              </p:cNvPr>
              <p:cNvGrpSpPr>
                <a:grpSpLocks/>
              </p:cNvGrpSpPr>
              <p:nvPr userDrawn="1"/>
            </p:nvGrpSpPr>
            <p:grpSpPr bwMode="auto">
              <a:xfrm>
                <a:off x="5280" y="1"/>
                <a:ext cx="480" cy="1430"/>
                <a:chOff x="5280" y="1"/>
                <a:chExt cx="480" cy="1430"/>
              </a:xfrm>
            </p:grpSpPr>
            <p:grpSp>
              <p:nvGrpSpPr>
                <p:cNvPr id="1068" name="Group 8">
                  <a:extLst>
                    <a:ext uri="{FF2B5EF4-FFF2-40B4-BE49-F238E27FC236}">
                      <a16:creationId xmlns:a16="http://schemas.microsoft.com/office/drawing/2014/main" id="{E10EC097-C256-41A1-86A6-4C9478BEA87C}"/>
                    </a:ext>
                  </a:extLst>
                </p:cNvPr>
                <p:cNvGrpSpPr>
                  <a:grpSpLocks/>
                </p:cNvGrpSpPr>
                <p:nvPr userDrawn="1"/>
              </p:nvGrpSpPr>
              <p:grpSpPr bwMode="auto">
                <a:xfrm rot="-5400000">
                  <a:off x="5484" y="0"/>
                  <a:ext cx="174" cy="176"/>
                  <a:chOff x="1657" y="323"/>
                  <a:chExt cx="1691" cy="2560"/>
                </a:xfrm>
              </p:grpSpPr>
              <p:grpSp>
                <p:nvGrpSpPr>
                  <p:cNvPr id="1077" name="Group 9">
                    <a:extLst>
                      <a:ext uri="{FF2B5EF4-FFF2-40B4-BE49-F238E27FC236}">
                        <a16:creationId xmlns:a16="http://schemas.microsoft.com/office/drawing/2014/main" id="{98F893A1-9120-4460-B8FC-E2209BB9A3A2}"/>
                      </a:ext>
                    </a:extLst>
                  </p:cNvPr>
                  <p:cNvGrpSpPr>
                    <a:grpSpLocks/>
                  </p:cNvGrpSpPr>
                  <p:nvPr/>
                </p:nvGrpSpPr>
                <p:grpSpPr bwMode="auto">
                  <a:xfrm>
                    <a:off x="1657" y="323"/>
                    <a:ext cx="1691" cy="2560"/>
                    <a:chOff x="1657" y="323"/>
                    <a:chExt cx="1691" cy="2560"/>
                  </a:xfrm>
                </p:grpSpPr>
                <p:sp>
                  <p:nvSpPr>
                    <p:cNvPr id="1084" name="Freeform 10">
                      <a:extLst>
                        <a:ext uri="{FF2B5EF4-FFF2-40B4-BE49-F238E27FC236}">
                          <a16:creationId xmlns:a16="http://schemas.microsoft.com/office/drawing/2014/main" id="{8B41859C-54FC-4FF3-A863-8AC2044B355F}"/>
                        </a:ext>
                      </a:extLst>
                    </p:cNvPr>
                    <p:cNvSpPr>
                      <a:spLocks/>
                    </p:cNvSpPr>
                    <p:nvPr/>
                  </p:nvSpPr>
                  <p:spPr bwMode="auto">
                    <a:xfrm>
                      <a:off x="2117" y="323"/>
                      <a:ext cx="1231" cy="2560"/>
                    </a:xfrm>
                    <a:custGeom>
                      <a:avLst/>
                      <a:gdLst>
                        <a:gd name="T0" fmla="*/ 337 w 1231"/>
                        <a:gd name="T1" fmla="*/ 283 h 2560"/>
                        <a:gd name="T2" fmla="*/ 415 w 1231"/>
                        <a:gd name="T3" fmla="*/ 115 h 2560"/>
                        <a:gd name="T4" fmla="*/ 583 w 1231"/>
                        <a:gd name="T5" fmla="*/ 7 h 2560"/>
                        <a:gd name="T6" fmla="*/ 895 w 1231"/>
                        <a:gd name="T7" fmla="*/ 61 h 2560"/>
                        <a:gd name="T8" fmla="*/ 1051 w 1231"/>
                        <a:gd name="T9" fmla="*/ 349 h 2560"/>
                        <a:gd name="T10" fmla="*/ 979 w 1231"/>
                        <a:gd name="T11" fmla="*/ 769 h 2560"/>
                        <a:gd name="T12" fmla="*/ 943 w 1231"/>
                        <a:gd name="T13" fmla="*/ 943 h 2560"/>
                        <a:gd name="T14" fmla="*/ 1105 w 1231"/>
                        <a:gd name="T15" fmla="*/ 1075 h 2560"/>
                        <a:gd name="T16" fmla="*/ 1231 w 1231"/>
                        <a:gd name="T17" fmla="*/ 1525 h 2560"/>
                        <a:gd name="T18" fmla="*/ 1123 w 1231"/>
                        <a:gd name="T19" fmla="*/ 1969 h 2560"/>
                        <a:gd name="T20" fmla="*/ 907 w 1231"/>
                        <a:gd name="T21" fmla="*/ 2077 h 2560"/>
                        <a:gd name="T22" fmla="*/ 721 w 1231"/>
                        <a:gd name="T23" fmla="*/ 2059 h 2560"/>
                        <a:gd name="T24" fmla="*/ 655 w 1231"/>
                        <a:gd name="T25" fmla="*/ 2251 h 2560"/>
                        <a:gd name="T26" fmla="*/ 529 w 1231"/>
                        <a:gd name="T27" fmla="*/ 2527 h 2560"/>
                        <a:gd name="T28" fmla="*/ 211 w 1231"/>
                        <a:gd name="T29" fmla="*/ 2509 h 2560"/>
                        <a:gd name="T30" fmla="*/ 31 w 1231"/>
                        <a:gd name="T31" fmla="*/ 2227 h 2560"/>
                        <a:gd name="T32" fmla="*/ 25 w 1231"/>
                        <a:gd name="T33" fmla="*/ 1969 h 2560"/>
                        <a:gd name="T34" fmla="*/ 145 w 1231"/>
                        <a:gd name="T35" fmla="*/ 1651 h 2560"/>
                        <a:gd name="T36" fmla="*/ 259 w 1231"/>
                        <a:gd name="T37" fmla="*/ 1513 h 2560"/>
                        <a:gd name="T38" fmla="*/ 217 w 1231"/>
                        <a:gd name="T39" fmla="*/ 1729 h 2560"/>
                        <a:gd name="T40" fmla="*/ 73 w 1231"/>
                        <a:gd name="T41" fmla="*/ 2023 h 2560"/>
                        <a:gd name="T42" fmla="*/ 169 w 1231"/>
                        <a:gd name="T43" fmla="*/ 2323 h 2560"/>
                        <a:gd name="T44" fmla="*/ 439 w 1231"/>
                        <a:gd name="T45" fmla="*/ 2431 h 2560"/>
                        <a:gd name="T46" fmla="*/ 595 w 1231"/>
                        <a:gd name="T47" fmla="*/ 2227 h 2560"/>
                        <a:gd name="T48" fmla="*/ 577 w 1231"/>
                        <a:gd name="T49" fmla="*/ 1807 h 2560"/>
                        <a:gd name="T50" fmla="*/ 493 w 1231"/>
                        <a:gd name="T51" fmla="*/ 1531 h 2560"/>
                        <a:gd name="T52" fmla="*/ 535 w 1231"/>
                        <a:gd name="T53" fmla="*/ 1459 h 2560"/>
                        <a:gd name="T54" fmla="*/ 625 w 1231"/>
                        <a:gd name="T55" fmla="*/ 1633 h 2560"/>
                        <a:gd name="T56" fmla="*/ 721 w 1231"/>
                        <a:gd name="T57" fmla="*/ 1933 h 2560"/>
                        <a:gd name="T58" fmla="*/ 967 w 1231"/>
                        <a:gd name="T59" fmla="*/ 1963 h 2560"/>
                        <a:gd name="T60" fmla="*/ 1135 w 1231"/>
                        <a:gd name="T61" fmla="*/ 1687 h 2560"/>
                        <a:gd name="T62" fmla="*/ 1117 w 1231"/>
                        <a:gd name="T63" fmla="*/ 1273 h 2560"/>
                        <a:gd name="T64" fmla="*/ 883 w 1231"/>
                        <a:gd name="T65" fmla="*/ 1057 h 2560"/>
                        <a:gd name="T66" fmla="*/ 679 w 1231"/>
                        <a:gd name="T67" fmla="*/ 1129 h 2560"/>
                        <a:gd name="T68" fmla="*/ 577 w 1231"/>
                        <a:gd name="T69" fmla="*/ 1117 h 2560"/>
                        <a:gd name="T70" fmla="*/ 619 w 1231"/>
                        <a:gd name="T71" fmla="*/ 1033 h 2560"/>
                        <a:gd name="T72" fmla="*/ 811 w 1231"/>
                        <a:gd name="T73" fmla="*/ 937 h 2560"/>
                        <a:gd name="T74" fmla="*/ 949 w 1231"/>
                        <a:gd name="T75" fmla="*/ 613 h 2560"/>
                        <a:gd name="T76" fmla="*/ 883 w 1231"/>
                        <a:gd name="T77" fmla="*/ 175 h 2560"/>
                        <a:gd name="T78" fmla="*/ 619 w 1231"/>
                        <a:gd name="T79" fmla="*/ 103 h 2560"/>
                        <a:gd name="T80" fmla="*/ 391 w 1231"/>
                        <a:gd name="T81" fmla="*/ 355 h 2560"/>
                        <a:gd name="T82" fmla="*/ 403 w 1231"/>
                        <a:gd name="T83" fmla="*/ 763 h 2560"/>
                        <a:gd name="T84" fmla="*/ 343 w 1231"/>
                        <a:gd name="T85" fmla="*/ 949 h 2560"/>
                        <a:gd name="T86" fmla="*/ 289 w 1231"/>
                        <a:gd name="T87" fmla="*/ 685 h 2560"/>
                        <a:gd name="T88" fmla="*/ 307 w 1231"/>
                        <a:gd name="T89" fmla="*/ 367 h 256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231" h="2560">
                          <a:moveTo>
                            <a:pt x="307" y="367"/>
                          </a:moveTo>
                          <a:cubicBezTo>
                            <a:pt x="317" y="336"/>
                            <a:pt x="326" y="303"/>
                            <a:pt x="337" y="283"/>
                          </a:cubicBezTo>
                          <a:cubicBezTo>
                            <a:pt x="348" y="263"/>
                            <a:pt x="360" y="275"/>
                            <a:pt x="373" y="247"/>
                          </a:cubicBezTo>
                          <a:cubicBezTo>
                            <a:pt x="386" y="219"/>
                            <a:pt x="400" y="147"/>
                            <a:pt x="415" y="115"/>
                          </a:cubicBezTo>
                          <a:cubicBezTo>
                            <a:pt x="430" y="83"/>
                            <a:pt x="435" y="73"/>
                            <a:pt x="463" y="55"/>
                          </a:cubicBezTo>
                          <a:cubicBezTo>
                            <a:pt x="491" y="37"/>
                            <a:pt x="536" y="14"/>
                            <a:pt x="583" y="7"/>
                          </a:cubicBezTo>
                          <a:cubicBezTo>
                            <a:pt x="630" y="0"/>
                            <a:pt x="693" y="4"/>
                            <a:pt x="745" y="13"/>
                          </a:cubicBezTo>
                          <a:cubicBezTo>
                            <a:pt x="797" y="22"/>
                            <a:pt x="852" y="34"/>
                            <a:pt x="895" y="61"/>
                          </a:cubicBezTo>
                          <a:cubicBezTo>
                            <a:pt x="938" y="88"/>
                            <a:pt x="977" y="127"/>
                            <a:pt x="1003" y="175"/>
                          </a:cubicBezTo>
                          <a:cubicBezTo>
                            <a:pt x="1029" y="223"/>
                            <a:pt x="1044" y="287"/>
                            <a:pt x="1051" y="349"/>
                          </a:cubicBezTo>
                          <a:cubicBezTo>
                            <a:pt x="1058" y="411"/>
                            <a:pt x="1057" y="477"/>
                            <a:pt x="1045" y="547"/>
                          </a:cubicBezTo>
                          <a:cubicBezTo>
                            <a:pt x="1033" y="617"/>
                            <a:pt x="995" y="712"/>
                            <a:pt x="979" y="769"/>
                          </a:cubicBezTo>
                          <a:cubicBezTo>
                            <a:pt x="963" y="826"/>
                            <a:pt x="955" y="860"/>
                            <a:pt x="949" y="889"/>
                          </a:cubicBezTo>
                          <a:cubicBezTo>
                            <a:pt x="943" y="918"/>
                            <a:pt x="936" y="925"/>
                            <a:pt x="943" y="943"/>
                          </a:cubicBezTo>
                          <a:cubicBezTo>
                            <a:pt x="950" y="961"/>
                            <a:pt x="964" y="975"/>
                            <a:pt x="991" y="997"/>
                          </a:cubicBezTo>
                          <a:cubicBezTo>
                            <a:pt x="1018" y="1019"/>
                            <a:pt x="1069" y="1033"/>
                            <a:pt x="1105" y="1075"/>
                          </a:cubicBezTo>
                          <a:cubicBezTo>
                            <a:pt x="1141" y="1117"/>
                            <a:pt x="1186" y="1174"/>
                            <a:pt x="1207" y="1249"/>
                          </a:cubicBezTo>
                          <a:cubicBezTo>
                            <a:pt x="1228" y="1324"/>
                            <a:pt x="1231" y="1441"/>
                            <a:pt x="1231" y="1525"/>
                          </a:cubicBezTo>
                          <a:cubicBezTo>
                            <a:pt x="1231" y="1609"/>
                            <a:pt x="1225" y="1679"/>
                            <a:pt x="1207" y="1753"/>
                          </a:cubicBezTo>
                          <a:cubicBezTo>
                            <a:pt x="1189" y="1827"/>
                            <a:pt x="1153" y="1917"/>
                            <a:pt x="1123" y="1969"/>
                          </a:cubicBezTo>
                          <a:cubicBezTo>
                            <a:pt x="1093" y="2021"/>
                            <a:pt x="1063" y="2047"/>
                            <a:pt x="1027" y="2065"/>
                          </a:cubicBezTo>
                          <a:cubicBezTo>
                            <a:pt x="991" y="2083"/>
                            <a:pt x="951" y="2079"/>
                            <a:pt x="907" y="2077"/>
                          </a:cubicBezTo>
                          <a:cubicBezTo>
                            <a:pt x="863" y="2075"/>
                            <a:pt x="794" y="2056"/>
                            <a:pt x="763" y="2053"/>
                          </a:cubicBezTo>
                          <a:cubicBezTo>
                            <a:pt x="732" y="2050"/>
                            <a:pt x="733" y="2050"/>
                            <a:pt x="721" y="2059"/>
                          </a:cubicBezTo>
                          <a:cubicBezTo>
                            <a:pt x="709" y="2068"/>
                            <a:pt x="702" y="2075"/>
                            <a:pt x="691" y="2107"/>
                          </a:cubicBezTo>
                          <a:cubicBezTo>
                            <a:pt x="680" y="2139"/>
                            <a:pt x="665" y="2205"/>
                            <a:pt x="655" y="2251"/>
                          </a:cubicBezTo>
                          <a:cubicBezTo>
                            <a:pt x="645" y="2297"/>
                            <a:pt x="652" y="2337"/>
                            <a:pt x="631" y="2383"/>
                          </a:cubicBezTo>
                          <a:cubicBezTo>
                            <a:pt x="610" y="2429"/>
                            <a:pt x="574" y="2498"/>
                            <a:pt x="529" y="2527"/>
                          </a:cubicBezTo>
                          <a:cubicBezTo>
                            <a:pt x="484" y="2556"/>
                            <a:pt x="414" y="2560"/>
                            <a:pt x="361" y="2557"/>
                          </a:cubicBezTo>
                          <a:cubicBezTo>
                            <a:pt x="308" y="2554"/>
                            <a:pt x="256" y="2537"/>
                            <a:pt x="211" y="2509"/>
                          </a:cubicBezTo>
                          <a:cubicBezTo>
                            <a:pt x="166" y="2481"/>
                            <a:pt x="121" y="2436"/>
                            <a:pt x="91" y="2389"/>
                          </a:cubicBezTo>
                          <a:cubicBezTo>
                            <a:pt x="61" y="2342"/>
                            <a:pt x="46" y="2275"/>
                            <a:pt x="31" y="2227"/>
                          </a:cubicBezTo>
                          <a:cubicBezTo>
                            <a:pt x="16" y="2179"/>
                            <a:pt x="2" y="2144"/>
                            <a:pt x="1" y="2101"/>
                          </a:cubicBezTo>
                          <a:cubicBezTo>
                            <a:pt x="0" y="2058"/>
                            <a:pt x="13" y="2018"/>
                            <a:pt x="25" y="1969"/>
                          </a:cubicBezTo>
                          <a:cubicBezTo>
                            <a:pt x="37" y="1920"/>
                            <a:pt x="53" y="1860"/>
                            <a:pt x="73" y="1807"/>
                          </a:cubicBezTo>
                          <a:cubicBezTo>
                            <a:pt x="93" y="1754"/>
                            <a:pt x="122" y="1698"/>
                            <a:pt x="145" y="1651"/>
                          </a:cubicBezTo>
                          <a:cubicBezTo>
                            <a:pt x="168" y="1604"/>
                            <a:pt x="192" y="1548"/>
                            <a:pt x="211" y="1525"/>
                          </a:cubicBezTo>
                          <a:cubicBezTo>
                            <a:pt x="230" y="1502"/>
                            <a:pt x="249" y="1502"/>
                            <a:pt x="259" y="1513"/>
                          </a:cubicBezTo>
                          <a:cubicBezTo>
                            <a:pt x="269" y="1524"/>
                            <a:pt x="278" y="1555"/>
                            <a:pt x="271" y="1591"/>
                          </a:cubicBezTo>
                          <a:cubicBezTo>
                            <a:pt x="264" y="1627"/>
                            <a:pt x="242" y="1682"/>
                            <a:pt x="217" y="1729"/>
                          </a:cubicBezTo>
                          <a:cubicBezTo>
                            <a:pt x="192" y="1776"/>
                            <a:pt x="145" y="1824"/>
                            <a:pt x="121" y="1873"/>
                          </a:cubicBezTo>
                          <a:cubicBezTo>
                            <a:pt x="97" y="1922"/>
                            <a:pt x="76" y="1970"/>
                            <a:pt x="73" y="2023"/>
                          </a:cubicBezTo>
                          <a:cubicBezTo>
                            <a:pt x="70" y="2076"/>
                            <a:pt x="87" y="2141"/>
                            <a:pt x="103" y="2191"/>
                          </a:cubicBezTo>
                          <a:cubicBezTo>
                            <a:pt x="119" y="2241"/>
                            <a:pt x="140" y="2285"/>
                            <a:pt x="169" y="2323"/>
                          </a:cubicBezTo>
                          <a:cubicBezTo>
                            <a:pt x="198" y="2361"/>
                            <a:pt x="232" y="2401"/>
                            <a:pt x="277" y="2419"/>
                          </a:cubicBezTo>
                          <a:cubicBezTo>
                            <a:pt x="322" y="2437"/>
                            <a:pt x="395" y="2440"/>
                            <a:pt x="439" y="2431"/>
                          </a:cubicBezTo>
                          <a:cubicBezTo>
                            <a:pt x="483" y="2422"/>
                            <a:pt x="515" y="2399"/>
                            <a:pt x="541" y="2365"/>
                          </a:cubicBezTo>
                          <a:cubicBezTo>
                            <a:pt x="567" y="2331"/>
                            <a:pt x="583" y="2280"/>
                            <a:pt x="595" y="2227"/>
                          </a:cubicBezTo>
                          <a:cubicBezTo>
                            <a:pt x="607" y="2174"/>
                            <a:pt x="616" y="2117"/>
                            <a:pt x="613" y="2047"/>
                          </a:cubicBezTo>
                          <a:cubicBezTo>
                            <a:pt x="610" y="1977"/>
                            <a:pt x="589" y="1871"/>
                            <a:pt x="577" y="1807"/>
                          </a:cubicBezTo>
                          <a:cubicBezTo>
                            <a:pt x="565" y="1743"/>
                            <a:pt x="555" y="1709"/>
                            <a:pt x="541" y="1663"/>
                          </a:cubicBezTo>
                          <a:cubicBezTo>
                            <a:pt x="527" y="1617"/>
                            <a:pt x="502" y="1561"/>
                            <a:pt x="493" y="1531"/>
                          </a:cubicBezTo>
                          <a:cubicBezTo>
                            <a:pt x="484" y="1501"/>
                            <a:pt x="480" y="1495"/>
                            <a:pt x="487" y="1483"/>
                          </a:cubicBezTo>
                          <a:cubicBezTo>
                            <a:pt x="494" y="1471"/>
                            <a:pt x="519" y="1455"/>
                            <a:pt x="535" y="1459"/>
                          </a:cubicBezTo>
                          <a:cubicBezTo>
                            <a:pt x="551" y="1463"/>
                            <a:pt x="568" y="1478"/>
                            <a:pt x="583" y="1507"/>
                          </a:cubicBezTo>
                          <a:cubicBezTo>
                            <a:pt x="598" y="1536"/>
                            <a:pt x="610" y="1583"/>
                            <a:pt x="625" y="1633"/>
                          </a:cubicBezTo>
                          <a:cubicBezTo>
                            <a:pt x="640" y="1683"/>
                            <a:pt x="657" y="1757"/>
                            <a:pt x="673" y="1807"/>
                          </a:cubicBezTo>
                          <a:cubicBezTo>
                            <a:pt x="689" y="1857"/>
                            <a:pt x="697" y="1905"/>
                            <a:pt x="721" y="1933"/>
                          </a:cubicBezTo>
                          <a:cubicBezTo>
                            <a:pt x="745" y="1961"/>
                            <a:pt x="776" y="1970"/>
                            <a:pt x="817" y="1975"/>
                          </a:cubicBezTo>
                          <a:cubicBezTo>
                            <a:pt x="858" y="1980"/>
                            <a:pt x="926" y="1980"/>
                            <a:pt x="967" y="1963"/>
                          </a:cubicBezTo>
                          <a:cubicBezTo>
                            <a:pt x="1008" y="1946"/>
                            <a:pt x="1035" y="1919"/>
                            <a:pt x="1063" y="1873"/>
                          </a:cubicBezTo>
                          <a:cubicBezTo>
                            <a:pt x="1091" y="1827"/>
                            <a:pt x="1122" y="1761"/>
                            <a:pt x="1135" y="1687"/>
                          </a:cubicBezTo>
                          <a:cubicBezTo>
                            <a:pt x="1148" y="1613"/>
                            <a:pt x="1144" y="1498"/>
                            <a:pt x="1141" y="1429"/>
                          </a:cubicBezTo>
                          <a:cubicBezTo>
                            <a:pt x="1138" y="1360"/>
                            <a:pt x="1140" y="1325"/>
                            <a:pt x="1117" y="1273"/>
                          </a:cubicBezTo>
                          <a:cubicBezTo>
                            <a:pt x="1094" y="1221"/>
                            <a:pt x="1042" y="1153"/>
                            <a:pt x="1003" y="1117"/>
                          </a:cubicBezTo>
                          <a:cubicBezTo>
                            <a:pt x="964" y="1081"/>
                            <a:pt x="919" y="1064"/>
                            <a:pt x="883" y="1057"/>
                          </a:cubicBezTo>
                          <a:cubicBezTo>
                            <a:pt x="847" y="1050"/>
                            <a:pt x="821" y="1063"/>
                            <a:pt x="787" y="1075"/>
                          </a:cubicBezTo>
                          <a:cubicBezTo>
                            <a:pt x="753" y="1087"/>
                            <a:pt x="706" y="1117"/>
                            <a:pt x="679" y="1129"/>
                          </a:cubicBezTo>
                          <a:cubicBezTo>
                            <a:pt x="652" y="1141"/>
                            <a:pt x="642" y="1149"/>
                            <a:pt x="625" y="1147"/>
                          </a:cubicBezTo>
                          <a:cubicBezTo>
                            <a:pt x="608" y="1145"/>
                            <a:pt x="584" y="1130"/>
                            <a:pt x="577" y="1117"/>
                          </a:cubicBezTo>
                          <a:cubicBezTo>
                            <a:pt x="570" y="1104"/>
                            <a:pt x="576" y="1083"/>
                            <a:pt x="583" y="1069"/>
                          </a:cubicBezTo>
                          <a:cubicBezTo>
                            <a:pt x="590" y="1055"/>
                            <a:pt x="599" y="1043"/>
                            <a:pt x="619" y="1033"/>
                          </a:cubicBezTo>
                          <a:cubicBezTo>
                            <a:pt x="639" y="1023"/>
                            <a:pt x="671" y="1025"/>
                            <a:pt x="703" y="1009"/>
                          </a:cubicBezTo>
                          <a:cubicBezTo>
                            <a:pt x="735" y="993"/>
                            <a:pt x="780" y="965"/>
                            <a:pt x="811" y="937"/>
                          </a:cubicBezTo>
                          <a:cubicBezTo>
                            <a:pt x="842" y="909"/>
                            <a:pt x="866" y="895"/>
                            <a:pt x="889" y="841"/>
                          </a:cubicBezTo>
                          <a:cubicBezTo>
                            <a:pt x="912" y="787"/>
                            <a:pt x="939" y="696"/>
                            <a:pt x="949" y="613"/>
                          </a:cubicBezTo>
                          <a:cubicBezTo>
                            <a:pt x="959" y="530"/>
                            <a:pt x="960" y="416"/>
                            <a:pt x="949" y="343"/>
                          </a:cubicBezTo>
                          <a:cubicBezTo>
                            <a:pt x="938" y="270"/>
                            <a:pt x="914" y="215"/>
                            <a:pt x="883" y="175"/>
                          </a:cubicBezTo>
                          <a:cubicBezTo>
                            <a:pt x="852" y="135"/>
                            <a:pt x="807" y="115"/>
                            <a:pt x="763" y="103"/>
                          </a:cubicBezTo>
                          <a:cubicBezTo>
                            <a:pt x="719" y="91"/>
                            <a:pt x="665" y="90"/>
                            <a:pt x="619" y="103"/>
                          </a:cubicBezTo>
                          <a:cubicBezTo>
                            <a:pt x="573" y="116"/>
                            <a:pt x="525" y="139"/>
                            <a:pt x="487" y="181"/>
                          </a:cubicBezTo>
                          <a:cubicBezTo>
                            <a:pt x="449" y="223"/>
                            <a:pt x="412" y="301"/>
                            <a:pt x="391" y="355"/>
                          </a:cubicBezTo>
                          <a:cubicBezTo>
                            <a:pt x="370" y="409"/>
                            <a:pt x="359" y="437"/>
                            <a:pt x="361" y="505"/>
                          </a:cubicBezTo>
                          <a:cubicBezTo>
                            <a:pt x="363" y="573"/>
                            <a:pt x="399" y="691"/>
                            <a:pt x="403" y="763"/>
                          </a:cubicBezTo>
                          <a:cubicBezTo>
                            <a:pt x="407" y="835"/>
                            <a:pt x="395" y="906"/>
                            <a:pt x="385" y="937"/>
                          </a:cubicBezTo>
                          <a:cubicBezTo>
                            <a:pt x="375" y="968"/>
                            <a:pt x="356" y="957"/>
                            <a:pt x="343" y="949"/>
                          </a:cubicBezTo>
                          <a:cubicBezTo>
                            <a:pt x="330" y="941"/>
                            <a:pt x="316" y="933"/>
                            <a:pt x="307" y="889"/>
                          </a:cubicBezTo>
                          <a:cubicBezTo>
                            <a:pt x="298" y="845"/>
                            <a:pt x="294" y="755"/>
                            <a:pt x="289" y="685"/>
                          </a:cubicBezTo>
                          <a:cubicBezTo>
                            <a:pt x="284" y="615"/>
                            <a:pt x="273" y="523"/>
                            <a:pt x="277" y="469"/>
                          </a:cubicBezTo>
                          <a:cubicBezTo>
                            <a:pt x="281" y="415"/>
                            <a:pt x="297" y="398"/>
                            <a:pt x="307" y="367"/>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85" name="Freeform 11">
                      <a:extLst>
                        <a:ext uri="{FF2B5EF4-FFF2-40B4-BE49-F238E27FC236}">
                          <a16:creationId xmlns:a16="http://schemas.microsoft.com/office/drawing/2014/main" id="{A1F38588-9CBE-4843-9F1E-A5B66D838A96}"/>
                        </a:ext>
                      </a:extLst>
                    </p:cNvPr>
                    <p:cNvSpPr>
                      <a:spLocks/>
                    </p:cNvSpPr>
                    <p:nvPr/>
                  </p:nvSpPr>
                  <p:spPr bwMode="auto">
                    <a:xfrm>
                      <a:off x="1657" y="376"/>
                      <a:ext cx="865" cy="2071"/>
                    </a:xfrm>
                    <a:custGeom>
                      <a:avLst/>
                      <a:gdLst>
                        <a:gd name="T0" fmla="*/ 785 w 865"/>
                        <a:gd name="T1" fmla="*/ 530 h 2071"/>
                        <a:gd name="T2" fmla="*/ 797 w 865"/>
                        <a:gd name="T3" fmla="*/ 350 h 2071"/>
                        <a:gd name="T4" fmla="*/ 863 w 865"/>
                        <a:gd name="T5" fmla="*/ 206 h 2071"/>
                        <a:gd name="T6" fmla="*/ 809 w 865"/>
                        <a:gd name="T7" fmla="*/ 218 h 2071"/>
                        <a:gd name="T8" fmla="*/ 749 w 865"/>
                        <a:gd name="T9" fmla="*/ 218 h 2071"/>
                        <a:gd name="T10" fmla="*/ 683 w 865"/>
                        <a:gd name="T11" fmla="*/ 116 h 2071"/>
                        <a:gd name="T12" fmla="*/ 611 w 865"/>
                        <a:gd name="T13" fmla="*/ 32 h 2071"/>
                        <a:gd name="T14" fmla="*/ 509 w 865"/>
                        <a:gd name="T15" fmla="*/ 2 h 2071"/>
                        <a:gd name="T16" fmla="*/ 407 w 865"/>
                        <a:gd name="T17" fmla="*/ 20 h 2071"/>
                        <a:gd name="T18" fmla="*/ 281 w 865"/>
                        <a:gd name="T19" fmla="*/ 74 h 2071"/>
                        <a:gd name="T20" fmla="*/ 173 w 865"/>
                        <a:gd name="T21" fmla="*/ 206 h 2071"/>
                        <a:gd name="T22" fmla="*/ 119 w 865"/>
                        <a:gd name="T23" fmla="*/ 404 h 2071"/>
                        <a:gd name="T24" fmla="*/ 131 w 865"/>
                        <a:gd name="T25" fmla="*/ 590 h 2071"/>
                        <a:gd name="T26" fmla="*/ 173 w 865"/>
                        <a:gd name="T27" fmla="*/ 782 h 2071"/>
                        <a:gd name="T28" fmla="*/ 197 w 865"/>
                        <a:gd name="T29" fmla="*/ 884 h 2071"/>
                        <a:gd name="T30" fmla="*/ 167 w 865"/>
                        <a:gd name="T31" fmla="*/ 986 h 2071"/>
                        <a:gd name="T32" fmla="*/ 65 w 865"/>
                        <a:gd name="T33" fmla="*/ 1124 h 2071"/>
                        <a:gd name="T34" fmla="*/ 17 w 865"/>
                        <a:gd name="T35" fmla="*/ 1298 h 2071"/>
                        <a:gd name="T36" fmla="*/ 5 w 865"/>
                        <a:gd name="T37" fmla="*/ 1550 h 2071"/>
                        <a:gd name="T38" fmla="*/ 47 w 865"/>
                        <a:gd name="T39" fmla="*/ 1748 h 2071"/>
                        <a:gd name="T40" fmla="*/ 131 w 865"/>
                        <a:gd name="T41" fmla="*/ 1898 h 2071"/>
                        <a:gd name="T42" fmla="*/ 299 w 865"/>
                        <a:gd name="T43" fmla="*/ 1988 h 2071"/>
                        <a:gd name="T44" fmla="*/ 425 w 865"/>
                        <a:gd name="T45" fmla="*/ 1982 h 2071"/>
                        <a:gd name="T46" fmla="*/ 467 w 865"/>
                        <a:gd name="T47" fmla="*/ 1994 h 2071"/>
                        <a:gd name="T48" fmla="*/ 497 w 865"/>
                        <a:gd name="T49" fmla="*/ 2066 h 2071"/>
                        <a:gd name="T50" fmla="*/ 497 w 865"/>
                        <a:gd name="T51" fmla="*/ 1964 h 2071"/>
                        <a:gd name="T52" fmla="*/ 557 w 865"/>
                        <a:gd name="T53" fmla="*/ 1778 h 2071"/>
                        <a:gd name="T54" fmla="*/ 617 w 865"/>
                        <a:gd name="T55" fmla="*/ 1658 h 2071"/>
                        <a:gd name="T56" fmla="*/ 581 w 865"/>
                        <a:gd name="T57" fmla="*/ 1700 h 2071"/>
                        <a:gd name="T58" fmla="*/ 515 w 865"/>
                        <a:gd name="T59" fmla="*/ 1820 h 2071"/>
                        <a:gd name="T60" fmla="*/ 407 w 865"/>
                        <a:gd name="T61" fmla="*/ 1904 h 2071"/>
                        <a:gd name="T62" fmla="*/ 269 w 865"/>
                        <a:gd name="T63" fmla="*/ 1898 h 2071"/>
                        <a:gd name="T64" fmla="*/ 179 w 865"/>
                        <a:gd name="T65" fmla="*/ 1814 h 2071"/>
                        <a:gd name="T66" fmla="*/ 113 w 865"/>
                        <a:gd name="T67" fmla="*/ 1640 h 2071"/>
                        <a:gd name="T68" fmla="*/ 107 w 865"/>
                        <a:gd name="T69" fmla="*/ 1394 h 2071"/>
                        <a:gd name="T70" fmla="*/ 137 w 865"/>
                        <a:gd name="T71" fmla="*/ 1190 h 2071"/>
                        <a:gd name="T72" fmla="*/ 203 w 865"/>
                        <a:gd name="T73" fmla="*/ 1070 h 2071"/>
                        <a:gd name="T74" fmla="*/ 323 w 865"/>
                        <a:gd name="T75" fmla="*/ 1022 h 2071"/>
                        <a:gd name="T76" fmla="*/ 509 w 865"/>
                        <a:gd name="T77" fmla="*/ 1076 h 2071"/>
                        <a:gd name="T78" fmla="*/ 611 w 865"/>
                        <a:gd name="T79" fmla="*/ 1124 h 2071"/>
                        <a:gd name="T80" fmla="*/ 665 w 865"/>
                        <a:gd name="T81" fmla="*/ 1100 h 2071"/>
                        <a:gd name="T82" fmla="*/ 659 w 865"/>
                        <a:gd name="T83" fmla="*/ 1046 h 2071"/>
                        <a:gd name="T84" fmla="*/ 611 w 865"/>
                        <a:gd name="T85" fmla="*/ 1004 h 2071"/>
                        <a:gd name="T86" fmla="*/ 497 w 865"/>
                        <a:gd name="T87" fmla="*/ 980 h 2071"/>
                        <a:gd name="T88" fmla="*/ 323 w 865"/>
                        <a:gd name="T89" fmla="*/ 896 h 2071"/>
                        <a:gd name="T90" fmla="*/ 233 w 865"/>
                        <a:gd name="T91" fmla="*/ 680 h 2071"/>
                        <a:gd name="T92" fmla="*/ 209 w 865"/>
                        <a:gd name="T93" fmla="*/ 416 h 2071"/>
                        <a:gd name="T94" fmla="*/ 317 w 865"/>
                        <a:gd name="T95" fmla="*/ 170 h 2071"/>
                        <a:gd name="T96" fmla="*/ 485 w 865"/>
                        <a:gd name="T97" fmla="*/ 110 h 2071"/>
                        <a:gd name="T98" fmla="*/ 617 w 865"/>
                        <a:gd name="T99" fmla="*/ 164 h 2071"/>
                        <a:gd name="T100" fmla="*/ 707 w 865"/>
                        <a:gd name="T101" fmla="*/ 290 h 2071"/>
                        <a:gd name="T102" fmla="*/ 737 w 865"/>
                        <a:gd name="T103" fmla="*/ 428 h 2071"/>
                        <a:gd name="T104" fmla="*/ 773 w 865"/>
                        <a:gd name="T105" fmla="*/ 602 h 2071"/>
                        <a:gd name="T106" fmla="*/ 809 w 865"/>
                        <a:gd name="T107" fmla="*/ 584 h 2071"/>
                        <a:gd name="T108" fmla="*/ 785 w 865"/>
                        <a:gd name="T109" fmla="*/ 530 h 207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65" h="2071">
                          <a:moveTo>
                            <a:pt x="785" y="530"/>
                          </a:moveTo>
                          <a:cubicBezTo>
                            <a:pt x="783" y="491"/>
                            <a:pt x="784" y="404"/>
                            <a:pt x="797" y="350"/>
                          </a:cubicBezTo>
                          <a:cubicBezTo>
                            <a:pt x="810" y="296"/>
                            <a:pt x="861" y="228"/>
                            <a:pt x="863" y="206"/>
                          </a:cubicBezTo>
                          <a:cubicBezTo>
                            <a:pt x="865" y="184"/>
                            <a:pt x="828" y="216"/>
                            <a:pt x="809" y="218"/>
                          </a:cubicBezTo>
                          <a:cubicBezTo>
                            <a:pt x="790" y="220"/>
                            <a:pt x="770" y="235"/>
                            <a:pt x="749" y="218"/>
                          </a:cubicBezTo>
                          <a:cubicBezTo>
                            <a:pt x="728" y="201"/>
                            <a:pt x="706" y="147"/>
                            <a:pt x="683" y="116"/>
                          </a:cubicBezTo>
                          <a:cubicBezTo>
                            <a:pt x="660" y="85"/>
                            <a:pt x="640" y="51"/>
                            <a:pt x="611" y="32"/>
                          </a:cubicBezTo>
                          <a:cubicBezTo>
                            <a:pt x="582" y="13"/>
                            <a:pt x="543" y="4"/>
                            <a:pt x="509" y="2"/>
                          </a:cubicBezTo>
                          <a:cubicBezTo>
                            <a:pt x="475" y="0"/>
                            <a:pt x="445" y="8"/>
                            <a:pt x="407" y="20"/>
                          </a:cubicBezTo>
                          <a:cubicBezTo>
                            <a:pt x="369" y="32"/>
                            <a:pt x="320" y="43"/>
                            <a:pt x="281" y="74"/>
                          </a:cubicBezTo>
                          <a:cubicBezTo>
                            <a:pt x="242" y="105"/>
                            <a:pt x="200" y="151"/>
                            <a:pt x="173" y="206"/>
                          </a:cubicBezTo>
                          <a:cubicBezTo>
                            <a:pt x="146" y="261"/>
                            <a:pt x="126" y="340"/>
                            <a:pt x="119" y="404"/>
                          </a:cubicBezTo>
                          <a:cubicBezTo>
                            <a:pt x="112" y="468"/>
                            <a:pt x="122" y="527"/>
                            <a:pt x="131" y="590"/>
                          </a:cubicBezTo>
                          <a:cubicBezTo>
                            <a:pt x="140" y="653"/>
                            <a:pt x="162" y="733"/>
                            <a:pt x="173" y="782"/>
                          </a:cubicBezTo>
                          <a:cubicBezTo>
                            <a:pt x="184" y="831"/>
                            <a:pt x="198" y="850"/>
                            <a:pt x="197" y="884"/>
                          </a:cubicBezTo>
                          <a:cubicBezTo>
                            <a:pt x="196" y="918"/>
                            <a:pt x="189" y="946"/>
                            <a:pt x="167" y="986"/>
                          </a:cubicBezTo>
                          <a:cubicBezTo>
                            <a:pt x="145" y="1026"/>
                            <a:pt x="90" y="1072"/>
                            <a:pt x="65" y="1124"/>
                          </a:cubicBezTo>
                          <a:cubicBezTo>
                            <a:pt x="40" y="1176"/>
                            <a:pt x="27" y="1227"/>
                            <a:pt x="17" y="1298"/>
                          </a:cubicBezTo>
                          <a:cubicBezTo>
                            <a:pt x="7" y="1369"/>
                            <a:pt x="0" y="1475"/>
                            <a:pt x="5" y="1550"/>
                          </a:cubicBezTo>
                          <a:cubicBezTo>
                            <a:pt x="10" y="1625"/>
                            <a:pt x="26" y="1690"/>
                            <a:pt x="47" y="1748"/>
                          </a:cubicBezTo>
                          <a:cubicBezTo>
                            <a:pt x="68" y="1806"/>
                            <a:pt x="89" y="1858"/>
                            <a:pt x="131" y="1898"/>
                          </a:cubicBezTo>
                          <a:cubicBezTo>
                            <a:pt x="173" y="1938"/>
                            <a:pt x="250" y="1974"/>
                            <a:pt x="299" y="1988"/>
                          </a:cubicBezTo>
                          <a:cubicBezTo>
                            <a:pt x="348" y="2002"/>
                            <a:pt x="397" y="1981"/>
                            <a:pt x="425" y="1982"/>
                          </a:cubicBezTo>
                          <a:cubicBezTo>
                            <a:pt x="453" y="1983"/>
                            <a:pt x="455" y="1980"/>
                            <a:pt x="467" y="1994"/>
                          </a:cubicBezTo>
                          <a:cubicBezTo>
                            <a:pt x="479" y="2008"/>
                            <a:pt x="492" y="2071"/>
                            <a:pt x="497" y="2066"/>
                          </a:cubicBezTo>
                          <a:cubicBezTo>
                            <a:pt x="502" y="2061"/>
                            <a:pt x="487" y="2012"/>
                            <a:pt x="497" y="1964"/>
                          </a:cubicBezTo>
                          <a:cubicBezTo>
                            <a:pt x="507" y="1916"/>
                            <a:pt x="537" y="1829"/>
                            <a:pt x="557" y="1778"/>
                          </a:cubicBezTo>
                          <a:cubicBezTo>
                            <a:pt x="577" y="1727"/>
                            <a:pt x="613" y="1671"/>
                            <a:pt x="617" y="1658"/>
                          </a:cubicBezTo>
                          <a:cubicBezTo>
                            <a:pt x="621" y="1645"/>
                            <a:pt x="598" y="1673"/>
                            <a:pt x="581" y="1700"/>
                          </a:cubicBezTo>
                          <a:cubicBezTo>
                            <a:pt x="564" y="1727"/>
                            <a:pt x="544" y="1786"/>
                            <a:pt x="515" y="1820"/>
                          </a:cubicBezTo>
                          <a:cubicBezTo>
                            <a:pt x="486" y="1854"/>
                            <a:pt x="448" y="1891"/>
                            <a:pt x="407" y="1904"/>
                          </a:cubicBezTo>
                          <a:cubicBezTo>
                            <a:pt x="366" y="1917"/>
                            <a:pt x="307" y="1913"/>
                            <a:pt x="269" y="1898"/>
                          </a:cubicBezTo>
                          <a:cubicBezTo>
                            <a:pt x="231" y="1883"/>
                            <a:pt x="205" y="1857"/>
                            <a:pt x="179" y="1814"/>
                          </a:cubicBezTo>
                          <a:cubicBezTo>
                            <a:pt x="153" y="1771"/>
                            <a:pt x="125" y="1710"/>
                            <a:pt x="113" y="1640"/>
                          </a:cubicBezTo>
                          <a:cubicBezTo>
                            <a:pt x="101" y="1570"/>
                            <a:pt x="103" y="1469"/>
                            <a:pt x="107" y="1394"/>
                          </a:cubicBezTo>
                          <a:cubicBezTo>
                            <a:pt x="111" y="1319"/>
                            <a:pt x="121" y="1244"/>
                            <a:pt x="137" y="1190"/>
                          </a:cubicBezTo>
                          <a:cubicBezTo>
                            <a:pt x="153" y="1136"/>
                            <a:pt x="172" y="1098"/>
                            <a:pt x="203" y="1070"/>
                          </a:cubicBezTo>
                          <a:cubicBezTo>
                            <a:pt x="234" y="1042"/>
                            <a:pt x="272" y="1021"/>
                            <a:pt x="323" y="1022"/>
                          </a:cubicBezTo>
                          <a:cubicBezTo>
                            <a:pt x="374" y="1023"/>
                            <a:pt x="461" y="1059"/>
                            <a:pt x="509" y="1076"/>
                          </a:cubicBezTo>
                          <a:cubicBezTo>
                            <a:pt x="557" y="1093"/>
                            <a:pt x="585" y="1120"/>
                            <a:pt x="611" y="1124"/>
                          </a:cubicBezTo>
                          <a:cubicBezTo>
                            <a:pt x="637" y="1128"/>
                            <a:pt x="657" y="1113"/>
                            <a:pt x="665" y="1100"/>
                          </a:cubicBezTo>
                          <a:cubicBezTo>
                            <a:pt x="673" y="1087"/>
                            <a:pt x="668" y="1062"/>
                            <a:pt x="659" y="1046"/>
                          </a:cubicBezTo>
                          <a:cubicBezTo>
                            <a:pt x="650" y="1030"/>
                            <a:pt x="638" y="1015"/>
                            <a:pt x="611" y="1004"/>
                          </a:cubicBezTo>
                          <a:cubicBezTo>
                            <a:pt x="584" y="993"/>
                            <a:pt x="545" y="998"/>
                            <a:pt x="497" y="980"/>
                          </a:cubicBezTo>
                          <a:cubicBezTo>
                            <a:pt x="449" y="962"/>
                            <a:pt x="367" y="946"/>
                            <a:pt x="323" y="896"/>
                          </a:cubicBezTo>
                          <a:cubicBezTo>
                            <a:pt x="279" y="846"/>
                            <a:pt x="252" y="760"/>
                            <a:pt x="233" y="680"/>
                          </a:cubicBezTo>
                          <a:cubicBezTo>
                            <a:pt x="214" y="600"/>
                            <a:pt x="195" y="501"/>
                            <a:pt x="209" y="416"/>
                          </a:cubicBezTo>
                          <a:cubicBezTo>
                            <a:pt x="223" y="331"/>
                            <a:pt x="271" y="221"/>
                            <a:pt x="317" y="170"/>
                          </a:cubicBezTo>
                          <a:cubicBezTo>
                            <a:pt x="363" y="119"/>
                            <a:pt x="435" y="111"/>
                            <a:pt x="485" y="110"/>
                          </a:cubicBezTo>
                          <a:cubicBezTo>
                            <a:pt x="535" y="109"/>
                            <a:pt x="580" y="134"/>
                            <a:pt x="617" y="164"/>
                          </a:cubicBezTo>
                          <a:cubicBezTo>
                            <a:pt x="654" y="194"/>
                            <a:pt x="687" y="246"/>
                            <a:pt x="707" y="290"/>
                          </a:cubicBezTo>
                          <a:cubicBezTo>
                            <a:pt x="727" y="334"/>
                            <a:pt x="726" y="376"/>
                            <a:pt x="737" y="428"/>
                          </a:cubicBezTo>
                          <a:cubicBezTo>
                            <a:pt x="748" y="480"/>
                            <a:pt x="761" y="576"/>
                            <a:pt x="773" y="602"/>
                          </a:cubicBezTo>
                          <a:cubicBezTo>
                            <a:pt x="785" y="628"/>
                            <a:pt x="807" y="597"/>
                            <a:pt x="809" y="584"/>
                          </a:cubicBezTo>
                          <a:cubicBezTo>
                            <a:pt x="811" y="571"/>
                            <a:pt x="787" y="569"/>
                            <a:pt x="785" y="530"/>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grpSp>
              <p:sp>
                <p:nvSpPr>
                  <p:cNvPr id="1078" name="Oval 12">
                    <a:extLst>
                      <a:ext uri="{FF2B5EF4-FFF2-40B4-BE49-F238E27FC236}">
                        <a16:creationId xmlns:a16="http://schemas.microsoft.com/office/drawing/2014/main" id="{D24C3643-0D74-4436-BB51-FD21B31131FE}"/>
                      </a:ext>
                    </a:extLst>
                  </p:cNvPr>
                  <p:cNvSpPr>
                    <a:spLocks noChangeArrowheads="1"/>
                  </p:cNvSpPr>
                  <p:nvPr/>
                </p:nvSpPr>
                <p:spPr bwMode="auto">
                  <a:xfrm>
                    <a:off x="2396" y="1428"/>
                    <a:ext cx="175" cy="247"/>
                  </a:xfrm>
                  <a:prstGeom prst="ellipse">
                    <a:avLst/>
                  </a:prstGeom>
                  <a:solidFill>
                    <a:srgbClr val="E7D6B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800"/>
                  </a:p>
                </p:txBody>
              </p:sp>
              <p:sp>
                <p:nvSpPr>
                  <p:cNvPr id="1079" name="Freeform 13">
                    <a:extLst>
                      <a:ext uri="{FF2B5EF4-FFF2-40B4-BE49-F238E27FC236}">
                        <a16:creationId xmlns:a16="http://schemas.microsoft.com/office/drawing/2014/main" id="{2DFAA262-A7A3-44C3-8189-7191FA7AAA5B}"/>
                      </a:ext>
                    </a:extLst>
                  </p:cNvPr>
                  <p:cNvSpPr>
                    <a:spLocks/>
                  </p:cNvSpPr>
                  <p:nvPr/>
                </p:nvSpPr>
                <p:spPr bwMode="auto">
                  <a:xfrm>
                    <a:off x="2595" y="741"/>
                    <a:ext cx="266" cy="521"/>
                  </a:xfrm>
                  <a:custGeom>
                    <a:avLst/>
                    <a:gdLst>
                      <a:gd name="T0" fmla="*/ 3 w 266"/>
                      <a:gd name="T1" fmla="*/ 483 h 521"/>
                      <a:gd name="T2" fmla="*/ 27 w 266"/>
                      <a:gd name="T3" fmla="*/ 273 h 521"/>
                      <a:gd name="T4" fmla="*/ 111 w 266"/>
                      <a:gd name="T5" fmla="*/ 45 h 521"/>
                      <a:gd name="T6" fmla="*/ 183 w 266"/>
                      <a:gd name="T7" fmla="*/ 3 h 521"/>
                      <a:gd name="T8" fmla="*/ 237 w 266"/>
                      <a:gd name="T9" fmla="*/ 39 h 521"/>
                      <a:gd name="T10" fmla="*/ 261 w 266"/>
                      <a:gd name="T11" fmla="*/ 129 h 521"/>
                      <a:gd name="T12" fmla="*/ 207 w 266"/>
                      <a:gd name="T13" fmla="*/ 273 h 521"/>
                      <a:gd name="T14" fmla="*/ 105 w 266"/>
                      <a:gd name="T15" fmla="*/ 477 h 521"/>
                      <a:gd name="T16" fmla="*/ 45 w 266"/>
                      <a:gd name="T17" fmla="*/ 501 h 521"/>
                      <a:gd name="T18" fmla="*/ 3 w 266"/>
                      <a:gd name="T19" fmla="*/ 483 h 5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6" h="521">
                        <a:moveTo>
                          <a:pt x="3" y="483"/>
                        </a:moveTo>
                        <a:cubicBezTo>
                          <a:pt x="0" y="445"/>
                          <a:pt x="9" y="346"/>
                          <a:pt x="27" y="273"/>
                        </a:cubicBezTo>
                        <a:cubicBezTo>
                          <a:pt x="45" y="200"/>
                          <a:pt x="85" y="90"/>
                          <a:pt x="111" y="45"/>
                        </a:cubicBezTo>
                        <a:cubicBezTo>
                          <a:pt x="137" y="0"/>
                          <a:pt x="162" y="4"/>
                          <a:pt x="183" y="3"/>
                        </a:cubicBezTo>
                        <a:cubicBezTo>
                          <a:pt x="204" y="2"/>
                          <a:pt x="224" y="18"/>
                          <a:pt x="237" y="39"/>
                        </a:cubicBezTo>
                        <a:cubicBezTo>
                          <a:pt x="250" y="60"/>
                          <a:pt x="266" y="90"/>
                          <a:pt x="261" y="129"/>
                        </a:cubicBezTo>
                        <a:cubicBezTo>
                          <a:pt x="256" y="168"/>
                          <a:pt x="233" y="215"/>
                          <a:pt x="207" y="273"/>
                        </a:cubicBezTo>
                        <a:cubicBezTo>
                          <a:pt x="181" y="331"/>
                          <a:pt x="132" y="439"/>
                          <a:pt x="105" y="477"/>
                        </a:cubicBezTo>
                        <a:cubicBezTo>
                          <a:pt x="78" y="515"/>
                          <a:pt x="61" y="501"/>
                          <a:pt x="45" y="501"/>
                        </a:cubicBezTo>
                        <a:cubicBezTo>
                          <a:pt x="29" y="501"/>
                          <a:pt x="6" y="521"/>
                          <a:pt x="3" y="483"/>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80" name="Freeform 14">
                    <a:extLst>
                      <a:ext uri="{FF2B5EF4-FFF2-40B4-BE49-F238E27FC236}">
                        <a16:creationId xmlns:a16="http://schemas.microsoft.com/office/drawing/2014/main" id="{0A051662-D357-469F-9B06-09C8566D1C27}"/>
                      </a:ext>
                    </a:extLst>
                  </p:cNvPr>
                  <p:cNvSpPr>
                    <a:spLocks/>
                  </p:cNvSpPr>
                  <p:nvPr/>
                </p:nvSpPr>
                <p:spPr bwMode="auto">
                  <a:xfrm>
                    <a:off x="2672" y="1593"/>
                    <a:ext cx="392" cy="340"/>
                  </a:xfrm>
                  <a:custGeom>
                    <a:avLst/>
                    <a:gdLst>
                      <a:gd name="T0" fmla="*/ 100 w 392"/>
                      <a:gd name="T1" fmla="*/ 201 h 340"/>
                      <a:gd name="T2" fmla="*/ 16 w 392"/>
                      <a:gd name="T3" fmla="*/ 87 h 340"/>
                      <a:gd name="T4" fmla="*/ 4 w 392"/>
                      <a:gd name="T5" fmla="*/ 45 h 340"/>
                      <a:gd name="T6" fmla="*/ 28 w 392"/>
                      <a:gd name="T7" fmla="*/ 3 h 340"/>
                      <a:gd name="T8" fmla="*/ 130 w 392"/>
                      <a:gd name="T9" fmla="*/ 27 h 340"/>
                      <a:gd name="T10" fmla="*/ 250 w 392"/>
                      <a:gd name="T11" fmla="*/ 75 h 340"/>
                      <a:gd name="T12" fmla="*/ 364 w 392"/>
                      <a:gd name="T13" fmla="*/ 159 h 340"/>
                      <a:gd name="T14" fmla="*/ 388 w 392"/>
                      <a:gd name="T15" fmla="*/ 273 h 340"/>
                      <a:gd name="T16" fmla="*/ 340 w 392"/>
                      <a:gd name="T17" fmla="*/ 333 h 340"/>
                      <a:gd name="T18" fmla="*/ 244 w 392"/>
                      <a:gd name="T19" fmla="*/ 315 h 340"/>
                      <a:gd name="T20" fmla="*/ 100 w 392"/>
                      <a:gd name="T21" fmla="*/ 201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92" h="340">
                        <a:moveTo>
                          <a:pt x="100" y="201"/>
                        </a:moveTo>
                        <a:cubicBezTo>
                          <a:pt x="62" y="163"/>
                          <a:pt x="32" y="113"/>
                          <a:pt x="16" y="87"/>
                        </a:cubicBezTo>
                        <a:cubicBezTo>
                          <a:pt x="0" y="61"/>
                          <a:pt x="2" y="59"/>
                          <a:pt x="4" y="45"/>
                        </a:cubicBezTo>
                        <a:cubicBezTo>
                          <a:pt x="6" y="31"/>
                          <a:pt x="7" y="6"/>
                          <a:pt x="28" y="3"/>
                        </a:cubicBezTo>
                        <a:cubicBezTo>
                          <a:pt x="49" y="0"/>
                          <a:pt x="93" y="15"/>
                          <a:pt x="130" y="27"/>
                        </a:cubicBezTo>
                        <a:cubicBezTo>
                          <a:pt x="167" y="39"/>
                          <a:pt x="211" y="53"/>
                          <a:pt x="250" y="75"/>
                        </a:cubicBezTo>
                        <a:cubicBezTo>
                          <a:pt x="289" y="97"/>
                          <a:pt x="341" y="126"/>
                          <a:pt x="364" y="159"/>
                        </a:cubicBezTo>
                        <a:cubicBezTo>
                          <a:pt x="387" y="192"/>
                          <a:pt x="392" y="244"/>
                          <a:pt x="388" y="273"/>
                        </a:cubicBezTo>
                        <a:cubicBezTo>
                          <a:pt x="384" y="302"/>
                          <a:pt x="364" y="326"/>
                          <a:pt x="340" y="333"/>
                        </a:cubicBezTo>
                        <a:cubicBezTo>
                          <a:pt x="316" y="340"/>
                          <a:pt x="282" y="336"/>
                          <a:pt x="244" y="315"/>
                        </a:cubicBezTo>
                        <a:cubicBezTo>
                          <a:pt x="206" y="294"/>
                          <a:pt x="138" y="239"/>
                          <a:pt x="100" y="201"/>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81" name="Freeform 15">
                    <a:extLst>
                      <a:ext uri="{FF2B5EF4-FFF2-40B4-BE49-F238E27FC236}">
                        <a16:creationId xmlns:a16="http://schemas.microsoft.com/office/drawing/2014/main" id="{A9CCDE24-14D2-4D28-BEE9-5BC805EF6EA6}"/>
                      </a:ext>
                    </a:extLst>
                  </p:cNvPr>
                  <p:cNvSpPr>
                    <a:spLocks/>
                  </p:cNvSpPr>
                  <p:nvPr/>
                </p:nvSpPr>
                <p:spPr bwMode="auto">
                  <a:xfrm>
                    <a:off x="2412" y="1929"/>
                    <a:ext cx="151" cy="558"/>
                  </a:xfrm>
                  <a:custGeom>
                    <a:avLst/>
                    <a:gdLst>
                      <a:gd name="T0" fmla="*/ 18 w 151"/>
                      <a:gd name="T1" fmla="*/ 165 h 558"/>
                      <a:gd name="T2" fmla="*/ 42 w 151"/>
                      <a:gd name="T3" fmla="*/ 39 h 558"/>
                      <a:gd name="T4" fmla="*/ 66 w 151"/>
                      <a:gd name="T5" fmla="*/ 3 h 558"/>
                      <a:gd name="T6" fmla="*/ 108 w 151"/>
                      <a:gd name="T7" fmla="*/ 27 h 558"/>
                      <a:gd name="T8" fmla="*/ 138 w 151"/>
                      <a:gd name="T9" fmla="*/ 165 h 558"/>
                      <a:gd name="T10" fmla="*/ 144 w 151"/>
                      <a:gd name="T11" fmla="*/ 423 h 558"/>
                      <a:gd name="T12" fmla="*/ 96 w 151"/>
                      <a:gd name="T13" fmla="*/ 543 h 558"/>
                      <a:gd name="T14" fmla="*/ 24 w 151"/>
                      <a:gd name="T15" fmla="*/ 513 h 558"/>
                      <a:gd name="T16" fmla="*/ 0 w 151"/>
                      <a:gd name="T17" fmla="*/ 315 h 558"/>
                      <a:gd name="T18" fmla="*/ 18 w 151"/>
                      <a:gd name="T19" fmla="*/ 165 h 5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1" h="558">
                        <a:moveTo>
                          <a:pt x="18" y="165"/>
                        </a:moveTo>
                        <a:cubicBezTo>
                          <a:pt x="25" y="119"/>
                          <a:pt x="34" y="66"/>
                          <a:pt x="42" y="39"/>
                        </a:cubicBezTo>
                        <a:cubicBezTo>
                          <a:pt x="50" y="12"/>
                          <a:pt x="55" y="5"/>
                          <a:pt x="66" y="3"/>
                        </a:cubicBezTo>
                        <a:cubicBezTo>
                          <a:pt x="77" y="1"/>
                          <a:pt x="96" y="0"/>
                          <a:pt x="108" y="27"/>
                        </a:cubicBezTo>
                        <a:cubicBezTo>
                          <a:pt x="120" y="54"/>
                          <a:pt x="132" y="99"/>
                          <a:pt x="138" y="165"/>
                        </a:cubicBezTo>
                        <a:cubicBezTo>
                          <a:pt x="144" y="231"/>
                          <a:pt x="151" y="360"/>
                          <a:pt x="144" y="423"/>
                        </a:cubicBezTo>
                        <a:cubicBezTo>
                          <a:pt x="137" y="486"/>
                          <a:pt x="116" y="528"/>
                          <a:pt x="96" y="543"/>
                        </a:cubicBezTo>
                        <a:cubicBezTo>
                          <a:pt x="76" y="558"/>
                          <a:pt x="40" y="551"/>
                          <a:pt x="24" y="513"/>
                        </a:cubicBezTo>
                        <a:cubicBezTo>
                          <a:pt x="8" y="475"/>
                          <a:pt x="0" y="372"/>
                          <a:pt x="0" y="315"/>
                        </a:cubicBezTo>
                        <a:cubicBezTo>
                          <a:pt x="0" y="258"/>
                          <a:pt x="11" y="211"/>
                          <a:pt x="18" y="165"/>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82" name="Freeform 16">
                    <a:extLst>
                      <a:ext uri="{FF2B5EF4-FFF2-40B4-BE49-F238E27FC236}">
                        <a16:creationId xmlns:a16="http://schemas.microsoft.com/office/drawing/2014/main" id="{8A884A1E-E0C0-44D4-A9DF-EEFC014552D9}"/>
                      </a:ext>
                    </a:extLst>
                  </p:cNvPr>
                  <p:cNvSpPr>
                    <a:spLocks/>
                  </p:cNvSpPr>
                  <p:nvPr/>
                </p:nvSpPr>
                <p:spPr bwMode="auto">
                  <a:xfrm>
                    <a:off x="1907" y="1589"/>
                    <a:ext cx="392" cy="253"/>
                  </a:xfrm>
                  <a:custGeom>
                    <a:avLst/>
                    <a:gdLst>
                      <a:gd name="T0" fmla="*/ 175 w 392"/>
                      <a:gd name="T1" fmla="*/ 61 h 253"/>
                      <a:gd name="T2" fmla="*/ 307 w 392"/>
                      <a:gd name="T3" fmla="*/ 19 h 253"/>
                      <a:gd name="T4" fmla="*/ 367 w 392"/>
                      <a:gd name="T5" fmla="*/ 7 h 253"/>
                      <a:gd name="T6" fmla="*/ 385 w 392"/>
                      <a:gd name="T7" fmla="*/ 61 h 253"/>
                      <a:gd name="T8" fmla="*/ 325 w 392"/>
                      <a:gd name="T9" fmla="*/ 133 h 253"/>
                      <a:gd name="T10" fmla="*/ 193 w 392"/>
                      <a:gd name="T11" fmla="*/ 223 h 253"/>
                      <a:gd name="T12" fmla="*/ 37 w 392"/>
                      <a:gd name="T13" fmla="*/ 247 h 253"/>
                      <a:gd name="T14" fmla="*/ 1 w 392"/>
                      <a:gd name="T15" fmla="*/ 187 h 253"/>
                      <a:gd name="T16" fmla="*/ 43 w 392"/>
                      <a:gd name="T17" fmla="*/ 115 h 253"/>
                      <a:gd name="T18" fmla="*/ 175 w 392"/>
                      <a:gd name="T19" fmla="*/ 61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 h="253">
                        <a:moveTo>
                          <a:pt x="175" y="61"/>
                        </a:moveTo>
                        <a:cubicBezTo>
                          <a:pt x="219" y="45"/>
                          <a:pt x="275" y="28"/>
                          <a:pt x="307" y="19"/>
                        </a:cubicBezTo>
                        <a:cubicBezTo>
                          <a:pt x="339" y="10"/>
                          <a:pt x="354" y="0"/>
                          <a:pt x="367" y="7"/>
                        </a:cubicBezTo>
                        <a:cubicBezTo>
                          <a:pt x="380" y="14"/>
                          <a:pt x="392" y="40"/>
                          <a:pt x="385" y="61"/>
                        </a:cubicBezTo>
                        <a:cubicBezTo>
                          <a:pt x="378" y="82"/>
                          <a:pt x="357" y="106"/>
                          <a:pt x="325" y="133"/>
                        </a:cubicBezTo>
                        <a:cubicBezTo>
                          <a:pt x="293" y="160"/>
                          <a:pt x="241" y="204"/>
                          <a:pt x="193" y="223"/>
                        </a:cubicBezTo>
                        <a:cubicBezTo>
                          <a:pt x="145" y="242"/>
                          <a:pt x="69" y="253"/>
                          <a:pt x="37" y="247"/>
                        </a:cubicBezTo>
                        <a:cubicBezTo>
                          <a:pt x="5" y="241"/>
                          <a:pt x="0" y="209"/>
                          <a:pt x="1" y="187"/>
                        </a:cubicBezTo>
                        <a:cubicBezTo>
                          <a:pt x="2" y="165"/>
                          <a:pt x="15" y="136"/>
                          <a:pt x="43" y="115"/>
                        </a:cubicBezTo>
                        <a:cubicBezTo>
                          <a:pt x="71" y="94"/>
                          <a:pt x="131" y="77"/>
                          <a:pt x="175" y="61"/>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83" name="Freeform 17">
                    <a:extLst>
                      <a:ext uri="{FF2B5EF4-FFF2-40B4-BE49-F238E27FC236}">
                        <a16:creationId xmlns:a16="http://schemas.microsoft.com/office/drawing/2014/main" id="{96EA809C-F127-4A0D-96E1-5D4DBD306AD4}"/>
                      </a:ext>
                    </a:extLst>
                  </p:cNvPr>
                  <p:cNvSpPr>
                    <a:spLocks/>
                  </p:cNvSpPr>
                  <p:nvPr/>
                </p:nvSpPr>
                <p:spPr bwMode="auto">
                  <a:xfrm>
                    <a:off x="2094" y="930"/>
                    <a:ext cx="238" cy="386"/>
                  </a:xfrm>
                  <a:custGeom>
                    <a:avLst/>
                    <a:gdLst>
                      <a:gd name="T0" fmla="*/ 78 w 238"/>
                      <a:gd name="T1" fmla="*/ 270 h 386"/>
                      <a:gd name="T2" fmla="*/ 24 w 238"/>
                      <a:gd name="T3" fmla="*/ 192 h 386"/>
                      <a:gd name="T4" fmla="*/ 0 w 238"/>
                      <a:gd name="T5" fmla="*/ 96 h 386"/>
                      <a:gd name="T6" fmla="*/ 24 w 238"/>
                      <a:gd name="T7" fmla="*/ 12 h 386"/>
                      <a:gd name="T8" fmla="*/ 120 w 238"/>
                      <a:gd name="T9" fmla="*/ 24 h 386"/>
                      <a:gd name="T10" fmla="*/ 180 w 238"/>
                      <a:gd name="T11" fmla="*/ 132 h 386"/>
                      <a:gd name="T12" fmla="*/ 234 w 238"/>
                      <a:gd name="T13" fmla="*/ 306 h 386"/>
                      <a:gd name="T14" fmla="*/ 204 w 238"/>
                      <a:gd name="T15" fmla="*/ 378 h 386"/>
                      <a:gd name="T16" fmla="*/ 168 w 238"/>
                      <a:gd name="T17" fmla="*/ 354 h 386"/>
                      <a:gd name="T18" fmla="*/ 78 w 238"/>
                      <a:gd name="T19" fmla="*/ 270 h 3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8" h="386">
                        <a:moveTo>
                          <a:pt x="78" y="270"/>
                        </a:moveTo>
                        <a:cubicBezTo>
                          <a:pt x="54" y="243"/>
                          <a:pt x="37" y="221"/>
                          <a:pt x="24" y="192"/>
                        </a:cubicBezTo>
                        <a:cubicBezTo>
                          <a:pt x="11" y="163"/>
                          <a:pt x="0" y="126"/>
                          <a:pt x="0" y="96"/>
                        </a:cubicBezTo>
                        <a:cubicBezTo>
                          <a:pt x="0" y="66"/>
                          <a:pt x="4" y="24"/>
                          <a:pt x="24" y="12"/>
                        </a:cubicBezTo>
                        <a:cubicBezTo>
                          <a:pt x="44" y="0"/>
                          <a:pt x="94" y="4"/>
                          <a:pt x="120" y="24"/>
                        </a:cubicBezTo>
                        <a:cubicBezTo>
                          <a:pt x="146" y="44"/>
                          <a:pt x="161" y="85"/>
                          <a:pt x="180" y="132"/>
                        </a:cubicBezTo>
                        <a:cubicBezTo>
                          <a:pt x="199" y="179"/>
                          <a:pt x="230" y="265"/>
                          <a:pt x="234" y="306"/>
                        </a:cubicBezTo>
                        <a:cubicBezTo>
                          <a:pt x="238" y="347"/>
                          <a:pt x="215" y="370"/>
                          <a:pt x="204" y="378"/>
                        </a:cubicBezTo>
                        <a:cubicBezTo>
                          <a:pt x="193" y="386"/>
                          <a:pt x="190" y="372"/>
                          <a:pt x="168" y="354"/>
                        </a:cubicBezTo>
                        <a:cubicBezTo>
                          <a:pt x="146" y="336"/>
                          <a:pt x="102" y="297"/>
                          <a:pt x="78" y="270"/>
                        </a:cubicBezTo>
                        <a:close/>
                      </a:path>
                    </a:pathLst>
                  </a:custGeom>
                  <a:solidFill>
                    <a:srgbClr val="E7D6B7"/>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grpSp>
            <p:pic>
              <p:nvPicPr>
                <p:cNvPr id="1069" name="Picture 18">
                  <a:extLst>
                    <a:ext uri="{FF2B5EF4-FFF2-40B4-BE49-F238E27FC236}">
                      <a16:creationId xmlns:a16="http://schemas.microsoft.com/office/drawing/2014/main" id="{98C69568-E919-4385-9585-E96508A3A5A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280" y="144"/>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0" name="Picture 19">
                  <a:extLst>
                    <a:ext uri="{FF2B5EF4-FFF2-40B4-BE49-F238E27FC236}">
                      <a16:creationId xmlns:a16="http://schemas.microsoft.com/office/drawing/2014/main" id="{7A4D5151-9075-417B-AAB2-ED9DC8D5B360}"/>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574" y="144"/>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1" name="Picture 20">
                  <a:extLst>
                    <a:ext uri="{FF2B5EF4-FFF2-40B4-BE49-F238E27FC236}">
                      <a16:creationId xmlns:a16="http://schemas.microsoft.com/office/drawing/2014/main" id="{F9CF3DF5-5A92-4696-B16C-AC7B5891E66F}"/>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424" y="336"/>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2" name="Picture 21">
                  <a:extLst>
                    <a:ext uri="{FF2B5EF4-FFF2-40B4-BE49-F238E27FC236}">
                      <a16:creationId xmlns:a16="http://schemas.microsoft.com/office/drawing/2014/main" id="{6FD19274-6FFB-4DF5-95DD-59F33A542294}"/>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376" y="576"/>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3" name="Picture 22">
                  <a:extLst>
                    <a:ext uri="{FF2B5EF4-FFF2-40B4-BE49-F238E27FC236}">
                      <a16:creationId xmlns:a16="http://schemas.microsoft.com/office/drawing/2014/main" id="{2728C796-2589-446A-B7FB-9C9374CCEEC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574" y="52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4" name="Picture 23">
                  <a:extLst>
                    <a:ext uri="{FF2B5EF4-FFF2-40B4-BE49-F238E27FC236}">
                      <a16:creationId xmlns:a16="http://schemas.microsoft.com/office/drawing/2014/main" id="{D9E8EA90-B6BB-40E8-9F37-BEEACA6B8D34}"/>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472" y="76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 name="Picture 24">
                  <a:extLst>
                    <a:ext uri="{FF2B5EF4-FFF2-40B4-BE49-F238E27FC236}">
                      <a16:creationId xmlns:a16="http://schemas.microsoft.com/office/drawing/2014/main" id="{6522C52D-CEC6-41B5-9F95-049421AFAB7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574" y="100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6" name="Picture 25">
                  <a:extLst>
                    <a:ext uri="{FF2B5EF4-FFF2-40B4-BE49-F238E27FC236}">
                      <a16:creationId xmlns:a16="http://schemas.microsoft.com/office/drawing/2014/main" id="{B73D3C42-B1FE-4BA6-92D2-72FBA4B5170E}"/>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574" y="124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048" name="Group 26">
                <a:extLst>
                  <a:ext uri="{FF2B5EF4-FFF2-40B4-BE49-F238E27FC236}">
                    <a16:creationId xmlns:a16="http://schemas.microsoft.com/office/drawing/2014/main" id="{770D6F64-EF8F-4937-8D36-1BC23C1D9089}"/>
                  </a:ext>
                </a:extLst>
              </p:cNvPr>
              <p:cNvGrpSpPr>
                <a:grpSpLocks/>
              </p:cNvGrpSpPr>
              <p:nvPr userDrawn="1"/>
            </p:nvGrpSpPr>
            <p:grpSpPr bwMode="auto">
              <a:xfrm>
                <a:off x="4944" y="1008"/>
                <a:ext cx="522" cy="2967"/>
                <a:chOff x="4944" y="1008"/>
                <a:chExt cx="522" cy="2967"/>
              </a:xfrm>
            </p:grpSpPr>
            <p:pic>
              <p:nvPicPr>
                <p:cNvPr id="1049" name="Picture 27">
                  <a:extLst>
                    <a:ext uri="{FF2B5EF4-FFF2-40B4-BE49-F238E27FC236}">
                      <a16:creationId xmlns:a16="http://schemas.microsoft.com/office/drawing/2014/main" id="{1AFD0640-71DB-4234-AFEF-199A30F357BC}"/>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136" y="100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0" name="Picture 28">
                  <a:extLst>
                    <a:ext uri="{FF2B5EF4-FFF2-40B4-BE49-F238E27FC236}">
                      <a16:creationId xmlns:a16="http://schemas.microsoft.com/office/drawing/2014/main" id="{E8A39C52-F067-4F15-A530-C5D4308D280D}"/>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184" y="1200"/>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1" name="Picture 29">
                  <a:extLst>
                    <a:ext uri="{FF2B5EF4-FFF2-40B4-BE49-F238E27FC236}">
                      <a16:creationId xmlns:a16="http://schemas.microsoft.com/office/drawing/2014/main" id="{AE145FE4-7EFB-4345-A2B8-A13678C7495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136" y="1584"/>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2" name="Picture 30">
                  <a:extLst>
                    <a:ext uri="{FF2B5EF4-FFF2-40B4-BE49-F238E27FC236}">
                      <a16:creationId xmlns:a16="http://schemas.microsoft.com/office/drawing/2014/main" id="{55EA9D76-34FB-4E20-8CB0-E768B3CC3ED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280" y="172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3" name="Picture 31">
                  <a:extLst>
                    <a:ext uri="{FF2B5EF4-FFF2-40B4-BE49-F238E27FC236}">
                      <a16:creationId xmlns:a16="http://schemas.microsoft.com/office/drawing/2014/main" id="{FF1EE6B3-7C25-408E-9776-A97416A2FB93}"/>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040" y="1824"/>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 name="Picture 32">
                  <a:extLst>
                    <a:ext uri="{FF2B5EF4-FFF2-40B4-BE49-F238E27FC236}">
                      <a16:creationId xmlns:a16="http://schemas.microsoft.com/office/drawing/2014/main" id="{269D0F76-F860-4893-9742-69680D03D47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088" y="2016"/>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5" name="Picture 33">
                  <a:extLst>
                    <a:ext uri="{FF2B5EF4-FFF2-40B4-BE49-F238E27FC236}">
                      <a16:creationId xmlns:a16="http://schemas.microsoft.com/office/drawing/2014/main" id="{09C4D7BD-32DA-4770-BCAB-1460A0DD054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280" y="2064"/>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6" name="Picture 34">
                  <a:extLst>
                    <a:ext uri="{FF2B5EF4-FFF2-40B4-BE49-F238E27FC236}">
                      <a16:creationId xmlns:a16="http://schemas.microsoft.com/office/drawing/2014/main" id="{863D4E50-700F-4321-9170-622061758AB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232" y="235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7" name="Picture 35">
                  <a:extLst>
                    <a:ext uri="{FF2B5EF4-FFF2-40B4-BE49-F238E27FC236}">
                      <a16:creationId xmlns:a16="http://schemas.microsoft.com/office/drawing/2014/main" id="{3DF27725-483D-4B88-92A1-9C15049BD61C}"/>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4992" y="220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8" name="Picture 36">
                  <a:extLst>
                    <a:ext uri="{FF2B5EF4-FFF2-40B4-BE49-F238E27FC236}">
                      <a16:creationId xmlns:a16="http://schemas.microsoft.com/office/drawing/2014/main" id="{9B65AA52-0850-48E7-BF09-82226F6092B8}"/>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4992" y="244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9" name="Picture 37">
                  <a:extLst>
                    <a:ext uri="{FF2B5EF4-FFF2-40B4-BE49-F238E27FC236}">
                      <a16:creationId xmlns:a16="http://schemas.microsoft.com/office/drawing/2014/main" id="{E3281E4E-85E7-4A0C-B49E-CE29EB18248B}"/>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136" y="259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0" name="Picture 38">
                  <a:extLst>
                    <a:ext uri="{FF2B5EF4-FFF2-40B4-BE49-F238E27FC236}">
                      <a16:creationId xmlns:a16="http://schemas.microsoft.com/office/drawing/2014/main" id="{C523708F-D6F2-4B5E-A123-528BCA05DB3B}"/>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232" y="139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1" name="Picture 39">
                  <a:extLst>
                    <a:ext uri="{FF2B5EF4-FFF2-40B4-BE49-F238E27FC236}">
                      <a16:creationId xmlns:a16="http://schemas.microsoft.com/office/drawing/2014/main" id="{39CC5CFB-BF85-4982-912A-78D934B0D5F3}"/>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4944" y="2736"/>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2" name="Picture 40">
                  <a:extLst>
                    <a:ext uri="{FF2B5EF4-FFF2-40B4-BE49-F238E27FC236}">
                      <a16:creationId xmlns:a16="http://schemas.microsoft.com/office/drawing/2014/main" id="{5EFCF198-653C-4E42-9102-6A42E137F356}"/>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4992" y="307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3" name="Picture 41">
                  <a:extLst>
                    <a:ext uri="{FF2B5EF4-FFF2-40B4-BE49-F238E27FC236}">
                      <a16:creationId xmlns:a16="http://schemas.microsoft.com/office/drawing/2014/main" id="{DCCB7DFE-1223-4083-8B87-F41EADD832FB}"/>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232" y="331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4" name="Picture 42">
                  <a:extLst>
                    <a:ext uri="{FF2B5EF4-FFF2-40B4-BE49-F238E27FC236}">
                      <a16:creationId xmlns:a16="http://schemas.microsoft.com/office/drawing/2014/main" id="{E334EEFD-708F-410E-965A-0A76D410F64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4992" y="3408"/>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5" name="Picture 43">
                  <a:extLst>
                    <a:ext uri="{FF2B5EF4-FFF2-40B4-BE49-F238E27FC236}">
                      <a16:creationId xmlns:a16="http://schemas.microsoft.com/office/drawing/2014/main" id="{C1D3B6FE-F5DB-432F-BAF8-B1D9E0AE2AAF}"/>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088" y="355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6" name="Picture 44">
                  <a:extLst>
                    <a:ext uri="{FF2B5EF4-FFF2-40B4-BE49-F238E27FC236}">
                      <a16:creationId xmlns:a16="http://schemas.microsoft.com/office/drawing/2014/main" id="{54C85908-FFD0-4C06-A953-6D0C0BA9D174}"/>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4992" y="3792"/>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7" name="Picture 45">
                  <a:extLst>
                    <a:ext uri="{FF2B5EF4-FFF2-40B4-BE49-F238E27FC236}">
                      <a16:creationId xmlns:a16="http://schemas.microsoft.com/office/drawing/2014/main" id="{FF911D2B-85D5-4DF5-84C9-02D53DE0829D}"/>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184" y="3696"/>
                  <a:ext cx="1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1036" name="Freeform 46">
              <a:extLst>
                <a:ext uri="{FF2B5EF4-FFF2-40B4-BE49-F238E27FC236}">
                  <a16:creationId xmlns:a16="http://schemas.microsoft.com/office/drawing/2014/main" id="{739AB29C-AE4C-4E67-9B35-E023D7F5AEA1}"/>
                </a:ext>
              </a:extLst>
            </p:cNvPr>
            <p:cNvSpPr>
              <a:spLocks/>
            </p:cNvSpPr>
            <p:nvPr/>
          </p:nvSpPr>
          <p:spPr bwMode="auto">
            <a:xfrm>
              <a:off x="5010" y="3092"/>
              <a:ext cx="750" cy="1222"/>
            </a:xfrm>
            <a:custGeom>
              <a:avLst/>
              <a:gdLst>
                <a:gd name="T0" fmla="*/ 372 w 750"/>
                <a:gd name="T1" fmla="*/ 154 h 1222"/>
                <a:gd name="T2" fmla="*/ 378 w 750"/>
                <a:gd name="T3" fmla="*/ 412 h 1222"/>
                <a:gd name="T4" fmla="*/ 312 w 750"/>
                <a:gd name="T5" fmla="*/ 724 h 1222"/>
                <a:gd name="T6" fmla="*/ 138 w 750"/>
                <a:gd name="T7" fmla="*/ 928 h 1222"/>
                <a:gd name="T8" fmla="*/ 0 w 750"/>
                <a:gd name="T9" fmla="*/ 976 h 1222"/>
                <a:gd name="T10" fmla="*/ 0 w 750"/>
                <a:gd name="T11" fmla="*/ 1222 h 1222"/>
                <a:gd name="T12" fmla="*/ 750 w 750"/>
                <a:gd name="T13" fmla="*/ 1222 h 1222"/>
                <a:gd name="T14" fmla="*/ 750 w 750"/>
                <a:gd name="T15" fmla="*/ 178 h 1222"/>
                <a:gd name="T16" fmla="*/ 372 w 750"/>
                <a:gd name="T17" fmla="*/ 154 h 12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0" h="1222">
                  <a:moveTo>
                    <a:pt x="372" y="154"/>
                  </a:moveTo>
                  <a:cubicBezTo>
                    <a:pt x="309" y="193"/>
                    <a:pt x="388" y="317"/>
                    <a:pt x="378" y="412"/>
                  </a:cubicBezTo>
                  <a:cubicBezTo>
                    <a:pt x="368" y="507"/>
                    <a:pt x="352" y="638"/>
                    <a:pt x="312" y="724"/>
                  </a:cubicBezTo>
                  <a:cubicBezTo>
                    <a:pt x="272" y="810"/>
                    <a:pt x="190" y="886"/>
                    <a:pt x="138" y="928"/>
                  </a:cubicBezTo>
                  <a:cubicBezTo>
                    <a:pt x="86" y="970"/>
                    <a:pt x="23" y="927"/>
                    <a:pt x="0" y="976"/>
                  </a:cubicBezTo>
                  <a:lnTo>
                    <a:pt x="0" y="1222"/>
                  </a:lnTo>
                  <a:lnTo>
                    <a:pt x="750" y="1222"/>
                  </a:lnTo>
                  <a:lnTo>
                    <a:pt x="750" y="178"/>
                  </a:lnTo>
                  <a:cubicBezTo>
                    <a:pt x="687" y="0"/>
                    <a:pt x="451" y="159"/>
                    <a:pt x="372" y="154"/>
                  </a:cubicBezTo>
                  <a:close/>
                </a:path>
              </a:pathLst>
            </a:custGeom>
            <a:gradFill rotWithShape="0">
              <a:gsLst>
                <a:gs pos="0">
                  <a:srgbClr val="FAE3B7"/>
                </a:gs>
                <a:gs pos="17999">
                  <a:srgbClr val="A28949"/>
                </a:gs>
                <a:gs pos="31000">
                  <a:srgbClr val="835E17"/>
                </a:gs>
                <a:gs pos="33000">
                  <a:srgbClr val="BD922A"/>
                </a:gs>
                <a:gs pos="37000">
                  <a:srgbClr val="FBE4AE"/>
                </a:gs>
                <a:gs pos="78999">
                  <a:srgbClr val="BD922A"/>
                </a:gs>
                <a:gs pos="87000">
                  <a:srgbClr val="BD922A"/>
                </a:gs>
                <a:gs pos="100000">
                  <a:srgbClr val="FBE4AE"/>
                </a:gs>
              </a:gsLst>
              <a:lin ang="540000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287" name="Freeform 47">
              <a:extLst>
                <a:ext uri="{FF2B5EF4-FFF2-40B4-BE49-F238E27FC236}">
                  <a16:creationId xmlns:a16="http://schemas.microsoft.com/office/drawing/2014/main" id="{05E92C62-306E-4816-92ED-26E02FAA11DB}"/>
                </a:ext>
              </a:extLst>
            </p:cNvPr>
            <p:cNvSpPr>
              <a:spLocks/>
            </p:cNvSpPr>
            <p:nvPr/>
          </p:nvSpPr>
          <p:spPr bwMode="auto">
            <a:xfrm>
              <a:off x="5001" y="3060"/>
              <a:ext cx="768" cy="1260"/>
            </a:xfrm>
            <a:custGeom>
              <a:avLst/>
              <a:gdLst>
                <a:gd name="T0" fmla="*/ 0 w 768"/>
                <a:gd name="T1" fmla="*/ 1260 h 1260"/>
                <a:gd name="T2" fmla="*/ 0 w 768"/>
                <a:gd name="T3" fmla="*/ 1134 h 1260"/>
                <a:gd name="T4" fmla="*/ 210 w 768"/>
                <a:gd name="T5" fmla="*/ 1032 h 1260"/>
                <a:gd name="T6" fmla="*/ 324 w 768"/>
                <a:gd name="T7" fmla="*/ 918 h 1260"/>
                <a:gd name="T8" fmla="*/ 414 w 768"/>
                <a:gd name="T9" fmla="*/ 714 h 1260"/>
                <a:gd name="T10" fmla="*/ 450 w 768"/>
                <a:gd name="T11" fmla="*/ 456 h 1260"/>
                <a:gd name="T12" fmla="*/ 438 w 768"/>
                <a:gd name="T13" fmla="*/ 258 h 1260"/>
                <a:gd name="T14" fmla="*/ 684 w 768"/>
                <a:gd name="T15" fmla="*/ 0 h 1260"/>
                <a:gd name="T16" fmla="*/ 768 w 768"/>
                <a:gd name="T17" fmla="*/ 18 h 1260"/>
                <a:gd name="T18" fmla="*/ 768 w 768"/>
                <a:gd name="T19" fmla="*/ 1254 h 1260"/>
                <a:gd name="T20" fmla="*/ 0 w 768"/>
                <a:gd name="T21" fmla="*/ 1260 h 1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8" h="1260">
                  <a:moveTo>
                    <a:pt x="0" y="1260"/>
                  </a:moveTo>
                  <a:lnTo>
                    <a:pt x="0" y="1134"/>
                  </a:lnTo>
                  <a:lnTo>
                    <a:pt x="210" y="1032"/>
                  </a:lnTo>
                  <a:lnTo>
                    <a:pt x="324" y="918"/>
                  </a:lnTo>
                  <a:lnTo>
                    <a:pt x="414" y="714"/>
                  </a:lnTo>
                  <a:lnTo>
                    <a:pt x="450" y="456"/>
                  </a:lnTo>
                  <a:lnTo>
                    <a:pt x="438" y="258"/>
                  </a:lnTo>
                  <a:lnTo>
                    <a:pt x="684" y="0"/>
                  </a:lnTo>
                  <a:lnTo>
                    <a:pt x="768" y="18"/>
                  </a:lnTo>
                  <a:lnTo>
                    <a:pt x="768" y="1254"/>
                  </a:lnTo>
                  <a:lnTo>
                    <a:pt x="0" y="1260"/>
                  </a:lnTo>
                  <a:close/>
                </a:path>
              </a:pathLst>
            </a:custGeom>
            <a:gradFill rotWithShape="0">
              <a:gsLst>
                <a:gs pos="0">
                  <a:schemeClr val="folHlink"/>
                </a:gs>
                <a:gs pos="50000">
                  <a:schemeClr val="hlink"/>
                </a:gs>
                <a:gs pos="100000">
                  <a:schemeClr val="folHlink"/>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p>
          </p:txBody>
        </p:sp>
        <p:sp>
          <p:nvSpPr>
            <p:cNvPr id="10288" name="Freeform 48">
              <a:extLst>
                <a:ext uri="{FF2B5EF4-FFF2-40B4-BE49-F238E27FC236}">
                  <a16:creationId xmlns:a16="http://schemas.microsoft.com/office/drawing/2014/main" id="{630499DA-C9BF-4F64-9E7D-C41F48BBE6FD}"/>
                </a:ext>
              </a:extLst>
            </p:cNvPr>
            <p:cNvSpPr>
              <a:spLocks/>
            </p:cNvSpPr>
            <p:nvPr/>
          </p:nvSpPr>
          <p:spPr bwMode="auto">
            <a:xfrm>
              <a:off x="4994" y="1775"/>
              <a:ext cx="776" cy="2543"/>
            </a:xfrm>
            <a:custGeom>
              <a:avLst/>
              <a:gdLst>
                <a:gd name="T0" fmla="*/ 550 w 776"/>
                <a:gd name="T1" fmla="*/ 115 h 2543"/>
                <a:gd name="T2" fmla="*/ 460 w 776"/>
                <a:gd name="T3" fmla="*/ 529 h 2543"/>
                <a:gd name="T4" fmla="*/ 298 w 776"/>
                <a:gd name="T5" fmla="*/ 925 h 2543"/>
                <a:gd name="T6" fmla="*/ 76 w 776"/>
                <a:gd name="T7" fmla="*/ 1267 h 2543"/>
                <a:gd name="T8" fmla="*/ 4 w 776"/>
                <a:gd name="T9" fmla="*/ 1339 h 2543"/>
                <a:gd name="T10" fmla="*/ 100 w 776"/>
                <a:gd name="T11" fmla="*/ 1351 h 2543"/>
                <a:gd name="T12" fmla="*/ 286 w 776"/>
                <a:gd name="T13" fmla="*/ 1399 h 2543"/>
                <a:gd name="T14" fmla="*/ 394 w 776"/>
                <a:gd name="T15" fmla="*/ 1525 h 2543"/>
                <a:gd name="T16" fmla="*/ 478 w 776"/>
                <a:gd name="T17" fmla="*/ 1705 h 2543"/>
                <a:gd name="T18" fmla="*/ 478 w 776"/>
                <a:gd name="T19" fmla="*/ 1969 h 2543"/>
                <a:gd name="T20" fmla="*/ 370 w 776"/>
                <a:gd name="T21" fmla="*/ 2263 h 2543"/>
                <a:gd name="T22" fmla="*/ 124 w 776"/>
                <a:gd name="T23" fmla="*/ 2479 h 2543"/>
                <a:gd name="T24" fmla="*/ 22 w 776"/>
                <a:gd name="T25" fmla="*/ 2515 h 2543"/>
                <a:gd name="T26" fmla="*/ 196 w 776"/>
                <a:gd name="T27" fmla="*/ 2533 h 2543"/>
                <a:gd name="T28" fmla="*/ 388 w 776"/>
                <a:gd name="T29" fmla="*/ 2455 h 2543"/>
                <a:gd name="T30" fmla="*/ 502 w 776"/>
                <a:gd name="T31" fmla="*/ 2299 h 2543"/>
                <a:gd name="T32" fmla="*/ 598 w 776"/>
                <a:gd name="T33" fmla="*/ 2197 h 2543"/>
                <a:gd name="T34" fmla="*/ 694 w 776"/>
                <a:gd name="T35" fmla="*/ 2197 h 2543"/>
                <a:gd name="T36" fmla="*/ 742 w 776"/>
                <a:gd name="T37" fmla="*/ 2230 h 2543"/>
                <a:gd name="T38" fmla="*/ 712 w 776"/>
                <a:gd name="T39" fmla="*/ 2137 h 2543"/>
                <a:gd name="T40" fmla="*/ 664 w 776"/>
                <a:gd name="T41" fmla="*/ 1807 h 2543"/>
                <a:gd name="T42" fmla="*/ 670 w 776"/>
                <a:gd name="T43" fmla="*/ 1561 h 2543"/>
                <a:gd name="T44" fmla="*/ 718 w 776"/>
                <a:gd name="T45" fmla="*/ 1393 h 2543"/>
                <a:gd name="T46" fmla="*/ 748 w 776"/>
                <a:gd name="T47" fmla="*/ 1219 h 2543"/>
                <a:gd name="T48" fmla="*/ 550 w 776"/>
                <a:gd name="T49" fmla="*/ 115 h 2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76" h="2543">
                  <a:moveTo>
                    <a:pt x="550" y="115"/>
                  </a:moveTo>
                  <a:cubicBezTo>
                    <a:pt x="502" y="0"/>
                    <a:pt x="502" y="394"/>
                    <a:pt x="460" y="529"/>
                  </a:cubicBezTo>
                  <a:cubicBezTo>
                    <a:pt x="418" y="664"/>
                    <a:pt x="362" y="802"/>
                    <a:pt x="298" y="925"/>
                  </a:cubicBezTo>
                  <a:cubicBezTo>
                    <a:pt x="234" y="1048"/>
                    <a:pt x="125" y="1198"/>
                    <a:pt x="76" y="1267"/>
                  </a:cubicBezTo>
                  <a:cubicBezTo>
                    <a:pt x="27" y="1336"/>
                    <a:pt x="0" y="1325"/>
                    <a:pt x="4" y="1339"/>
                  </a:cubicBezTo>
                  <a:cubicBezTo>
                    <a:pt x="8" y="1353"/>
                    <a:pt x="53" y="1341"/>
                    <a:pt x="100" y="1351"/>
                  </a:cubicBezTo>
                  <a:cubicBezTo>
                    <a:pt x="147" y="1361"/>
                    <a:pt x="237" y="1370"/>
                    <a:pt x="286" y="1399"/>
                  </a:cubicBezTo>
                  <a:cubicBezTo>
                    <a:pt x="335" y="1428"/>
                    <a:pt x="362" y="1474"/>
                    <a:pt x="394" y="1525"/>
                  </a:cubicBezTo>
                  <a:cubicBezTo>
                    <a:pt x="426" y="1576"/>
                    <a:pt x="464" y="1631"/>
                    <a:pt x="478" y="1705"/>
                  </a:cubicBezTo>
                  <a:cubicBezTo>
                    <a:pt x="492" y="1779"/>
                    <a:pt x="496" y="1876"/>
                    <a:pt x="478" y="1969"/>
                  </a:cubicBezTo>
                  <a:cubicBezTo>
                    <a:pt x="460" y="2062"/>
                    <a:pt x="429" y="2178"/>
                    <a:pt x="370" y="2263"/>
                  </a:cubicBezTo>
                  <a:cubicBezTo>
                    <a:pt x="311" y="2348"/>
                    <a:pt x="238" y="2428"/>
                    <a:pt x="124" y="2479"/>
                  </a:cubicBezTo>
                  <a:cubicBezTo>
                    <a:pt x="66" y="2521"/>
                    <a:pt x="10" y="2506"/>
                    <a:pt x="22" y="2515"/>
                  </a:cubicBezTo>
                  <a:cubicBezTo>
                    <a:pt x="34" y="2524"/>
                    <a:pt x="135" y="2543"/>
                    <a:pt x="196" y="2533"/>
                  </a:cubicBezTo>
                  <a:cubicBezTo>
                    <a:pt x="257" y="2523"/>
                    <a:pt x="337" y="2494"/>
                    <a:pt x="388" y="2455"/>
                  </a:cubicBezTo>
                  <a:cubicBezTo>
                    <a:pt x="439" y="2416"/>
                    <a:pt x="467" y="2342"/>
                    <a:pt x="502" y="2299"/>
                  </a:cubicBezTo>
                  <a:cubicBezTo>
                    <a:pt x="537" y="2256"/>
                    <a:pt x="566" y="2214"/>
                    <a:pt x="598" y="2197"/>
                  </a:cubicBezTo>
                  <a:cubicBezTo>
                    <a:pt x="630" y="2180"/>
                    <a:pt x="670" y="2191"/>
                    <a:pt x="694" y="2197"/>
                  </a:cubicBezTo>
                  <a:cubicBezTo>
                    <a:pt x="718" y="2203"/>
                    <a:pt x="739" y="2240"/>
                    <a:pt x="742" y="2230"/>
                  </a:cubicBezTo>
                  <a:cubicBezTo>
                    <a:pt x="745" y="2220"/>
                    <a:pt x="725" y="2207"/>
                    <a:pt x="712" y="2137"/>
                  </a:cubicBezTo>
                  <a:cubicBezTo>
                    <a:pt x="699" y="2067"/>
                    <a:pt x="671" y="1903"/>
                    <a:pt x="664" y="1807"/>
                  </a:cubicBezTo>
                  <a:cubicBezTo>
                    <a:pt x="657" y="1711"/>
                    <a:pt x="661" y="1630"/>
                    <a:pt x="670" y="1561"/>
                  </a:cubicBezTo>
                  <a:cubicBezTo>
                    <a:pt x="679" y="1492"/>
                    <a:pt x="705" y="1450"/>
                    <a:pt x="718" y="1393"/>
                  </a:cubicBezTo>
                  <a:cubicBezTo>
                    <a:pt x="731" y="1336"/>
                    <a:pt x="776" y="1427"/>
                    <a:pt x="748" y="1219"/>
                  </a:cubicBezTo>
                  <a:cubicBezTo>
                    <a:pt x="720" y="1011"/>
                    <a:pt x="598" y="230"/>
                    <a:pt x="550" y="115"/>
                  </a:cubicBezTo>
                  <a:close/>
                </a:path>
              </a:pathLst>
            </a:custGeom>
            <a:gradFill rotWithShape="0">
              <a:gsLst>
                <a:gs pos="0">
                  <a:schemeClr val="accent2">
                    <a:gamma/>
                    <a:shade val="46275"/>
                    <a:invGamma/>
                  </a:schemeClr>
                </a:gs>
                <a:gs pos="50000">
                  <a:schemeClr val="accent2"/>
                </a:gs>
                <a:gs pos="100000">
                  <a:schemeClr val="accent2">
                    <a:gamma/>
                    <a:shade val="46275"/>
                    <a:invGamma/>
                  </a:schemeClr>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p>
          </p:txBody>
        </p:sp>
        <p:sp>
          <p:nvSpPr>
            <p:cNvPr id="1039" name="Freeform 49" descr="kimonopat1">
              <a:extLst>
                <a:ext uri="{FF2B5EF4-FFF2-40B4-BE49-F238E27FC236}">
                  <a16:creationId xmlns:a16="http://schemas.microsoft.com/office/drawing/2014/main" id="{7E77923A-4CB2-431A-B7CB-76DD5B70BAED}"/>
                </a:ext>
              </a:extLst>
            </p:cNvPr>
            <p:cNvSpPr>
              <a:spLocks/>
            </p:cNvSpPr>
            <p:nvPr/>
          </p:nvSpPr>
          <p:spPr bwMode="auto">
            <a:xfrm>
              <a:off x="5046" y="2229"/>
              <a:ext cx="617" cy="1376"/>
            </a:xfrm>
            <a:custGeom>
              <a:avLst/>
              <a:gdLst>
                <a:gd name="T0" fmla="*/ 486 w 617"/>
                <a:gd name="T1" fmla="*/ 3 h 1376"/>
                <a:gd name="T2" fmla="*/ 402 w 617"/>
                <a:gd name="T3" fmla="*/ 381 h 1376"/>
                <a:gd name="T4" fmla="*/ 216 w 617"/>
                <a:gd name="T5" fmla="*/ 777 h 1376"/>
                <a:gd name="T6" fmla="*/ 0 w 617"/>
                <a:gd name="T7" fmla="*/ 1119 h 1376"/>
                <a:gd name="T8" fmla="*/ 102 w 617"/>
                <a:gd name="T9" fmla="*/ 1101 h 1376"/>
                <a:gd name="T10" fmla="*/ 282 w 617"/>
                <a:gd name="T11" fmla="*/ 1119 h 1376"/>
                <a:gd name="T12" fmla="*/ 378 w 617"/>
                <a:gd name="T13" fmla="*/ 1185 h 1376"/>
                <a:gd name="T14" fmla="*/ 432 w 617"/>
                <a:gd name="T15" fmla="*/ 1269 h 1376"/>
                <a:gd name="T16" fmla="*/ 444 w 617"/>
                <a:gd name="T17" fmla="*/ 1365 h 1376"/>
                <a:gd name="T18" fmla="*/ 498 w 617"/>
                <a:gd name="T19" fmla="*/ 1203 h 1376"/>
                <a:gd name="T20" fmla="*/ 564 w 617"/>
                <a:gd name="T21" fmla="*/ 825 h 1376"/>
                <a:gd name="T22" fmla="*/ 606 w 617"/>
                <a:gd name="T23" fmla="*/ 363 h 1376"/>
                <a:gd name="T24" fmla="*/ 486 w 617"/>
                <a:gd name="T25" fmla="*/ 3 h 13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17" h="1376">
                  <a:moveTo>
                    <a:pt x="486" y="3"/>
                  </a:moveTo>
                  <a:cubicBezTo>
                    <a:pt x="452" y="6"/>
                    <a:pt x="447" y="252"/>
                    <a:pt x="402" y="381"/>
                  </a:cubicBezTo>
                  <a:cubicBezTo>
                    <a:pt x="357" y="510"/>
                    <a:pt x="283" y="654"/>
                    <a:pt x="216" y="777"/>
                  </a:cubicBezTo>
                  <a:cubicBezTo>
                    <a:pt x="149" y="900"/>
                    <a:pt x="19" y="1065"/>
                    <a:pt x="0" y="1119"/>
                  </a:cubicBezTo>
                  <a:cubicBezTo>
                    <a:pt x="48" y="1119"/>
                    <a:pt x="55" y="1101"/>
                    <a:pt x="102" y="1101"/>
                  </a:cubicBezTo>
                  <a:cubicBezTo>
                    <a:pt x="149" y="1101"/>
                    <a:pt x="236" y="1105"/>
                    <a:pt x="282" y="1119"/>
                  </a:cubicBezTo>
                  <a:cubicBezTo>
                    <a:pt x="328" y="1133"/>
                    <a:pt x="353" y="1160"/>
                    <a:pt x="378" y="1185"/>
                  </a:cubicBezTo>
                  <a:cubicBezTo>
                    <a:pt x="403" y="1210"/>
                    <a:pt x="421" y="1239"/>
                    <a:pt x="432" y="1269"/>
                  </a:cubicBezTo>
                  <a:cubicBezTo>
                    <a:pt x="443" y="1299"/>
                    <a:pt x="433" y="1376"/>
                    <a:pt x="444" y="1365"/>
                  </a:cubicBezTo>
                  <a:cubicBezTo>
                    <a:pt x="455" y="1354"/>
                    <a:pt x="478" y="1293"/>
                    <a:pt x="498" y="1203"/>
                  </a:cubicBezTo>
                  <a:cubicBezTo>
                    <a:pt x="518" y="1113"/>
                    <a:pt x="546" y="965"/>
                    <a:pt x="564" y="825"/>
                  </a:cubicBezTo>
                  <a:cubicBezTo>
                    <a:pt x="582" y="685"/>
                    <a:pt x="617" y="496"/>
                    <a:pt x="606" y="363"/>
                  </a:cubicBezTo>
                  <a:cubicBezTo>
                    <a:pt x="595" y="230"/>
                    <a:pt x="520" y="0"/>
                    <a:pt x="486" y="3"/>
                  </a:cubicBezTo>
                  <a:close/>
                </a:path>
              </a:pathLst>
            </a:custGeom>
            <a:blipFill dpi="0" rotWithShape="0">
              <a:blip r:embed="rId15"/>
              <a:srcRect/>
              <a:tile tx="0" ty="0" sx="100000" sy="100000" flip="none" algn="tl"/>
            </a:bli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40" name="Freeform 50" descr="kimonopat1">
              <a:extLst>
                <a:ext uri="{FF2B5EF4-FFF2-40B4-BE49-F238E27FC236}">
                  <a16:creationId xmlns:a16="http://schemas.microsoft.com/office/drawing/2014/main" id="{8A6627E6-1A27-4BD4-8A05-4C58097E1AF8}"/>
                </a:ext>
              </a:extLst>
            </p:cNvPr>
            <p:cNvSpPr>
              <a:spLocks/>
            </p:cNvSpPr>
            <p:nvPr/>
          </p:nvSpPr>
          <p:spPr bwMode="auto">
            <a:xfrm>
              <a:off x="5193" y="269"/>
              <a:ext cx="576" cy="3180"/>
            </a:xfrm>
            <a:custGeom>
              <a:avLst/>
              <a:gdLst>
                <a:gd name="T0" fmla="*/ 42 w 576"/>
                <a:gd name="T1" fmla="*/ 61 h 3180"/>
                <a:gd name="T2" fmla="*/ 156 w 576"/>
                <a:gd name="T3" fmla="*/ 517 h 3180"/>
                <a:gd name="T4" fmla="*/ 288 w 576"/>
                <a:gd name="T5" fmla="*/ 991 h 3180"/>
                <a:gd name="T6" fmla="*/ 414 w 576"/>
                <a:gd name="T7" fmla="*/ 1435 h 3180"/>
                <a:gd name="T8" fmla="*/ 576 w 576"/>
                <a:gd name="T9" fmla="*/ 1807 h 3180"/>
                <a:gd name="T10" fmla="*/ 576 w 576"/>
                <a:gd name="T11" fmla="*/ 3055 h 3180"/>
                <a:gd name="T12" fmla="*/ 414 w 576"/>
                <a:gd name="T13" fmla="*/ 2557 h 3180"/>
                <a:gd name="T14" fmla="*/ 252 w 576"/>
                <a:gd name="T15" fmla="*/ 1765 h 3180"/>
                <a:gd name="T16" fmla="*/ 126 w 576"/>
                <a:gd name="T17" fmla="*/ 961 h 3180"/>
                <a:gd name="T18" fmla="*/ 12 w 576"/>
                <a:gd name="T19" fmla="*/ 151 h 3180"/>
                <a:gd name="T20" fmla="*/ 42 w 576"/>
                <a:gd name="T21" fmla="*/ 61 h 31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76" h="3180">
                  <a:moveTo>
                    <a:pt x="42" y="61"/>
                  </a:moveTo>
                  <a:cubicBezTo>
                    <a:pt x="66" y="122"/>
                    <a:pt x="115" y="362"/>
                    <a:pt x="156" y="517"/>
                  </a:cubicBezTo>
                  <a:cubicBezTo>
                    <a:pt x="197" y="672"/>
                    <a:pt x="245" y="838"/>
                    <a:pt x="288" y="991"/>
                  </a:cubicBezTo>
                  <a:cubicBezTo>
                    <a:pt x="331" y="1144"/>
                    <a:pt x="366" y="1299"/>
                    <a:pt x="414" y="1435"/>
                  </a:cubicBezTo>
                  <a:cubicBezTo>
                    <a:pt x="462" y="1571"/>
                    <a:pt x="549" y="1537"/>
                    <a:pt x="576" y="1807"/>
                  </a:cubicBezTo>
                  <a:lnTo>
                    <a:pt x="576" y="3055"/>
                  </a:lnTo>
                  <a:cubicBezTo>
                    <a:pt x="549" y="3180"/>
                    <a:pt x="468" y="2772"/>
                    <a:pt x="414" y="2557"/>
                  </a:cubicBezTo>
                  <a:cubicBezTo>
                    <a:pt x="360" y="2342"/>
                    <a:pt x="300" y="2031"/>
                    <a:pt x="252" y="1765"/>
                  </a:cubicBezTo>
                  <a:cubicBezTo>
                    <a:pt x="204" y="1499"/>
                    <a:pt x="166" y="1230"/>
                    <a:pt x="126" y="961"/>
                  </a:cubicBezTo>
                  <a:cubicBezTo>
                    <a:pt x="86" y="692"/>
                    <a:pt x="24" y="299"/>
                    <a:pt x="12" y="151"/>
                  </a:cubicBezTo>
                  <a:cubicBezTo>
                    <a:pt x="0" y="3"/>
                    <a:pt x="18" y="0"/>
                    <a:pt x="42" y="61"/>
                  </a:cubicBezTo>
                  <a:close/>
                </a:path>
              </a:pathLst>
            </a:custGeom>
            <a:blipFill dpi="0" rotWithShape="0">
              <a:blip r:embed="rId15"/>
              <a:srcRect/>
              <a:tile tx="0" ty="0" sx="100000" sy="100000" flip="none" algn="tl"/>
            </a:bli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41" name="Freeform 51">
              <a:extLst>
                <a:ext uri="{FF2B5EF4-FFF2-40B4-BE49-F238E27FC236}">
                  <a16:creationId xmlns:a16="http://schemas.microsoft.com/office/drawing/2014/main" id="{AC83E630-152B-4D46-81FF-0BA545B93FAF}"/>
                </a:ext>
              </a:extLst>
            </p:cNvPr>
            <p:cNvSpPr>
              <a:spLocks/>
            </p:cNvSpPr>
            <p:nvPr/>
          </p:nvSpPr>
          <p:spPr bwMode="auto">
            <a:xfrm>
              <a:off x="5197" y="165"/>
              <a:ext cx="573" cy="1935"/>
            </a:xfrm>
            <a:custGeom>
              <a:avLst/>
              <a:gdLst>
                <a:gd name="T0" fmla="*/ 69 w 573"/>
                <a:gd name="T1" fmla="*/ 63 h 1935"/>
                <a:gd name="T2" fmla="*/ 207 w 573"/>
                <a:gd name="T3" fmla="*/ 549 h 1935"/>
                <a:gd name="T4" fmla="*/ 381 w 573"/>
                <a:gd name="T5" fmla="*/ 1101 h 1935"/>
                <a:gd name="T6" fmla="*/ 573 w 573"/>
                <a:gd name="T7" fmla="*/ 1575 h 1935"/>
                <a:gd name="T8" fmla="*/ 573 w 573"/>
                <a:gd name="T9" fmla="*/ 1935 h 1935"/>
                <a:gd name="T10" fmla="*/ 321 w 573"/>
                <a:gd name="T11" fmla="*/ 1449 h 1935"/>
                <a:gd name="T12" fmla="*/ 147 w 573"/>
                <a:gd name="T13" fmla="*/ 699 h 1935"/>
                <a:gd name="T14" fmla="*/ 15 w 573"/>
                <a:gd name="T15" fmla="*/ 171 h 1935"/>
                <a:gd name="T16" fmla="*/ 69 w 573"/>
                <a:gd name="T17" fmla="*/ 63 h 19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3" h="1935">
                  <a:moveTo>
                    <a:pt x="69" y="63"/>
                  </a:moveTo>
                  <a:cubicBezTo>
                    <a:pt x="101" y="126"/>
                    <a:pt x="155" y="376"/>
                    <a:pt x="207" y="549"/>
                  </a:cubicBezTo>
                  <a:cubicBezTo>
                    <a:pt x="259" y="722"/>
                    <a:pt x="320" y="930"/>
                    <a:pt x="381" y="1101"/>
                  </a:cubicBezTo>
                  <a:cubicBezTo>
                    <a:pt x="442" y="1272"/>
                    <a:pt x="541" y="1436"/>
                    <a:pt x="573" y="1575"/>
                  </a:cubicBezTo>
                  <a:lnTo>
                    <a:pt x="573" y="1935"/>
                  </a:lnTo>
                  <a:cubicBezTo>
                    <a:pt x="531" y="1914"/>
                    <a:pt x="392" y="1655"/>
                    <a:pt x="321" y="1449"/>
                  </a:cubicBezTo>
                  <a:cubicBezTo>
                    <a:pt x="250" y="1243"/>
                    <a:pt x="198" y="912"/>
                    <a:pt x="147" y="699"/>
                  </a:cubicBezTo>
                  <a:cubicBezTo>
                    <a:pt x="96" y="486"/>
                    <a:pt x="30" y="274"/>
                    <a:pt x="15" y="171"/>
                  </a:cubicBezTo>
                  <a:cubicBezTo>
                    <a:pt x="0" y="68"/>
                    <a:pt x="37" y="0"/>
                    <a:pt x="69" y="63"/>
                  </a:cubicBezTo>
                  <a:close/>
                </a:path>
              </a:pathLst>
            </a:custGeom>
            <a:gradFill rotWithShape="0">
              <a:gsLst>
                <a:gs pos="0">
                  <a:schemeClr val="bg1"/>
                </a:gs>
                <a:gs pos="100000">
                  <a:schemeClr val="folHlink"/>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42" name="Freeform 52">
              <a:extLst>
                <a:ext uri="{FF2B5EF4-FFF2-40B4-BE49-F238E27FC236}">
                  <a16:creationId xmlns:a16="http://schemas.microsoft.com/office/drawing/2014/main" id="{8EDF1CDC-1802-4F3D-AB4A-353188960C16}"/>
                </a:ext>
              </a:extLst>
            </p:cNvPr>
            <p:cNvSpPr>
              <a:spLocks/>
            </p:cNvSpPr>
            <p:nvPr/>
          </p:nvSpPr>
          <p:spPr bwMode="auto">
            <a:xfrm>
              <a:off x="5004" y="0"/>
              <a:ext cx="363" cy="2112"/>
            </a:xfrm>
            <a:custGeom>
              <a:avLst/>
              <a:gdLst>
                <a:gd name="T0" fmla="*/ 0 w 363"/>
                <a:gd name="T1" fmla="*/ 2094 h 2112"/>
                <a:gd name="T2" fmla="*/ 66 w 363"/>
                <a:gd name="T3" fmla="*/ 1992 h 2112"/>
                <a:gd name="T4" fmla="*/ 150 w 363"/>
                <a:gd name="T5" fmla="*/ 1464 h 2112"/>
                <a:gd name="T6" fmla="*/ 234 w 363"/>
                <a:gd name="T7" fmla="*/ 678 h 2112"/>
                <a:gd name="T8" fmla="*/ 324 w 363"/>
                <a:gd name="T9" fmla="*/ 0 h 2112"/>
                <a:gd name="T10" fmla="*/ 0 w 363"/>
                <a:gd name="T11" fmla="*/ 0 h 2112"/>
                <a:gd name="T12" fmla="*/ 0 w 363"/>
                <a:gd name="T13" fmla="*/ 2094 h 21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3" h="2112">
                  <a:moveTo>
                    <a:pt x="0" y="2094"/>
                  </a:moveTo>
                  <a:cubicBezTo>
                    <a:pt x="54" y="2112"/>
                    <a:pt x="41" y="2097"/>
                    <a:pt x="66" y="1992"/>
                  </a:cubicBezTo>
                  <a:cubicBezTo>
                    <a:pt x="91" y="1887"/>
                    <a:pt x="122" y="1683"/>
                    <a:pt x="150" y="1464"/>
                  </a:cubicBezTo>
                  <a:cubicBezTo>
                    <a:pt x="178" y="1245"/>
                    <a:pt x="205" y="922"/>
                    <a:pt x="234" y="678"/>
                  </a:cubicBezTo>
                  <a:cubicBezTo>
                    <a:pt x="263" y="434"/>
                    <a:pt x="363" y="113"/>
                    <a:pt x="324" y="0"/>
                  </a:cubicBezTo>
                  <a:lnTo>
                    <a:pt x="0" y="0"/>
                  </a:lnTo>
                  <a:cubicBezTo>
                    <a:pt x="0" y="0"/>
                    <a:pt x="0" y="2094"/>
                    <a:pt x="0" y="2094"/>
                  </a:cubicBezTo>
                  <a:close/>
                </a:path>
              </a:pathLst>
            </a:custGeom>
            <a:gradFill rotWithShape="0">
              <a:gsLst>
                <a:gs pos="0">
                  <a:srgbClr val="FAE3B7"/>
                </a:gs>
                <a:gs pos="17999">
                  <a:srgbClr val="A28949"/>
                </a:gs>
                <a:gs pos="31000">
                  <a:srgbClr val="835E17"/>
                </a:gs>
                <a:gs pos="33000">
                  <a:srgbClr val="BD922A"/>
                </a:gs>
                <a:gs pos="37000">
                  <a:srgbClr val="FBE4AE"/>
                </a:gs>
                <a:gs pos="78999">
                  <a:srgbClr val="BD922A"/>
                </a:gs>
                <a:gs pos="87000">
                  <a:srgbClr val="BD922A"/>
                </a:gs>
                <a:gs pos="100000">
                  <a:srgbClr val="FBE4AE"/>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KE" sz="1800"/>
            </a:p>
          </p:txBody>
        </p:sp>
        <p:sp>
          <p:nvSpPr>
            <p:cNvPr id="10293" name="Freeform 53">
              <a:extLst>
                <a:ext uri="{FF2B5EF4-FFF2-40B4-BE49-F238E27FC236}">
                  <a16:creationId xmlns:a16="http://schemas.microsoft.com/office/drawing/2014/main" id="{630267E2-9443-4717-950F-0CDD0917B337}"/>
                </a:ext>
              </a:extLst>
            </p:cNvPr>
            <p:cNvSpPr>
              <a:spLocks/>
            </p:cNvSpPr>
            <p:nvPr/>
          </p:nvSpPr>
          <p:spPr bwMode="auto">
            <a:xfrm>
              <a:off x="5004" y="1"/>
              <a:ext cx="189" cy="2112"/>
            </a:xfrm>
            <a:custGeom>
              <a:avLst/>
              <a:gdLst>
                <a:gd name="T0" fmla="*/ 0 w 363"/>
                <a:gd name="T1" fmla="*/ 2094 h 2112"/>
                <a:gd name="T2" fmla="*/ 66 w 363"/>
                <a:gd name="T3" fmla="*/ 1992 h 2112"/>
                <a:gd name="T4" fmla="*/ 150 w 363"/>
                <a:gd name="T5" fmla="*/ 1464 h 2112"/>
                <a:gd name="T6" fmla="*/ 234 w 363"/>
                <a:gd name="T7" fmla="*/ 678 h 2112"/>
                <a:gd name="T8" fmla="*/ 324 w 363"/>
                <a:gd name="T9" fmla="*/ 0 h 2112"/>
                <a:gd name="T10" fmla="*/ 0 w 363"/>
                <a:gd name="T11" fmla="*/ 0 h 2112"/>
                <a:gd name="T12" fmla="*/ 0 w 363"/>
                <a:gd name="T13" fmla="*/ 2094 h 2112"/>
              </a:gdLst>
              <a:ahLst/>
              <a:cxnLst>
                <a:cxn ang="0">
                  <a:pos x="T0" y="T1"/>
                </a:cxn>
                <a:cxn ang="0">
                  <a:pos x="T2" y="T3"/>
                </a:cxn>
                <a:cxn ang="0">
                  <a:pos x="T4" y="T5"/>
                </a:cxn>
                <a:cxn ang="0">
                  <a:pos x="T6" y="T7"/>
                </a:cxn>
                <a:cxn ang="0">
                  <a:pos x="T8" y="T9"/>
                </a:cxn>
                <a:cxn ang="0">
                  <a:pos x="T10" y="T11"/>
                </a:cxn>
                <a:cxn ang="0">
                  <a:pos x="T12" y="T13"/>
                </a:cxn>
              </a:cxnLst>
              <a:rect l="0" t="0" r="r" b="b"/>
              <a:pathLst>
                <a:path w="363" h="2112">
                  <a:moveTo>
                    <a:pt x="0" y="2094"/>
                  </a:moveTo>
                  <a:cubicBezTo>
                    <a:pt x="54" y="2112"/>
                    <a:pt x="41" y="2097"/>
                    <a:pt x="66" y="1992"/>
                  </a:cubicBezTo>
                  <a:cubicBezTo>
                    <a:pt x="91" y="1887"/>
                    <a:pt x="122" y="1683"/>
                    <a:pt x="150" y="1464"/>
                  </a:cubicBezTo>
                  <a:cubicBezTo>
                    <a:pt x="178" y="1245"/>
                    <a:pt x="205" y="922"/>
                    <a:pt x="234" y="678"/>
                  </a:cubicBezTo>
                  <a:cubicBezTo>
                    <a:pt x="263" y="434"/>
                    <a:pt x="363" y="113"/>
                    <a:pt x="324" y="0"/>
                  </a:cubicBezTo>
                  <a:lnTo>
                    <a:pt x="0" y="0"/>
                  </a:lnTo>
                  <a:cubicBezTo>
                    <a:pt x="0" y="0"/>
                    <a:pt x="0" y="2094"/>
                    <a:pt x="0" y="2094"/>
                  </a:cubicBezTo>
                  <a:close/>
                </a:path>
              </a:pathLst>
            </a:custGeom>
            <a:gradFill rotWithShape="0">
              <a:gsLst>
                <a:gs pos="0">
                  <a:schemeClr val="folHlink"/>
                </a:gs>
                <a:gs pos="50000">
                  <a:schemeClr val="hlink"/>
                </a:gs>
                <a:gs pos="100000">
                  <a:schemeClr val="folHlink"/>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p>
          </p:txBody>
        </p:sp>
        <p:sp>
          <p:nvSpPr>
            <p:cNvPr id="1044" name="Rectangle 54">
              <a:extLst>
                <a:ext uri="{FF2B5EF4-FFF2-40B4-BE49-F238E27FC236}">
                  <a16:creationId xmlns:a16="http://schemas.microsoft.com/office/drawing/2014/main" id="{8440CC24-C8E5-484F-A8FC-36DF0F1D00C7}"/>
                </a:ext>
              </a:extLst>
            </p:cNvPr>
            <p:cNvSpPr>
              <a:spLocks noChangeArrowheads="1"/>
            </p:cNvSpPr>
            <p:nvPr/>
          </p:nvSpPr>
          <p:spPr bwMode="auto">
            <a:xfrm>
              <a:off x="4955" y="1"/>
              <a:ext cx="56" cy="4320"/>
            </a:xfrm>
            <a:prstGeom prst="rect">
              <a:avLst/>
            </a:prstGeom>
            <a:gradFill rotWithShape="0">
              <a:gsLst>
                <a:gs pos="0">
                  <a:srgbClr val="FAE3B7"/>
                </a:gs>
                <a:gs pos="17999">
                  <a:srgbClr val="A28949"/>
                </a:gs>
                <a:gs pos="31000">
                  <a:srgbClr val="835E17"/>
                </a:gs>
                <a:gs pos="33000">
                  <a:srgbClr val="BD922A"/>
                </a:gs>
                <a:gs pos="37000">
                  <a:srgbClr val="FBE4AE"/>
                </a:gs>
                <a:gs pos="78999">
                  <a:srgbClr val="BD922A"/>
                </a:gs>
                <a:gs pos="87000">
                  <a:srgbClr val="BD922A"/>
                </a:gs>
                <a:gs pos="100000">
                  <a:srgbClr val="FBE4AE"/>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kumimoji="1" lang="en-US" altLang="en-US" sz="1800"/>
            </a:p>
          </p:txBody>
        </p:sp>
        <p:sp>
          <p:nvSpPr>
            <p:cNvPr id="10295" name="Freeform 55">
              <a:extLst>
                <a:ext uri="{FF2B5EF4-FFF2-40B4-BE49-F238E27FC236}">
                  <a16:creationId xmlns:a16="http://schemas.microsoft.com/office/drawing/2014/main" id="{37A54B05-8FA3-4FA4-A21A-D985446D8FD5}"/>
                </a:ext>
              </a:extLst>
            </p:cNvPr>
            <p:cNvSpPr>
              <a:spLocks/>
            </p:cNvSpPr>
            <p:nvPr/>
          </p:nvSpPr>
          <p:spPr bwMode="auto">
            <a:xfrm>
              <a:off x="5013" y="3924"/>
              <a:ext cx="734" cy="390"/>
            </a:xfrm>
            <a:custGeom>
              <a:avLst/>
              <a:gdLst>
                <a:gd name="T0" fmla="*/ 1 w 692"/>
                <a:gd name="T1" fmla="*/ 357 h 378"/>
                <a:gd name="T2" fmla="*/ 109 w 692"/>
                <a:gd name="T3" fmla="*/ 341 h 378"/>
                <a:gd name="T4" fmla="*/ 241 w 692"/>
                <a:gd name="T5" fmla="*/ 305 h 378"/>
                <a:gd name="T6" fmla="*/ 353 w 692"/>
                <a:gd name="T7" fmla="*/ 209 h 378"/>
                <a:gd name="T8" fmla="*/ 429 w 692"/>
                <a:gd name="T9" fmla="*/ 89 h 378"/>
                <a:gd name="T10" fmla="*/ 493 w 692"/>
                <a:gd name="T11" fmla="*/ 17 h 378"/>
                <a:gd name="T12" fmla="*/ 577 w 692"/>
                <a:gd name="T13" fmla="*/ 1 h 378"/>
                <a:gd name="T14" fmla="*/ 629 w 692"/>
                <a:gd name="T15" fmla="*/ 21 h 378"/>
                <a:gd name="T16" fmla="*/ 673 w 692"/>
                <a:gd name="T17" fmla="*/ 65 h 378"/>
                <a:gd name="T18" fmla="*/ 673 w 692"/>
                <a:gd name="T19" fmla="*/ 137 h 378"/>
                <a:gd name="T20" fmla="*/ 561 w 692"/>
                <a:gd name="T21" fmla="*/ 225 h 378"/>
                <a:gd name="T22" fmla="*/ 425 w 692"/>
                <a:gd name="T23" fmla="*/ 297 h 378"/>
                <a:gd name="T24" fmla="*/ 245 w 692"/>
                <a:gd name="T25" fmla="*/ 357 h 378"/>
                <a:gd name="T26" fmla="*/ 113 w 692"/>
                <a:gd name="T27" fmla="*/ 377 h 378"/>
                <a:gd name="T28" fmla="*/ 1 w 692"/>
                <a:gd name="T29" fmla="*/ 357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378">
                  <a:moveTo>
                    <a:pt x="1" y="357"/>
                  </a:moveTo>
                  <a:cubicBezTo>
                    <a:pt x="0" y="351"/>
                    <a:pt x="69" y="350"/>
                    <a:pt x="109" y="341"/>
                  </a:cubicBezTo>
                  <a:cubicBezTo>
                    <a:pt x="149" y="332"/>
                    <a:pt x="200" y="327"/>
                    <a:pt x="241" y="305"/>
                  </a:cubicBezTo>
                  <a:cubicBezTo>
                    <a:pt x="282" y="283"/>
                    <a:pt x="322" y="245"/>
                    <a:pt x="353" y="209"/>
                  </a:cubicBezTo>
                  <a:cubicBezTo>
                    <a:pt x="384" y="173"/>
                    <a:pt x="406" y="121"/>
                    <a:pt x="429" y="89"/>
                  </a:cubicBezTo>
                  <a:cubicBezTo>
                    <a:pt x="452" y="57"/>
                    <a:pt x="468" y="32"/>
                    <a:pt x="493" y="17"/>
                  </a:cubicBezTo>
                  <a:cubicBezTo>
                    <a:pt x="518" y="2"/>
                    <a:pt x="554" y="0"/>
                    <a:pt x="577" y="1"/>
                  </a:cubicBezTo>
                  <a:cubicBezTo>
                    <a:pt x="600" y="2"/>
                    <a:pt x="613" y="10"/>
                    <a:pt x="629" y="21"/>
                  </a:cubicBezTo>
                  <a:cubicBezTo>
                    <a:pt x="645" y="32"/>
                    <a:pt x="666" y="46"/>
                    <a:pt x="673" y="65"/>
                  </a:cubicBezTo>
                  <a:cubicBezTo>
                    <a:pt x="680" y="84"/>
                    <a:pt x="692" y="110"/>
                    <a:pt x="673" y="137"/>
                  </a:cubicBezTo>
                  <a:cubicBezTo>
                    <a:pt x="654" y="164"/>
                    <a:pt x="602" y="198"/>
                    <a:pt x="561" y="225"/>
                  </a:cubicBezTo>
                  <a:cubicBezTo>
                    <a:pt x="520" y="252"/>
                    <a:pt x="478" y="275"/>
                    <a:pt x="425" y="297"/>
                  </a:cubicBezTo>
                  <a:cubicBezTo>
                    <a:pt x="372" y="319"/>
                    <a:pt x="297" y="344"/>
                    <a:pt x="245" y="357"/>
                  </a:cubicBezTo>
                  <a:cubicBezTo>
                    <a:pt x="193" y="370"/>
                    <a:pt x="156" y="376"/>
                    <a:pt x="113" y="377"/>
                  </a:cubicBezTo>
                  <a:cubicBezTo>
                    <a:pt x="70" y="378"/>
                    <a:pt x="2" y="363"/>
                    <a:pt x="1" y="357"/>
                  </a:cubicBezTo>
                  <a:close/>
                </a:path>
              </a:pathLst>
            </a:custGeom>
            <a:gradFill rotWithShape="0">
              <a:gsLst>
                <a:gs pos="0">
                  <a:schemeClr val="bg1"/>
                </a:gs>
                <a:gs pos="50000">
                  <a:schemeClr val="folHlink"/>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p>
          </p:txBody>
        </p:sp>
        <p:sp>
          <p:nvSpPr>
            <p:cNvPr id="1046" name="AutoShape 56">
              <a:extLst>
                <a:ext uri="{FF2B5EF4-FFF2-40B4-BE49-F238E27FC236}">
                  <a16:creationId xmlns:a16="http://schemas.microsoft.com/office/drawing/2014/main" id="{AF4D7511-92E8-4152-9E7B-BA17E88244C5}"/>
                </a:ext>
              </a:extLst>
            </p:cNvPr>
            <p:cNvSpPr>
              <a:spLocks noChangeArrowheads="1"/>
            </p:cNvSpPr>
            <p:nvPr/>
          </p:nvSpPr>
          <p:spPr bwMode="hidden">
            <a:xfrm rot="5400000">
              <a:off x="2724" y="2089"/>
              <a:ext cx="4320" cy="142"/>
            </a:xfrm>
            <a:custGeom>
              <a:avLst/>
              <a:gdLst>
                <a:gd name="T0" fmla="*/ 34 w 21600"/>
                <a:gd name="T1" fmla="*/ 0 h 21600"/>
                <a:gd name="T2" fmla="*/ 17 w 21600"/>
                <a:gd name="T3" fmla="*/ 0 h 21600"/>
                <a:gd name="T4" fmla="*/ 0 w 21600"/>
                <a:gd name="T5" fmla="*/ 0 h 21600"/>
                <a:gd name="T6" fmla="*/ 17 w 21600"/>
                <a:gd name="T7" fmla="*/ 0 h 21600"/>
                <a:gd name="T8" fmla="*/ 0 60000 65536"/>
                <a:gd name="T9" fmla="*/ 0 60000 65536"/>
                <a:gd name="T10" fmla="*/ 0 60000 65536"/>
                <a:gd name="T11" fmla="*/ 0 60000 65536"/>
                <a:gd name="T12" fmla="*/ 2105 w 21600"/>
                <a:gd name="T13" fmla="*/ 2130 h 21600"/>
                <a:gd name="T14" fmla="*/ 19495 w 21600"/>
                <a:gd name="T15" fmla="*/ 19470 h 21600"/>
              </a:gdLst>
              <a:ahLst/>
              <a:cxnLst>
                <a:cxn ang="T8">
                  <a:pos x="T0" y="T1"/>
                </a:cxn>
                <a:cxn ang="T9">
                  <a:pos x="T2" y="T3"/>
                </a:cxn>
                <a:cxn ang="T10">
                  <a:pos x="T4" y="T5"/>
                </a:cxn>
                <a:cxn ang="T11">
                  <a:pos x="T6" y="T7"/>
                </a:cxn>
              </a:cxnLst>
              <a:rect l="T12" t="T13" r="T14" b="T15"/>
              <a:pathLst>
                <a:path w="21600" h="21600">
                  <a:moveTo>
                    <a:pt x="0" y="0"/>
                  </a:moveTo>
                  <a:lnTo>
                    <a:pt x="607" y="21600"/>
                  </a:lnTo>
                  <a:lnTo>
                    <a:pt x="20993" y="21600"/>
                  </a:lnTo>
                  <a:lnTo>
                    <a:pt x="21600" y="0"/>
                  </a:lnTo>
                  <a:lnTo>
                    <a:pt x="0" y="0"/>
                  </a:lnTo>
                  <a:close/>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en-KE" sz="1800"/>
            </a:p>
          </p:txBody>
        </p:sp>
      </p:grpSp>
      <p:sp>
        <p:nvSpPr>
          <p:cNvPr id="1027" name="Rectangle 57">
            <a:extLst>
              <a:ext uri="{FF2B5EF4-FFF2-40B4-BE49-F238E27FC236}">
                <a16:creationId xmlns:a16="http://schemas.microsoft.com/office/drawing/2014/main" id="{EF41143F-F52F-4B71-BCE1-E18E7CE6CC76}"/>
              </a:ext>
            </a:extLst>
          </p:cNvPr>
          <p:cNvSpPr>
            <a:spLocks noGrp="1" noChangeArrowheads="1"/>
          </p:cNvSpPr>
          <p:nvPr>
            <p:ph type="title"/>
          </p:nvPr>
        </p:nvSpPr>
        <p:spPr bwMode="auto">
          <a:xfrm>
            <a:off x="292101" y="227013"/>
            <a:ext cx="99695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58">
            <a:extLst>
              <a:ext uri="{FF2B5EF4-FFF2-40B4-BE49-F238E27FC236}">
                <a16:creationId xmlns:a16="http://schemas.microsoft.com/office/drawing/2014/main" id="{7608C925-E7D8-4686-B08B-711C33B681B2}"/>
              </a:ext>
            </a:extLst>
          </p:cNvPr>
          <p:cNvSpPr>
            <a:spLocks noGrp="1" noChangeArrowheads="1"/>
          </p:cNvSpPr>
          <p:nvPr>
            <p:ph type="body" idx="1"/>
          </p:nvPr>
        </p:nvSpPr>
        <p:spPr bwMode="auto">
          <a:xfrm>
            <a:off x="351367" y="1598613"/>
            <a:ext cx="9848851" cy="449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9" name="Rectangle 59">
            <a:extLst>
              <a:ext uri="{FF2B5EF4-FFF2-40B4-BE49-F238E27FC236}">
                <a16:creationId xmlns:a16="http://schemas.microsoft.com/office/drawing/2014/main" id="{346D2ADE-B359-4B0C-A855-2244A2A1BFC3}"/>
              </a:ext>
            </a:extLst>
          </p:cNvPr>
          <p:cNvSpPr>
            <a:spLocks noGrp="1" noChangeArrowheads="1"/>
          </p:cNvSpPr>
          <p:nvPr>
            <p:ph type="dt" sz="half" idx="2"/>
          </p:nvPr>
        </p:nvSpPr>
        <p:spPr bwMode="auto">
          <a:xfrm>
            <a:off x="402168" y="6242051"/>
            <a:ext cx="2377017"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atin typeface="Arial" panose="020B0604020202020204" pitchFamily="34" charset="0"/>
                <a:cs typeface="Arial" panose="020B0604020202020204" pitchFamily="34" charset="0"/>
              </a:defRPr>
            </a:lvl1pPr>
          </a:lstStyle>
          <a:p>
            <a:pPr>
              <a:defRPr/>
            </a:pPr>
            <a:endParaRPr lang="en-US" altLang="en-US"/>
          </a:p>
        </p:txBody>
      </p:sp>
      <p:sp>
        <p:nvSpPr>
          <p:cNvPr id="10300" name="Rectangle 60">
            <a:extLst>
              <a:ext uri="{FF2B5EF4-FFF2-40B4-BE49-F238E27FC236}">
                <a16:creationId xmlns:a16="http://schemas.microsoft.com/office/drawing/2014/main" id="{30F4C0A7-8256-49A8-AE2E-7C6E1473AC92}"/>
              </a:ext>
            </a:extLst>
          </p:cNvPr>
          <p:cNvSpPr>
            <a:spLocks noGrp="1" noChangeArrowheads="1"/>
          </p:cNvSpPr>
          <p:nvPr>
            <p:ph type="ftr" sz="quarter" idx="3"/>
          </p:nvPr>
        </p:nvSpPr>
        <p:spPr bwMode="auto">
          <a:xfrm>
            <a:off x="3009900" y="6248401"/>
            <a:ext cx="4607984"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atin typeface="Arial" panose="020B0604020202020204" pitchFamily="34" charset="0"/>
                <a:cs typeface="Arial" panose="020B0604020202020204" pitchFamily="34" charset="0"/>
              </a:defRPr>
            </a:lvl1pPr>
          </a:lstStyle>
          <a:p>
            <a:pPr>
              <a:defRPr/>
            </a:pPr>
            <a:endParaRPr lang="en-US" altLang="en-US"/>
          </a:p>
        </p:txBody>
      </p:sp>
      <p:sp>
        <p:nvSpPr>
          <p:cNvPr id="10301" name="Rectangle 61">
            <a:extLst>
              <a:ext uri="{FF2B5EF4-FFF2-40B4-BE49-F238E27FC236}">
                <a16:creationId xmlns:a16="http://schemas.microsoft.com/office/drawing/2014/main" id="{A72EAA8F-118F-4FA3-9C82-EE463439913E}"/>
              </a:ext>
            </a:extLst>
          </p:cNvPr>
          <p:cNvSpPr>
            <a:spLocks noGrp="1" noChangeArrowheads="1"/>
          </p:cNvSpPr>
          <p:nvPr>
            <p:ph type="sldNum" sz="quarter" idx="4"/>
          </p:nvPr>
        </p:nvSpPr>
        <p:spPr bwMode="auto">
          <a:xfrm>
            <a:off x="7823201" y="6248401"/>
            <a:ext cx="2341033"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CBFE7AE6-2899-4DE3-B46B-CB84BE7EC763}" type="slidenum">
              <a:rPr lang="ar-SA" altLang="en-US"/>
              <a:pPr/>
              <a:t>‹#›</a:t>
            </a:fld>
            <a:endParaRPr lang="en-US" altLang="en-US"/>
          </a:p>
        </p:txBody>
      </p:sp>
    </p:spTree>
    <p:extLst>
      <p:ext uri="{BB962C8B-B14F-4D97-AF65-F5344CB8AC3E}">
        <p14:creationId xmlns:p14="http://schemas.microsoft.com/office/powerpoint/2010/main" val="207689479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4000">
          <a:solidFill>
            <a:schemeClr val="tx2"/>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4000">
          <a:solidFill>
            <a:schemeClr val="tx2"/>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4000">
          <a:solidFill>
            <a:schemeClr val="tx2"/>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4000">
          <a:solidFill>
            <a:schemeClr val="tx2"/>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4000">
          <a:solidFill>
            <a:schemeClr val="tx2"/>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4000">
          <a:solidFill>
            <a:schemeClr val="tx2"/>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40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Blip>
          <a:blip r:embed="rId16"/>
        </a:buBlip>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80000"/>
        <a:buBlip>
          <a:blip r:embed="rId17"/>
        </a:buBlip>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SzPct val="70000"/>
        <a:buBlip>
          <a:blip r:embed="rId18"/>
        </a:buBlip>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1.xml.rels><?xml version="1.0" encoding="UTF-8" standalone="yes"?>
<Relationships xmlns="http://schemas.openxmlformats.org/package/2006/relationships"><Relationship Id="rId2" Type="http://schemas.openxmlformats.org/officeDocument/2006/relationships/hyperlink" Target="http://health.nytimes.com/health/guides/disease/hypertension/overview.html" TargetMode="External"/><Relationship Id="rId1" Type="http://schemas.openxmlformats.org/officeDocument/2006/relationships/slideLayout" Target="../slideLayouts/slideLayout24.xml"/></Relationships>
</file>

<file path=ppt/slides/_rels/slide132.xml.rels><?xml version="1.0" encoding="UTF-8" standalone="yes"?>
<Relationships xmlns="http://schemas.openxmlformats.org/package/2006/relationships"><Relationship Id="rId2" Type="http://schemas.openxmlformats.org/officeDocument/2006/relationships/hyperlink" Target="http://health.nytimes.com/health/guides/nutrition/sodium-in-diet/overview.html" TargetMode="External"/><Relationship Id="rId1" Type="http://schemas.openxmlformats.org/officeDocument/2006/relationships/slideLayout" Target="../slideLayouts/slideLayout24.xml"/></Relationships>
</file>

<file path=ppt/slides/_rels/slide133.xml.rels><?xml version="1.0" encoding="UTF-8" standalone="yes"?>
<Relationships xmlns="http://schemas.openxmlformats.org/package/2006/relationships"><Relationship Id="rId3" Type="http://schemas.openxmlformats.org/officeDocument/2006/relationships/hyperlink" Target="http://health.nytimes.com/health/guides/disease/atherosclerosis/overview.html" TargetMode="External"/><Relationship Id="rId2" Type="http://schemas.openxmlformats.org/officeDocument/2006/relationships/hyperlink" Target="http://health.nytimes.com/health/guides/disease/alcoholism/overview.html" TargetMode="External"/><Relationship Id="rId1" Type="http://schemas.openxmlformats.org/officeDocument/2006/relationships/slideLayout" Target="../slideLayouts/slideLayout24.xml"/><Relationship Id="rId6" Type="http://schemas.openxmlformats.org/officeDocument/2006/relationships/hyperlink" Target="http://health.nytimes.com/health/guides/disease/coarctation-of-the-aorta/overview.html" TargetMode="External"/><Relationship Id="rId5" Type="http://schemas.openxmlformats.org/officeDocument/2006/relationships/hyperlink" Target="http://health.nytimes.com/health/guides/disease/chronic-renal-failure/overview.html" TargetMode="External"/><Relationship Id="rId4" Type="http://schemas.openxmlformats.org/officeDocument/2006/relationships/hyperlink" Target="http://health.nytimes.com/health/guides/disease/polyarteritis-nodosa/overview.html" TargetMode="External"/></Relationships>
</file>

<file path=ppt/slides/_rels/slide134.xml.rels><?xml version="1.0" encoding="UTF-8" standalone="yes"?>
<Relationships xmlns="http://schemas.openxmlformats.org/package/2006/relationships"><Relationship Id="rId3" Type="http://schemas.openxmlformats.org/officeDocument/2006/relationships/hyperlink" Target="http://health.nytimes.com/health/guides/disease/pheochromocytoma/overview.html" TargetMode="External"/><Relationship Id="rId2" Type="http://schemas.openxmlformats.org/officeDocument/2006/relationships/hyperlink" Target="http://health.nytimes.com/health/guides/disease/diabetes/overview.html" TargetMode="External"/><Relationship Id="rId1" Type="http://schemas.openxmlformats.org/officeDocument/2006/relationships/slideLayout" Target="../slideLayouts/slideLayout24.xml"/><Relationship Id="rId4" Type="http://schemas.openxmlformats.org/officeDocument/2006/relationships/hyperlink" Target="http://health.nytimes.com/health/guides/disease/cushing-syndrome/overview.html" TargetMode="Externa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9.xml.rels><?xml version="1.0" encoding="UTF-8" standalone="yes"?>
<Relationships xmlns="http://schemas.openxmlformats.org/package/2006/relationships"><Relationship Id="rId8" Type="http://schemas.openxmlformats.org/officeDocument/2006/relationships/hyperlink" Target="http://health.nytimes.com/health/guides/disease/stroke/overview.html" TargetMode="External"/><Relationship Id="rId3" Type="http://schemas.openxmlformats.org/officeDocument/2006/relationships/hyperlink" Target="http://health.nytimes.com/health/guides/disease/atherosclerosis/overview.html" TargetMode="External"/><Relationship Id="rId7" Type="http://schemas.openxmlformats.org/officeDocument/2006/relationships/hyperlink" Target="http://health.nytimes.com/health/guides/disease/arteriosclerosis-of-the-extremities/overview.html" TargetMode="External"/><Relationship Id="rId2" Type="http://schemas.openxmlformats.org/officeDocument/2006/relationships/hyperlink" Target="http://health.nytimes.com/health/guides/disease/aortic-dissection/overview.html" TargetMode="External"/><Relationship Id="rId1" Type="http://schemas.openxmlformats.org/officeDocument/2006/relationships/slideLayout" Target="../slideLayouts/slideLayout24.xml"/><Relationship Id="rId6" Type="http://schemas.openxmlformats.org/officeDocument/2006/relationships/hyperlink" Target="http://health.nytimes.com/health/guides/disease/hypertensive-heart-disease/overview.html" TargetMode="External"/><Relationship Id="rId5" Type="http://schemas.openxmlformats.org/officeDocument/2006/relationships/hyperlink" Target="http://health.nytimes.com/health/guides/disease/heart-attack/overview.html" TargetMode="External"/><Relationship Id="rId4" Type="http://schemas.openxmlformats.org/officeDocument/2006/relationships/hyperlink" Target="http://health.nytimes.com/health/guides/disease/heart-failure/overview.html" TargetMode="External"/><Relationship Id="rId9" Type="http://schemas.openxmlformats.org/officeDocument/2006/relationships/hyperlink" Target="http://health.nytimes.com/health/guides/symptoms/blindness/overview.html" TargetMode="Externa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0.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LIFE STLYE DISESASES</a:t>
            </a:r>
          </a:p>
        </p:txBody>
      </p:sp>
      <p:sp>
        <p:nvSpPr>
          <p:cNvPr id="3" name="Subtitle 2"/>
          <p:cNvSpPr>
            <a:spLocks noGrp="1"/>
          </p:cNvSpPr>
          <p:nvPr>
            <p:ph type="subTitle" idx="1"/>
          </p:nvPr>
        </p:nvSpPr>
        <p:spPr/>
        <p:txBody>
          <a:bodyPr/>
          <a:lstStyle/>
          <a:p>
            <a:r>
              <a:rPr lang="en-US" dirty="0"/>
              <a:t>HEALTH EDUCATION</a:t>
            </a:r>
          </a:p>
          <a:p>
            <a:r>
              <a:rPr lang="en-US" dirty="0"/>
              <a:t>UCCC 1201</a:t>
            </a:r>
          </a:p>
        </p:txBody>
      </p:sp>
    </p:spTree>
    <p:extLst>
      <p:ext uri="{BB962C8B-B14F-4D97-AF65-F5344CB8AC3E}">
        <p14:creationId xmlns:p14="http://schemas.microsoft.com/office/powerpoint/2010/main" val="242624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LIFESTLYE DISEASES</a:t>
            </a:r>
          </a:p>
        </p:txBody>
      </p:sp>
      <p:sp>
        <p:nvSpPr>
          <p:cNvPr id="3" name="Content Placeholder 2"/>
          <p:cNvSpPr>
            <a:spLocks noGrp="1"/>
          </p:cNvSpPr>
          <p:nvPr>
            <p:ph idx="1"/>
          </p:nvPr>
        </p:nvSpPr>
        <p:spPr/>
        <p:txBody>
          <a:bodyPr/>
          <a:lstStyle/>
          <a:p>
            <a:pPr marL="0" indent="0">
              <a:buNone/>
            </a:pPr>
            <a:r>
              <a:rPr lang="en-US" dirty="0"/>
              <a:t>ALSO KNOWN AS NON COMMUNICABLE DISESASES</a:t>
            </a:r>
          </a:p>
        </p:txBody>
      </p:sp>
    </p:spTree>
    <p:extLst>
      <p:ext uri="{BB962C8B-B14F-4D97-AF65-F5344CB8AC3E}">
        <p14:creationId xmlns:p14="http://schemas.microsoft.com/office/powerpoint/2010/main" val="2920708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862149"/>
            <a:ext cx="10515600" cy="3540034"/>
          </a:xfrm>
        </p:spPr>
        <p:txBody>
          <a:bodyPr>
            <a:normAutofit fontScale="90000"/>
          </a:bodyPr>
          <a:lstStyle/>
          <a:p>
            <a:pPr lvl="0">
              <a:lnSpc>
                <a:spcPct val="100000"/>
              </a:lnSpc>
              <a:spcBef>
                <a:spcPts val="0"/>
              </a:spcBef>
            </a:pPr>
            <a:r>
              <a:rPr lang="en-US" sz="9600" dirty="0">
                <a:solidFill>
                  <a:prstClr val="black"/>
                </a:solidFill>
                <a:latin typeface="Calibri" panose="020F0502020204030204"/>
                <a:ea typeface="+mn-ea"/>
                <a:cs typeface="+mn-cs"/>
              </a:rPr>
              <a:t/>
            </a:r>
            <a:br>
              <a:rPr lang="en-US" sz="9600" dirty="0">
                <a:solidFill>
                  <a:prstClr val="black"/>
                </a:solidFill>
                <a:latin typeface="Calibri" panose="020F0502020204030204"/>
                <a:ea typeface="+mn-ea"/>
                <a:cs typeface="+mn-cs"/>
              </a:rPr>
            </a:br>
            <a:r>
              <a:rPr lang="en-US" sz="9600" dirty="0">
                <a:solidFill>
                  <a:prstClr val="black"/>
                </a:solidFill>
                <a:latin typeface="Calibri" panose="020F0502020204030204"/>
                <a:ea typeface="+mn-ea"/>
                <a:cs typeface="+mn-cs"/>
              </a:rPr>
              <a:t/>
            </a:r>
            <a:br>
              <a:rPr lang="en-US" sz="9600" dirty="0">
                <a:solidFill>
                  <a:prstClr val="black"/>
                </a:solidFill>
                <a:latin typeface="Calibri" panose="020F0502020204030204"/>
                <a:ea typeface="+mn-ea"/>
                <a:cs typeface="+mn-cs"/>
              </a:rPr>
            </a:br>
            <a:r>
              <a:rPr lang="en-US" sz="9600" dirty="0">
                <a:solidFill>
                  <a:prstClr val="black"/>
                </a:solidFill>
                <a:latin typeface="Calibri" panose="020F0502020204030204"/>
                <a:ea typeface="+mn-ea"/>
                <a:cs typeface="+mn-cs"/>
              </a:rPr>
              <a:t>						</a:t>
            </a:r>
            <a:r>
              <a:rPr lang="en-US" sz="8000" dirty="0">
                <a:solidFill>
                  <a:prstClr val="black"/>
                </a:solidFill>
                <a:latin typeface="Calibri" panose="020F0502020204030204"/>
                <a:ea typeface="+mn-ea"/>
                <a:cs typeface="+mn-cs"/>
              </a:rPr>
              <a:t>WHAT ARE </a:t>
            </a:r>
            <a:br>
              <a:rPr lang="en-US" sz="8000" dirty="0">
                <a:solidFill>
                  <a:prstClr val="black"/>
                </a:solidFill>
                <a:latin typeface="Calibri" panose="020F0502020204030204"/>
                <a:ea typeface="+mn-ea"/>
                <a:cs typeface="+mn-cs"/>
              </a:rPr>
            </a:br>
            <a:r>
              <a:rPr lang="en-US" sz="8000" dirty="0">
                <a:solidFill>
                  <a:prstClr val="black"/>
                </a:solidFill>
                <a:latin typeface="Calibri" panose="020F0502020204030204"/>
                <a:ea typeface="+mn-ea"/>
                <a:cs typeface="+mn-cs"/>
              </a:rPr>
              <a:t>						LIFESTYLE 							DISEASES?</a:t>
            </a:r>
            <a:endParaRPr lang="en-US" sz="8000" dirty="0"/>
          </a:p>
        </p:txBody>
      </p:sp>
      <p:sp>
        <p:nvSpPr>
          <p:cNvPr id="3" name="Text Placeholder 2"/>
          <p:cNvSpPr>
            <a:spLocks noGrp="1"/>
          </p:cNvSpPr>
          <p:nvPr>
            <p:ph type="body" idx="1"/>
          </p:nvPr>
        </p:nvSpPr>
        <p:spPr/>
        <p:txBody>
          <a:bodyPr>
            <a:normAutofit lnSpcReduction="10000"/>
          </a:bodyPr>
          <a:lstStyle/>
          <a:p>
            <a:r>
              <a:rPr lang="en-US" sz="5400" b="1" dirty="0"/>
              <a:t>DO THEY CONTROL US OR DO WE HAVE CONTROL OVER THEM?</a:t>
            </a:r>
          </a:p>
          <a:p>
            <a:endParaRPr lang="en-US" dirty="0"/>
          </a:p>
        </p:txBody>
      </p:sp>
    </p:spTree>
    <p:extLst>
      <p:ext uri="{BB962C8B-B14F-4D97-AF65-F5344CB8AC3E}">
        <p14:creationId xmlns:p14="http://schemas.microsoft.com/office/powerpoint/2010/main" val="1398091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6423" y="264894"/>
            <a:ext cx="6096000" cy="4402808"/>
          </a:xfrm>
          <a:prstGeom prst="rect">
            <a:avLst/>
          </a:prstGeom>
        </p:spPr>
        <p:txBody>
          <a:bodyPr>
            <a:spAutoFit/>
          </a:bodyPr>
          <a:lstStyle/>
          <a:p>
            <a:pPr marL="0" marR="0" lvl="0" indent="0" algn="l" defTabSz="914400" rtl="0" eaLnBrk="1" fontAlgn="auto" latinLnBrk="0" hangingPunct="1">
              <a:lnSpc>
                <a:spcPct val="107000"/>
              </a:lnSpc>
              <a:spcBef>
                <a:spcPts val="0"/>
              </a:spcBef>
              <a:spcAft>
                <a:spcPts val="0"/>
              </a:spcAft>
              <a:buClrTx/>
              <a:buSzTx/>
              <a:buFontTx/>
              <a:buNone/>
              <a:tabLst>
                <a:tab pos="457200" algn="l"/>
              </a:tabLst>
              <a:defRPr/>
            </a:pPr>
            <a:r>
              <a:rPr kumimoji="0" lang="en-US" sz="44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Times New Roman" panose="02020603050405020304" pitchFamily="18" charset="0"/>
              </a:rPr>
              <a:t>Lifestyle Diseases are diseases that are caused partly by unhealthy behaviors and partly </a:t>
            </a:r>
          </a:p>
          <a:p>
            <a:pPr marL="0" marR="0" lvl="0" indent="0" algn="l" defTabSz="914400" rtl="0" eaLnBrk="1" fontAlgn="auto" latinLnBrk="0" hangingPunct="1">
              <a:lnSpc>
                <a:spcPct val="107000"/>
              </a:lnSpc>
              <a:spcBef>
                <a:spcPts val="0"/>
              </a:spcBef>
              <a:spcAft>
                <a:spcPts val="0"/>
              </a:spcAft>
              <a:buClrTx/>
              <a:buSzTx/>
              <a:buFontTx/>
              <a:buNone/>
              <a:tabLst>
                <a:tab pos="457200" algn="l"/>
              </a:tabLst>
              <a:defRPr/>
            </a:pPr>
            <a:r>
              <a:rPr kumimoji="0" lang="en-US" sz="44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Times New Roman" panose="02020603050405020304" pitchFamily="18" charset="0"/>
              </a:rPr>
              <a:t>by other factors.</a:t>
            </a:r>
            <a:endParaRPr kumimoji="0" lang="en-US" sz="4400" b="0" i="0" u="none" strike="noStrike" kern="1200" cap="none" spc="0" normalizeH="0" baseline="0" noProof="0" dirty="0">
              <a:ln>
                <a:noFill/>
              </a:ln>
              <a:solidFill>
                <a:srgbClr val="3B3835"/>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6230984" y="1502229"/>
            <a:ext cx="5525588" cy="4898571"/>
          </a:xfrm>
          <a:prstGeom prst="rect">
            <a:avLst/>
          </a:prstGeom>
        </p:spPr>
      </p:pic>
    </p:spTree>
    <p:extLst>
      <p:ext uri="{BB962C8B-B14F-4D97-AF65-F5344CB8AC3E}">
        <p14:creationId xmlns:p14="http://schemas.microsoft.com/office/powerpoint/2010/main" val="2375135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5129" y="261257"/>
            <a:ext cx="9548949" cy="224676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They are called this because a person’s habits,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behaviors and practices largely determine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whether a person develops a lifestyle disease.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B3835"/>
                </a:solidFill>
                <a:effectLst/>
                <a:uLnTx/>
                <a:uFillTx/>
                <a:latin typeface="Helvetica" panose="020B0604020202020204" pitchFamily="34" charset="0"/>
                <a:ea typeface="+mn-ea"/>
                <a:cs typeface="+mn-cs"/>
              </a:rPr>
              <a:t>Another name for these diseases 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B3835"/>
                </a:solidFill>
                <a:effectLst/>
                <a:uLnTx/>
                <a:uFillTx/>
                <a:latin typeface="Helvetica" panose="020B0604020202020204" pitchFamily="34" charset="0"/>
                <a:ea typeface="+mn-ea"/>
                <a:cs typeface="+mn-cs"/>
              </a:rPr>
              <a:t>Non Communicable Diseases.</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4" name="Picture 3"/>
          <p:cNvPicPr>
            <a:picLocks noChangeAspect="1"/>
          </p:cNvPicPr>
          <p:nvPr/>
        </p:nvPicPr>
        <p:blipFill>
          <a:blip r:embed="rId2"/>
          <a:stretch>
            <a:fillRect/>
          </a:stretch>
        </p:blipFill>
        <p:spPr>
          <a:xfrm>
            <a:off x="7759337" y="261257"/>
            <a:ext cx="4278083" cy="2547257"/>
          </a:xfrm>
          <a:prstGeom prst="rect">
            <a:avLst/>
          </a:prstGeom>
        </p:spPr>
      </p:pic>
      <p:pic>
        <p:nvPicPr>
          <p:cNvPr id="6" name="Picture 5"/>
          <p:cNvPicPr>
            <a:picLocks noChangeAspect="1"/>
          </p:cNvPicPr>
          <p:nvPr/>
        </p:nvPicPr>
        <p:blipFill>
          <a:blip r:embed="rId3"/>
          <a:stretch>
            <a:fillRect/>
          </a:stretch>
        </p:blipFill>
        <p:spPr>
          <a:xfrm>
            <a:off x="7184571" y="2690947"/>
            <a:ext cx="4653640" cy="2821577"/>
          </a:xfrm>
          <a:prstGeom prst="rect">
            <a:avLst/>
          </a:prstGeom>
        </p:spPr>
      </p:pic>
    </p:spTree>
    <p:extLst>
      <p:ext uri="{BB962C8B-B14F-4D97-AF65-F5344CB8AC3E}">
        <p14:creationId xmlns:p14="http://schemas.microsoft.com/office/powerpoint/2010/main" val="757344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88603" y="640080"/>
            <a:ext cx="10158517" cy="594008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What is the difference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between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		Controllable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				factors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				</a:t>
            </a:r>
            <a:r>
              <a:rPr kumimoji="0" lang="en-US" sz="40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and</a:t>
            </a:r>
            <a:endParaRPr kumimoji="0" lang="en-US" sz="60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					Uncontrollable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							Factors</a:t>
            </a:r>
            <a:endParaRPr kumimoji="0" lang="en-US" sz="6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47554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446" y="431075"/>
            <a:ext cx="8843554" cy="526297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CONTROLLABLE FACTORS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habits,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mn-cs"/>
              </a:rPr>
              <a:t>practices or behaviors you can change, you have control of them examples: smoking, eating habits, exercise, amount of sleep you get</a:t>
            </a:r>
            <a:endParaRPr kumimoji="0" lang="en-US" sz="4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9741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82649" y="1276721"/>
            <a:ext cx="9502321" cy="3253711"/>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tab pos="457200" algn="l"/>
              </a:tabLst>
              <a:defRPr/>
            </a:pPr>
            <a:r>
              <a:rPr kumimoji="0" lang="en-US" sz="48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Times New Roman" panose="02020603050405020304" pitchFamily="18" charset="0"/>
              </a:rPr>
              <a:t>UNCONTROLLABLE  FACTORS </a:t>
            </a:r>
          </a:p>
          <a:p>
            <a:pPr marL="0" marR="0" lvl="0" indent="0" algn="l" defTabSz="914400" rtl="0" eaLnBrk="1" fontAlgn="auto" latinLnBrk="0" hangingPunct="1">
              <a:lnSpc>
                <a:spcPct val="107000"/>
              </a:lnSpc>
              <a:spcBef>
                <a:spcPts val="0"/>
              </a:spcBef>
              <a:spcAft>
                <a:spcPts val="0"/>
              </a:spcAft>
              <a:buClrTx/>
              <a:buSzTx/>
              <a:buFontTx/>
              <a:buNone/>
              <a:tabLst>
                <a:tab pos="457200" algn="l"/>
              </a:tabLst>
              <a:defRPr/>
            </a:pPr>
            <a:r>
              <a:rPr kumimoji="0" lang="en-US" sz="48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Times New Roman" panose="02020603050405020304" pitchFamily="18" charset="0"/>
              </a:rPr>
              <a:t>factors you cannot change. </a:t>
            </a:r>
          </a:p>
          <a:p>
            <a:pPr marL="0" marR="0" lvl="0" indent="0" algn="l" defTabSz="914400" rtl="0" eaLnBrk="1" fontAlgn="auto" latinLnBrk="0" hangingPunct="1">
              <a:lnSpc>
                <a:spcPct val="107000"/>
              </a:lnSpc>
              <a:spcBef>
                <a:spcPts val="0"/>
              </a:spcBef>
              <a:spcAft>
                <a:spcPts val="0"/>
              </a:spcAft>
              <a:buClrTx/>
              <a:buSzTx/>
              <a:buFontTx/>
              <a:buNone/>
              <a:tabLst>
                <a:tab pos="457200" algn="l"/>
              </a:tabLst>
              <a:defRPr/>
            </a:pPr>
            <a:r>
              <a:rPr kumimoji="0" lang="en-US" sz="48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Times New Roman" panose="02020603050405020304" pitchFamily="18" charset="0"/>
              </a:rPr>
              <a:t>There are 4, do you know what they are?</a:t>
            </a:r>
            <a:endParaRPr kumimoji="0" lang="en-US" sz="4800" b="0" i="0" u="none" strike="noStrike" kern="1200" cap="none" spc="0" normalizeH="0" baseline="0" noProof="0" dirty="0">
              <a:ln>
                <a:noFill/>
              </a:ln>
              <a:solidFill>
                <a:srgbClr val="3B3835"/>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18770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t>UNCONTROLLABLE FACTORS</a:t>
            </a:r>
          </a:p>
        </p:txBody>
      </p:sp>
      <p:sp>
        <p:nvSpPr>
          <p:cNvPr id="3" name="Content Placeholder 2"/>
          <p:cNvSpPr>
            <a:spLocks noGrp="1"/>
          </p:cNvSpPr>
          <p:nvPr>
            <p:ph idx="1"/>
          </p:nvPr>
        </p:nvSpPr>
        <p:spPr/>
        <p:txBody>
          <a:bodyPr>
            <a:normAutofit/>
          </a:bodyPr>
          <a:lstStyle/>
          <a:p>
            <a:pPr marL="0" indent="0">
              <a:buNone/>
            </a:pPr>
            <a:r>
              <a:rPr lang="en-US" sz="6000" dirty="0"/>
              <a:t>AGE </a:t>
            </a:r>
          </a:p>
          <a:p>
            <a:pPr marL="0" indent="0">
              <a:buNone/>
            </a:pPr>
            <a:r>
              <a:rPr lang="en-US" sz="6000" dirty="0"/>
              <a:t>RACE</a:t>
            </a:r>
          </a:p>
        </p:txBody>
      </p:sp>
    </p:spTree>
    <p:extLst>
      <p:ext uri="{BB962C8B-B14F-4D97-AF65-F5344CB8AC3E}">
        <p14:creationId xmlns:p14="http://schemas.microsoft.com/office/powerpoint/2010/main" val="783168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t>UNCONTROLLABLE FACTORS</a:t>
            </a:r>
          </a:p>
        </p:txBody>
      </p:sp>
      <p:sp>
        <p:nvSpPr>
          <p:cNvPr id="3" name="Content Placeholder 2"/>
          <p:cNvSpPr>
            <a:spLocks noGrp="1"/>
          </p:cNvSpPr>
          <p:nvPr>
            <p:ph idx="1"/>
          </p:nvPr>
        </p:nvSpPr>
        <p:spPr/>
        <p:txBody>
          <a:bodyPr>
            <a:normAutofit/>
          </a:bodyPr>
          <a:lstStyle/>
          <a:p>
            <a:pPr marL="0" indent="0">
              <a:buNone/>
            </a:pPr>
            <a:r>
              <a:rPr lang="en-US" sz="6000" dirty="0"/>
              <a:t>GENDER </a:t>
            </a:r>
          </a:p>
          <a:p>
            <a:pPr marL="0" indent="0">
              <a:buNone/>
            </a:pPr>
            <a:r>
              <a:rPr lang="en-US" sz="6000" dirty="0"/>
              <a:t>HEREDITY</a:t>
            </a:r>
          </a:p>
        </p:txBody>
      </p:sp>
    </p:spTree>
    <p:extLst>
      <p:ext uri="{BB962C8B-B14F-4D97-AF65-F5344CB8AC3E}">
        <p14:creationId xmlns:p14="http://schemas.microsoft.com/office/powerpoint/2010/main" val="1706613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DISEASES – CHRONIC DISEASES</a:t>
            </a:r>
          </a:p>
        </p:txBody>
      </p:sp>
      <p:sp>
        <p:nvSpPr>
          <p:cNvPr id="3" name="Content Placeholder 2"/>
          <p:cNvSpPr>
            <a:spLocks noGrp="1"/>
          </p:cNvSpPr>
          <p:nvPr>
            <p:ph idx="1"/>
          </p:nvPr>
        </p:nvSpPr>
        <p:spPr/>
        <p:txBody>
          <a:bodyPr>
            <a:normAutofit/>
          </a:bodyPr>
          <a:lstStyle/>
          <a:p>
            <a:pPr marL="0" indent="0">
              <a:buNone/>
            </a:pPr>
            <a:r>
              <a:rPr lang="en-US" sz="4000" dirty="0"/>
              <a:t>CARDIOVASCULAR DISEASES</a:t>
            </a:r>
          </a:p>
          <a:p>
            <a:pPr marL="0" indent="0">
              <a:buNone/>
            </a:pPr>
            <a:r>
              <a:rPr lang="en-US" sz="4000" dirty="0"/>
              <a:t>Cardiovascular diseases (CVD) are diseases or disorders that result from damage to the heart and blood vessels.</a:t>
            </a:r>
          </a:p>
        </p:txBody>
      </p:sp>
    </p:spTree>
    <p:extLst>
      <p:ext uri="{BB962C8B-B14F-4D97-AF65-F5344CB8AC3E}">
        <p14:creationId xmlns:p14="http://schemas.microsoft.com/office/powerpoint/2010/main" val="2389958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3244334"/>
            <a:ext cx="10633166"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a:ea typeface="+mn-ea"/>
                <a:cs typeface="+mn-cs"/>
              </a:rPr>
              <a:t>MOST COMMON CARDIOVASCULAR DISESASES</a:t>
            </a:r>
          </a:p>
        </p:txBody>
      </p:sp>
    </p:spTree>
    <p:extLst>
      <p:ext uri="{BB962C8B-B14F-4D97-AF65-F5344CB8AC3E}">
        <p14:creationId xmlns:p14="http://schemas.microsoft.com/office/powerpoint/2010/main" val="1264647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STROKE</a:t>
            </a:r>
          </a:p>
        </p:txBody>
      </p:sp>
      <p:sp>
        <p:nvSpPr>
          <p:cNvPr id="3" name="Content Placeholder 2"/>
          <p:cNvSpPr>
            <a:spLocks noGrp="1"/>
          </p:cNvSpPr>
          <p:nvPr>
            <p:ph idx="1"/>
          </p:nvPr>
        </p:nvSpPr>
        <p:spPr/>
        <p:txBody>
          <a:bodyPr/>
          <a:lstStyle/>
          <a:p>
            <a:pPr marL="0" indent="0">
              <a:buNone/>
            </a:pPr>
            <a:r>
              <a:rPr lang="en-US" dirty="0"/>
              <a:t>blood and oxygen are cut off to the brain</a:t>
            </a:r>
          </a:p>
        </p:txBody>
      </p:sp>
    </p:spTree>
    <p:extLst>
      <p:ext uri="{BB962C8B-B14F-4D97-AF65-F5344CB8AC3E}">
        <p14:creationId xmlns:p14="http://schemas.microsoft.com/office/powerpoint/2010/main" val="1902237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BLOOD PRESSURE</a:t>
            </a:r>
          </a:p>
        </p:txBody>
      </p:sp>
      <p:sp>
        <p:nvSpPr>
          <p:cNvPr id="3" name="Content Placeholder 2"/>
          <p:cNvSpPr>
            <a:spLocks noGrp="1"/>
          </p:cNvSpPr>
          <p:nvPr>
            <p:ph idx="1"/>
          </p:nvPr>
        </p:nvSpPr>
        <p:spPr/>
        <p:txBody>
          <a:bodyPr/>
          <a:lstStyle/>
          <a:p>
            <a:pPr marL="0" indent="0">
              <a:buNone/>
            </a:pPr>
            <a:r>
              <a:rPr lang="en-US" dirty="0"/>
              <a:t>When the force of blood exerts against walls of blood vessels faster than normal.</a:t>
            </a:r>
          </a:p>
        </p:txBody>
      </p:sp>
    </p:spTree>
    <p:extLst>
      <p:ext uri="{BB962C8B-B14F-4D97-AF65-F5344CB8AC3E}">
        <p14:creationId xmlns:p14="http://schemas.microsoft.com/office/powerpoint/2010/main" val="340530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HEART ATTACK</a:t>
            </a:r>
          </a:p>
        </p:txBody>
      </p:sp>
      <p:sp>
        <p:nvSpPr>
          <p:cNvPr id="3" name="Content Placeholder 2"/>
          <p:cNvSpPr>
            <a:spLocks noGrp="1"/>
          </p:cNvSpPr>
          <p:nvPr>
            <p:ph idx="1"/>
          </p:nvPr>
        </p:nvSpPr>
        <p:spPr/>
        <p:txBody>
          <a:bodyPr/>
          <a:lstStyle/>
          <a:p>
            <a:pPr marL="0" indent="0">
              <a:buNone/>
            </a:pPr>
            <a:r>
              <a:rPr lang="en-US" dirty="0"/>
              <a:t>blood and oxygen are cut off to the heart.</a:t>
            </a:r>
          </a:p>
        </p:txBody>
      </p:sp>
    </p:spTree>
    <p:extLst>
      <p:ext uri="{BB962C8B-B14F-4D97-AF65-F5344CB8AC3E}">
        <p14:creationId xmlns:p14="http://schemas.microsoft.com/office/powerpoint/2010/main" val="3152444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ARTERIOSCLEROSIS</a:t>
            </a:r>
          </a:p>
        </p:txBody>
      </p:sp>
      <p:sp>
        <p:nvSpPr>
          <p:cNvPr id="3" name="Content Placeholder 2"/>
          <p:cNvSpPr>
            <a:spLocks noGrp="1"/>
          </p:cNvSpPr>
          <p:nvPr>
            <p:ph idx="1"/>
          </p:nvPr>
        </p:nvSpPr>
        <p:spPr/>
        <p:txBody>
          <a:bodyPr/>
          <a:lstStyle/>
          <a:p>
            <a:pPr marL="0" indent="0">
              <a:buNone/>
            </a:pPr>
            <a:r>
              <a:rPr lang="en-US" dirty="0"/>
              <a:t>the build up of fatty materials in the blood vessels </a:t>
            </a:r>
          </a:p>
        </p:txBody>
      </p:sp>
    </p:spTree>
    <p:extLst>
      <p:ext uri="{BB962C8B-B14F-4D97-AF65-F5344CB8AC3E}">
        <p14:creationId xmlns:p14="http://schemas.microsoft.com/office/powerpoint/2010/main" val="881525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DETECTION OF CARDIOVASCULAR DISEASES</a:t>
            </a:r>
          </a:p>
        </p:txBody>
      </p:sp>
      <p:sp>
        <p:nvSpPr>
          <p:cNvPr id="3" name="Content Placeholder 2"/>
          <p:cNvSpPr>
            <a:spLocks noGrp="1"/>
          </p:cNvSpPr>
          <p:nvPr>
            <p:ph sz="half" idx="1"/>
          </p:nvPr>
        </p:nvSpPr>
        <p:spPr/>
        <p:txBody>
          <a:bodyPr/>
          <a:lstStyle/>
          <a:p>
            <a:pPr marL="0" indent="0">
              <a:buNone/>
            </a:pPr>
            <a:r>
              <a:rPr lang="en-US" dirty="0"/>
              <a:t>HOW ARE CARDIOVASCULAR DISEASES DETECTED? </a:t>
            </a:r>
          </a:p>
        </p:txBody>
      </p:sp>
      <p:sp>
        <p:nvSpPr>
          <p:cNvPr id="4" name="Content Placeholder 3"/>
          <p:cNvSpPr>
            <a:spLocks noGrp="1"/>
          </p:cNvSpPr>
          <p:nvPr>
            <p:ph sz="half" idx="2"/>
          </p:nvPr>
        </p:nvSpPr>
        <p:spPr/>
        <p:txBody>
          <a:bodyPr/>
          <a:lstStyle/>
          <a:p>
            <a:pPr marL="0" indent="0">
              <a:buNone/>
            </a:pPr>
            <a:r>
              <a:rPr lang="en-US" dirty="0"/>
              <a:t>Blood pressure </a:t>
            </a:r>
          </a:p>
          <a:p>
            <a:pPr marL="0" indent="0">
              <a:buNone/>
            </a:pPr>
            <a:r>
              <a:rPr lang="en-US" dirty="0"/>
              <a:t>Electrocardiogram</a:t>
            </a:r>
          </a:p>
          <a:p>
            <a:pPr marL="0" indent="0">
              <a:buNone/>
            </a:pPr>
            <a:r>
              <a:rPr lang="en-US" dirty="0"/>
              <a:t>Ultrasound </a:t>
            </a:r>
          </a:p>
          <a:p>
            <a:pPr marL="0" indent="0">
              <a:buNone/>
            </a:pPr>
            <a:r>
              <a:rPr lang="en-US" dirty="0"/>
              <a:t>Angiograph</a:t>
            </a:r>
          </a:p>
          <a:p>
            <a:endParaRPr lang="en-US" dirty="0"/>
          </a:p>
        </p:txBody>
      </p:sp>
    </p:spTree>
    <p:extLst>
      <p:ext uri="{BB962C8B-B14F-4D97-AF65-F5344CB8AC3E}">
        <p14:creationId xmlns:p14="http://schemas.microsoft.com/office/powerpoint/2010/main" val="824334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PREVENTION</a:t>
            </a:r>
          </a:p>
        </p:txBody>
      </p:sp>
      <p:sp>
        <p:nvSpPr>
          <p:cNvPr id="3" name="Content Placeholder 2"/>
          <p:cNvSpPr>
            <a:spLocks noGrp="1"/>
          </p:cNvSpPr>
          <p:nvPr>
            <p:ph idx="1"/>
          </p:nvPr>
        </p:nvSpPr>
        <p:spPr/>
        <p:txBody>
          <a:bodyPr/>
          <a:lstStyle/>
          <a:p>
            <a:pPr marL="0" indent="0">
              <a:buNone/>
            </a:pPr>
            <a:r>
              <a:rPr lang="en-US" dirty="0"/>
              <a:t>WHAT ARE SOME THINGS YOU CAN DO TO PREVENT CARDIOVASCULAR DISEASES?</a:t>
            </a:r>
          </a:p>
        </p:txBody>
      </p:sp>
    </p:spTree>
    <p:extLst>
      <p:ext uri="{BB962C8B-B14F-4D97-AF65-F5344CB8AC3E}">
        <p14:creationId xmlns:p14="http://schemas.microsoft.com/office/powerpoint/2010/main" val="3975516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PREVENTION</a:t>
            </a:r>
          </a:p>
        </p:txBody>
      </p:sp>
      <p:sp>
        <p:nvSpPr>
          <p:cNvPr id="3" name="Content Placeholder 2"/>
          <p:cNvSpPr>
            <a:spLocks noGrp="1"/>
          </p:cNvSpPr>
          <p:nvPr>
            <p:ph sz="half" idx="1"/>
          </p:nvPr>
        </p:nvSpPr>
        <p:spPr/>
        <p:txBody>
          <a:bodyPr/>
          <a:lstStyle/>
          <a:p>
            <a:pPr marL="0" indent="0">
              <a:buNone/>
            </a:pPr>
            <a:r>
              <a:rPr lang="en-US" dirty="0"/>
              <a:t>trim your fat intake</a:t>
            </a:r>
          </a:p>
          <a:p>
            <a:pPr marL="0" indent="0">
              <a:buNone/>
            </a:pPr>
            <a:r>
              <a:rPr lang="en-US" dirty="0"/>
              <a:t>cut down on salt</a:t>
            </a:r>
          </a:p>
          <a:p>
            <a:pPr marL="0" indent="0">
              <a:buNone/>
            </a:pPr>
            <a:r>
              <a:rPr lang="en-US" dirty="0"/>
              <a:t>watch your weight</a:t>
            </a:r>
          </a:p>
          <a:p>
            <a:pPr marL="0" indent="0">
              <a:buNone/>
            </a:pPr>
            <a:r>
              <a:rPr lang="en-US" dirty="0"/>
              <a:t>don’t smoke</a:t>
            </a:r>
          </a:p>
        </p:txBody>
      </p:sp>
      <p:sp>
        <p:nvSpPr>
          <p:cNvPr id="4" name="Content Placeholder 3"/>
          <p:cNvSpPr>
            <a:spLocks noGrp="1"/>
          </p:cNvSpPr>
          <p:nvPr>
            <p:ph sz="half" idx="2"/>
          </p:nvPr>
        </p:nvSpPr>
        <p:spPr/>
        <p:txBody>
          <a:bodyPr/>
          <a:lstStyle/>
          <a:p>
            <a:pPr marL="0" indent="0">
              <a:buNone/>
            </a:pPr>
            <a:r>
              <a:rPr lang="en-US" dirty="0"/>
              <a:t>exercise</a:t>
            </a:r>
          </a:p>
          <a:p>
            <a:pPr marL="0" indent="0">
              <a:buNone/>
            </a:pPr>
            <a:r>
              <a:rPr lang="en-US" dirty="0"/>
              <a:t>watch your blood pressure and cholesterol</a:t>
            </a:r>
          </a:p>
          <a:p>
            <a:pPr marL="0" indent="0">
              <a:buNone/>
            </a:pPr>
            <a:r>
              <a:rPr lang="en-US" dirty="0"/>
              <a:t>relax &amp; cut down on stress</a:t>
            </a:r>
          </a:p>
          <a:p>
            <a:endParaRPr lang="en-US" dirty="0"/>
          </a:p>
        </p:txBody>
      </p:sp>
    </p:spTree>
    <p:extLst>
      <p:ext uri="{BB962C8B-B14F-4D97-AF65-F5344CB8AC3E}">
        <p14:creationId xmlns:p14="http://schemas.microsoft.com/office/powerpoint/2010/main" val="3638499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TREATMENT</a:t>
            </a:r>
          </a:p>
        </p:txBody>
      </p:sp>
      <p:sp>
        <p:nvSpPr>
          <p:cNvPr id="3" name="Content Placeholder 2"/>
          <p:cNvSpPr>
            <a:spLocks noGrp="1"/>
          </p:cNvSpPr>
          <p:nvPr>
            <p:ph sz="half" idx="1"/>
          </p:nvPr>
        </p:nvSpPr>
        <p:spPr/>
        <p:txBody>
          <a:bodyPr/>
          <a:lstStyle/>
          <a:p>
            <a:pPr marL="0" indent="0">
              <a:buNone/>
            </a:pPr>
            <a:r>
              <a:rPr lang="en-US" dirty="0"/>
              <a:t>Can you treat Cardiovascular Diseases? </a:t>
            </a:r>
          </a:p>
        </p:txBody>
      </p:sp>
      <p:sp>
        <p:nvSpPr>
          <p:cNvPr id="4" name="Content Placeholder 3"/>
          <p:cNvSpPr>
            <a:spLocks noGrp="1"/>
          </p:cNvSpPr>
          <p:nvPr>
            <p:ph sz="half" idx="2"/>
          </p:nvPr>
        </p:nvSpPr>
        <p:spPr/>
        <p:txBody>
          <a:bodyPr/>
          <a:lstStyle/>
          <a:p>
            <a:pPr marL="0" indent="0">
              <a:buNone/>
            </a:pPr>
            <a:r>
              <a:rPr lang="en-US" dirty="0"/>
              <a:t>Yes, you can treat them through diet and exercise, </a:t>
            </a:r>
          </a:p>
          <a:p>
            <a:pPr marL="0" indent="0">
              <a:buNone/>
            </a:pPr>
            <a:r>
              <a:rPr lang="en-US" dirty="0"/>
              <a:t>medicines, </a:t>
            </a:r>
          </a:p>
          <a:p>
            <a:pPr marL="0" indent="0">
              <a:buNone/>
            </a:pPr>
            <a:r>
              <a:rPr lang="en-US" dirty="0"/>
              <a:t>surgery, </a:t>
            </a:r>
          </a:p>
          <a:p>
            <a:pPr marL="0" indent="0">
              <a:buNone/>
            </a:pPr>
            <a:r>
              <a:rPr lang="en-US" dirty="0"/>
              <a:t>angioplasty, </a:t>
            </a:r>
          </a:p>
          <a:p>
            <a:pPr marL="0" indent="0">
              <a:buNone/>
            </a:pPr>
            <a:r>
              <a:rPr lang="en-US" dirty="0"/>
              <a:t>pacemakers  </a:t>
            </a:r>
          </a:p>
          <a:p>
            <a:pPr marL="0" indent="0">
              <a:buNone/>
            </a:pPr>
            <a:r>
              <a:rPr lang="en-US" dirty="0"/>
              <a:t>transplants.</a:t>
            </a:r>
          </a:p>
        </p:txBody>
      </p:sp>
    </p:spTree>
    <p:extLst>
      <p:ext uri="{BB962C8B-B14F-4D97-AF65-F5344CB8AC3E}">
        <p14:creationId xmlns:p14="http://schemas.microsoft.com/office/powerpoint/2010/main" val="1463836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CANCER</a:t>
            </a:r>
          </a:p>
        </p:txBody>
      </p:sp>
      <p:sp>
        <p:nvSpPr>
          <p:cNvPr id="3" name="Text Placeholder 2"/>
          <p:cNvSpPr>
            <a:spLocks noGrp="1"/>
          </p:cNvSpPr>
          <p:nvPr>
            <p:ph type="body" idx="1"/>
          </p:nvPr>
        </p:nvSpPr>
        <p:spPr/>
        <p:txBody>
          <a:bodyPr/>
          <a:lstStyle/>
          <a:p>
            <a:pPr algn="r"/>
            <a:r>
              <a:rPr lang="en-US" dirty="0"/>
              <a:t>WHAT   IS</a:t>
            </a:r>
          </a:p>
        </p:txBody>
      </p:sp>
      <p:sp>
        <p:nvSpPr>
          <p:cNvPr id="4" name="Content Placeholder 3"/>
          <p:cNvSpPr>
            <a:spLocks noGrp="1"/>
          </p:cNvSpPr>
          <p:nvPr>
            <p:ph sz="half" idx="2"/>
          </p:nvPr>
        </p:nvSpPr>
        <p:spPr/>
        <p:txBody>
          <a:bodyPr/>
          <a:lstStyle/>
          <a:p>
            <a:pPr marL="0" indent="0">
              <a:buNone/>
            </a:pPr>
            <a:r>
              <a:rPr lang="en-US" dirty="0"/>
              <a:t>A disease caused by uncontrolled cell growth</a:t>
            </a:r>
          </a:p>
        </p:txBody>
      </p:sp>
      <p:sp>
        <p:nvSpPr>
          <p:cNvPr id="5" name="Text Placeholder 4"/>
          <p:cNvSpPr>
            <a:spLocks noGrp="1"/>
          </p:cNvSpPr>
          <p:nvPr>
            <p:ph type="body" sz="quarter" idx="3"/>
          </p:nvPr>
        </p:nvSpPr>
        <p:spPr/>
        <p:txBody>
          <a:bodyPr/>
          <a:lstStyle/>
          <a:p>
            <a:r>
              <a:rPr lang="en-US" dirty="0"/>
              <a:t>CANCER?</a:t>
            </a:r>
          </a:p>
        </p:txBody>
      </p:sp>
      <p:sp>
        <p:nvSpPr>
          <p:cNvPr id="6" name="Content Placeholder 5"/>
          <p:cNvSpPr>
            <a:spLocks noGrp="1"/>
          </p:cNvSpPr>
          <p:nvPr>
            <p:ph sz="quarter" idx="4"/>
          </p:nvPr>
        </p:nvSpPr>
        <p:spPr/>
        <p:txBody>
          <a:bodyPr/>
          <a:lstStyle/>
          <a:p>
            <a:r>
              <a:rPr lang="en-US" dirty="0"/>
              <a:t>It can be malignant or Benign</a:t>
            </a:r>
          </a:p>
        </p:txBody>
      </p:sp>
    </p:spTree>
    <p:extLst>
      <p:ext uri="{BB962C8B-B14F-4D97-AF65-F5344CB8AC3E}">
        <p14:creationId xmlns:p14="http://schemas.microsoft.com/office/powerpoint/2010/main" val="333962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CANCER</a:t>
            </a:r>
          </a:p>
        </p:txBody>
      </p:sp>
      <p:sp>
        <p:nvSpPr>
          <p:cNvPr id="3" name="Content Placeholder 2"/>
          <p:cNvSpPr>
            <a:spLocks noGrp="1"/>
          </p:cNvSpPr>
          <p:nvPr>
            <p:ph idx="1"/>
          </p:nvPr>
        </p:nvSpPr>
        <p:spPr/>
        <p:txBody>
          <a:bodyPr/>
          <a:lstStyle/>
          <a:p>
            <a:pPr marL="0" indent="0">
              <a:buNone/>
            </a:pPr>
            <a:r>
              <a:rPr lang="en-US" dirty="0"/>
              <a:t>What is the difference between </a:t>
            </a:r>
          </a:p>
          <a:p>
            <a:pPr marL="0" indent="0">
              <a:buNone/>
            </a:pPr>
            <a:r>
              <a:rPr lang="en-US" dirty="0"/>
              <a:t>BENIGN TUMORS </a:t>
            </a:r>
          </a:p>
          <a:p>
            <a:pPr marL="0" indent="0">
              <a:buNone/>
            </a:pPr>
            <a:r>
              <a:rPr lang="en-US" dirty="0"/>
              <a:t>and </a:t>
            </a:r>
          </a:p>
          <a:p>
            <a:pPr marL="0" indent="0">
              <a:buNone/>
            </a:pPr>
            <a:r>
              <a:rPr lang="en-US" dirty="0"/>
              <a:t>MALIGNANT TUMORS?</a:t>
            </a:r>
          </a:p>
        </p:txBody>
      </p:sp>
    </p:spTree>
    <p:extLst>
      <p:ext uri="{BB962C8B-B14F-4D97-AF65-F5344CB8AC3E}">
        <p14:creationId xmlns:p14="http://schemas.microsoft.com/office/powerpoint/2010/main" val="3401985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CANCER</a:t>
            </a:r>
          </a:p>
        </p:txBody>
      </p:sp>
      <p:sp>
        <p:nvSpPr>
          <p:cNvPr id="3" name="Content Placeholder 2"/>
          <p:cNvSpPr>
            <a:spLocks noGrp="1"/>
          </p:cNvSpPr>
          <p:nvPr>
            <p:ph sz="half" idx="1"/>
          </p:nvPr>
        </p:nvSpPr>
        <p:spPr/>
        <p:txBody>
          <a:bodyPr/>
          <a:lstStyle/>
          <a:p>
            <a:pPr marL="0" indent="0">
              <a:buNone/>
            </a:pPr>
            <a:r>
              <a:rPr lang="en-US" dirty="0"/>
              <a:t>Benign tumors are not cancerous and usually do not spread.</a:t>
            </a:r>
          </a:p>
        </p:txBody>
      </p:sp>
      <p:sp>
        <p:nvSpPr>
          <p:cNvPr id="4" name="Content Placeholder 3"/>
          <p:cNvSpPr>
            <a:spLocks noGrp="1"/>
          </p:cNvSpPr>
          <p:nvPr>
            <p:ph sz="half" idx="2"/>
          </p:nvPr>
        </p:nvSpPr>
        <p:spPr/>
        <p:txBody>
          <a:bodyPr/>
          <a:lstStyle/>
          <a:p>
            <a:pPr marL="0" indent="0">
              <a:buNone/>
            </a:pPr>
            <a:r>
              <a:rPr lang="en-US" dirty="0"/>
              <a:t>Malignant tumors are cancerous and do spread </a:t>
            </a:r>
          </a:p>
        </p:txBody>
      </p:sp>
    </p:spTree>
    <p:extLst>
      <p:ext uri="{BB962C8B-B14F-4D97-AF65-F5344CB8AC3E}">
        <p14:creationId xmlns:p14="http://schemas.microsoft.com/office/powerpoint/2010/main" val="156062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CANCER PREVENTION</a:t>
            </a:r>
          </a:p>
        </p:txBody>
      </p:sp>
      <p:sp>
        <p:nvSpPr>
          <p:cNvPr id="3" name="Content Placeholder 2"/>
          <p:cNvSpPr>
            <a:spLocks noGrp="1"/>
          </p:cNvSpPr>
          <p:nvPr>
            <p:ph idx="1"/>
          </p:nvPr>
        </p:nvSpPr>
        <p:spPr/>
        <p:txBody>
          <a:bodyPr/>
          <a:lstStyle/>
          <a:p>
            <a:pPr marL="0" indent="0" algn="ctr">
              <a:buNone/>
            </a:pPr>
            <a:r>
              <a:rPr lang="en-US" dirty="0"/>
              <a:t>WHAT ARE THE</a:t>
            </a:r>
          </a:p>
          <a:p>
            <a:pPr marL="0" indent="0" algn="ctr">
              <a:buNone/>
            </a:pPr>
            <a:r>
              <a:rPr lang="en-US" dirty="0"/>
              <a:t> THINGS </a:t>
            </a:r>
          </a:p>
          <a:p>
            <a:pPr marL="0" indent="0" algn="ctr">
              <a:buNone/>
            </a:pPr>
            <a:r>
              <a:rPr lang="en-US" dirty="0"/>
              <a:t>YOU </a:t>
            </a:r>
          </a:p>
          <a:p>
            <a:pPr marL="0" indent="0" algn="ctr">
              <a:buNone/>
            </a:pPr>
            <a:r>
              <a:rPr lang="en-US" dirty="0"/>
              <a:t>CAN DO TO </a:t>
            </a:r>
          </a:p>
          <a:p>
            <a:pPr marL="0" indent="0" algn="ctr">
              <a:buNone/>
            </a:pPr>
            <a:r>
              <a:rPr lang="en-US" dirty="0"/>
              <a:t>HELP </a:t>
            </a:r>
          </a:p>
          <a:p>
            <a:pPr marL="0" indent="0" algn="ctr">
              <a:buNone/>
            </a:pPr>
            <a:r>
              <a:rPr lang="en-US" dirty="0"/>
              <a:t>PREVENT CANCER?</a:t>
            </a:r>
          </a:p>
        </p:txBody>
      </p:sp>
    </p:spTree>
    <p:extLst>
      <p:ext uri="{BB962C8B-B14F-4D97-AF65-F5344CB8AC3E}">
        <p14:creationId xmlns:p14="http://schemas.microsoft.com/office/powerpoint/2010/main" val="3488817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CANCER PREVENTION</a:t>
            </a:r>
          </a:p>
        </p:txBody>
      </p:sp>
      <p:sp>
        <p:nvSpPr>
          <p:cNvPr id="3" name="Content Placeholder 2"/>
          <p:cNvSpPr>
            <a:spLocks noGrp="1"/>
          </p:cNvSpPr>
          <p:nvPr>
            <p:ph sz="half" idx="1"/>
          </p:nvPr>
        </p:nvSpPr>
        <p:spPr/>
        <p:txBody>
          <a:bodyPr/>
          <a:lstStyle/>
          <a:p>
            <a:pPr marL="0" lvl="0" indent="0">
              <a:buNone/>
            </a:pPr>
            <a:r>
              <a:rPr lang="en-US" dirty="0"/>
              <a:t>Don’t Smoke</a:t>
            </a:r>
          </a:p>
          <a:p>
            <a:pPr marL="0" lvl="0" indent="0">
              <a:buNone/>
            </a:pPr>
            <a:r>
              <a:rPr lang="en-US" dirty="0"/>
              <a:t>Sunscreen</a:t>
            </a:r>
          </a:p>
          <a:p>
            <a:pPr marL="0" lvl="0" indent="0">
              <a:buNone/>
            </a:pPr>
            <a:r>
              <a:rPr lang="en-US" dirty="0"/>
              <a:t>Eat more veggies and less fat</a:t>
            </a:r>
          </a:p>
          <a:p>
            <a:endParaRPr lang="en-US" dirty="0"/>
          </a:p>
        </p:txBody>
      </p:sp>
      <p:sp>
        <p:nvSpPr>
          <p:cNvPr id="4" name="Content Placeholder 3"/>
          <p:cNvSpPr>
            <a:spLocks noGrp="1"/>
          </p:cNvSpPr>
          <p:nvPr>
            <p:ph sz="half" idx="2"/>
          </p:nvPr>
        </p:nvSpPr>
        <p:spPr/>
        <p:txBody>
          <a:bodyPr/>
          <a:lstStyle/>
          <a:p>
            <a:pPr marL="0" lvl="0" indent="0">
              <a:buNone/>
            </a:pPr>
            <a:r>
              <a:rPr lang="en-US" dirty="0"/>
              <a:t>Exercise and watch your weight</a:t>
            </a:r>
          </a:p>
          <a:p>
            <a:pPr marL="0" lvl="0" indent="0">
              <a:buNone/>
            </a:pPr>
            <a:r>
              <a:rPr lang="en-US" dirty="0"/>
              <a:t>Get regular check ups</a:t>
            </a:r>
          </a:p>
          <a:p>
            <a:endParaRPr lang="en-US" dirty="0"/>
          </a:p>
        </p:txBody>
      </p:sp>
    </p:spTree>
    <p:extLst>
      <p:ext uri="{BB962C8B-B14F-4D97-AF65-F5344CB8AC3E}">
        <p14:creationId xmlns:p14="http://schemas.microsoft.com/office/powerpoint/2010/main" val="1384648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DIABETES</a:t>
            </a:r>
          </a:p>
        </p:txBody>
      </p:sp>
      <p:sp>
        <p:nvSpPr>
          <p:cNvPr id="3" name="Content Placeholder 2"/>
          <p:cNvSpPr>
            <a:spLocks noGrp="1"/>
          </p:cNvSpPr>
          <p:nvPr>
            <p:ph sz="half" idx="1"/>
          </p:nvPr>
        </p:nvSpPr>
        <p:spPr/>
        <p:txBody>
          <a:bodyPr/>
          <a:lstStyle/>
          <a:p>
            <a:pPr marL="0" indent="0">
              <a:buNone/>
            </a:pPr>
            <a:r>
              <a:rPr lang="en-US" dirty="0"/>
              <a:t>WHAT IS DIABETES?</a:t>
            </a:r>
          </a:p>
          <a:p>
            <a:endParaRPr lang="en-US" dirty="0"/>
          </a:p>
        </p:txBody>
      </p:sp>
      <p:sp>
        <p:nvSpPr>
          <p:cNvPr id="4" name="Content Placeholder 3"/>
          <p:cNvSpPr>
            <a:spLocks noGrp="1"/>
          </p:cNvSpPr>
          <p:nvPr>
            <p:ph sz="half" idx="2"/>
          </p:nvPr>
        </p:nvSpPr>
        <p:spPr/>
        <p:txBody>
          <a:bodyPr/>
          <a:lstStyle/>
          <a:p>
            <a:pPr marL="0" indent="0" algn="ctr">
              <a:buNone/>
            </a:pPr>
            <a:r>
              <a:rPr lang="en-US" dirty="0"/>
              <a:t>Diabetes is a </a:t>
            </a:r>
          </a:p>
          <a:p>
            <a:pPr marL="0" indent="0" algn="ctr">
              <a:buNone/>
            </a:pPr>
            <a:r>
              <a:rPr lang="en-US" dirty="0"/>
              <a:t>disorder in which </a:t>
            </a:r>
          </a:p>
          <a:p>
            <a:pPr marL="0" indent="0" algn="ctr">
              <a:buNone/>
            </a:pPr>
            <a:r>
              <a:rPr lang="en-US" dirty="0"/>
              <a:t>cells are unable to </a:t>
            </a:r>
          </a:p>
          <a:p>
            <a:pPr marL="0" indent="0" algn="ctr">
              <a:buNone/>
            </a:pPr>
            <a:r>
              <a:rPr lang="en-US" dirty="0"/>
              <a:t>get glucose </a:t>
            </a:r>
          </a:p>
          <a:p>
            <a:pPr marL="0" indent="0" algn="ctr">
              <a:buNone/>
            </a:pPr>
            <a:r>
              <a:rPr lang="en-US" dirty="0"/>
              <a:t>from the blood.</a:t>
            </a:r>
          </a:p>
          <a:p>
            <a:endParaRPr lang="en-US" dirty="0"/>
          </a:p>
        </p:txBody>
      </p:sp>
    </p:spTree>
    <p:extLst>
      <p:ext uri="{BB962C8B-B14F-4D97-AF65-F5344CB8AC3E}">
        <p14:creationId xmlns:p14="http://schemas.microsoft.com/office/powerpoint/2010/main" val="870816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DIABETES</a:t>
            </a:r>
          </a:p>
        </p:txBody>
      </p:sp>
      <p:sp>
        <p:nvSpPr>
          <p:cNvPr id="3" name="Text Placeholder 2"/>
          <p:cNvSpPr>
            <a:spLocks noGrp="1"/>
          </p:cNvSpPr>
          <p:nvPr>
            <p:ph type="body" idx="1"/>
          </p:nvPr>
        </p:nvSpPr>
        <p:spPr/>
        <p:txBody>
          <a:bodyPr/>
          <a:lstStyle/>
          <a:p>
            <a:r>
              <a:rPr lang="en-US" dirty="0"/>
              <a:t>WHAT IS INSULIN?</a:t>
            </a:r>
          </a:p>
        </p:txBody>
      </p:sp>
      <p:sp>
        <p:nvSpPr>
          <p:cNvPr id="4" name="Content Placeholder 3"/>
          <p:cNvSpPr>
            <a:spLocks noGrp="1"/>
          </p:cNvSpPr>
          <p:nvPr>
            <p:ph sz="half" idx="2"/>
          </p:nvPr>
        </p:nvSpPr>
        <p:spPr/>
        <p:txBody>
          <a:bodyPr/>
          <a:lstStyle/>
          <a:p>
            <a:pPr lvl="0"/>
            <a:r>
              <a:rPr lang="en-US" dirty="0"/>
              <a:t>Insulin is a hormone that causes cells to remove glucose from the bloodstream. </a:t>
            </a:r>
          </a:p>
          <a:p>
            <a:endParaRPr lang="en-US" dirty="0"/>
          </a:p>
        </p:txBody>
      </p:sp>
      <p:sp>
        <p:nvSpPr>
          <p:cNvPr id="5" name="Text Placeholder 4"/>
          <p:cNvSpPr>
            <a:spLocks noGrp="1"/>
          </p:cNvSpPr>
          <p:nvPr>
            <p:ph type="body" sz="quarter" idx="3"/>
          </p:nvPr>
        </p:nvSpPr>
        <p:spPr/>
        <p:txBody>
          <a:bodyPr/>
          <a:lstStyle/>
          <a:p>
            <a:r>
              <a:rPr lang="en-US" dirty="0"/>
              <a:t>WHAT IS ITS RELATION TO DIABETES?</a:t>
            </a:r>
          </a:p>
        </p:txBody>
      </p:sp>
      <p:sp>
        <p:nvSpPr>
          <p:cNvPr id="6" name="Content Placeholder 5"/>
          <p:cNvSpPr>
            <a:spLocks noGrp="1"/>
          </p:cNvSpPr>
          <p:nvPr>
            <p:ph sz="quarter" idx="4"/>
          </p:nvPr>
        </p:nvSpPr>
        <p:spPr/>
        <p:txBody>
          <a:bodyPr/>
          <a:lstStyle/>
          <a:p>
            <a:pPr marL="0" lvl="0" indent="0">
              <a:buNone/>
            </a:pPr>
            <a:r>
              <a:rPr lang="en-US" dirty="0"/>
              <a:t>With diabetes your body does not produce insulin or it doesn’t produce enough insulin.</a:t>
            </a:r>
          </a:p>
          <a:p>
            <a:pPr marL="0" lvl="0" indent="0">
              <a:buNone/>
            </a:pPr>
            <a:endParaRPr lang="en-US" dirty="0"/>
          </a:p>
          <a:p>
            <a:pPr marL="0" lvl="0" indent="0">
              <a:buNone/>
            </a:pPr>
            <a:endParaRPr lang="en-US" dirty="0"/>
          </a:p>
          <a:p>
            <a:pPr marL="0" lvl="0" indent="0">
              <a:buNone/>
            </a:pPr>
            <a:r>
              <a:rPr lang="en-US" dirty="0"/>
              <a:t>There are 2 types of Diabetes</a:t>
            </a:r>
          </a:p>
          <a:p>
            <a:pPr marL="0" lvl="0" indent="0">
              <a:buNone/>
            </a:pPr>
            <a:r>
              <a:rPr lang="en-US" dirty="0"/>
              <a:t>Type 1 and Type 2</a:t>
            </a:r>
          </a:p>
          <a:p>
            <a:endParaRPr lang="en-US" dirty="0"/>
          </a:p>
        </p:txBody>
      </p:sp>
    </p:spTree>
    <p:extLst>
      <p:ext uri="{BB962C8B-B14F-4D97-AF65-F5344CB8AC3E}">
        <p14:creationId xmlns:p14="http://schemas.microsoft.com/office/powerpoint/2010/main" val="1017750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DIABETES TYPE 1</a:t>
            </a:r>
          </a:p>
        </p:txBody>
      </p:sp>
      <p:sp>
        <p:nvSpPr>
          <p:cNvPr id="3" name="Content Placeholder 2"/>
          <p:cNvSpPr>
            <a:spLocks noGrp="1"/>
          </p:cNvSpPr>
          <p:nvPr>
            <p:ph sz="half" idx="1"/>
          </p:nvPr>
        </p:nvSpPr>
        <p:spPr/>
        <p:txBody>
          <a:bodyPr/>
          <a:lstStyle/>
          <a:p>
            <a:pPr marL="0" lvl="0" indent="0">
              <a:buNone/>
            </a:pPr>
            <a:r>
              <a:rPr lang="en-US" dirty="0"/>
              <a:t>type 1 occurs: </a:t>
            </a:r>
          </a:p>
          <a:p>
            <a:pPr marL="0" lvl="0" indent="0">
              <a:buNone/>
            </a:pPr>
            <a:r>
              <a:rPr lang="en-US" dirty="0"/>
              <a:t>when the immune system attacks the insulin-producing beta cells in the pancreas</a:t>
            </a:r>
          </a:p>
          <a:p>
            <a:endParaRPr lang="en-US" dirty="0"/>
          </a:p>
        </p:txBody>
      </p:sp>
      <p:sp>
        <p:nvSpPr>
          <p:cNvPr id="4" name="Content Placeholder 3"/>
          <p:cNvSpPr>
            <a:spLocks noGrp="1"/>
          </p:cNvSpPr>
          <p:nvPr>
            <p:ph sz="half" idx="2"/>
          </p:nvPr>
        </p:nvSpPr>
        <p:spPr/>
        <p:txBody>
          <a:bodyPr/>
          <a:lstStyle/>
          <a:p>
            <a:pPr marL="0" lvl="0" indent="0">
              <a:buNone/>
            </a:pPr>
            <a:r>
              <a:rPr lang="en-US" dirty="0"/>
              <a:t>You are usually born with it. </a:t>
            </a:r>
          </a:p>
          <a:p>
            <a:pPr marL="0" indent="0">
              <a:buNone/>
            </a:pPr>
            <a:endParaRPr lang="en-US" dirty="0"/>
          </a:p>
        </p:txBody>
      </p:sp>
    </p:spTree>
    <p:extLst>
      <p:ext uri="{BB962C8B-B14F-4D97-AF65-F5344CB8AC3E}">
        <p14:creationId xmlns:p14="http://schemas.microsoft.com/office/powerpoint/2010/main" val="3749604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DIABETES TYPE 2</a:t>
            </a:r>
          </a:p>
        </p:txBody>
      </p:sp>
      <p:sp>
        <p:nvSpPr>
          <p:cNvPr id="3" name="Content Placeholder 2"/>
          <p:cNvSpPr>
            <a:spLocks noGrp="1"/>
          </p:cNvSpPr>
          <p:nvPr>
            <p:ph sz="half" idx="1"/>
          </p:nvPr>
        </p:nvSpPr>
        <p:spPr/>
        <p:txBody>
          <a:bodyPr/>
          <a:lstStyle/>
          <a:p>
            <a:r>
              <a:rPr lang="en-US" dirty="0"/>
              <a:t>it is the most common form usually diagnosed later in life</a:t>
            </a:r>
          </a:p>
          <a:p>
            <a:endParaRPr lang="en-US" dirty="0"/>
          </a:p>
        </p:txBody>
      </p:sp>
      <p:sp>
        <p:nvSpPr>
          <p:cNvPr id="4" name="Content Placeholder 3"/>
          <p:cNvSpPr>
            <a:spLocks noGrp="1"/>
          </p:cNvSpPr>
          <p:nvPr>
            <p:ph sz="half" idx="2"/>
          </p:nvPr>
        </p:nvSpPr>
        <p:spPr/>
        <p:txBody>
          <a:bodyPr/>
          <a:lstStyle/>
          <a:p>
            <a:pPr marL="0" indent="0">
              <a:buNone/>
            </a:pPr>
            <a:r>
              <a:rPr lang="en-US" dirty="0"/>
              <a:t>The body does not produce enough insulin</a:t>
            </a:r>
          </a:p>
        </p:txBody>
      </p:sp>
    </p:spTree>
    <p:extLst>
      <p:ext uri="{BB962C8B-B14F-4D97-AF65-F5344CB8AC3E}">
        <p14:creationId xmlns:p14="http://schemas.microsoft.com/office/powerpoint/2010/main" val="3605759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DIABETES PREVENTION</a:t>
            </a:r>
          </a:p>
        </p:txBody>
      </p:sp>
      <p:sp>
        <p:nvSpPr>
          <p:cNvPr id="3" name="Content Placeholder 2"/>
          <p:cNvSpPr>
            <a:spLocks noGrp="1"/>
          </p:cNvSpPr>
          <p:nvPr>
            <p:ph idx="1"/>
          </p:nvPr>
        </p:nvSpPr>
        <p:spPr/>
        <p:txBody>
          <a:bodyPr/>
          <a:lstStyle/>
          <a:p>
            <a:pPr marL="0" lvl="0" indent="0">
              <a:buNone/>
            </a:pPr>
            <a:r>
              <a:rPr lang="en-US" dirty="0"/>
              <a:t>CAN DIABETES BE PREVENTED?</a:t>
            </a:r>
          </a:p>
          <a:p>
            <a:pPr marL="0" lvl="0" indent="0">
              <a:buNone/>
            </a:pPr>
            <a:r>
              <a:rPr lang="en-US" dirty="0"/>
              <a:t>Type 2 Diabetes can be prevented through maintaining a healthy weight, avoiding smoking, and the reduction of stress.</a:t>
            </a:r>
          </a:p>
          <a:p>
            <a:endParaRPr lang="en-US" dirty="0"/>
          </a:p>
        </p:txBody>
      </p:sp>
    </p:spTree>
    <p:extLst>
      <p:ext uri="{BB962C8B-B14F-4D97-AF65-F5344CB8AC3E}">
        <p14:creationId xmlns:p14="http://schemas.microsoft.com/office/powerpoint/2010/main" val="15159633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GESTATIONAL DIABETES</a:t>
            </a:r>
          </a:p>
        </p:txBody>
      </p:sp>
      <p:sp>
        <p:nvSpPr>
          <p:cNvPr id="3" name="Text Placeholder 2"/>
          <p:cNvSpPr>
            <a:spLocks noGrp="1"/>
          </p:cNvSpPr>
          <p:nvPr>
            <p:ph type="body" idx="1"/>
          </p:nvPr>
        </p:nvSpPr>
        <p:spPr/>
        <p:txBody>
          <a:bodyPr/>
          <a:lstStyle/>
          <a:p>
            <a:r>
              <a:rPr lang="en-US" dirty="0"/>
              <a:t>WHAT IS GESTATIONAL DIABETES?</a:t>
            </a:r>
          </a:p>
        </p:txBody>
      </p:sp>
      <p:sp>
        <p:nvSpPr>
          <p:cNvPr id="4" name="Content Placeholder 3"/>
          <p:cNvSpPr>
            <a:spLocks noGrp="1"/>
          </p:cNvSpPr>
          <p:nvPr>
            <p:ph sz="half" idx="2"/>
          </p:nvPr>
        </p:nvSpPr>
        <p:spPr/>
        <p:txBody>
          <a:bodyPr/>
          <a:lstStyle/>
          <a:p>
            <a:r>
              <a:rPr lang="en-US" dirty="0"/>
              <a:t>A temporary type of diabetes</a:t>
            </a:r>
          </a:p>
        </p:txBody>
      </p:sp>
      <p:sp>
        <p:nvSpPr>
          <p:cNvPr id="5" name="Text Placeholder 4"/>
          <p:cNvSpPr>
            <a:spLocks noGrp="1"/>
          </p:cNvSpPr>
          <p:nvPr>
            <p:ph type="body" sz="quarter" idx="3"/>
          </p:nvPr>
        </p:nvSpPr>
        <p:spPr/>
        <p:txBody>
          <a:bodyPr/>
          <a:lstStyle/>
          <a:p>
            <a:r>
              <a:rPr lang="en-US" dirty="0"/>
              <a:t>Diabetes in Pregnancy</a:t>
            </a:r>
          </a:p>
        </p:txBody>
      </p:sp>
      <p:sp>
        <p:nvSpPr>
          <p:cNvPr id="6" name="Content Placeholder 5"/>
          <p:cNvSpPr>
            <a:spLocks noGrp="1"/>
          </p:cNvSpPr>
          <p:nvPr>
            <p:ph sz="quarter" idx="4"/>
          </p:nvPr>
        </p:nvSpPr>
        <p:spPr/>
        <p:txBody>
          <a:bodyPr/>
          <a:lstStyle/>
          <a:p>
            <a:pPr lvl="0"/>
            <a:r>
              <a:rPr lang="en-US" dirty="0"/>
              <a:t>Occasionally a pregnant woman may temporarily develop diabetes, usually near the end of her pregnancy, </a:t>
            </a:r>
          </a:p>
          <a:p>
            <a:pPr lvl="0"/>
            <a:r>
              <a:rPr lang="en-US" dirty="0"/>
              <a:t>It can cause the baby to be big.</a:t>
            </a:r>
          </a:p>
          <a:p>
            <a:endParaRPr lang="en-US" dirty="0"/>
          </a:p>
        </p:txBody>
      </p:sp>
    </p:spTree>
    <p:extLst>
      <p:ext uri="{BB962C8B-B14F-4D97-AF65-F5344CB8AC3E}">
        <p14:creationId xmlns:p14="http://schemas.microsoft.com/office/powerpoint/2010/main" val="40200977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7687" y="1915303"/>
            <a:ext cx="10373930" cy="2211055"/>
          </a:xfrm>
          <a:prstGeom prst="rect">
            <a:avLst/>
          </a:prstGeom>
        </p:spPr>
        <p:txBody>
          <a:bodyPr wrap="none">
            <a:spAutoFit/>
          </a:bodyPr>
          <a:lstStyle/>
          <a:p>
            <a:pPr marL="0" marR="0" lvl="0" indent="0" algn="ctr" defTabSz="914400" rtl="0" eaLnBrk="1" fontAlgn="auto" latinLnBrk="0" hangingPunct="1">
              <a:lnSpc>
                <a:spcPct val="107000"/>
              </a:lnSpc>
              <a:spcBef>
                <a:spcPts val="0"/>
              </a:spcBef>
              <a:spcAft>
                <a:spcPts val="0"/>
              </a:spcAft>
              <a:buClrTx/>
              <a:buSzTx/>
              <a:buFontTx/>
              <a:buNone/>
              <a:tabLst>
                <a:tab pos="457200" algn="l"/>
              </a:tabLst>
              <a:defRPr/>
            </a:pPr>
            <a:r>
              <a:rPr kumimoji="0" lang="en-US" sz="66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Times New Roman" panose="02020603050405020304" pitchFamily="18" charset="0"/>
              </a:rPr>
              <a:t>DO YOU KNOW ANYONE </a:t>
            </a:r>
          </a:p>
          <a:p>
            <a:pPr marL="0" marR="0" lvl="0" indent="0" algn="ctr" defTabSz="914400" rtl="0" eaLnBrk="1" fontAlgn="auto" latinLnBrk="0" hangingPunct="1">
              <a:lnSpc>
                <a:spcPct val="107000"/>
              </a:lnSpc>
              <a:spcBef>
                <a:spcPts val="0"/>
              </a:spcBef>
              <a:spcAft>
                <a:spcPts val="0"/>
              </a:spcAft>
              <a:buClrTx/>
              <a:buSzTx/>
              <a:buFontTx/>
              <a:buNone/>
              <a:tabLst>
                <a:tab pos="457200" algn="l"/>
              </a:tabLst>
              <a:defRPr/>
            </a:pPr>
            <a:r>
              <a:rPr kumimoji="0" lang="en-US" sz="6600" b="0" i="0" u="none" strike="noStrike" kern="1200" cap="none" spc="0" normalizeH="0" baseline="0" noProof="0" dirty="0">
                <a:ln>
                  <a:noFill/>
                </a:ln>
                <a:solidFill>
                  <a:srgbClr val="3B3835"/>
                </a:solidFill>
                <a:effectLst/>
                <a:uLnTx/>
                <a:uFillTx/>
                <a:latin typeface="Helvetica" panose="020B0604020202020204" pitchFamily="34" charset="0"/>
                <a:ea typeface="Times New Roman" panose="02020603050405020304" pitchFamily="18" charset="0"/>
                <a:cs typeface="Times New Roman" panose="02020603050405020304" pitchFamily="18" charset="0"/>
              </a:rPr>
              <a:t>WITH DIABETES?</a:t>
            </a:r>
            <a:endParaRPr kumimoji="0" lang="en-US" sz="6600" b="0" i="0" u="none" strike="noStrike" kern="1200" cap="none" spc="0" normalizeH="0" baseline="0" noProof="0" dirty="0">
              <a:ln>
                <a:noFill/>
              </a:ln>
              <a:solidFill>
                <a:srgbClr val="3B3835"/>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016451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0012F-44B1-44F9-AB30-17FF1796CACB}"/>
              </a:ext>
            </a:extLst>
          </p:cNvPr>
          <p:cNvSpPr>
            <a:spLocks noGrp="1"/>
          </p:cNvSpPr>
          <p:nvPr>
            <p:ph type="title"/>
          </p:nvPr>
        </p:nvSpPr>
        <p:spPr>
          <a:xfrm>
            <a:off x="2438400" y="2438400"/>
            <a:ext cx="7772400" cy="1143000"/>
          </a:xfrm>
        </p:spPr>
        <p:txBody>
          <a:bodyPr/>
          <a:lstStyle/>
          <a:p>
            <a:pPr algn="ctr">
              <a:defRPr/>
            </a:pPr>
            <a:r>
              <a:rPr lang="en-US" sz="6000" b="1" dirty="0">
                <a:effectLst>
                  <a:outerShdw blurRad="38100" dist="38100" dir="2700000" algn="tl">
                    <a:srgbClr val="000000">
                      <a:alpha val="43137"/>
                    </a:srgbClr>
                  </a:outerShdw>
                </a:effectLst>
              </a:rPr>
              <a:t>Lifestyle Diseases</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3">
            <a:extLst>
              <a:ext uri="{FF2B5EF4-FFF2-40B4-BE49-F238E27FC236}">
                <a16:creationId xmlns:a16="http://schemas.microsoft.com/office/drawing/2014/main" id="{0FF2BED1-7132-4ECE-888A-372104003FCF}"/>
              </a:ext>
            </a:extLst>
          </p:cNvPr>
          <p:cNvSpPr>
            <a:spLocks noGrp="1"/>
          </p:cNvSpPr>
          <p:nvPr>
            <p:ph type="title"/>
          </p:nvPr>
        </p:nvSpPr>
        <p:spPr/>
        <p:txBody>
          <a:bodyPr/>
          <a:lstStyle/>
          <a:p>
            <a:pPr eaLnBrk="1" hangingPunct="1"/>
            <a:r>
              <a:rPr lang="en-US" altLang="en-US" b="1"/>
              <a:t>Lifestyle Diseases?</a:t>
            </a:r>
          </a:p>
        </p:txBody>
      </p:sp>
      <p:sp>
        <p:nvSpPr>
          <p:cNvPr id="7171" name="Content Placeholder 4">
            <a:extLst>
              <a:ext uri="{FF2B5EF4-FFF2-40B4-BE49-F238E27FC236}">
                <a16:creationId xmlns:a16="http://schemas.microsoft.com/office/drawing/2014/main" id="{B318D38F-B1DC-401F-B29E-91B80741C211}"/>
              </a:ext>
            </a:extLst>
          </p:cNvPr>
          <p:cNvSpPr>
            <a:spLocks noGrp="1"/>
          </p:cNvSpPr>
          <p:nvPr>
            <p:ph sz="quarter" idx="1"/>
          </p:nvPr>
        </p:nvSpPr>
        <p:spPr>
          <a:xfrm>
            <a:off x="2438400" y="1447800"/>
            <a:ext cx="7772400" cy="5181600"/>
          </a:xfrm>
        </p:spPr>
        <p:txBody>
          <a:bodyPr/>
          <a:lstStyle/>
          <a:p>
            <a:pPr eaLnBrk="1" hangingPunct="1"/>
            <a:r>
              <a:rPr lang="en-US" altLang="en-US" sz="3200" b="1"/>
              <a:t>Life style diseases </a:t>
            </a:r>
            <a:r>
              <a:rPr lang="en-US" altLang="en-US" sz="3200"/>
              <a:t>are diseases that are caused partly by unhealthy behaviors and partly by other factors.</a:t>
            </a:r>
          </a:p>
          <a:p>
            <a:pPr eaLnBrk="1" hangingPunct="1"/>
            <a:endParaRPr lang="en-US" altLang="en-US" sz="3400" b="1"/>
          </a:p>
          <a:p>
            <a:pPr eaLnBrk="1" hangingPunct="1"/>
            <a:endParaRPr lang="en-US" altLang="en-US" sz="3400" b="1"/>
          </a:p>
          <a:p>
            <a:pPr eaLnBrk="1" hangingPunct="1"/>
            <a:r>
              <a:rPr lang="en-US" altLang="en-US" sz="3400" b="1"/>
              <a:t>Examples:</a:t>
            </a:r>
            <a:r>
              <a:rPr lang="en-US" altLang="en-US" sz="3400"/>
              <a:t> heart/</a:t>
            </a:r>
            <a:r>
              <a:rPr lang="en-US" altLang="en-US" sz="3600"/>
              <a:t>cardiovascular</a:t>
            </a:r>
            <a:r>
              <a:rPr lang="en-US" altLang="en-US" sz="3400"/>
              <a:t> diseases, stroke, Type 2 diabetes, hypertension, many forms of cancer, </a:t>
            </a:r>
            <a:r>
              <a:rPr lang="en-US" altLang="en-US" sz="3600"/>
              <a:t>Obesity</a:t>
            </a:r>
            <a:endParaRPr lang="en-US" altLang="en-US" sz="3400" b="1"/>
          </a:p>
          <a:p>
            <a:pPr lvl="1" eaLnBrk="1" hangingPunct="1"/>
            <a:endParaRPr lang="en-US" altLang="en-US" sz="3200" b="1"/>
          </a:p>
          <a:p>
            <a:pPr lvl="1" eaLnBrk="1" hangingPunct="1"/>
            <a:endParaRPr lang="en-US" altLang="en-US" sz="3200" b="1"/>
          </a:p>
          <a:p>
            <a:pPr lvl="1" eaLnBrk="1" hangingPunct="1"/>
            <a:endParaRPr lang="en-US" altLang="en-US"/>
          </a:p>
          <a:p>
            <a:pPr lvl="1" eaLnBrk="1" hangingPunct="1"/>
            <a:endParaRPr lang="en-US" altLang="en-US"/>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3E4CBCC7-8F93-4B04-8E3B-24E81CA42533}"/>
              </a:ext>
            </a:extLst>
          </p:cNvPr>
          <p:cNvSpPr>
            <a:spLocks noGrp="1"/>
          </p:cNvSpPr>
          <p:nvPr>
            <p:ph type="title"/>
          </p:nvPr>
        </p:nvSpPr>
        <p:spPr/>
        <p:txBody>
          <a:bodyPr/>
          <a:lstStyle/>
          <a:p>
            <a:r>
              <a:rPr lang="en-US" altLang="en-US"/>
              <a:t>What Causes Lifestyle Diseases?</a:t>
            </a:r>
          </a:p>
        </p:txBody>
      </p:sp>
      <p:sp>
        <p:nvSpPr>
          <p:cNvPr id="8195" name="Content Placeholder 2">
            <a:extLst>
              <a:ext uri="{FF2B5EF4-FFF2-40B4-BE49-F238E27FC236}">
                <a16:creationId xmlns:a16="http://schemas.microsoft.com/office/drawing/2014/main" id="{9F4BEFBD-9324-43C5-8F73-A2171F5E4A48}"/>
              </a:ext>
            </a:extLst>
          </p:cNvPr>
          <p:cNvSpPr>
            <a:spLocks noGrp="1"/>
          </p:cNvSpPr>
          <p:nvPr>
            <p:ph sz="quarter" idx="1"/>
          </p:nvPr>
        </p:nvSpPr>
        <p:spPr>
          <a:xfrm>
            <a:off x="2438400" y="1524000"/>
            <a:ext cx="7772400" cy="4495800"/>
          </a:xfrm>
        </p:spPr>
        <p:txBody>
          <a:bodyPr/>
          <a:lstStyle/>
          <a:p>
            <a:pPr algn="just" eaLnBrk="1" hangingPunct="1">
              <a:buFont typeface="Arial" panose="020B0604020202020204" pitchFamily="34" charset="0"/>
              <a:buChar char="•"/>
            </a:pPr>
            <a:r>
              <a:rPr lang="en-US" altLang="en-US" sz="2800"/>
              <a:t>Certain habits, behaviors, and practices such as;</a:t>
            </a:r>
          </a:p>
          <a:p>
            <a:pPr lvl="2" algn="just" eaLnBrk="1" hangingPunct="1"/>
            <a:r>
              <a:rPr lang="en-US" altLang="en-US"/>
              <a:t>poor eating habits</a:t>
            </a:r>
          </a:p>
          <a:p>
            <a:pPr lvl="2" algn="just" eaLnBrk="1" hangingPunct="1"/>
            <a:r>
              <a:rPr lang="en-US" altLang="en-US"/>
              <a:t> inactivity</a:t>
            </a:r>
          </a:p>
          <a:p>
            <a:pPr lvl="2" algn="just" eaLnBrk="1" hangingPunct="1"/>
            <a:r>
              <a:rPr lang="en-US" altLang="en-US"/>
              <a:t>smoking</a:t>
            </a:r>
          </a:p>
          <a:p>
            <a:pPr algn="just" eaLnBrk="1" hangingPunct="1"/>
            <a:endParaRPr lang="en-US" altLang="en-US" sz="2800"/>
          </a:p>
          <a:p>
            <a:pPr algn="just" eaLnBrk="1" hangingPunct="1">
              <a:buFont typeface="Arial" panose="020B0604020202020204" pitchFamily="34" charset="0"/>
              <a:buChar char="•"/>
            </a:pPr>
            <a:r>
              <a:rPr lang="en-US" altLang="en-US" sz="2800"/>
              <a:t>Factors that we cannot control such as </a:t>
            </a:r>
          </a:p>
          <a:p>
            <a:pPr lvl="2" algn="just" eaLnBrk="1" hangingPunct="1">
              <a:buFont typeface="Arial" panose="020B0604020202020204" pitchFamily="34" charset="0"/>
              <a:buChar char="•"/>
            </a:pPr>
            <a:r>
              <a:rPr lang="en-US" altLang="en-US"/>
              <a:t>age, </a:t>
            </a:r>
          </a:p>
          <a:p>
            <a:pPr lvl="2" algn="just" eaLnBrk="1" hangingPunct="1">
              <a:buFont typeface="Arial" panose="020B0604020202020204" pitchFamily="34" charset="0"/>
              <a:buChar char="•"/>
            </a:pPr>
            <a:r>
              <a:rPr lang="en-US" altLang="en-US"/>
              <a:t>Gender</a:t>
            </a:r>
          </a:p>
          <a:p>
            <a:pPr lvl="2" algn="just" eaLnBrk="1" hangingPunct="1">
              <a:buFont typeface="Arial" panose="020B0604020202020204" pitchFamily="34" charset="0"/>
              <a:buChar char="•"/>
            </a:pPr>
            <a:r>
              <a:rPr lang="en-US" altLang="en-US"/>
              <a:t>heredity</a:t>
            </a:r>
          </a:p>
          <a:p>
            <a:endParaRPr lang="en-US" altLang="en-US"/>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B2A99F9B-F1EE-4524-AC38-80B17C5833F9}"/>
              </a:ext>
            </a:extLst>
          </p:cNvPr>
          <p:cNvSpPr>
            <a:spLocks noGrp="1"/>
          </p:cNvSpPr>
          <p:nvPr>
            <p:ph type="title"/>
          </p:nvPr>
        </p:nvSpPr>
        <p:spPr>
          <a:xfrm>
            <a:off x="2438400" y="152400"/>
            <a:ext cx="7772400" cy="1447800"/>
          </a:xfrm>
        </p:spPr>
        <p:txBody>
          <a:bodyPr/>
          <a:lstStyle/>
          <a:p>
            <a:pPr algn="ctr" eaLnBrk="1" hangingPunct="1"/>
            <a:r>
              <a:rPr lang="en-US" altLang="en-US" sz="4400" b="1">
                <a:solidFill>
                  <a:srgbClr val="742217"/>
                </a:solidFill>
              </a:rPr>
              <a:t>Life style diseases: Risk factors </a:t>
            </a:r>
            <a:r>
              <a:rPr lang="en-US" altLang="en-US" sz="4800" b="1">
                <a:solidFill>
                  <a:srgbClr val="742217"/>
                </a:solidFill>
              </a:rPr>
              <a:t>(1)</a:t>
            </a:r>
          </a:p>
        </p:txBody>
      </p:sp>
      <p:sp>
        <p:nvSpPr>
          <p:cNvPr id="8195" name="Content Placeholder 2">
            <a:extLst>
              <a:ext uri="{FF2B5EF4-FFF2-40B4-BE49-F238E27FC236}">
                <a16:creationId xmlns:a16="http://schemas.microsoft.com/office/drawing/2014/main" id="{28C9D806-9844-4AEB-B3AB-B6D7EF883BD6}"/>
              </a:ext>
            </a:extLst>
          </p:cNvPr>
          <p:cNvSpPr>
            <a:spLocks noGrp="1"/>
          </p:cNvSpPr>
          <p:nvPr>
            <p:ph sz="quarter" idx="1"/>
          </p:nvPr>
        </p:nvSpPr>
        <p:spPr>
          <a:xfrm>
            <a:off x="2438400" y="1828800"/>
            <a:ext cx="7772400" cy="4572000"/>
          </a:xfrm>
        </p:spPr>
        <p:txBody>
          <a:bodyPr/>
          <a:lstStyle/>
          <a:p>
            <a:pPr eaLnBrk="1" hangingPunct="1">
              <a:buFont typeface="Wingdings 2" panose="05020102010507070707" pitchFamily="18" charset="2"/>
              <a:buNone/>
              <a:defRPr/>
            </a:pPr>
            <a:r>
              <a:rPr lang="en-US" sz="4000" dirty="0">
                <a:solidFill>
                  <a:srgbClr val="742217"/>
                </a:solidFill>
                <a:effectLst>
                  <a:outerShdw blurRad="38100" dist="38100" dir="2700000" algn="tl">
                    <a:srgbClr val="000000">
                      <a:alpha val="43137"/>
                    </a:srgbClr>
                  </a:outerShdw>
                </a:effectLst>
              </a:rPr>
              <a:t>Controllable Risk Factors</a:t>
            </a:r>
            <a:endParaRPr lang="en-US" sz="4000" dirty="0">
              <a:effectLst>
                <a:outerShdw blurRad="38100" dist="38100" dir="2700000" algn="tl">
                  <a:srgbClr val="000000">
                    <a:alpha val="43137"/>
                  </a:srgbClr>
                </a:outerShdw>
              </a:effectLst>
            </a:endParaRPr>
          </a:p>
          <a:p>
            <a:pPr eaLnBrk="1" hangingPunct="1">
              <a:defRPr/>
            </a:pPr>
            <a:r>
              <a:rPr lang="en-US" sz="4000" dirty="0"/>
              <a:t>Individuals diet and body weight</a:t>
            </a:r>
          </a:p>
          <a:p>
            <a:pPr eaLnBrk="1" hangingPunct="1">
              <a:defRPr/>
            </a:pPr>
            <a:r>
              <a:rPr lang="en-US" sz="4000" dirty="0"/>
              <a:t>Individuals level of physical activity</a:t>
            </a:r>
          </a:p>
          <a:p>
            <a:pPr eaLnBrk="1" hangingPunct="1">
              <a:defRPr/>
            </a:pPr>
            <a:r>
              <a:rPr lang="en-US" sz="4000" dirty="0"/>
              <a:t>Individuals smoking and alcohol abuse/ habits</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96D81-17E2-4C39-8D88-1020FD555CC7}"/>
              </a:ext>
            </a:extLst>
          </p:cNvPr>
          <p:cNvSpPr>
            <a:spLocks noGrp="1"/>
          </p:cNvSpPr>
          <p:nvPr>
            <p:ph type="title"/>
          </p:nvPr>
        </p:nvSpPr>
        <p:spPr>
          <a:xfrm>
            <a:off x="2438400" y="152400"/>
            <a:ext cx="7772400" cy="1295400"/>
          </a:xfrm>
        </p:spPr>
        <p:txBody>
          <a:bodyPr>
            <a:normAutofit fontScale="90000"/>
          </a:bodyPr>
          <a:lstStyle/>
          <a:p>
            <a:pPr algn="ctr" eaLnBrk="1" fontAlgn="auto" hangingPunct="1">
              <a:spcAft>
                <a:spcPts val="0"/>
              </a:spcAft>
              <a:defRPr/>
            </a:pPr>
            <a:r>
              <a:rPr lang="en-US" sz="4800" b="1" dirty="0">
                <a:solidFill>
                  <a:srgbClr val="742217"/>
                </a:solidFill>
              </a:rPr>
              <a:t>Life style diseases: Risk factors (2)</a:t>
            </a:r>
            <a:endParaRPr lang="en-US" sz="4800" dirty="0">
              <a:solidFill>
                <a:schemeClr val="accent2">
                  <a:lumMod val="75000"/>
                </a:schemeClr>
              </a:solidFill>
            </a:endParaRPr>
          </a:p>
        </p:txBody>
      </p:sp>
      <p:sp>
        <p:nvSpPr>
          <p:cNvPr id="3" name="Content Placeholder 2">
            <a:extLst>
              <a:ext uri="{FF2B5EF4-FFF2-40B4-BE49-F238E27FC236}">
                <a16:creationId xmlns:a16="http://schemas.microsoft.com/office/drawing/2014/main" id="{F46BCE47-63A4-4DF7-A0CD-CF8DD0E58AB4}"/>
              </a:ext>
            </a:extLst>
          </p:cNvPr>
          <p:cNvSpPr>
            <a:spLocks noGrp="1"/>
          </p:cNvSpPr>
          <p:nvPr>
            <p:ph sz="quarter" idx="1"/>
          </p:nvPr>
        </p:nvSpPr>
        <p:spPr>
          <a:xfrm>
            <a:off x="2438400" y="1447800"/>
            <a:ext cx="7772400" cy="5029200"/>
          </a:xfrm>
        </p:spPr>
        <p:txBody>
          <a:bodyPr/>
          <a:lstStyle/>
          <a:p>
            <a:pPr eaLnBrk="1" hangingPunct="1">
              <a:lnSpc>
                <a:spcPct val="90000"/>
              </a:lnSpc>
              <a:buClr>
                <a:srgbClr val="A28E6A"/>
              </a:buClr>
              <a:buFont typeface="Wingdings 2" panose="05020102010507070707" pitchFamily="18" charset="2"/>
              <a:buNone/>
              <a:defRPr/>
            </a:pPr>
            <a:r>
              <a:rPr lang="en-US" sz="4400" b="1" dirty="0">
                <a:solidFill>
                  <a:schemeClr val="accent2">
                    <a:lumMod val="75000"/>
                  </a:schemeClr>
                </a:solidFill>
              </a:rPr>
              <a:t>Uncontrollable Risk Factors</a:t>
            </a:r>
            <a:endParaRPr lang="en-US" sz="2400" dirty="0"/>
          </a:p>
          <a:p>
            <a:pPr eaLnBrk="1" hangingPunct="1">
              <a:lnSpc>
                <a:spcPct val="90000"/>
              </a:lnSpc>
              <a:buClr>
                <a:srgbClr val="A28E6A"/>
              </a:buClr>
              <a:defRPr/>
            </a:pPr>
            <a:r>
              <a:rPr lang="en-US" sz="2800" b="1" dirty="0"/>
              <a:t>Age-</a:t>
            </a:r>
            <a:r>
              <a:rPr lang="en-US" sz="2400" b="1" dirty="0"/>
              <a:t> </a:t>
            </a:r>
            <a:r>
              <a:rPr lang="en-US" sz="2400" b="1" dirty="0">
                <a:solidFill>
                  <a:schemeClr val="accent2"/>
                </a:solidFill>
              </a:rPr>
              <a:t>the body has a harder time protecting itself as it ages.</a:t>
            </a:r>
          </a:p>
          <a:p>
            <a:pPr eaLnBrk="1" hangingPunct="1">
              <a:lnSpc>
                <a:spcPct val="90000"/>
              </a:lnSpc>
              <a:buClr>
                <a:srgbClr val="A28E6A"/>
              </a:buClr>
              <a:defRPr/>
            </a:pPr>
            <a:r>
              <a:rPr lang="en-US" sz="2800" b="1" dirty="0"/>
              <a:t>Gender</a:t>
            </a:r>
            <a:r>
              <a:rPr lang="en-US" sz="2400" b="1" dirty="0"/>
              <a:t>- </a:t>
            </a:r>
            <a:r>
              <a:rPr lang="en-US" sz="2400" b="1" dirty="0">
                <a:solidFill>
                  <a:schemeClr val="accent2"/>
                </a:solidFill>
              </a:rPr>
              <a:t>certain diseases are more common among members of one gender (men- heart disease, women- breast cancer)</a:t>
            </a:r>
          </a:p>
          <a:p>
            <a:pPr eaLnBrk="1" hangingPunct="1">
              <a:lnSpc>
                <a:spcPct val="90000"/>
              </a:lnSpc>
              <a:buClr>
                <a:srgbClr val="A28E6A"/>
              </a:buClr>
              <a:defRPr/>
            </a:pPr>
            <a:r>
              <a:rPr lang="en-US" sz="2800" b="1" dirty="0"/>
              <a:t>Ethnicity-</a:t>
            </a:r>
            <a:r>
              <a:rPr lang="en-US" sz="2400" b="1" dirty="0"/>
              <a:t> </a:t>
            </a:r>
            <a:r>
              <a:rPr lang="en-US" sz="2400" b="1" dirty="0">
                <a:solidFill>
                  <a:schemeClr val="accent2"/>
                </a:solidFill>
              </a:rPr>
              <a:t>African Americans are more likely to develop high blood pressure, Mexican Americans- higher risk of diabetes,  Asians lower risk of heart disease, European decent- higher risk of heart disease.</a:t>
            </a:r>
          </a:p>
          <a:p>
            <a:pPr eaLnBrk="1" hangingPunct="1">
              <a:lnSpc>
                <a:spcPct val="90000"/>
              </a:lnSpc>
              <a:buClr>
                <a:srgbClr val="A28E6A"/>
              </a:buClr>
              <a:defRPr/>
            </a:pPr>
            <a:r>
              <a:rPr lang="en-US" sz="2800" b="1" dirty="0"/>
              <a:t>Heredity-</a:t>
            </a:r>
            <a:r>
              <a:rPr lang="en-US" sz="2400" b="1" dirty="0"/>
              <a:t> </a:t>
            </a:r>
            <a:r>
              <a:rPr lang="en-US" sz="2400" b="1" dirty="0">
                <a:solidFill>
                  <a:schemeClr val="accent2"/>
                </a:solidFill>
              </a:rPr>
              <a:t>You can inherit chances of developing certain disease just as you inherit your hair or eye color.</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0855A-3400-4F6C-99A8-5FA40F91FC39}"/>
              </a:ext>
            </a:extLst>
          </p:cNvPr>
          <p:cNvSpPr>
            <a:spLocks noGrp="1"/>
          </p:cNvSpPr>
          <p:nvPr>
            <p:ph type="title"/>
          </p:nvPr>
        </p:nvSpPr>
        <p:spPr>
          <a:xfrm>
            <a:off x="2246313" y="952500"/>
            <a:ext cx="7772400" cy="1790700"/>
          </a:xfrm>
        </p:spPr>
        <p:txBody>
          <a:bodyPr>
            <a:normAutofit/>
          </a:bodyPr>
          <a:lstStyle/>
          <a:p>
            <a:pPr algn="ctr" eaLnBrk="1" fontAlgn="auto" hangingPunct="1">
              <a:spcAft>
                <a:spcPts val="0"/>
              </a:spcAft>
              <a:defRPr/>
            </a:pPr>
            <a:r>
              <a:rPr sz="4800">
                <a:solidFill>
                  <a:schemeClr val="accent2">
                    <a:lumMod val="75000"/>
                  </a:schemeClr>
                </a:solidFill>
              </a:rPr>
              <a:t>Lifestyle Diseases</a:t>
            </a:r>
          </a:p>
        </p:txBody>
      </p:sp>
      <p:sp>
        <p:nvSpPr>
          <p:cNvPr id="11267" name="Text Placeholder 3">
            <a:extLst>
              <a:ext uri="{FF2B5EF4-FFF2-40B4-BE49-F238E27FC236}">
                <a16:creationId xmlns:a16="http://schemas.microsoft.com/office/drawing/2014/main" id="{D0622FAB-D474-471A-9C50-8C115937B1B9}"/>
              </a:ext>
            </a:extLst>
          </p:cNvPr>
          <p:cNvSpPr>
            <a:spLocks noGrp="1"/>
          </p:cNvSpPr>
          <p:nvPr>
            <p:ph type="body" idx="1"/>
          </p:nvPr>
        </p:nvSpPr>
        <p:spPr>
          <a:xfrm>
            <a:off x="2246313" y="3429000"/>
            <a:ext cx="7772400" cy="1447800"/>
          </a:xfrm>
        </p:spPr>
        <p:txBody>
          <a:bodyPr/>
          <a:lstStyle/>
          <a:p>
            <a:pPr algn="ctr" eaLnBrk="1" hangingPunct="1">
              <a:buClr>
                <a:srgbClr val="A28E6A"/>
              </a:buClr>
            </a:pPr>
            <a:endParaRPr lang="en-US" altLang="en-US">
              <a:solidFill>
                <a:srgbClr val="898989"/>
              </a:solidFill>
            </a:endParaRPr>
          </a:p>
          <a:p>
            <a:pPr algn="ctr" eaLnBrk="1" hangingPunct="1">
              <a:buClr>
                <a:srgbClr val="A28E6A"/>
              </a:buClr>
            </a:pPr>
            <a:r>
              <a:rPr lang="en-US" altLang="en-US" sz="4000" b="1">
                <a:solidFill>
                  <a:schemeClr val="accent2"/>
                </a:solidFill>
              </a:rPr>
              <a:t>Types</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3">
            <a:extLst>
              <a:ext uri="{FF2B5EF4-FFF2-40B4-BE49-F238E27FC236}">
                <a16:creationId xmlns:a16="http://schemas.microsoft.com/office/drawing/2014/main" id="{01A4D794-C830-4DA4-BACD-09F4BCFC2175}"/>
              </a:ext>
            </a:extLst>
          </p:cNvPr>
          <p:cNvSpPr>
            <a:spLocks noGrp="1"/>
          </p:cNvSpPr>
          <p:nvPr>
            <p:ph type="title"/>
          </p:nvPr>
        </p:nvSpPr>
        <p:spPr>
          <a:xfrm>
            <a:off x="2438400" y="274638"/>
            <a:ext cx="7772400" cy="1325562"/>
          </a:xfrm>
        </p:spPr>
        <p:txBody>
          <a:bodyPr/>
          <a:lstStyle/>
          <a:p>
            <a:pPr algn="ctr" eaLnBrk="1" hangingPunct="1"/>
            <a:r>
              <a:rPr lang="en-US" altLang="en-US"/>
              <a:t>Cardiovascular Diseases</a:t>
            </a:r>
          </a:p>
        </p:txBody>
      </p:sp>
      <p:pic>
        <p:nvPicPr>
          <p:cNvPr id="12291" name="Picture 7" descr="18019">
            <a:extLst>
              <a:ext uri="{FF2B5EF4-FFF2-40B4-BE49-F238E27FC236}">
                <a16:creationId xmlns:a16="http://schemas.microsoft.com/office/drawing/2014/main" id="{D9224843-AFAB-4F9C-AA5A-795A0E1A8280}"/>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276600" y="2133600"/>
            <a:ext cx="5791200" cy="4191000"/>
          </a:xfrm>
          <a:solidFill>
            <a:schemeClr val="accent1">
              <a:alpha val="56078"/>
            </a:schemeClr>
          </a:solidFill>
          <a:ln>
            <a:solidFill>
              <a:schemeClr val="accent1">
                <a:alpha val="0"/>
              </a:schemeClr>
            </a:solidFill>
            <a:miter lim="800000"/>
            <a:headEnd/>
            <a:tailEnd/>
          </a:ln>
        </p:spPr>
      </p:pic>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07816CF8-5895-40B3-834A-996B4533730C}"/>
              </a:ext>
            </a:extLst>
          </p:cNvPr>
          <p:cNvSpPr>
            <a:spLocks noGrp="1"/>
          </p:cNvSpPr>
          <p:nvPr>
            <p:ph type="title"/>
          </p:nvPr>
        </p:nvSpPr>
        <p:spPr/>
        <p:txBody>
          <a:bodyPr/>
          <a:lstStyle/>
          <a:p>
            <a:r>
              <a:rPr lang="en-US" altLang="en-US"/>
              <a:t>Cardiovascular Diseases</a:t>
            </a:r>
          </a:p>
        </p:txBody>
      </p:sp>
      <p:sp>
        <p:nvSpPr>
          <p:cNvPr id="13315" name="Content Placeholder 2">
            <a:extLst>
              <a:ext uri="{FF2B5EF4-FFF2-40B4-BE49-F238E27FC236}">
                <a16:creationId xmlns:a16="http://schemas.microsoft.com/office/drawing/2014/main" id="{8ED99CC3-B9D4-481E-AC75-BADD4DF9E338}"/>
              </a:ext>
            </a:extLst>
          </p:cNvPr>
          <p:cNvSpPr>
            <a:spLocks noGrp="1"/>
          </p:cNvSpPr>
          <p:nvPr>
            <p:ph sz="quarter" idx="1"/>
          </p:nvPr>
        </p:nvSpPr>
        <p:spPr/>
        <p:txBody>
          <a:bodyPr/>
          <a:lstStyle/>
          <a:p>
            <a:pPr eaLnBrk="1" hangingPunct="1"/>
            <a:r>
              <a:rPr lang="en-US" altLang="en-US"/>
              <a:t>The  heart and blood vessels make up your cardiovascular system.</a:t>
            </a:r>
          </a:p>
          <a:p>
            <a:pPr eaLnBrk="1" hangingPunct="1"/>
            <a:r>
              <a:rPr lang="en-US" altLang="en-US"/>
              <a:t>The diseases that result from damage to your heart and blood vessels are called cardiovascular diseases.</a:t>
            </a:r>
          </a:p>
          <a:p>
            <a:pPr eaLnBrk="1" hangingPunct="1"/>
            <a:r>
              <a:rPr lang="en-US" altLang="en-US"/>
              <a:t>Aka CVDs</a:t>
            </a:r>
          </a:p>
          <a:p>
            <a:pPr eaLnBrk="1" hangingPunct="1"/>
            <a:r>
              <a:rPr lang="en-US" altLang="en-US"/>
              <a:t>Types of CVDs: </a:t>
            </a:r>
          </a:p>
          <a:p>
            <a:pPr lvl="1" eaLnBrk="1" hangingPunct="1"/>
            <a:r>
              <a:rPr lang="en-US" altLang="en-US"/>
              <a:t>heart attack, </a:t>
            </a:r>
          </a:p>
          <a:p>
            <a:pPr lvl="1" eaLnBrk="1" hangingPunct="1"/>
            <a:r>
              <a:rPr lang="en-US" altLang="en-US"/>
              <a:t>stroke, </a:t>
            </a:r>
          </a:p>
          <a:p>
            <a:pPr lvl="1" eaLnBrk="1" hangingPunct="1"/>
            <a:r>
              <a:rPr lang="en-US" altLang="en-US"/>
              <a:t>atherosclerosis, </a:t>
            </a:r>
          </a:p>
          <a:p>
            <a:pPr lvl="1" eaLnBrk="1" hangingPunct="1"/>
            <a:r>
              <a:rPr lang="en-US" altLang="en-US"/>
              <a:t> high blood pressure.</a:t>
            </a:r>
          </a:p>
          <a:p>
            <a:pPr eaLnBrk="1" hangingPunct="1"/>
            <a:endParaRPr lang="en-US" altLang="en-US"/>
          </a:p>
          <a:p>
            <a:endParaRPr lang="en-US" altLang="en-US"/>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FC7E629-57B4-4A96-ADBE-700BF694E136}"/>
              </a:ext>
            </a:extLst>
          </p:cNvPr>
          <p:cNvSpPr>
            <a:spLocks noGrp="1"/>
          </p:cNvSpPr>
          <p:nvPr>
            <p:ph type="title"/>
          </p:nvPr>
        </p:nvSpPr>
        <p:spPr/>
        <p:txBody>
          <a:bodyPr/>
          <a:lstStyle/>
          <a:p>
            <a:r>
              <a:rPr lang="en-US" altLang="en-US"/>
              <a:t>Risk Factors to CVDs</a:t>
            </a:r>
          </a:p>
        </p:txBody>
      </p:sp>
      <p:sp>
        <p:nvSpPr>
          <p:cNvPr id="14339" name="Content Placeholder 2">
            <a:extLst>
              <a:ext uri="{FF2B5EF4-FFF2-40B4-BE49-F238E27FC236}">
                <a16:creationId xmlns:a16="http://schemas.microsoft.com/office/drawing/2014/main" id="{69DF539A-C9E0-4C53-BEBB-95C472DBD0B6}"/>
              </a:ext>
            </a:extLst>
          </p:cNvPr>
          <p:cNvSpPr>
            <a:spLocks noGrp="1"/>
          </p:cNvSpPr>
          <p:nvPr>
            <p:ph sz="quarter" idx="1"/>
          </p:nvPr>
        </p:nvSpPr>
        <p:spPr/>
        <p:txBody>
          <a:bodyPr/>
          <a:lstStyle/>
          <a:p>
            <a:pPr eaLnBrk="1" hangingPunct="1"/>
            <a:r>
              <a:rPr lang="en-US" altLang="en-US"/>
              <a:t>Certain factors greatly increase your risk of developing a cardiovascular disease, these factors include:</a:t>
            </a:r>
          </a:p>
          <a:p>
            <a:pPr eaLnBrk="1" hangingPunct="1"/>
            <a:r>
              <a:rPr lang="en-US" altLang="en-US"/>
              <a:t>Smoking</a:t>
            </a:r>
          </a:p>
          <a:p>
            <a:pPr eaLnBrk="1" hangingPunct="1"/>
            <a:r>
              <a:rPr lang="en-US" altLang="en-US"/>
              <a:t>Being overweight</a:t>
            </a:r>
          </a:p>
          <a:p>
            <a:pPr eaLnBrk="1" hangingPunct="1"/>
            <a:r>
              <a:rPr lang="en-US" altLang="en-US"/>
              <a:t>High blood pressure</a:t>
            </a:r>
          </a:p>
          <a:p>
            <a:pPr eaLnBrk="1" hangingPunct="1"/>
            <a:r>
              <a:rPr lang="en-US" altLang="en-US"/>
              <a:t>High blood cholesterol</a:t>
            </a:r>
          </a:p>
          <a:p>
            <a:pPr eaLnBrk="1" hangingPunct="1"/>
            <a:r>
              <a:rPr lang="en-US" altLang="en-US"/>
              <a:t>Diabetes</a:t>
            </a:r>
          </a:p>
          <a:p>
            <a:endParaRPr lang="en-US" altLang="en-US"/>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7E0FD757-5EB0-47A6-9259-3020254B28D8}"/>
              </a:ext>
            </a:extLst>
          </p:cNvPr>
          <p:cNvSpPr>
            <a:spLocks noGrp="1"/>
          </p:cNvSpPr>
          <p:nvPr>
            <p:ph type="title"/>
          </p:nvPr>
        </p:nvSpPr>
        <p:spPr/>
        <p:txBody>
          <a:bodyPr/>
          <a:lstStyle/>
          <a:p>
            <a:r>
              <a:rPr lang="en-US" altLang="en-US"/>
              <a:t>Types of Cardiovascular Diseases</a:t>
            </a:r>
          </a:p>
        </p:txBody>
      </p:sp>
      <p:sp>
        <p:nvSpPr>
          <p:cNvPr id="15363" name="Content Placeholder 2">
            <a:extLst>
              <a:ext uri="{FF2B5EF4-FFF2-40B4-BE49-F238E27FC236}">
                <a16:creationId xmlns:a16="http://schemas.microsoft.com/office/drawing/2014/main" id="{A6C78C72-D5EE-42C8-A106-BAAB2F62DB2C}"/>
              </a:ext>
            </a:extLst>
          </p:cNvPr>
          <p:cNvSpPr>
            <a:spLocks noGrp="1"/>
          </p:cNvSpPr>
          <p:nvPr>
            <p:ph sz="quarter" idx="1"/>
          </p:nvPr>
        </p:nvSpPr>
        <p:spPr/>
        <p:txBody>
          <a:bodyPr/>
          <a:lstStyle/>
          <a:p>
            <a:pPr eaLnBrk="1" hangingPunct="1"/>
            <a:r>
              <a:rPr lang="en-US" altLang="en-US"/>
              <a:t>Stroke</a:t>
            </a:r>
          </a:p>
          <a:p>
            <a:pPr eaLnBrk="1" hangingPunct="1"/>
            <a:r>
              <a:rPr lang="en-US" altLang="en-US"/>
              <a:t>High Blood Pressure</a:t>
            </a:r>
          </a:p>
          <a:p>
            <a:pPr eaLnBrk="1" hangingPunct="1"/>
            <a:r>
              <a:rPr lang="en-US" altLang="en-US"/>
              <a:t>Heart Attack</a:t>
            </a:r>
          </a:p>
          <a:p>
            <a:pPr eaLnBrk="1" hangingPunct="1"/>
            <a:r>
              <a:rPr lang="en-US" altLang="en-US"/>
              <a:t>Atherosclerosis	</a:t>
            </a:r>
          </a:p>
          <a:p>
            <a:endParaRPr lang="en-US" altLang="en-US"/>
          </a:p>
        </p:txBody>
      </p:sp>
      <p:pic>
        <p:nvPicPr>
          <p:cNvPr id="15364" name="Picture 5" descr="Cardiovascular-Disease-at-Early-Age-Seen-in-Black-Women-With-SLE@@heart-5">
            <a:extLst>
              <a:ext uri="{FF2B5EF4-FFF2-40B4-BE49-F238E27FC236}">
                <a16:creationId xmlns:a16="http://schemas.microsoft.com/office/drawing/2014/main" id="{66AEE0BF-335E-4007-9159-0199D04FD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225800"/>
            <a:ext cx="39624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2391A680-9579-4AC3-ACB5-B06B775543CD}"/>
              </a:ext>
            </a:extLst>
          </p:cNvPr>
          <p:cNvSpPr>
            <a:spLocks noGrp="1"/>
          </p:cNvSpPr>
          <p:nvPr>
            <p:ph type="title"/>
          </p:nvPr>
        </p:nvSpPr>
        <p:spPr/>
        <p:txBody>
          <a:bodyPr/>
          <a:lstStyle/>
          <a:p>
            <a:r>
              <a:rPr lang="en-US" altLang="en-US"/>
              <a:t>Stroke</a:t>
            </a:r>
          </a:p>
        </p:txBody>
      </p:sp>
      <p:sp>
        <p:nvSpPr>
          <p:cNvPr id="16387" name="Content Placeholder 2">
            <a:extLst>
              <a:ext uri="{FF2B5EF4-FFF2-40B4-BE49-F238E27FC236}">
                <a16:creationId xmlns:a16="http://schemas.microsoft.com/office/drawing/2014/main" id="{2E0CA515-24CA-4681-BF16-7CCC4903E740}"/>
              </a:ext>
            </a:extLst>
          </p:cNvPr>
          <p:cNvSpPr>
            <a:spLocks noGrp="1"/>
          </p:cNvSpPr>
          <p:nvPr>
            <p:ph sz="quarter" idx="1"/>
          </p:nvPr>
        </p:nvSpPr>
        <p:spPr/>
        <p:txBody>
          <a:bodyPr/>
          <a:lstStyle/>
          <a:p>
            <a:pPr eaLnBrk="1" hangingPunct="1">
              <a:lnSpc>
                <a:spcPct val="90000"/>
              </a:lnSpc>
            </a:pPr>
            <a:r>
              <a:rPr lang="en-US" altLang="en-US"/>
              <a:t>Sudden attacks of weakness or paralysis  (loss of muscle function) that occur when blood flow to an area of the brain is interrupted.</a:t>
            </a:r>
          </a:p>
          <a:p>
            <a:pPr eaLnBrk="1" hangingPunct="1">
              <a:lnSpc>
                <a:spcPct val="90000"/>
              </a:lnSpc>
            </a:pPr>
            <a:r>
              <a:rPr lang="en-US" altLang="en-US"/>
              <a:t>Affects the arteries leading to and within the brain</a:t>
            </a:r>
          </a:p>
          <a:p>
            <a:pPr eaLnBrk="1" hangingPunct="1">
              <a:lnSpc>
                <a:spcPct val="90000"/>
              </a:lnSpc>
            </a:pPr>
            <a:r>
              <a:rPr lang="en-US" altLang="en-US"/>
              <a:t>Stroke is the third leading cause of death in the United States, behind diseases of the heart and cancer</a:t>
            </a:r>
          </a:p>
          <a:p>
            <a:endParaRPr lang="en-US" altLang="en-US"/>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01BA22C1-86DB-4A4E-BF0A-5EAFC6390317}"/>
              </a:ext>
            </a:extLst>
          </p:cNvPr>
          <p:cNvSpPr>
            <a:spLocks noGrp="1"/>
          </p:cNvSpPr>
          <p:nvPr>
            <p:ph type="title"/>
          </p:nvPr>
        </p:nvSpPr>
        <p:spPr>
          <a:xfrm>
            <a:off x="2438400" y="274638"/>
            <a:ext cx="7772400" cy="868362"/>
          </a:xfrm>
        </p:spPr>
        <p:txBody>
          <a:bodyPr/>
          <a:lstStyle/>
          <a:p>
            <a:r>
              <a:rPr lang="en-US" altLang="en-US"/>
              <a:t>High Blood Pressure</a:t>
            </a:r>
          </a:p>
        </p:txBody>
      </p:sp>
      <p:sp>
        <p:nvSpPr>
          <p:cNvPr id="17411" name="Content Placeholder 2">
            <a:extLst>
              <a:ext uri="{FF2B5EF4-FFF2-40B4-BE49-F238E27FC236}">
                <a16:creationId xmlns:a16="http://schemas.microsoft.com/office/drawing/2014/main" id="{E0E4B2CC-37E2-4F11-B889-008406399821}"/>
              </a:ext>
            </a:extLst>
          </p:cNvPr>
          <p:cNvSpPr>
            <a:spLocks noGrp="1"/>
          </p:cNvSpPr>
          <p:nvPr>
            <p:ph sz="quarter" idx="1"/>
          </p:nvPr>
        </p:nvSpPr>
        <p:spPr>
          <a:xfrm>
            <a:off x="1981200" y="1143000"/>
            <a:ext cx="8229600" cy="5334000"/>
          </a:xfrm>
        </p:spPr>
        <p:txBody>
          <a:bodyPr/>
          <a:lstStyle/>
          <a:p>
            <a:pPr eaLnBrk="1" hangingPunct="1"/>
            <a:r>
              <a:rPr lang="en-US" altLang="en-US"/>
              <a:t>The force that blood exerts against the inside walls of a blood vessel. </a:t>
            </a:r>
          </a:p>
          <a:p>
            <a:pPr eaLnBrk="1" hangingPunct="1"/>
            <a:r>
              <a:rPr lang="en-US" altLang="en-US"/>
              <a:t>When blood pressure is too high, it puts extra strain on the walls of the vessels and on the heart.</a:t>
            </a:r>
          </a:p>
          <a:p>
            <a:pPr eaLnBrk="1" hangingPunct="1"/>
            <a:r>
              <a:rPr lang="en-US" altLang="en-US"/>
              <a:t>Many people do not know their blood pressure is high until they have a heart attack or stroke.</a:t>
            </a:r>
          </a:p>
          <a:p>
            <a:pPr eaLnBrk="1" hangingPunct="1"/>
            <a:r>
              <a:rPr lang="en-US" altLang="en-US" sz="2400"/>
              <a:t>Blood pressure is expressed as;</a:t>
            </a:r>
          </a:p>
          <a:p>
            <a:pPr lvl="2" eaLnBrk="1" hangingPunct="1"/>
            <a:r>
              <a:rPr lang="en-US" altLang="en-US" sz="1800"/>
              <a:t>Systolic pressure- pressure found in the arteries while the heart muscles are contracting</a:t>
            </a:r>
          </a:p>
          <a:p>
            <a:pPr lvl="2" eaLnBrk="1" hangingPunct="1"/>
            <a:r>
              <a:rPr lang="en-US" altLang="en-US" sz="1800"/>
              <a:t>Diastolic pressure- pressure of the blood as it continues to flow through the arteries between heart beats</a:t>
            </a:r>
          </a:p>
          <a:p>
            <a:pPr eaLnBrk="1" hangingPunct="1"/>
            <a:r>
              <a:rPr lang="en-US" altLang="en-US" sz="2400"/>
              <a:t>Normal blood pressure falls between 80/50 and 130/85 mm Hg</a:t>
            </a:r>
          </a:p>
          <a:p>
            <a:pPr eaLnBrk="1" hangingPunct="1"/>
            <a:r>
              <a:rPr lang="en-US" altLang="en-US" sz="2400"/>
              <a:t>Blood pressure over 140/90 is considered high</a:t>
            </a:r>
          </a:p>
          <a:p>
            <a:endParaRPr lang="en-US" altLang="en-US"/>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0B78D312-614C-47EA-B616-D04A0FF18257}"/>
              </a:ext>
            </a:extLst>
          </p:cNvPr>
          <p:cNvSpPr>
            <a:spLocks noGrp="1"/>
          </p:cNvSpPr>
          <p:nvPr>
            <p:ph type="title"/>
          </p:nvPr>
        </p:nvSpPr>
        <p:spPr/>
        <p:txBody>
          <a:bodyPr/>
          <a:lstStyle/>
          <a:p>
            <a:r>
              <a:rPr lang="en-US" altLang="en-US"/>
              <a:t>Heart Attack</a:t>
            </a:r>
          </a:p>
        </p:txBody>
      </p:sp>
      <p:sp>
        <p:nvSpPr>
          <p:cNvPr id="18435" name="Content Placeholder 2">
            <a:extLst>
              <a:ext uri="{FF2B5EF4-FFF2-40B4-BE49-F238E27FC236}">
                <a16:creationId xmlns:a16="http://schemas.microsoft.com/office/drawing/2014/main" id="{2930652C-2234-4057-B2C0-7A04ECAD6716}"/>
              </a:ext>
            </a:extLst>
          </p:cNvPr>
          <p:cNvSpPr>
            <a:spLocks noGrp="1"/>
          </p:cNvSpPr>
          <p:nvPr>
            <p:ph sz="quarter" idx="1"/>
          </p:nvPr>
        </p:nvSpPr>
        <p:spPr/>
        <p:txBody>
          <a:bodyPr/>
          <a:lstStyle/>
          <a:p>
            <a:r>
              <a:rPr lang="en-US" altLang="en-US" sz="2400"/>
              <a:t>“A heart attack is when blood vessels that supply blood to the heart are blocked, preventing enough oxygen from getting to the heart. The heart muscle dies or becomes permanently damaged. Most heart attacks are caused by a blood clot that blocks one of the coronary arteries. The coronary arteries bring blood and oxygen to the heart. If the blood flow is blocked, the heart starves for oxygen and heart cells die.”</a:t>
            </a:r>
          </a:p>
          <a:p>
            <a:endParaRPr lang="en-US" altLang="en-US"/>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8D06A13-A3CA-44C0-A158-A5097098CA60}"/>
              </a:ext>
            </a:extLst>
          </p:cNvPr>
          <p:cNvSpPr>
            <a:spLocks noGrp="1"/>
          </p:cNvSpPr>
          <p:nvPr>
            <p:ph type="title"/>
          </p:nvPr>
        </p:nvSpPr>
        <p:spPr/>
        <p:txBody>
          <a:bodyPr/>
          <a:lstStyle/>
          <a:p>
            <a:r>
              <a:rPr lang="en-US" altLang="en-US"/>
              <a:t>Atherosclerosis</a:t>
            </a:r>
          </a:p>
        </p:txBody>
      </p:sp>
      <p:sp>
        <p:nvSpPr>
          <p:cNvPr id="19459" name="Content Placeholder 2">
            <a:extLst>
              <a:ext uri="{FF2B5EF4-FFF2-40B4-BE49-F238E27FC236}">
                <a16:creationId xmlns:a16="http://schemas.microsoft.com/office/drawing/2014/main" id="{F88E48D0-7441-4896-88FA-CB1DCD7BDC3F}"/>
              </a:ext>
            </a:extLst>
          </p:cNvPr>
          <p:cNvSpPr>
            <a:spLocks noGrp="1"/>
          </p:cNvSpPr>
          <p:nvPr>
            <p:ph sz="quarter" idx="1"/>
          </p:nvPr>
        </p:nvSpPr>
        <p:spPr/>
        <p:txBody>
          <a:bodyPr/>
          <a:lstStyle/>
          <a:p>
            <a:pPr eaLnBrk="1" hangingPunct="1"/>
            <a:r>
              <a:rPr lang="en-US" altLang="en-US"/>
              <a:t>This disease is categorized by the buildup of fatty materials on the inside walls of the arteries</a:t>
            </a:r>
          </a:p>
          <a:p>
            <a:pPr eaLnBrk="1" hangingPunct="1"/>
            <a:r>
              <a:rPr lang="en-US" altLang="en-US"/>
              <a:t>It is dangerous for 2 reasons:</a:t>
            </a:r>
          </a:p>
          <a:p>
            <a:pPr eaLnBrk="1" hangingPunct="1"/>
            <a:r>
              <a:rPr lang="en-US" altLang="en-US"/>
              <a:t>1. It can reduce or stop blood flow to certain parts of the body</a:t>
            </a:r>
          </a:p>
          <a:p>
            <a:pPr eaLnBrk="1" hangingPunct="1"/>
            <a:r>
              <a:rPr lang="en-US" altLang="en-US"/>
              <a:t>2. These deposits can break free and release clots into the bloodstream</a:t>
            </a:r>
          </a:p>
          <a:p>
            <a:endParaRPr lang="en-US" altLang="en-US"/>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A69AF2F3-1C48-420D-B7B6-2922472DC75D}"/>
              </a:ext>
            </a:extLst>
          </p:cNvPr>
          <p:cNvSpPr>
            <a:spLocks noGrp="1"/>
          </p:cNvSpPr>
          <p:nvPr>
            <p:ph type="title"/>
          </p:nvPr>
        </p:nvSpPr>
        <p:spPr/>
        <p:txBody>
          <a:bodyPr/>
          <a:lstStyle/>
          <a:p>
            <a:r>
              <a:rPr lang="en-US" altLang="en-US"/>
              <a:t>Detecting CVD</a:t>
            </a:r>
          </a:p>
        </p:txBody>
      </p:sp>
      <p:sp>
        <p:nvSpPr>
          <p:cNvPr id="20483" name="Content Placeholder 2">
            <a:extLst>
              <a:ext uri="{FF2B5EF4-FFF2-40B4-BE49-F238E27FC236}">
                <a16:creationId xmlns:a16="http://schemas.microsoft.com/office/drawing/2014/main" id="{4F4C7A90-2B1C-45E2-AC9E-008D4054ABB1}"/>
              </a:ext>
            </a:extLst>
          </p:cNvPr>
          <p:cNvSpPr>
            <a:spLocks noGrp="1"/>
          </p:cNvSpPr>
          <p:nvPr>
            <p:ph sz="quarter" idx="1"/>
          </p:nvPr>
        </p:nvSpPr>
        <p:spPr/>
        <p:txBody>
          <a:bodyPr/>
          <a:lstStyle/>
          <a:p>
            <a:pPr eaLnBrk="1" hangingPunct="1"/>
            <a:r>
              <a:rPr lang="en-US" altLang="en-US"/>
              <a:t>Check blood pressure</a:t>
            </a:r>
          </a:p>
          <a:p>
            <a:pPr eaLnBrk="1" hangingPunct="1"/>
            <a:r>
              <a:rPr lang="en-US" altLang="en-US"/>
              <a:t>Electrocardiogram</a:t>
            </a:r>
          </a:p>
          <a:p>
            <a:pPr eaLnBrk="1" hangingPunct="1"/>
            <a:r>
              <a:rPr lang="en-US" altLang="en-US"/>
              <a:t>Ultrasound</a:t>
            </a:r>
          </a:p>
          <a:p>
            <a:pPr eaLnBrk="1" hangingPunct="1"/>
            <a:r>
              <a:rPr lang="en-US" altLang="en-US"/>
              <a:t>Angiography </a:t>
            </a:r>
          </a:p>
          <a:p>
            <a:endParaRPr lang="en-US" altLang="en-US"/>
          </a:p>
        </p:txBody>
      </p:sp>
      <p:pic>
        <p:nvPicPr>
          <p:cNvPr id="20484" name="Picture 5" descr="290929-13529-7">
            <a:extLst>
              <a:ext uri="{FF2B5EF4-FFF2-40B4-BE49-F238E27FC236}">
                <a16:creationId xmlns:a16="http://schemas.microsoft.com/office/drawing/2014/main" id="{E7807138-D142-4EF4-B4E3-B384BCE77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667000"/>
            <a:ext cx="3962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647D2A75-FFE6-4261-B46B-4F92F61DCE30}"/>
              </a:ext>
            </a:extLst>
          </p:cNvPr>
          <p:cNvSpPr>
            <a:spLocks noGrp="1"/>
          </p:cNvSpPr>
          <p:nvPr>
            <p:ph type="title"/>
          </p:nvPr>
        </p:nvSpPr>
        <p:spPr/>
        <p:txBody>
          <a:bodyPr/>
          <a:lstStyle/>
          <a:p>
            <a:r>
              <a:rPr lang="en-US" altLang="en-US"/>
              <a:t>Treating CVD</a:t>
            </a:r>
          </a:p>
        </p:txBody>
      </p:sp>
      <p:sp>
        <p:nvSpPr>
          <p:cNvPr id="21507" name="Content Placeholder 2">
            <a:extLst>
              <a:ext uri="{FF2B5EF4-FFF2-40B4-BE49-F238E27FC236}">
                <a16:creationId xmlns:a16="http://schemas.microsoft.com/office/drawing/2014/main" id="{F52C9B9D-3630-4B81-9F1A-51F0E2AD0EB6}"/>
              </a:ext>
            </a:extLst>
          </p:cNvPr>
          <p:cNvSpPr>
            <a:spLocks noGrp="1"/>
          </p:cNvSpPr>
          <p:nvPr>
            <p:ph sz="quarter" idx="1"/>
          </p:nvPr>
        </p:nvSpPr>
        <p:spPr/>
        <p:txBody>
          <a:bodyPr/>
          <a:lstStyle/>
          <a:p>
            <a:pPr eaLnBrk="1" hangingPunct="1"/>
            <a:r>
              <a:rPr lang="en-US" altLang="en-US"/>
              <a:t>Diet and exercise</a:t>
            </a:r>
          </a:p>
          <a:p>
            <a:pPr eaLnBrk="1" hangingPunct="1"/>
            <a:r>
              <a:rPr lang="en-US" altLang="en-US"/>
              <a:t>Medicines</a:t>
            </a:r>
          </a:p>
          <a:p>
            <a:pPr eaLnBrk="1" hangingPunct="1"/>
            <a:r>
              <a:rPr lang="en-US" altLang="en-US"/>
              <a:t>Surgery</a:t>
            </a:r>
          </a:p>
          <a:p>
            <a:pPr eaLnBrk="1" hangingPunct="1"/>
            <a:r>
              <a:rPr lang="en-US" altLang="en-US"/>
              <a:t>Angioplasty</a:t>
            </a:r>
          </a:p>
          <a:p>
            <a:pPr eaLnBrk="1" hangingPunct="1"/>
            <a:r>
              <a:rPr lang="en-US" altLang="en-US"/>
              <a:t>Pacemakers</a:t>
            </a:r>
          </a:p>
          <a:p>
            <a:pPr eaLnBrk="1" hangingPunct="1"/>
            <a:r>
              <a:rPr lang="en-US" altLang="en-US"/>
              <a:t>Transplants</a:t>
            </a:r>
          </a:p>
          <a:p>
            <a:endParaRPr lang="en-US" altLang="en-US"/>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32A24DE6-B0A9-4373-B8A6-E4E6EB485384}"/>
              </a:ext>
            </a:extLst>
          </p:cNvPr>
          <p:cNvSpPr>
            <a:spLocks noGrp="1"/>
          </p:cNvSpPr>
          <p:nvPr>
            <p:ph type="title"/>
          </p:nvPr>
        </p:nvSpPr>
        <p:spPr>
          <a:xfrm>
            <a:off x="2438400" y="274638"/>
            <a:ext cx="7772400" cy="944562"/>
          </a:xfrm>
        </p:spPr>
        <p:txBody>
          <a:bodyPr/>
          <a:lstStyle/>
          <a:p>
            <a:r>
              <a:rPr lang="en-US" altLang="en-US"/>
              <a:t>Preventing CVD</a:t>
            </a:r>
          </a:p>
        </p:txBody>
      </p:sp>
      <p:sp>
        <p:nvSpPr>
          <p:cNvPr id="22531" name="Content Placeholder 2">
            <a:extLst>
              <a:ext uri="{FF2B5EF4-FFF2-40B4-BE49-F238E27FC236}">
                <a16:creationId xmlns:a16="http://schemas.microsoft.com/office/drawing/2014/main" id="{89045AE8-F77B-468D-A392-B26B022B0D79}"/>
              </a:ext>
            </a:extLst>
          </p:cNvPr>
          <p:cNvSpPr>
            <a:spLocks noGrp="1"/>
          </p:cNvSpPr>
          <p:nvPr>
            <p:ph sz="quarter" idx="1"/>
          </p:nvPr>
        </p:nvSpPr>
        <p:spPr>
          <a:xfrm>
            <a:off x="2438400" y="1447800"/>
            <a:ext cx="7772400" cy="4800600"/>
          </a:xfrm>
        </p:spPr>
        <p:txBody>
          <a:bodyPr/>
          <a:lstStyle/>
          <a:p>
            <a:pPr eaLnBrk="1" hangingPunct="1"/>
            <a:endParaRPr lang="en-US" altLang="en-US"/>
          </a:p>
          <a:p>
            <a:pPr eaLnBrk="1" hangingPunct="1"/>
            <a:endParaRPr lang="en-US" altLang="en-US"/>
          </a:p>
          <a:p>
            <a:pPr eaLnBrk="1" hangingPunct="1"/>
            <a:endParaRPr lang="en-US" altLang="en-US"/>
          </a:p>
          <a:p>
            <a:pPr eaLnBrk="1" hangingPunct="1"/>
            <a:r>
              <a:rPr lang="en-US" altLang="en-US"/>
              <a:t>Limit consumption of fat and salt</a:t>
            </a:r>
          </a:p>
          <a:p>
            <a:pPr eaLnBrk="1" hangingPunct="1"/>
            <a:r>
              <a:rPr lang="en-US" altLang="en-US"/>
              <a:t>Keep your weight near recommended levels</a:t>
            </a:r>
          </a:p>
          <a:p>
            <a:pPr eaLnBrk="1" hangingPunct="1"/>
            <a:r>
              <a:rPr lang="en-US" altLang="en-US"/>
              <a:t>Don’t smoke</a:t>
            </a:r>
          </a:p>
          <a:p>
            <a:pPr eaLnBrk="1" hangingPunct="1"/>
            <a:r>
              <a:rPr lang="en-US" altLang="en-US"/>
              <a:t>Get moving</a:t>
            </a:r>
          </a:p>
          <a:p>
            <a:pPr eaLnBrk="1" hangingPunct="1"/>
            <a:r>
              <a:rPr lang="en-US" altLang="en-US"/>
              <a:t>Have your blood pressure and cholesterol checked regularly</a:t>
            </a:r>
          </a:p>
          <a:p>
            <a:pPr eaLnBrk="1" hangingPunct="1"/>
            <a:r>
              <a:rPr lang="en-US" altLang="en-US"/>
              <a:t>Relax</a:t>
            </a:r>
          </a:p>
          <a:p>
            <a:endParaRPr lang="en-US" altLang="en-US"/>
          </a:p>
        </p:txBody>
      </p:sp>
      <p:pic>
        <p:nvPicPr>
          <p:cNvPr id="22532" name="Picture 5" descr="smoke">
            <a:extLst>
              <a:ext uri="{FF2B5EF4-FFF2-40B4-BE49-F238E27FC236}">
                <a16:creationId xmlns:a16="http://schemas.microsoft.com/office/drawing/2014/main" id="{E7383D04-AE04-4F24-BFCA-7ACC22D53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5181600"/>
            <a:ext cx="16764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7" descr="salt">
            <a:extLst>
              <a:ext uri="{FF2B5EF4-FFF2-40B4-BE49-F238E27FC236}">
                <a16:creationId xmlns:a16="http://schemas.microsoft.com/office/drawing/2014/main" id="{DDE8B486-E305-47D6-97FC-C677F78F1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219201"/>
            <a:ext cx="2286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19F54E21-BDB0-4057-B266-2013D5732389}"/>
              </a:ext>
            </a:extLst>
          </p:cNvPr>
          <p:cNvSpPr>
            <a:spLocks noGrp="1"/>
          </p:cNvSpPr>
          <p:nvPr>
            <p:ph type="title"/>
          </p:nvPr>
        </p:nvSpPr>
        <p:spPr>
          <a:xfrm>
            <a:off x="2438400" y="381000"/>
            <a:ext cx="7772400" cy="990600"/>
          </a:xfrm>
        </p:spPr>
        <p:txBody>
          <a:bodyPr/>
          <a:lstStyle/>
          <a:p>
            <a:pPr algn="ctr"/>
            <a:r>
              <a:rPr lang="en-US" altLang="en-US" sz="4400"/>
              <a:t/>
            </a:r>
            <a:br>
              <a:rPr lang="en-US" altLang="en-US" sz="4400"/>
            </a:br>
            <a:r>
              <a:rPr lang="en-US" altLang="en-US" sz="4400"/>
              <a:t/>
            </a:r>
            <a:br>
              <a:rPr lang="en-US" altLang="en-US" sz="4400"/>
            </a:br>
            <a:r>
              <a:rPr lang="en-US" altLang="en-US" sz="4400"/>
              <a:t>Cancer</a:t>
            </a:r>
          </a:p>
        </p:txBody>
      </p:sp>
      <p:pic>
        <p:nvPicPr>
          <p:cNvPr id="23555" name="Picture 7" descr="si1497">
            <a:extLst>
              <a:ext uri="{FF2B5EF4-FFF2-40B4-BE49-F238E27FC236}">
                <a16:creationId xmlns:a16="http://schemas.microsoft.com/office/drawing/2014/main" id="{751F8D08-0F48-4401-B7D6-7DB0F85A878E}"/>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873500" y="1752600"/>
            <a:ext cx="4965700" cy="3600450"/>
          </a:xfrm>
          <a:noFill/>
        </p:spPr>
      </p:pic>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4C2C50B8-604A-4C1E-A76E-408F0682EEF2}"/>
              </a:ext>
            </a:extLst>
          </p:cNvPr>
          <p:cNvSpPr>
            <a:spLocks noGrp="1"/>
          </p:cNvSpPr>
          <p:nvPr>
            <p:ph type="title"/>
          </p:nvPr>
        </p:nvSpPr>
        <p:spPr/>
        <p:txBody>
          <a:bodyPr/>
          <a:lstStyle/>
          <a:p>
            <a:pPr algn="ctr" eaLnBrk="1" hangingPunct="1"/>
            <a:r>
              <a:rPr lang="en-US" altLang="en-US"/>
              <a:t>Cancer</a:t>
            </a:r>
          </a:p>
        </p:txBody>
      </p:sp>
      <p:sp>
        <p:nvSpPr>
          <p:cNvPr id="24579" name="Content Placeholder 2">
            <a:extLst>
              <a:ext uri="{FF2B5EF4-FFF2-40B4-BE49-F238E27FC236}">
                <a16:creationId xmlns:a16="http://schemas.microsoft.com/office/drawing/2014/main" id="{2EAA06B5-2FFC-4372-A8D3-A5BD5E862E4B}"/>
              </a:ext>
            </a:extLst>
          </p:cNvPr>
          <p:cNvSpPr>
            <a:spLocks noGrp="1"/>
          </p:cNvSpPr>
          <p:nvPr>
            <p:ph sz="quarter" idx="1"/>
          </p:nvPr>
        </p:nvSpPr>
        <p:spPr/>
        <p:txBody>
          <a:bodyPr/>
          <a:lstStyle/>
          <a:p>
            <a:pPr eaLnBrk="1" hangingPunct="1">
              <a:buClr>
                <a:srgbClr val="A28E6A"/>
              </a:buClr>
            </a:pPr>
            <a:r>
              <a:rPr lang="en-US" altLang="en-US"/>
              <a:t>A disease caused by uncontrolled cell growth.</a:t>
            </a:r>
          </a:p>
          <a:p>
            <a:pPr eaLnBrk="1" hangingPunct="1">
              <a:buClr>
                <a:srgbClr val="A28E6A"/>
              </a:buClr>
            </a:pPr>
            <a:r>
              <a:rPr lang="en-US" altLang="en-US"/>
              <a:t>Tumors are a mass of uncontrolled growing cells that form a clump.</a:t>
            </a:r>
          </a:p>
          <a:p>
            <a:pPr marL="639763" lvl="1" indent="-246063" eaLnBrk="1" hangingPunct="1"/>
            <a:r>
              <a:rPr lang="en-US" altLang="en-US" sz="2800" b="1">
                <a:solidFill>
                  <a:srgbClr val="742217"/>
                </a:solidFill>
              </a:rPr>
              <a:t>Malignant- invade and destroys healthy tissue</a:t>
            </a:r>
          </a:p>
          <a:p>
            <a:pPr marL="639763" lvl="1" indent="-246063" eaLnBrk="1" hangingPunct="1"/>
            <a:r>
              <a:rPr lang="en-US" altLang="en-US" sz="2800" b="1">
                <a:solidFill>
                  <a:srgbClr val="742217"/>
                </a:solidFill>
              </a:rPr>
              <a:t>Benign- harmless cell mass</a:t>
            </a:r>
          </a:p>
          <a:p>
            <a:pPr eaLnBrk="1" hangingPunct="1">
              <a:buClr>
                <a:srgbClr val="A28E6A"/>
              </a:buClr>
              <a:buFont typeface="Wingdings 2" panose="05020102010507070707" pitchFamily="18" charset="2"/>
              <a:buNone/>
            </a:pPr>
            <a:endParaRPr lang="en-US" altLang="en-US" sz="2800" b="1">
              <a:solidFill>
                <a:srgbClr val="742217"/>
              </a:solidFill>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E9DB47C7-208F-4C0C-92B8-234E18BA323F}"/>
              </a:ext>
            </a:extLst>
          </p:cNvPr>
          <p:cNvSpPr>
            <a:spLocks noGrp="1"/>
          </p:cNvSpPr>
          <p:nvPr>
            <p:ph type="title"/>
          </p:nvPr>
        </p:nvSpPr>
        <p:spPr/>
        <p:txBody>
          <a:bodyPr/>
          <a:lstStyle/>
          <a:p>
            <a:r>
              <a:rPr lang="en-US" altLang="en-US"/>
              <a:t>Causes of cancer</a:t>
            </a:r>
          </a:p>
        </p:txBody>
      </p:sp>
      <p:sp>
        <p:nvSpPr>
          <p:cNvPr id="3" name="Content Placeholder 2">
            <a:extLst>
              <a:ext uri="{FF2B5EF4-FFF2-40B4-BE49-F238E27FC236}">
                <a16:creationId xmlns:a16="http://schemas.microsoft.com/office/drawing/2014/main" id="{EE5CD00A-E066-401B-9F4D-F37B2F667ECC}"/>
              </a:ext>
            </a:extLst>
          </p:cNvPr>
          <p:cNvSpPr>
            <a:spLocks noGrp="1"/>
          </p:cNvSpPr>
          <p:nvPr>
            <p:ph sz="quarter" idx="1"/>
          </p:nvPr>
        </p:nvSpPr>
        <p:spPr/>
        <p:txBody>
          <a:bodyPr/>
          <a:lstStyle/>
          <a:p>
            <a:pPr eaLnBrk="1" hangingPunct="1">
              <a:defRPr/>
            </a:pPr>
            <a:r>
              <a:rPr lang="en-US" b="1" dirty="0"/>
              <a:t>Genetics</a:t>
            </a:r>
          </a:p>
          <a:p>
            <a:pPr lvl="2" eaLnBrk="1" hangingPunct="1">
              <a:defRPr/>
            </a:pPr>
            <a:r>
              <a:rPr lang="en-US" dirty="0"/>
              <a:t>Carcinogens:</a:t>
            </a:r>
            <a:endParaRPr lang="en-US" b="1" dirty="0">
              <a:solidFill>
                <a:srgbClr val="742217"/>
              </a:solidFill>
            </a:endParaRPr>
          </a:p>
          <a:p>
            <a:pPr marL="365125" indent="-246063" eaLnBrk="1" hangingPunct="1">
              <a:defRPr/>
            </a:pPr>
            <a:r>
              <a:rPr lang="en-US" sz="3000" b="1" dirty="0">
                <a:solidFill>
                  <a:srgbClr val="742217"/>
                </a:solidFill>
              </a:rPr>
              <a:t>Certain viruses (HPV)</a:t>
            </a:r>
          </a:p>
          <a:p>
            <a:pPr marL="365125" indent="-246063" eaLnBrk="1" hangingPunct="1">
              <a:defRPr/>
            </a:pPr>
            <a:r>
              <a:rPr lang="en-US" sz="3000" dirty="0"/>
              <a:t>Radioactive and ultraviolet radiation</a:t>
            </a:r>
            <a:r>
              <a:rPr lang="en-US" sz="3000" b="1" dirty="0">
                <a:solidFill>
                  <a:srgbClr val="742217"/>
                </a:solidFill>
              </a:rPr>
              <a:t>(UV rays, X-rays)</a:t>
            </a:r>
          </a:p>
          <a:p>
            <a:pPr marL="365125" indent="-246063" eaLnBrk="1" hangingPunct="1">
              <a:defRPr/>
            </a:pPr>
            <a:r>
              <a:rPr lang="en-US" sz="3000" b="1" dirty="0">
                <a:solidFill>
                  <a:srgbClr val="742217"/>
                </a:solidFill>
              </a:rPr>
              <a:t>Chemicals in tobacco smoke</a:t>
            </a:r>
          </a:p>
          <a:p>
            <a:pPr marL="365125" indent="-246063" eaLnBrk="1" hangingPunct="1">
              <a:defRPr/>
            </a:pPr>
            <a:r>
              <a:rPr lang="en-US" sz="3000" b="1" dirty="0">
                <a:solidFill>
                  <a:srgbClr val="742217"/>
                </a:solidFill>
              </a:rPr>
              <a:t>Asbestos (material used in fireproofing)</a:t>
            </a:r>
          </a:p>
          <a:p>
            <a:pPr marL="365125" indent="-246063" eaLnBrk="1" hangingPunct="1">
              <a:defRPr/>
            </a:pPr>
            <a:endParaRPr lang="en-US" sz="3000" b="1" dirty="0">
              <a:solidFill>
                <a:srgbClr val="742217"/>
              </a:solidFill>
            </a:endParaRPr>
          </a:p>
          <a:p>
            <a:pPr marL="639763" lvl="1" indent="-246063" eaLnBrk="1" hangingPunct="1">
              <a:defRPr/>
            </a:pPr>
            <a:endParaRPr lang="en-US" dirty="0"/>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1601B14D-610A-436C-B833-84FB0311DE70}"/>
              </a:ext>
            </a:extLst>
          </p:cNvPr>
          <p:cNvSpPr>
            <a:spLocks noGrp="1"/>
          </p:cNvSpPr>
          <p:nvPr>
            <p:ph type="title"/>
          </p:nvPr>
        </p:nvSpPr>
        <p:spPr>
          <a:xfrm>
            <a:off x="2438400" y="274638"/>
            <a:ext cx="7772400" cy="1325562"/>
          </a:xfrm>
        </p:spPr>
        <p:txBody>
          <a:bodyPr/>
          <a:lstStyle/>
          <a:p>
            <a:pPr algn="ctr" eaLnBrk="1" hangingPunct="1"/>
            <a:r>
              <a:rPr lang="en-US" altLang="en-US"/>
              <a:t>Types of Cancer</a:t>
            </a:r>
            <a:br>
              <a:rPr lang="en-US" altLang="en-US"/>
            </a:br>
            <a:endParaRPr lang="en-US" altLang="en-US"/>
          </a:p>
        </p:txBody>
      </p:sp>
      <p:sp>
        <p:nvSpPr>
          <p:cNvPr id="26627" name="Content Placeholder 2">
            <a:extLst>
              <a:ext uri="{FF2B5EF4-FFF2-40B4-BE49-F238E27FC236}">
                <a16:creationId xmlns:a16="http://schemas.microsoft.com/office/drawing/2014/main" id="{5A80A6D5-79F6-47B6-A80E-FEFA781C3391}"/>
              </a:ext>
            </a:extLst>
          </p:cNvPr>
          <p:cNvSpPr>
            <a:spLocks noGrp="1"/>
          </p:cNvSpPr>
          <p:nvPr>
            <p:ph sz="quarter" idx="1"/>
          </p:nvPr>
        </p:nvSpPr>
        <p:spPr>
          <a:xfrm>
            <a:off x="2438401" y="1447800"/>
            <a:ext cx="3749675" cy="4572000"/>
          </a:xfrm>
        </p:spPr>
        <p:txBody>
          <a:bodyPr/>
          <a:lstStyle/>
          <a:p>
            <a:pPr lvl="1" eaLnBrk="1" hangingPunct="1"/>
            <a:endParaRPr lang="en-US" altLang="en-US" sz="3600"/>
          </a:p>
          <a:p>
            <a:pPr lvl="1" eaLnBrk="1" hangingPunct="1"/>
            <a:r>
              <a:rPr lang="en-US" altLang="en-US" sz="3600"/>
              <a:t>Breast</a:t>
            </a:r>
          </a:p>
          <a:p>
            <a:pPr lvl="1" eaLnBrk="1" hangingPunct="1"/>
            <a:r>
              <a:rPr lang="en-US" altLang="en-US" sz="3600"/>
              <a:t>Prostate</a:t>
            </a:r>
          </a:p>
          <a:p>
            <a:pPr lvl="1" eaLnBrk="1" hangingPunct="1"/>
            <a:r>
              <a:rPr lang="en-US" altLang="en-US" sz="3600"/>
              <a:t>Respiratory</a:t>
            </a:r>
          </a:p>
          <a:p>
            <a:pPr lvl="1" eaLnBrk="1" hangingPunct="1"/>
            <a:r>
              <a:rPr lang="en-US" altLang="en-US" sz="3600"/>
              <a:t>Colon</a:t>
            </a:r>
          </a:p>
          <a:p>
            <a:pPr lvl="1" eaLnBrk="1" hangingPunct="1"/>
            <a:r>
              <a:rPr lang="en-US" altLang="en-US" sz="3600"/>
              <a:t>Urinary</a:t>
            </a:r>
          </a:p>
          <a:p>
            <a:pPr lvl="1" eaLnBrk="1" hangingPunct="1">
              <a:buFont typeface="Wingdings 2" panose="05020102010507070707" pitchFamily="18" charset="2"/>
              <a:buNone/>
            </a:pPr>
            <a:endParaRPr lang="en-US" altLang="en-US"/>
          </a:p>
        </p:txBody>
      </p:sp>
      <p:sp>
        <p:nvSpPr>
          <p:cNvPr id="26628" name="Content Placeholder 3">
            <a:extLst>
              <a:ext uri="{FF2B5EF4-FFF2-40B4-BE49-F238E27FC236}">
                <a16:creationId xmlns:a16="http://schemas.microsoft.com/office/drawing/2014/main" id="{5D5A1C9A-E593-4657-AFBA-373936539928}"/>
              </a:ext>
            </a:extLst>
          </p:cNvPr>
          <p:cNvSpPr>
            <a:spLocks noGrp="1"/>
          </p:cNvSpPr>
          <p:nvPr>
            <p:ph sz="quarter" idx="2"/>
          </p:nvPr>
        </p:nvSpPr>
        <p:spPr>
          <a:xfrm>
            <a:off x="6457951" y="1447800"/>
            <a:ext cx="3749675" cy="4572000"/>
          </a:xfrm>
        </p:spPr>
        <p:txBody>
          <a:bodyPr/>
          <a:lstStyle/>
          <a:p>
            <a:pPr lvl="1" eaLnBrk="1" hangingPunct="1"/>
            <a:endParaRPr lang="en-US" altLang="en-US" sz="3600"/>
          </a:p>
          <a:p>
            <a:pPr lvl="1" eaLnBrk="1" hangingPunct="1"/>
            <a:r>
              <a:rPr lang="en-US" altLang="en-US" sz="3600"/>
              <a:t>Lymphoma</a:t>
            </a:r>
          </a:p>
          <a:p>
            <a:pPr lvl="1" eaLnBrk="1" hangingPunct="1"/>
            <a:r>
              <a:rPr lang="en-US" altLang="en-US" sz="3600"/>
              <a:t>Skin</a:t>
            </a:r>
          </a:p>
          <a:p>
            <a:pPr lvl="1" eaLnBrk="1" hangingPunct="1"/>
            <a:r>
              <a:rPr lang="en-US" altLang="en-US" sz="3600"/>
              <a:t>Leukemia</a:t>
            </a:r>
          </a:p>
          <a:p>
            <a:pPr lvl="1" eaLnBrk="1" hangingPunct="1"/>
            <a:r>
              <a:rPr lang="en-US" altLang="en-US" sz="3600"/>
              <a:t>Ovarian</a:t>
            </a:r>
          </a:p>
          <a:p>
            <a:pPr lvl="1" eaLnBrk="1" hangingPunct="1"/>
            <a:r>
              <a:rPr lang="en-US" altLang="en-US" sz="3600"/>
              <a:t>Cervical</a:t>
            </a:r>
          </a:p>
          <a:p>
            <a:pPr eaLnBrk="1" hangingPunct="1"/>
            <a:endParaRPr lang="en-US" altLang="en-US"/>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ADD1C9F7-78C0-414D-BA2D-75818A299433}"/>
              </a:ext>
            </a:extLst>
          </p:cNvPr>
          <p:cNvSpPr>
            <a:spLocks noGrp="1"/>
          </p:cNvSpPr>
          <p:nvPr>
            <p:ph type="title"/>
          </p:nvPr>
        </p:nvSpPr>
        <p:spPr/>
        <p:txBody>
          <a:bodyPr/>
          <a:lstStyle/>
          <a:p>
            <a:pPr eaLnBrk="1" hangingPunct="1"/>
            <a:r>
              <a:rPr lang="en-US" altLang="en-US"/>
              <a:t>Detecting			Treating</a:t>
            </a:r>
          </a:p>
        </p:txBody>
      </p:sp>
      <p:sp>
        <p:nvSpPr>
          <p:cNvPr id="3" name="Content Placeholder 2">
            <a:extLst>
              <a:ext uri="{FF2B5EF4-FFF2-40B4-BE49-F238E27FC236}">
                <a16:creationId xmlns:a16="http://schemas.microsoft.com/office/drawing/2014/main" id="{1AD62F4D-1281-4160-8351-E93F89C480AC}"/>
              </a:ext>
            </a:extLst>
          </p:cNvPr>
          <p:cNvSpPr>
            <a:spLocks noGrp="1"/>
          </p:cNvSpPr>
          <p:nvPr>
            <p:ph sz="quarter" idx="1"/>
          </p:nvPr>
        </p:nvSpPr>
        <p:spPr>
          <a:xfrm>
            <a:off x="2438401" y="1447800"/>
            <a:ext cx="3749675" cy="4572000"/>
          </a:xfrm>
        </p:spPr>
        <p:txBody>
          <a:bodyPr>
            <a:normAutofit/>
          </a:bodyPr>
          <a:lstStyle/>
          <a:p>
            <a:pPr marL="274320" indent="-274320" eaLnBrk="1" fontAlgn="auto" hangingPunct="1">
              <a:spcBef>
                <a:spcPts val="580"/>
              </a:spcBef>
              <a:spcAft>
                <a:spcPts val="0"/>
              </a:spcAft>
              <a:buClr>
                <a:schemeClr val="accent3"/>
              </a:buClr>
              <a:buFont typeface="Wingdings 2"/>
              <a:buChar char=""/>
              <a:defRPr/>
            </a:pPr>
            <a:endParaRPr lang="en-US" sz="3600" dirty="0"/>
          </a:p>
          <a:p>
            <a:pPr marL="274320" indent="-274320" eaLnBrk="1" fontAlgn="auto" hangingPunct="1">
              <a:spcBef>
                <a:spcPts val="580"/>
              </a:spcBef>
              <a:spcAft>
                <a:spcPts val="0"/>
              </a:spcAft>
              <a:buClr>
                <a:schemeClr val="accent3"/>
              </a:buClr>
              <a:buFont typeface="Wingdings 2"/>
              <a:buChar char=""/>
              <a:defRPr/>
            </a:pPr>
            <a:r>
              <a:rPr lang="en-US" sz="3600" dirty="0"/>
              <a:t>Self-exam</a:t>
            </a:r>
          </a:p>
          <a:p>
            <a:pPr marL="274320" indent="-274320" eaLnBrk="1" fontAlgn="auto" hangingPunct="1">
              <a:spcBef>
                <a:spcPts val="580"/>
              </a:spcBef>
              <a:spcAft>
                <a:spcPts val="0"/>
              </a:spcAft>
              <a:buClr>
                <a:schemeClr val="accent3"/>
              </a:buClr>
              <a:buFont typeface="Wingdings 2"/>
              <a:buChar char=""/>
              <a:defRPr/>
            </a:pPr>
            <a:r>
              <a:rPr lang="en-US" sz="3600" dirty="0"/>
              <a:t>Biopsy</a:t>
            </a:r>
          </a:p>
          <a:p>
            <a:pPr marL="274320" indent="-274320" eaLnBrk="1" fontAlgn="auto" hangingPunct="1">
              <a:spcBef>
                <a:spcPts val="580"/>
              </a:spcBef>
              <a:spcAft>
                <a:spcPts val="0"/>
              </a:spcAft>
              <a:buClr>
                <a:schemeClr val="accent3"/>
              </a:buClr>
              <a:buFont typeface="Wingdings 2"/>
              <a:buChar char=""/>
              <a:defRPr/>
            </a:pPr>
            <a:r>
              <a:rPr lang="en-US" sz="3600" dirty="0"/>
              <a:t>X rays</a:t>
            </a:r>
          </a:p>
          <a:p>
            <a:pPr marL="274320" indent="-274320" eaLnBrk="1" fontAlgn="auto" hangingPunct="1">
              <a:spcBef>
                <a:spcPts val="580"/>
              </a:spcBef>
              <a:spcAft>
                <a:spcPts val="0"/>
              </a:spcAft>
              <a:buClr>
                <a:schemeClr val="accent3"/>
              </a:buClr>
              <a:buFont typeface="Wingdings 2"/>
              <a:buChar char=""/>
              <a:defRPr/>
            </a:pPr>
            <a:r>
              <a:rPr lang="en-US" sz="3600" dirty="0"/>
              <a:t>MRI</a:t>
            </a:r>
          </a:p>
          <a:p>
            <a:pPr marL="274320" indent="-274320" eaLnBrk="1" fontAlgn="auto" hangingPunct="1">
              <a:spcBef>
                <a:spcPts val="580"/>
              </a:spcBef>
              <a:spcAft>
                <a:spcPts val="0"/>
              </a:spcAft>
              <a:buClr>
                <a:schemeClr val="accent3"/>
              </a:buClr>
              <a:buFont typeface="Wingdings 2"/>
              <a:buChar char=""/>
              <a:defRPr/>
            </a:pPr>
            <a:r>
              <a:rPr lang="en-US" sz="3600" dirty="0"/>
              <a:t>Blood and DNA tests</a:t>
            </a:r>
          </a:p>
        </p:txBody>
      </p:sp>
      <p:sp>
        <p:nvSpPr>
          <p:cNvPr id="27652" name="Content Placeholder 3">
            <a:extLst>
              <a:ext uri="{FF2B5EF4-FFF2-40B4-BE49-F238E27FC236}">
                <a16:creationId xmlns:a16="http://schemas.microsoft.com/office/drawing/2014/main" id="{36DF996A-8584-4B50-AF51-FC5EB81FD834}"/>
              </a:ext>
            </a:extLst>
          </p:cNvPr>
          <p:cNvSpPr>
            <a:spLocks noGrp="1"/>
          </p:cNvSpPr>
          <p:nvPr>
            <p:ph sz="quarter" idx="2"/>
          </p:nvPr>
        </p:nvSpPr>
        <p:spPr>
          <a:xfrm>
            <a:off x="6457951" y="1447800"/>
            <a:ext cx="3749675" cy="4572000"/>
          </a:xfrm>
        </p:spPr>
        <p:txBody>
          <a:bodyPr/>
          <a:lstStyle/>
          <a:p>
            <a:pPr eaLnBrk="1" hangingPunct="1"/>
            <a:r>
              <a:rPr lang="en-US" altLang="en-US" sz="2800" b="1">
                <a:solidFill>
                  <a:schemeClr val="hlink"/>
                </a:solidFill>
              </a:rPr>
              <a:t>Surgery-remove tissue</a:t>
            </a:r>
          </a:p>
          <a:p>
            <a:pPr eaLnBrk="1" hangingPunct="1"/>
            <a:r>
              <a:rPr lang="en-US" altLang="en-US" sz="2800" b="1">
                <a:solidFill>
                  <a:schemeClr val="hlink"/>
                </a:solidFill>
              </a:rPr>
              <a:t>Chemotherapy-use of drugs</a:t>
            </a:r>
          </a:p>
          <a:p>
            <a:pPr eaLnBrk="1" hangingPunct="1"/>
            <a:r>
              <a:rPr lang="en-US" altLang="en-US" sz="2800" b="1">
                <a:solidFill>
                  <a:schemeClr val="hlink"/>
                </a:solidFill>
              </a:rPr>
              <a:t>Radiation therapy-beam of radiation to fire at a tumor</a:t>
            </a:r>
          </a:p>
          <a:p>
            <a:pPr eaLnBrk="1" hangingPunct="1"/>
            <a:r>
              <a:rPr lang="en-US" altLang="en-US" sz="2800" b="1">
                <a:solidFill>
                  <a:schemeClr val="hlink"/>
                </a:solidFill>
              </a:rPr>
              <a:t>Combination- use any or all treatments</a:t>
            </a: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4">
            <a:extLst>
              <a:ext uri="{FF2B5EF4-FFF2-40B4-BE49-F238E27FC236}">
                <a16:creationId xmlns:a16="http://schemas.microsoft.com/office/drawing/2014/main" id="{C3D6FDE9-2EC9-4E05-99E8-6184C0DA356F}"/>
              </a:ext>
            </a:extLst>
          </p:cNvPr>
          <p:cNvSpPr>
            <a:spLocks noGrp="1"/>
          </p:cNvSpPr>
          <p:nvPr>
            <p:ph type="title"/>
          </p:nvPr>
        </p:nvSpPr>
        <p:spPr/>
        <p:txBody>
          <a:bodyPr/>
          <a:lstStyle/>
          <a:p>
            <a:pPr algn="ctr" eaLnBrk="1" hangingPunct="1"/>
            <a:r>
              <a:rPr lang="en-US" altLang="en-US" sz="4800"/>
              <a:t>Preventing Cancer</a:t>
            </a:r>
          </a:p>
        </p:txBody>
      </p:sp>
      <p:sp>
        <p:nvSpPr>
          <p:cNvPr id="28675" name="Content Placeholder 5">
            <a:extLst>
              <a:ext uri="{FF2B5EF4-FFF2-40B4-BE49-F238E27FC236}">
                <a16:creationId xmlns:a16="http://schemas.microsoft.com/office/drawing/2014/main" id="{6EBB7009-EA64-4683-9D09-BB4DEBD04A84}"/>
              </a:ext>
            </a:extLst>
          </p:cNvPr>
          <p:cNvSpPr>
            <a:spLocks noGrp="1"/>
          </p:cNvSpPr>
          <p:nvPr>
            <p:ph sz="quarter" idx="1"/>
          </p:nvPr>
        </p:nvSpPr>
        <p:spPr>
          <a:xfrm>
            <a:off x="2438400" y="1447800"/>
            <a:ext cx="7772400" cy="4724400"/>
          </a:xfrm>
        </p:spPr>
        <p:txBody>
          <a:bodyPr/>
          <a:lstStyle/>
          <a:p>
            <a:pPr eaLnBrk="1" hangingPunct="1">
              <a:buClr>
                <a:srgbClr val="A28E6A"/>
              </a:buClr>
            </a:pPr>
            <a:endParaRPr lang="en-US" altLang="en-US" sz="3600" b="1">
              <a:solidFill>
                <a:srgbClr val="742217"/>
              </a:solidFill>
            </a:endParaRPr>
          </a:p>
          <a:p>
            <a:pPr eaLnBrk="1" hangingPunct="1">
              <a:buClr>
                <a:srgbClr val="A28E6A"/>
              </a:buClr>
            </a:pPr>
            <a:r>
              <a:rPr lang="en-US" altLang="en-US" sz="3600" b="1">
                <a:solidFill>
                  <a:srgbClr val="742217"/>
                </a:solidFill>
              </a:rPr>
              <a:t>Don’t’ smoke!</a:t>
            </a:r>
          </a:p>
          <a:p>
            <a:pPr eaLnBrk="1" hangingPunct="1">
              <a:buClr>
                <a:srgbClr val="A28E6A"/>
              </a:buClr>
            </a:pPr>
            <a:r>
              <a:rPr lang="en-US" altLang="en-US" sz="3600" b="1">
                <a:solidFill>
                  <a:srgbClr val="742217"/>
                </a:solidFill>
              </a:rPr>
              <a:t>Wear sunscreen; stay away from tanning beds</a:t>
            </a:r>
          </a:p>
          <a:p>
            <a:pPr eaLnBrk="1" hangingPunct="1">
              <a:buClr>
                <a:srgbClr val="A28E6A"/>
              </a:buClr>
            </a:pPr>
            <a:r>
              <a:rPr lang="en-US" altLang="en-US" sz="3600" b="1">
                <a:solidFill>
                  <a:srgbClr val="742217"/>
                </a:solidFill>
              </a:rPr>
              <a:t>Eat your veggies and cut the fat</a:t>
            </a:r>
          </a:p>
          <a:p>
            <a:pPr eaLnBrk="1" hangingPunct="1">
              <a:buClr>
                <a:srgbClr val="A28E6A"/>
              </a:buClr>
            </a:pPr>
            <a:r>
              <a:rPr lang="en-US" altLang="en-US" sz="3600" b="1">
                <a:solidFill>
                  <a:srgbClr val="742217"/>
                </a:solidFill>
              </a:rPr>
              <a:t>Stay active</a:t>
            </a:r>
          </a:p>
          <a:p>
            <a:pPr eaLnBrk="1" hangingPunct="1">
              <a:buClr>
                <a:srgbClr val="A28E6A"/>
              </a:buClr>
            </a:pPr>
            <a:r>
              <a:rPr lang="en-US" altLang="en-US" sz="3600" b="1">
                <a:solidFill>
                  <a:srgbClr val="742217"/>
                </a:solidFill>
              </a:rPr>
              <a:t>Get regular medical check-ups</a:t>
            </a:r>
          </a:p>
          <a:p>
            <a:pPr eaLnBrk="1" hangingPunct="1">
              <a:buClr>
                <a:srgbClr val="A28E6A"/>
              </a:buClr>
            </a:pPr>
            <a:endParaRPr lang="en-US" altLang="en-US" sz="3600" b="1">
              <a:solidFill>
                <a:srgbClr val="742217"/>
              </a:solidFill>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678616FA-9473-480C-A555-1CEF984B62C8}"/>
              </a:ext>
            </a:extLst>
          </p:cNvPr>
          <p:cNvSpPr>
            <a:spLocks noGrp="1"/>
          </p:cNvSpPr>
          <p:nvPr>
            <p:ph type="title"/>
          </p:nvPr>
        </p:nvSpPr>
        <p:spPr/>
        <p:txBody>
          <a:bodyPr/>
          <a:lstStyle/>
          <a:p>
            <a:pPr algn="ctr" eaLnBrk="1" hangingPunct="1"/>
            <a:r>
              <a:rPr lang="en-US" altLang="en-US" sz="4800"/>
              <a:t>Diabetes</a:t>
            </a:r>
          </a:p>
        </p:txBody>
      </p:sp>
      <p:sp>
        <p:nvSpPr>
          <p:cNvPr id="29699" name="Content Placeholder 2">
            <a:extLst>
              <a:ext uri="{FF2B5EF4-FFF2-40B4-BE49-F238E27FC236}">
                <a16:creationId xmlns:a16="http://schemas.microsoft.com/office/drawing/2014/main" id="{4E5B8E0A-3AD1-49FB-932F-80D04C039129}"/>
              </a:ext>
            </a:extLst>
          </p:cNvPr>
          <p:cNvSpPr>
            <a:spLocks noGrp="1"/>
          </p:cNvSpPr>
          <p:nvPr>
            <p:ph sz="quarter" idx="1"/>
          </p:nvPr>
        </p:nvSpPr>
        <p:spPr/>
        <p:txBody>
          <a:bodyPr/>
          <a:lstStyle/>
          <a:p>
            <a:pPr eaLnBrk="1" hangingPunct="1">
              <a:lnSpc>
                <a:spcPct val="90000"/>
              </a:lnSpc>
            </a:pPr>
            <a:endParaRPr lang="en-US" altLang="en-US" sz="2400"/>
          </a:p>
          <a:p>
            <a:pPr eaLnBrk="1" hangingPunct="1">
              <a:lnSpc>
                <a:spcPct val="90000"/>
              </a:lnSpc>
            </a:pPr>
            <a:r>
              <a:rPr lang="en-US" altLang="en-US" sz="3000"/>
              <a:t>A disorder in which cells are unable to obtain glucose from the blood such that high blood-glucose levels result.</a:t>
            </a:r>
          </a:p>
          <a:p>
            <a:pPr eaLnBrk="1" hangingPunct="1">
              <a:lnSpc>
                <a:spcPct val="90000"/>
              </a:lnSpc>
            </a:pPr>
            <a:endParaRPr lang="en-US" altLang="en-US" sz="3000" b="1" u="sng"/>
          </a:p>
          <a:p>
            <a:pPr eaLnBrk="1" hangingPunct="1">
              <a:lnSpc>
                <a:spcPct val="90000"/>
              </a:lnSpc>
            </a:pPr>
            <a:r>
              <a:rPr lang="en-US" altLang="en-US" sz="3000" b="1" u="sng"/>
              <a:t>Type 1- body’s inability to produce insulin (born with)</a:t>
            </a:r>
          </a:p>
          <a:p>
            <a:pPr eaLnBrk="1" hangingPunct="1">
              <a:lnSpc>
                <a:spcPct val="90000"/>
              </a:lnSpc>
              <a:buFont typeface="Wingdings 2" panose="05020102010507070707" pitchFamily="18" charset="2"/>
              <a:buNone/>
            </a:pPr>
            <a:endParaRPr lang="en-US" altLang="en-US" sz="3000" b="1" u="sng"/>
          </a:p>
          <a:p>
            <a:pPr eaLnBrk="1" hangingPunct="1">
              <a:lnSpc>
                <a:spcPct val="90000"/>
              </a:lnSpc>
            </a:pPr>
            <a:r>
              <a:rPr lang="en-US" altLang="en-US" sz="3000" b="1" u="sng"/>
              <a:t>Type 2- body’s inability to respond to insulin (develop)</a:t>
            </a:r>
          </a:p>
          <a:p>
            <a:pPr eaLnBrk="1" hangingPunct="1">
              <a:lnSpc>
                <a:spcPct val="90000"/>
              </a:lnSpc>
            </a:pPr>
            <a:endParaRPr lang="en-US" altLang="en-US" sz="2400" b="1" u="sng"/>
          </a:p>
          <a:p>
            <a:pPr eaLnBrk="1" hangingPunct="1">
              <a:lnSpc>
                <a:spcPct val="90000"/>
              </a:lnSpc>
            </a:pPr>
            <a:endParaRPr lang="en-US" altLang="en-US" sz="2400" b="1" u="sng"/>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6961264B-6D59-4260-B71D-31C3DCA9048A}"/>
              </a:ext>
            </a:extLst>
          </p:cNvPr>
          <p:cNvSpPr>
            <a:spLocks noGrp="1"/>
          </p:cNvSpPr>
          <p:nvPr>
            <p:ph type="title"/>
          </p:nvPr>
        </p:nvSpPr>
        <p:spPr/>
        <p:txBody>
          <a:bodyPr/>
          <a:lstStyle/>
          <a:p>
            <a:pPr algn="ctr" eaLnBrk="1" hangingPunct="1"/>
            <a:r>
              <a:rPr lang="en-US" altLang="en-US" b="1"/>
              <a:t>Hereditary Diseases</a:t>
            </a:r>
          </a:p>
        </p:txBody>
      </p:sp>
      <p:sp>
        <p:nvSpPr>
          <p:cNvPr id="30723" name="Content Placeholder 2">
            <a:extLst>
              <a:ext uri="{FF2B5EF4-FFF2-40B4-BE49-F238E27FC236}">
                <a16:creationId xmlns:a16="http://schemas.microsoft.com/office/drawing/2014/main" id="{FD4FD0F9-04DB-4A4B-8ED0-CD236518DDB5}"/>
              </a:ext>
            </a:extLst>
          </p:cNvPr>
          <p:cNvSpPr>
            <a:spLocks noGrp="1"/>
          </p:cNvSpPr>
          <p:nvPr>
            <p:ph sz="quarter" idx="1"/>
          </p:nvPr>
        </p:nvSpPr>
        <p:spPr/>
        <p:txBody>
          <a:bodyPr/>
          <a:lstStyle/>
          <a:p>
            <a:pPr eaLnBrk="1" hangingPunct="1"/>
            <a:endParaRPr lang="en-US" altLang="en-US" sz="2800" b="1"/>
          </a:p>
          <a:p>
            <a:pPr eaLnBrk="1" hangingPunct="1"/>
            <a:r>
              <a:rPr lang="en-US" altLang="en-US" sz="2800" b="1"/>
              <a:t>Diseases caused by abnormal chromosomes or by defective genes inherited from one or both parents.</a:t>
            </a:r>
          </a:p>
          <a:p>
            <a:pPr eaLnBrk="1" hangingPunct="1"/>
            <a:endParaRPr lang="en-US" altLang="en-US" sz="2800" b="1"/>
          </a:p>
          <a:p>
            <a:pPr eaLnBrk="1" hangingPunct="1"/>
            <a:r>
              <a:rPr lang="en-US" altLang="en-US" sz="2800" b="1"/>
              <a:t>Single-cell diseases- when one gene out of 30,000 to 40,000 genes has a harmful mutation.</a:t>
            </a:r>
          </a:p>
          <a:p>
            <a:pPr eaLnBrk="1" hangingPunct="1"/>
            <a:endParaRPr lang="en-US" altLang="en-US" sz="2800" b="1"/>
          </a:p>
          <a:p>
            <a:pPr eaLnBrk="1" hangingPunct="1"/>
            <a:r>
              <a:rPr lang="en-US" altLang="en-US" sz="2800" b="1"/>
              <a:t>Complex Diseases- More than one gene influences the onset of a disease.</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3">
            <a:extLst>
              <a:ext uri="{FF2B5EF4-FFF2-40B4-BE49-F238E27FC236}">
                <a16:creationId xmlns:a16="http://schemas.microsoft.com/office/drawing/2014/main" id="{9CE21A10-7B3A-4003-B5C5-EC1B60B0CFDB}"/>
              </a:ext>
            </a:extLst>
          </p:cNvPr>
          <p:cNvSpPr>
            <a:spLocks noGrp="1"/>
          </p:cNvSpPr>
          <p:nvPr>
            <p:ph type="title"/>
          </p:nvPr>
        </p:nvSpPr>
        <p:spPr/>
        <p:txBody>
          <a:bodyPr/>
          <a:lstStyle/>
          <a:p>
            <a:pPr algn="ctr" eaLnBrk="1" hangingPunct="1"/>
            <a:r>
              <a:rPr lang="en-US" altLang="en-US" b="1"/>
              <a:t>Immune Disorders</a:t>
            </a:r>
          </a:p>
        </p:txBody>
      </p:sp>
      <p:sp>
        <p:nvSpPr>
          <p:cNvPr id="31747" name="Content Placeholder 4">
            <a:extLst>
              <a:ext uri="{FF2B5EF4-FFF2-40B4-BE49-F238E27FC236}">
                <a16:creationId xmlns:a16="http://schemas.microsoft.com/office/drawing/2014/main" id="{F8B941C9-30E5-4442-9CBF-ECDF3DA9B0B4}"/>
              </a:ext>
            </a:extLst>
          </p:cNvPr>
          <p:cNvSpPr>
            <a:spLocks noGrp="1"/>
          </p:cNvSpPr>
          <p:nvPr>
            <p:ph sz="quarter" idx="1"/>
          </p:nvPr>
        </p:nvSpPr>
        <p:spPr/>
        <p:txBody>
          <a:bodyPr/>
          <a:lstStyle/>
          <a:p>
            <a:pPr eaLnBrk="1" hangingPunct="1"/>
            <a:endParaRPr lang="en-US" altLang="en-US"/>
          </a:p>
          <a:p>
            <a:pPr eaLnBrk="1" hangingPunct="1"/>
            <a:r>
              <a:rPr lang="en-US" altLang="en-US" sz="3600"/>
              <a:t>The immune system does not function properly resulting in a immune disorder.  </a:t>
            </a:r>
          </a:p>
          <a:p>
            <a:pPr eaLnBrk="1" hangingPunct="1"/>
            <a:endParaRPr lang="en-US" altLang="en-US" sz="3600"/>
          </a:p>
          <a:p>
            <a:pPr eaLnBrk="1" hangingPunct="1"/>
            <a:r>
              <a:rPr lang="en-US" altLang="en-US" sz="3600"/>
              <a:t>Some are relatively mild (allergies); others can be life threatening(AIDS)</a:t>
            </a:r>
          </a:p>
          <a:p>
            <a:pPr eaLnBrk="1" hangingPunct="1"/>
            <a:endParaRPr lang="en-US" altLang="en-US"/>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F05087DB-DA86-4E6D-B478-438FB2FF2D1C}"/>
              </a:ext>
            </a:extLst>
          </p:cNvPr>
          <p:cNvSpPr>
            <a:spLocks noGrp="1"/>
          </p:cNvSpPr>
          <p:nvPr>
            <p:ph type="title"/>
          </p:nvPr>
        </p:nvSpPr>
        <p:spPr/>
        <p:txBody>
          <a:bodyPr/>
          <a:lstStyle/>
          <a:p>
            <a:pPr algn="ctr" eaLnBrk="1" hangingPunct="1"/>
            <a:r>
              <a:rPr lang="en-US" altLang="en-US" b="1"/>
              <a:t>Autoimmune Diseases</a:t>
            </a:r>
          </a:p>
        </p:txBody>
      </p:sp>
      <p:sp>
        <p:nvSpPr>
          <p:cNvPr id="32771" name="Content Placeholder 2">
            <a:extLst>
              <a:ext uri="{FF2B5EF4-FFF2-40B4-BE49-F238E27FC236}">
                <a16:creationId xmlns:a16="http://schemas.microsoft.com/office/drawing/2014/main" id="{35D70896-0E32-44DE-84B6-58D34B29D4C7}"/>
              </a:ext>
            </a:extLst>
          </p:cNvPr>
          <p:cNvSpPr>
            <a:spLocks noGrp="1"/>
          </p:cNvSpPr>
          <p:nvPr>
            <p:ph sz="quarter" idx="1"/>
          </p:nvPr>
        </p:nvSpPr>
        <p:spPr/>
        <p:txBody>
          <a:bodyPr/>
          <a:lstStyle/>
          <a:p>
            <a:pPr eaLnBrk="1" hangingPunct="1"/>
            <a:endParaRPr lang="en-US" altLang="en-US"/>
          </a:p>
          <a:p>
            <a:pPr eaLnBrk="1" hangingPunct="1"/>
            <a:r>
              <a:rPr lang="en-US" altLang="en-US" sz="3600"/>
              <a:t>The immune system attacks the cells of the body that it normally protects.</a:t>
            </a:r>
          </a:p>
          <a:p>
            <a:pPr eaLnBrk="1" hangingPunct="1"/>
            <a:endParaRPr lang="en-US" altLang="en-US" sz="3600"/>
          </a:p>
          <a:p>
            <a:pPr eaLnBrk="1" hangingPunct="1"/>
            <a:r>
              <a:rPr lang="en-US" altLang="en-US" sz="3600"/>
              <a:t>Depending on the cells of the body destroyed, these attacks can result in many conditions.</a:t>
            </a: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LIFESTYLE DISEASES</a:t>
            </a:r>
          </a:p>
        </p:txBody>
      </p:sp>
      <p:sp>
        <p:nvSpPr>
          <p:cNvPr id="3" name="Subtitle 2"/>
          <p:cNvSpPr>
            <a:spLocks noGrp="1"/>
          </p:cNvSpPr>
          <p:nvPr>
            <p:ph type="subTitle" idx="1"/>
          </p:nvPr>
        </p:nvSpPr>
        <p:spPr/>
        <p:txBody>
          <a:bodyPr/>
          <a:lstStyle/>
          <a:p>
            <a:r>
              <a:rPr lang="en-US" dirty="0"/>
              <a:t>INTRODUCTION</a:t>
            </a:r>
          </a:p>
        </p:txBody>
      </p:sp>
      <p:sp>
        <p:nvSpPr>
          <p:cNvPr id="4" name="Slide Number Placeholder 3"/>
          <p:cNvSpPr>
            <a:spLocks noGrp="1"/>
          </p:cNvSpPr>
          <p:nvPr>
            <p:ph type="sldNum" sz="quarter" idx="12"/>
          </p:nvPr>
        </p:nvSpPr>
        <p:spPr/>
        <p:txBody>
          <a:bodyPr/>
          <a:lstStyle/>
          <a:p>
            <a:fld id="{65E7C573-500D-4A75-B887-95D5BF23D10D}" type="slidenum">
              <a:rPr lang="en-US">
                <a:latin typeface="Lucida Sans Unicode"/>
              </a:rPr>
              <a:pPr/>
              <a:t>60</a:t>
            </a:fld>
            <a:endParaRPr lang="en-US">
              <a:latin typeface="Lucida Sans Unicode"/>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Lifestyle diseases share risk factors similar to prolonged exposure to three modifiable lifestyle </a:t>
            </a:r>
            <a:r>
              <a:rPr lang="en-US" dirty="0" err="1"/>
              <a:t>behaviours</a:t>
            </a:r>
            <a:r>
              <a:rPr lang="en-US" dirty="0"/>
              <a:t>—smoking, unhealthy diet, and physical inactivity—and result in the development of chronic diseases, specifically heart disease, stroke, diabetes, obesity, metabolic syndrome, chronic obstructive pulmonary disease, and some types of cancer.</a:t>
            </a:r>
            <a:br>
              <a:rPr lang="en-US" dirty="0"/>
            </a:br>
            <a:r>
              <a:rPr lang="en-US" dirty="0"/>
              <a:t>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61</a:t>
            </a:fld>
            <a:endParaRPr lang="en-US">
              <a:solidFill>
                <a:prstClr val="black"/>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These illnesses used to be considered the diseases of industrialized countries, so-called “Western diseases” or “diseases of affluence”; however, internationally they are known as non-communicable and chronic diseases, part of the degenerative diseases group. Chronic disease can result in loss of independence, years of disability, or death, and impose a considerable economic burden on health services.</a:t>
            </a:r>
            <a:br>
              <a:rPr lang="en-US" dirty="0"/>
            </a:br>
            <a:r>
              <a:rPr lang="en-US" dirty="0"/>
              <a:t> </a:t>
            </a:r>
          </a:p>
          <a:p>
            <a:pPr>
              <a:buNone/>
            </a:pPr>
            <a:endParaRPr lang="en-US" dirty="0"/>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62</a:t>
            </a:fld>
            <a:endParaRPr lang="en-US">
              <a:solidFill>
                <a:prstClr val="black"/>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Today, chronic diseases are a major public health problem worldwide. In 2005, the World Health Organization (WHO) estimated that 61 per cent of all deaths—35 million—and 49 per cent of the global burden of disease were attributable to chronic diseases. By 2030, the proportion of total global deaths due to chronic diseases is expected to increase to 70 per cent and the global burden of disease to 56 per cent. The greatest increase is anticipated in the African and Eastern Mediterranean regions.</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63</a:t>
            </a:fld>
            <a:endParaRPr lang="en-US">
              <a:solidFill>
                <a:prstClr val="black"/>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combination of four healthy lifestyle factors—maintaining a healthy weight, exercising regularly, following a healthy diet, and not smoking—seem to be associated with as much as an 80 per cent reduction in the risk of developing the most common and deadly chronic diseases. This reinforces the current public health recommendations for the observance of healthy lifestyle habits, and because the roots of these habits often originate during the formative stages of life, it is especially important to start early in teaching important lessons concerning healthy living.</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64</a:t>
            </a:fld>
            <a:endParaRPr lang="en-US">
              <a:solidFill>
                <a:prstClr val="black"/>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However, despite the well known benefits of a healthy lifestyle, only a small proportion of adults follow such a routine; in fact, the numbers are declining. Unfortunately, there is very little public awareness of the association between health and lifestyle. Many are unaware that a change in lifestyle is an important factor in the emergence of chronic diseases as causes of increased morbidity and mortality. Lifestyle is -generally considered a personal issue. However, lifestyles are social practices and ways of living adopted by individuals that reflect personal, group, and socio-economic identities.</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65</a:t>
            </a:fld>
            <a:endParaRPr lang="en-US">
              <a:solidFill>
                <a:prstClr val="black"/>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
        <p:nvSpPr>
          <p:cNvPr id="7" name="Text Placeholder 6"/>
          <p:cNvSpPr>
            <a:spLocks noGrp="1"/>
          </p:cNvSpPr>
          <p:nvPr>
            <p:ph type="body" idx="1"/>
          </p:nvPr>
        </p:nvSpPr>
        <p:spPr>
          <a:xfrm>
            <a:off x="1981200" y="1535114"/>
            <a:ext cx="4040188" cy="369887"/>
          </a:xfrm>
        </p:spPr>
        <p:txBody>
          <a:bodyPr>
            <a:normAutofit fontScale="85000" lnSpcReduction="20000"/>
          </a:bodyPr>
          <a:lstStyle/>
          <a:p>
            <a:r>
              <a:rPr lang="en-US" dirty="0"/>
              <a:t>NAME</a:t>
            </a:r>
          </a:p>
        </p:txBody>
      </p:sp>
      <p:sp>
        <p:nvSpPr>
          <p:cNvPr id="8" name="Text Placeholder 7"/>
          <p:cNvSpPr>
            <a:spLocks noGrp="1"/>
          </p:cNvSpPr>
          <p:nvPr>
            <p:ph type="body" sz="half" idx="3"/>
          </p:nvPr>
        </p:nvSpPr>
        <p:spPr>
          <a:xfrm>
            <a:off x="6169026" y="1447801"/>
            <a:ext cx="4041775" cy="381000"/>
          </a:xfrm>
        </p:spPr>
        <p:txBody>
          <a:bodyPr>
            <a:normAutofit fontScale="85000" lnSpcReduction="20000"/>
          </a:bodyPr>
          <a:lstStyle/>
          <a:p>
            <a:r>
              <a:rPr lang="en-US" dirty="0"/>
              <a:t>COMMENTS</a:t>
            </a:r>
          </a:p>
        </p:txBody>
      </p:sp>
      <p:sp>
        <p:nvSpPr>
          <p:cNvPr id="5" name="Content Placeholder 4"/>
          <p:cNvSpPr>
            <a:spLocks noGrp="1"/>
          </p:cNvSpPr>
          <p:nvPr>
            <p:ph sz="quarter" idx="2"/>
          </p:nvPr>
        </p:nvSpPr>
        <p:spPr>
          <a:xfrm>
            <a:off x="1828800" y="1981200"/>
            <a:ext cx="3429000" cy="4572000"/>
          </a:xfrm>
        </p:spPr>
        <p:txBody>
          <a:bodyPr>
            <a:normAutofit/>
          </a:bodyPr>
          <a:lstStyle/>
          <a:p>
            <a:r>
              <a:rPr lang="en-US" b="1" dirty="0"/>
              <a:t>Alzheimer's Disease</a:t>
            </a:r>
            <a:r>
              <a:rPr lang="en-US" dirty="0"/>
              <a:t>: a form of brain disease.</a:t>
            </a:r>
          </a:p>
          <a:p>
            <a:endParaRPr lang="en-US" b="1" dirty="0"/>
          </a:p>
          <a:p>
            <a:endParaRPr lang="en-US" b="1" dirty="0"/>
          </a:p>
          <a:p>
            <a:endParaRPr lang="en-US" dirty="0"/>
          </a:p>
        </p:txBody>
      </p:sp>
      <p:sp>
        <p:nvSpPr>
          <p:cNvPr id="6" name="Content Placeholder 5"/>
          <p:cNvSpPr>
            <a:spLocks noGrp="1"/>
          </p:cNvSpPr>
          <p:nvPr>
            <p:ph sz="quarter" idx="4"/>
          </p:nvPr>
        </p:nvSpPr>
        <p:spPr>
          <a:xfrm>
            <a:off x="5181600" y="1905000"/>
            <a:ext cx="5181600" cy="4800600"/>
          </a:xfrm>
        </p:spPr>
        <p:txBody>
          <a:bodyPr>
            <a:noAutofit/>
          </a:bodyPr>
          <a:lstStyle/>
          <a:p>
            <a:r>
              <a:rPr lang="en-US" sz="2800" dirty="0"/>
              <a:t>No one knows the exact cause, but a real breakdown of the cells of the brain does occur. There is no treatment, but good nutrition may slow the progress of this lifestyle disease, which lasts about seven years in most people who have it</a:t>
            </a:r>
          </a:p>
          <a:p>
            <a:endParaRPr lang="en-US" sz="3200" dirty="0"/>
          </a:p>
        </p:txBody>
      </p:sp>
      <p:sp>
        <p:nvSpPr>
          <p:cNvPr id="9" name="Slide Number Placeholder 8"/>
          <p:cNvSpPr>
            <a:spLocks noGrp="1"/>
          </p:cNvSpPr>
          <p:nvPr>
            <p:ph type="sldNum" sz="quarter" idx="12"/>
          </p:nvPr>
        </p:nvSpPr>
        <p:spPr/>
        <p:txBody>
          <a:bodyPr/>
          <a:lstStyle/>
          <a:p>
            <a:fld id="{65E7C573-500D-4A75-B887-95D5BF23D10D}" type="slidenum">
              <a:rPr lang="en-US">
                <a:solidFill>
                  <a:prstClr val="black"/>
                </a:solidFill>
                <a:latin typeface="Lucida Sans Unicode"/>
              </a:rPr>
              <a:pPr/>
              <a:t>66</a:t>
            </a:fld>
            <a:endParaRPr lang="en-US">
              <a:solidFill>
                <a:prstClr val="black"/>
              </a:solidFill>
              <a:latin typeface="Lucida Sans Unicode"/>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1981200" y="1600201"/>
            <a:ext cx="3810000" cy="4525963"/>
          </a:xfrm>
        </p:spPr>
        <p:txBody>
          <a:bodyPr>
            <a:normAutofit fontScale="77500" lnSpcReduction="20000"/>
          </a:bodyPr>
          <a:lstStyle/>
          <a:p>
            <a:pPr>
              <a:buNone/>
            </a:pPr>
            <a:r>
              <a:rPr lang="en-US" b="1" dirty="0"/>
              <a:t>Arteriosclerosis</a:t>
            </a:r>
            <a:r>
              <a:rPr lang="en-US" dirty="0"/>
              <a:t>: A generic term for several diseases in which the arterial wall becomes thicken and loses elasticity. Atherosclerosis is the most common and serious vascular disease.</a:t>
            </a:r>
          </a:p>
          <a:p>
            <a:endParaRPr lang="en-US" dirty="0"/>
          </a:p>
        </p:txBody>
      </p:sp>
      <p:sp>
        <p:nvSpPr>
          <p:cNvPr id="8" name="Content Placeholder 7"/>
          <p:cNvSpPr>
            <a:spLocks noGrp="1"/>
          </p:cNvSpPr>
          <p:nvPr>
            <p:ph sz="half" idx="2"/>
          </p:nvPr>
        </p:nvSpPr>
        <p:spPr>
          <a:xfrm>
            <a:off x="5791200" y="1600200"/>
            <a:ext cx="4419600" cy="5029200"/>
          </a:xfrm>
        </p:spPr>
        <p:txBody>
          <a:bodyPr>
            <a:normAutofit fontScale="77500" lnSpcReduction="20000"/>
          </a:bodyPr>
          <a:lstStyle/>
          <a:p>
            <a:r>
              <a:rPr lang="en-US" dirty="0"/>
              <a:t>Plaques (</a:t>
            </a:r>
            <a:r>
              <a:rPr lang="en-US" dirty="0" err="1"/>
              <a:t>atheromas</a:t>
            </a:r>
            <a:r>
              <a:rPr lang="en-US" dirty="0"/>
              <a:t>) deposited in the walls of arteries are major causes of heart disease, chest pain (angina pectoris), heart attacks, and other disorders of the circulation. In atherosclerosis yellowish plaques of cholesterol, fats, and other remains are deposited in the walls of large and medium-sized arteries. Atherosclerosis usually occurs with aging. It is linked to overweight, high blood pressure, and diabetes.</a:t>
            </a:r>
          </a:p>
          <a:p>
            <a:endParaRPr lang="en-US" dirty="0"/>
          </a:p>
          <a:p>
            <a:endParaRPr lang="en-US" dirty="0"/>
          </a:p>
        </p:txBody>
      </p:sp>
      <p:sp>
        <p:nvSpPr>
          <p:cNvPr id="5" name="Slide Number Placeholder 4"/>
          <p:cNvSpPr>
            <a:spLocks noGrp="1"/>
          </p:cNvSpPr>
          <p:nvPr>
            <p:ph type="sldNum" sz="quarter" idx="12"/>
          </p:nvPr>
        </p:nvSpPr>
        <p:spPr/>
        <p:txBody>
          <a:bodyPr/>
          <a:lstStyle/>
          <a:p>
            <a:fld id="{65E7C573-500D-4A75-B887-95D5BF23D10D}" type="slidenum">
              <a:rPr lang="en-US">
                <a:solidFill>
                  <a:prstClr val="white"/>
                </a:solidFill>
                <a:latin typeface="Lucida Sans Unicode"/>
              </a:rPr>
              <a:pPr/>
              <a:t>67</a:t>
            </a:fld>
            <a:endParaRPr lang="en-US">
              <a:solidFill>
                <a:prstClr val="white"/>
              </a:solidFill>
              <a:latin typeface="Lucida Sans Unicode"/>
            </a:endParaRPr>
          </a:p>
        </p:txBody>
      </p:sp>
      <p:sp>
        <p:nvSpPr>
          <p:cNvPr id="4" name="Title 3"/>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981200" y="1600201"/>
            <a:ext cx="3352800" cy="4525963"/>
          </a:xfrm>
        </p:spPr>
        <p:txBody>
          <a:bodyPr>
            <a:normAutofit/>
          </a:bodyPr>
          <a:lstStyle/>
          <a:p>
            <a:r>
              <a:rPr lang="en-US" b="1" dirty="0"/>
              <a:t>Cancer</a:t>
            </a:r>
            <a:r>
              <a:rPr lang="en-US" dirty="0"/>
              <a:t>: diseases characterized by uncontrolled, abnormal growth of cells.</a:t>
            </a:r>
          </a:p>
          <a:p>
            <a:pPr>
              <a:buNone/>
            </a:pPr>
            <a:endParaRPr lang="en-US" dirty="0"/>
          </a:p>
        </p:txBody>
      </p:sp>
      <p:sp>
        <p:nvSpPr>
          <p:cNvPr id="4" name="Content Placeholder 3"/>
          <p:cNvSpPr>
            <a:spLocks noGrp="1"/>
          </p:cNvSpPr>
          <p:nvPr>
            <p:ph sz="half" idx="2"/>
          </p:nvPr>
        </p:nvSpPr>
        <p:spPr>
          <a:xfrm>
            <a:off x="5257800" y="1600201"/>
            <a:ext cx="4953000" cy="4525963"/>
          </a:xfrm>
        </p:spPr>
        <p:txBody>
          <a:bodyPr>
            <a:normAutofit/>
          </a:bodyPr>
          <a:lstStyle/>
          <a:p>
            <a:r>
              <a:rPr lang="en-US" dirty="0"/>
              <a:t>Cancer is definitely considered the number one Disease of Civilization.</a:t>
            </a:r>
            <a:br>
              <a:rPr lang="en-US" dirty="0"/>
            </a:br>
            <a:r>
              <a:rPr lang="en-US" dirty="0"/>
              <a:t>There are more than 150 different kinds of cancer and many different causes. </a:t>
            </a:r>
          </a:p>
          <a:p>
            <a:endParaRPr lang="en-US" dirty="0"/>
          </a:p>
        </p:txBody>
      </p:sp>
      <p:sp>
        <p:nvSpPr>
          <p:cNvPr id="5" name="Slide Number Placeholder 4"/>
          <p:cNvSpPr>
            <a:spLocks noGrp="1"/>
          </p:cNvSpPr>
          <p:nvPr>
            <p:ph type="sldNum" sz="quarter" idx="12"/>
          </p:nvPr>
        </p:nvSpPr>
        <p:spPr/>
        <p:txBody>
          <a:bodyPr/>
          <a:lstStyle/>
          <a:p>
            <a:fld id="{65E7C573-500D-4A75-B887-95D5BF23D10D}" type="slidenum">
              <a:rPr lang="en-US">
                <a:solidFill>
                  <a:prstClr val="white"/>
                </a:solidFill>
                <a:latin typeface="Lucida Sans Unicode"/>
              </a:rPr>
              <a:pPr/>
              <a:t>68</a:t>
            </a:fld>
            <a:endParaRPr lang="en-US">
              <a:solidFill>
                <a:prstClr val="white"/>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5E7C573-500D-4A75-B887-95D5BF23D10D}" type="slidenum">
              <a:rPr lang="en-US">
                <a:solidFill>
                  <a:prstClr val="white"/>
                </a:solidFill>
                <a:latin typeface="Lucida Sans Unicode"/>
              </a:rPr>
              <a:pPr/>
              <a:t>69</a:t>
            </a:fld>
            <a:endParaRPr lang="en-US">
              <a:solidFill>
                <a:prstClr val="white"/>
              </a:solidFill>
              <a:latin typeface="Lucida Sans Unicode"/>
            </a:endParaRPr>
          </a:p>
        </p:txBody>
      </p:sp>
      <p:sp>
        <p:nvSpPr>
          <p:cNvPr id="2" name="Title 1"/>
          <p:cNvSpPr>
            <a:spLocks noGrp="1"/>
          </p:cNvSpPr>
          <p:nvPr>
            <p:ph type="title"/>
          </p:nvPr>
        </p:nvSpPr>
        <p:spPr>
          <a:xfrm>
            <a:off x="1981200" y="381000"/>
            <a:ext cx="8229600" cy="1036638"/>
          </a:xfrm>
        </p:spPr>
        <p:txBody>
          <a:bodyPr>
            <a:normAutofit fontScale="90000"/>
          </a:bodyPr>
          <a:lstStyle/>
          <a:p>
            <a:r>
              <a:rPr lang="en-US" dirty="0"/>
              <a:t>LIFE STYLE DISEASES</a:t>
            </a:r>
            <a:br>
              <a:rPr lang="en-US" dirty="0"/>
            </a:br>
            <a:r>
              <a:rPr lang="en-US" dirty="0"/>
              <a:t> INTRODUCTION CONT’D</a:t>
            </a:r>
          </a:p>
        </p:txBody>
      </p:sp>
      <p:graphicFrame>
        <p:nvGraphicFramePr>
          <p:cNvPr id="6" name="Table 5"/>
          <p:cNvGraphicFramePr>
            <a:graphicFrameLocks noGrp="1"/>
          </p:cNvGraphicFramePr>
          <p:nvPr/>
        </p:nvGraphicFramePr>
        <p:xfrm>
          <a:off x="2057400" y="1905000"/>
          <a:ext cx="8153400" cy="3887562"/>
        </p:xfrm>
        <a:graphic>
          <a:graphicData uri="http://schemas.openxmlformats.org/drawingml/2006/table">
            <a:tbl>
              <a:tblPr/>
              <a:tblGrid>
                <a:gridCol w="4076700">
                  <a:extLst>
                    <a:ext uri="{9D8B030D-6E8A-4147-A177-3AD203B41FA5}">
                      <a16:colId xmlns:a16="http://schemas.microsoft.com/office/drawing/2014/main" val="20000"/>
                    </a:ext>
                  </a:extLst>
                </a:gridCol>
                <a:gridCol w="4076700">
                  <a:extLst>
                    <a:ext uri="{9D8B030D-6E8A-4147-A177-3AD203B41FA5}">
                      <a16:colId xmlns:a16="http://schemas.microsoft.com/office/drawing/2014/main" val="20001"/>
                    </a:ext>
                  </a:extLst>
                </a:gridCol>
              </a:tblGrid>
              <a:tr h="669336">
                <a:tc gridSpan="2">
                  <a:txBody>
                    <a:bodyPr/>
                    <a:lstStyle/>
                    <a:p>
                      <a:pPr algn="ctr">
                        <a:lnSpc>
                          <a:spcPct val="115000"/>
                        </a:lnSpc>
                        <a:spcAft>
                          <a:spcPts val="0"/>
                        </a:spcAft>
                      </a:pPr>
                      <a:r>
                        <a:rPr lang="en-US" sz="2800" b="1" dirty="0">
                          <a:latin typeface="Times New Roman"/>
                          <a:ea typeface="Times New Roman"/>
                          <a:cs typeface="Times New Roman"/>
                        </a:rPr>
                        <a:t>Top 5 Cancers</a:t>
                      </a:r>
                      <a:r>
                        <a:rPr lang="en-US" sz="2800" dirty="0">
                          <a:latin typeface="Times New Roman"/>
                          <a:ea typeface="Times New Roman"/>
                          <a:cs typeface="Times New Roman"/>
                        </a:rPr>
                        <a:t> (Incidence) in USA </a:t>
                      </a:r>
                      <a:endParaRPr lang="en-US" sz="2800" dirty="0">
                        <a:latin typeface="Calibri"/>
                        <a:cs typeface="Times New Roman"/>
                      </a:endParaRPr>
                    </a:p>
                  </a:txBody>
                  <a:tcPr marL="47625" marR="47625" marT="47625" marB="47625">
                    <a:lnL>
                      <a:noFill/>
                    </a:lnL>
                    <a:lnR>
                      <a:noFill/>
                    </a:lnR>
                    <a:lnT>
                      <a:noFill/>
                    </a:lnT>
                    <a:lnB>
                      <a:noFill/>
                    </a:lnB>
                  </a:tcPr>
                </a:tc>
                <a:tc hMerge="1">
                  <a:txBody>
                    <a:bodyPr/>
                    <a:lstStyle/>
                    <a:p>
                      <a:endParaRPr lang="en-US"/>
                    </a:p>
                  </a:txBody>
                  <a:tcPr/>
                </a:tc>
                <a:extLst>
                  <a:ext uri="{0D108BD9-81ED-4DB2-BD59-A6C34878D82A}">
                    <a16:rowId xmlns:a16="http://schemas.microsoft.com/office/drawing/2014/main" val="10000"/>
                  </a:ext>
                </a:extLst>
              </a:tr>
              <a:tr h="669336">
                <a:tc>
                  <a:txBody>
                    <a:bodyPr/>
                    <a:lstStyle/>
                    <a:p>
                      <a:pPr algn="r">
                        <a:lnSpc>
                          <a:spcPct val="115000"/>
                        </a:lnSpc>
                        <a:spcAft>
                          <a:spcPts val="0"/>
                        </a:spcAft>
                      </a:pPr>
                      <a:r>
                        <a:rPr lang="en-US" sz="2800" b="1" dirty="0">
                          <a:latin typeface="Times New Roman"/>
                          <a:ea typeface="Times New Roman"/>
                          <a:cs typeface="Times New Roman"/>
                        </a:rPr>
                        <a:t>MEN</a:t>
                      </a:r>
                      <a:endParaRPr lang="en-US" sz="2800" dirty="0">
                        <a:latin typeface="Calibri"/>
                        <a:cs typeface="Times New Roman"/>
                      </a:endParaRPr>
                    </a:p>
                  </a:txBody>
                  <a:tcPr marL="47625" marR="47625" marT="47625" marB="47625">
                    <a:lnL>
                      <a:noFill/>
                    </a:lnL>
                    <a:lnR>
                      <a:noFill/>
                    </a:lnR>
                    <a:lnT>
                      <a:noFill/>
                    </a:lnT>
                    <a:lnB>
                      <a:noFill/>
                    </a:lnB>
                  </a:tcPr>
                </a:tc>
                <a:tc>
                  <a:txBody>
                    <a:bodyPr/>
                    <a:lstStyle/>
                    <a:p>
                      <a:pPr algn="r">
                        <a:lnSpc>
                          <a:spcPct val="115000"/>
                        </a:lnSpc>
                        <a:spcAft>
                          <a:spcPts val="0"/>
                        </a:spcAft>
                      </a:pPr>
                      <a:r>
                        <a:rPr lang="en-US" sz="2800" b="1" dirty="0">
                          <a:latin typeface="Times New Roman"/>
                          <a:ea typeface="Times New Roman"/>
                          <a:cs typeface="Times New Roman"/>
                        </a:rPr>
                        <a:t>WOMEN</a:t>
                      </a:r>
                      <a:endParaRPr lang="en-US" sz="2800" dirty="0">
                        <a:latin typeface="Calibri"/>
                        <a:cs typeface="Times New Roman"/>
                      </a:endParaRPr>
                    </a:p>
                  </a:txBody>
                  <a:tcPr marL="47625" marR="47625" marT="47625" marB="47625">
                    <a:lnL>
                      <a:noFill/>
                    </a:lnL>
                    <a:lnR>
                      <a:noFill/>
                    </a:lnR>
                    <a:lnT>
                      <a:noFill/>
                    </a:lnT>
                    <a:lnB>
                      <a:noFill/>
                    </a:lnB>
                  </a:tcPr>
                </a:tc>
                <a:extLst>
                  <a:ext uri="{0D108BD9-81ED-4DB2-BD59-A6C34878D82A}">
                    <a16:rowId xmlns:a16="http://schemas.microsoft.com/office/drawing/2014/main" val="10001"/>
                  </a:ext>
                </a:extLst>
              </a:tr>
              <a:tr h="2512096">
                <a:tc>
                  <a:txBody>
                    <a:bodyPr/>
                    <a:lstStyle/>
                    <a:p>
                      <a:pPr marL="342900" lvl="0" indent="-342900" algn="r">
                        <a:lnSpc>
                          <a:spcPct val="115000"/>
                        </a:lnSpc>
                        <a:spcAft>
                          <a:spcPts val="0"/>
                        </a:spcAft>
                        <a:buFont typeface="+mj-lt"/>
                        <a:buAutoNum type="arabicPeriod"/>
                        <a:tabLst>
                          <a:tab pos="457200" algn="l"/>
                        </a:tabLst>
                      </a:pPr>
                      <a:r>
                        <a:rPr lang="en-US" sz="2800">
                          <a:latin typeface="Times New Roman"/>
                          <a:ea typeface="Times New Roman"/>
                          <a:cs typeface="Times New Roman"/>
                        </a:rPr>
                        <a:t>Prostate (40%) </a:t>
                      </a:r>
                      <a:endParaRPr lang="en-US" sz="2800">
                        <a:latin typeface="Calibri"/>
                        <a:cs typeface="Times New Roman"/>
                      </a:endParaRPr>
                    </a:p>
                    <a:p>
                      <a:pPr marL="342900" lvl="0" indent="-342900" algn="r">
                        <a:lnSpc>
                          <a:spcPct val="115000"/>
                        </a:lnSpc>
                        <a:spcAft>
                          <a:spcPts val="0"/>
                        </a:spcAft>
                        <a:buFont typeface="+mj-lt"/>
                        <a:buAutoNum type="arabicPeriod"/>
                        <a:tabLst>
                          <a:tab pos="457200" algn="l"/>
                        </a:tabLst>
                      </a:pPr>
                      <a:r>
                        <a:rPr lang="en-US" sz="2800">
                          <a:latin typeface="Times New Roman"/>
                          <a:ea typeface="Times New Roman"/>
                          <a:cs typeface="Times New Roman"/>
                        </a:rPr>
                        <a:t>Lung (18%) </a:t>
                      </a:r>
                      <a:endParaRPr lang="en-US" sz="2800">
                        <a:latin typeface="Calibri"/>
                        <a:cs typeface="Times New Roman"/>
                      </a:endParaRPr>
                    </a:p>
                    <a:p>
                      <a:pPr marL="342900" lvl="0" indent="-342900" algn="r">
                        <a:lnSpc>
                          <a:spcPct val="115000"/>
                        </a:lnSpc>
                        <a:spcAft>
                          <a:spcPts val="0"/>
                        </a:spcAft>
                        <a:buFont typeface="+mj-lt"/>
                        <a:buAutoNum type="arabicPeriod"/>
                        <a:tabLst>
                          <a:tab pos="457200" algn="l"/>
                        </a:tabLst>
                      </a:pPr>
                      <a:r>
                        <a:rPr lang="en-US" sz="2800">
                          <a:latin typeface="Times New Roman"/>
                          <a:ea typeface="Times New Roman"/>
                          <a:cs typeface="Times New Roman"/>
                        </a:rPr>
                        <a:t>Colorectal (12%) </a:t>
                      </a:r>
                      <a:endParaRPr lang="en-US" sz="2800">
                        <a:latin typeface="Calibri"/>
                        <a:cs typeface="Times New Roman"/>
                      </a:endParaRPr>
                    </a:p>
                    <a:p>
                      <a:pPr marL="342900" lvl="0" indent="-342900" algn="r">
                        <a:lnSpc>
                          <a:spcPct val="115000"/>
                        </a:lnSpc>
                        <a:spcAft>
                          <a:spcPts val="0"/>
                        </a:spcAft>
                        <a:buFont typeface="+mj-lt"/>
                        <a:buAutoNum type="arabicPeriod"/>
                        <a:tabLst>
                          <a:tab pos="457200" algn="l"/>
                        </a:tabLst>
                      </a:pPr>
                      <a:r>
                        <a:rPr lang="en-US" sz="2800">
                          <a:latin typeface="Times New Roman"/>
                          <a:ea typeface="Times New Roman"/>
                          <a:cs typeface="Times New Roman"/>
                        </a:rPr>
                        <a:t>Urinary Bladder (08%) </a:t>
                      </a:r>
                      <a:endParaRPr lang="en-US" sz="2800">
                        <a:latin typeface="Calibri"/>
                        <a:cs typeface="Times New Roman"/>
                      </a:endParaRPr>
                    </a:p>
                    <a:p>
                      <a:pPr marL="342900" lvl="0" indent="-342900" algn="r">
                        <a:lnSpc>
                          <a:spcPct val="115000"/>
                        </a:lnSpc>
                        <a:spcAft>
                          <a:spcPts val="0"/>
                        </a:spcAft>
                        <a:buFont typeface="+mj-lt"/>
                        <a:buAutoNum type="arabicPeriod"/>
                        <a:tabLst>
                          <a:tab pos="457200" algn="l"/>
                        </a:tabLst>
                      </a:pPr>
                      <a:r>
                        <a:rPr lang="en-US" sz="2800">
                          <a:latin typeface="Times New Roman"/>
                          <a:ea typeface="Times New Roman"/>
                          <a:cs typeface="Times New Roman"/>
                        </a:rPr>
                        <a:t>Skin (05%)</a:t>
                      </a:r>
                      <a:endParaRPr lang="en-US" sz="2800">
                        <a:latin typeface="Calibri"/>
                        <a:cs typeface="Times New Roman"/>
                      </a:endParaRPr>
                    </a:p>
                  </a:txBody>
                  <a:tcPr marL="47625" marR="47625" marT="47625" marB="47625">
                    <a:lnL>
                      <a:noFill/>
                    </a:lnL>
                    <a:lnR>
                      <a:noFill/>
                    </a:lnR>
                    <a:lnT>
                      <a:noFill/>
                    </a:lnT>
                    <a:lnB>
                      <a:noFill/>
                    </a:lnB>
                  </a:tcPr>
                </a:tc>
                <a:tc>
                  <a:txBody>
                    <a:bodyPr/>
                    <a:lstStyle/>
                    <a:p>
                      <a:pPr marL="342900" lvl="0" indent="-342900" algn="r">
                        <a:lnSpc>
                          <a:spcPct val="115000"/>
                        </a:lnSpc>
                        <a:spcAft>
                          <a:spcPts val="0"/>
                        </a:spcAft>
                        <a:buFont typeface="+mj-lt"/>
                        <a:buAutoNum type="arabicPeriod"/>
                        <a:tabLst>
                          <a:tab pos="457200" algn="l"/>
                        </a:tabLst>
                      </a:pPr>
                      <a:r>
                        <a:rPr lang="en-US" sz="2800" dirty="0">
                          <a:latin typeface="Times New Roman"/>
                          <a:ea typeface="Times New Roman"/>
                          <a:cs typeface="Times New Roman"/>
                        </a:rPr>
                        <a:t>Breast (40%) </a:t>
                      </a:r>
                      <a:endParaRPr lang="en-US" sz="2800" dirty="0">
                        <a:latin typeface="Calibri"/>
                        <a:cs typeface="Times New Roman"/>
                      </a:endParaRPr>
                    </a:p>
                    <a:p>
                      <a:pPr marL="342900" lvl="0" indent="-342900" algn="r">
                        <a:lnSpc>
                          <a:spcPct val="115000"/>
                        </a:lnSpc>
                        <a:spcAft>
                          <a:spcPts val="0"/>
                        </a:spcAft>
                        <a:buFont typeface="+mj-lt"/>
                        <a:buAutoNum type="arabicPeriod"/>
                        <a:tabLst>
                          <a:tab pos="457200" algn="l"/>
                        </a:tabLst>
                      </a:pPr>
                      <a:r>
                        <a:rPr lang="en-US" sz="2800" dirty="0">
                          <a:latin typeface="Times New Roman"/>
                          <a:ea typeface="Times New Roman"/>
                          <a:cs typeface="Times New Roman"/>
                        </a:rPr>
                        <a:t>Lung (17%) </a:t>
                      </a:r>
                      <a:endParaRPr lang="en-US" sz="2800" dirty="0">
                        <a:latin typeface="Calibri"/>
                        <a:cs typeface="Times New Roman"/>
                      </a:endParaRPr>
                    </a:p>
                    <a:p>
                      <a:pPr marL="342900" lvl="0" indent="-342900" algn="r">
                        <a:lnSpc>
                          <a:spcPct val="115000"/>
                        </a:lnSpc>
                        <a:spcAft>
                          <a:spcPts val="0"/>
                        </a:spcAft>
                        <a:buFont typeface="+mj-lt"/>
                        <a:buAutoNum type="arabicPeriod"/>
                        <a:tabLst>
                          <a:tab pos="457200" algn="l"/>
                        </a:tabLst>
                      </a:pPr>
                      <a:r>
                        <a:rPr lang="en-US" sz="2800" dirty="0">
                          <a:latin typeface="Times New Roman"/>
                          <a:ea typeface="Times New Roman"/>
                          <a:cs typeface="Times New Roman"/>
                        </a:rPr>
                        <a:t>Colorectal (12%) </a:t>
                      </a:r>
                      <a:endParaRPr lang="en-US" sz="2800" dirty="0">
                        <a:latin typeface="Calibri"/>
                        <a:cs typeface="Times New Roman"/>
                      </a:endParaRPr>
                    </a:p>
                    <a:p>
                      <a:pPr marL="342900" lvl="0" indent="-342900" algn="r">
                        <a:lnSpc>
                          <a:spcPct val="115000"/>
                        </a:lnSpc>
                        <a:spcAft>
                          <a:spcPts val="0"/>
                        </a:spcAft>
                        <a:buFont typeface="+mj-lt"/>
                        <a:buAutoNum type="arabicPeriod"/>
                        <a:tabLst>
                          <a:tab pos="457200" algn="l"/>
                        </a:tabLst>
                      </a:pPr>
                      <a:r>
                        <a:rPr lang="en-US" sz="2800" dirty="0">
                          <a:latin typeface="Times New Roman"/>
                          <a:ea typeface="Times New Roman"/>
                          <a:cs typeface="Times New Roman"/>
                        </a:rPr>
                        <a:t>Uterus (08%) </a:t>
                      </a:r>
                      <a:endParaRPr lang="en-US" sz="2800" dirty="0">
                        <a:latin typeface="Calibri"/>
                        <a:cs typeface="Times New Roman"/>
                      </a:endParaRPr>
                    </a:p>
                    <a:p>
                      <a:pPr marL="342900" lvl="0" indent="-342900" algn="r">
                        <a:lnSpc>
                          <a:spcPct val="115000"/>
                        </a:lnSpc>
                        <a:spcAft>
                          <a:spcPts val="0"/>
                        </a:spcAft>
                        <a:buFont typeface="+mj-lt"/>
                        <a:buAutoNum type="arabicPeriod"/>
                        <a:tabLst>
                          <a:tab pos="457200" algn="l"/>
                        </a:tabLst>
                      </a:pPr>
                      <a:r>
                        <a:rPr lang="en-US" sz="2800" dirty="0">
                          <a:latin typeface="Times New Roman"/>
                          <a:ea typeface="Times New Roman"/>
                          <a:cs typeface="Times New Roman"/>
                        </a:rPr>
                        <a:t>Thyroid (05%)</a:t>
                      </a:r>
                      <a:endParaRPr lang="en-US" sz="2800" dirty="0">
                        <a:latin typeface="Calibri"/>
                        <a:cs typeface="Times New Roman"/>
                      </a:endParaRPr>
                    </a:p>
                  </a:txBody>
                  <a:tcPr marL="47625" marR="47625" marT="47625" marB="47625">
                    <a:lnL>
                      <a:noFill/>
                    </a:lnL>
                    <a:lnR>
                      <a:noFill/>
                    </a:lnR>
                    <a:lnT>
                      <a:noFill/>
                    </a:lnT>
                    <a:lnB>
                      <a:noFill/>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sz="half" idx="1"/>
          </p:nvPr>
        </p:nvSpPr>
        <p:spPr>
          <a:xfrm>
            <a:off x="1981200" y="1600201"/>
            <a:ext cx="3200400" cy="4525963"/>
          </a:xfrm>
        </p:spPr>
        <p:txBody>
          <a:bodyPr>
            <a:normAutofit fontScale="77500" lnSpcReduction="20000"/>
          </a:bodyPr>
          <a:lstStyle/>
          <a:p>
            <a:r>
              <a:rPr lang="en-US" b="1" dirty="0"/>
              <a:t>Chronic Liver Disease/Cirrhosis</a:t>
            </a:r>
            <a:r>
              <a:rPr lang="en-US" dirty="0"/>
              <a:t>: any of a group of liver disorders.</a:t>
            </a:r>
          </a:p>
          <a:p>
            <a:pPr>
              <a:buNone/>
            </a:pPr>
            <a:endParaRPr lang="en-US" dirty="0"/>
          </a:p>
          <a:p>
            <a:pPr>
              <a:buNone/>
            </a:pPr>
            <a:endParaRPr lang="en-US" dirty="0"/>
          </a:p>
          <a:p>
            <a:r>
              <a:rPr lang="en-US" b="1" dirty="0"/>
              <a:t>Chronic Obstructive Pulmonary Disease (COPD)</a:t>
            </a:r>
            <a:r>
              <a:rPr lang="en-US" dirty="0"/>
              <a:t>: a disease characterized by slowly progressing, irreversible airway obstruction.</a:t>
            </a:r>
          </a:p>
          <a:p>
            <a:endParaRPr lang="en-US" dirty="0"/>
          </a:p>
        </p:txBody>
      </p:sp>
      <p:sp>
        <p:nvSpPr>
          <p:cNvPr id="12" name="Content Placeholder 11"/>
          <p:cNvSpPr>
            <a:spLocks noGrp="1"/>
          </p:cNvSpPr>
          <p:nvPr>
            <p:ph sz="half" idx="2"/>
          </p:nvPr>
        </p:nvSpPr>
        <p:spPr>
          <a:xfrm>
            <a:off x="5334000" y="1600200"/>
            <a:ext cx="4876800" cy="5029200"/>
          </a:xfrm>
        </p:spPr>
        <p:txBody>
          <a:bodyPr>
            <a:normAutofit fontScale="77500" lnSpcReduction="20000"/>
          </a:bodyPr>
          <a:lstStyle/>
          <a:p>
            <a:r>
              <a:rPr lang="en-US" dirty="0"/>
              <a:t>Characteristics of liver disease are jaundice, loss of appetite, liver enlargement, fluid accumulation, and impaired consciousness.</a:t>
            </a:r>
          </a:p>
          <a:p>
            <a:pPr>
              <a:buNone/>
            </a:pPr>
            <a:endParaRPr lang="en-US" dirty="0"/>
          </a:p>
          <a:p>
            <a:r>
              <a:rPr lang="en-US" dirty="0"/>
              <a:t>The symptoms are problems in breathing while exercising, difficulty in breathing in or out deeply, and sometimes a long-term cough. The condition may result from chronic bronchitis, emphysema, asthma, or chronic </a:t>
            </a:r>
            <a:r>
              <a:rPr lang="en-US" dirty="0" err="1"/>
              <a:t>bronchiolitis</a:t>
            </a:r>
            <a:r>
              <a:rPr lang="en-US" dirty="0"/>
              <a:t>. Cigarette smoking and air pollution make it worse.</a:t>
            </a:r>
          </a:p>
          <a:p>
            <a:endParaRPr lang="en-US" dirty="0"/>
          </a:p>
        </p:txBody>
      </p:sp>
      <p:sp>
        <p:nvSpPr>
          <p:cNvPr id="5" name="Slide Number Placeholder 4"/>
          <p:cNvSpPr>
            <a:spLocks noGrp="1"/>
          </p:cNvSpPr>
          <p:nvPr>
            <p:ph type="sldNum" sz="quarter" idx="12"/>
          </p:nvPr>
        </p:nvSpPr>
        <p:spPr/>
        <p:txBody>
          <a:bodyPr/>
          <a:lstStyle/>
          <a:p>
            <a:fld id="{65E7C573-500D-4A75-B887-95D5BF23D10D}" type="slidenum">
              <a:rPr lang="en-US">
                <a:solidFill>
                  <a:prstClr val="white"/>
                </a:solidFill>
                <a:latin typeface="Lucida Sans Unicode"/>
              </a:rPr>
              <a:pPr/>
              <a:t>70</a:t>
            </a:fld>
            <a:endParaRPr lang="en-US">
              <a:solidFill>
                <a:prstClr val="white"/>
              </a:solidFill>
              <a:latin typeface="Lucida Sans Unicode"/>
            </a:endParaRPr>
          </a:p>
        </p:txBody>
      </p:sp>
      <p:sp>
        <p:nvSpPr>
          <p:cNvPr id="4" name="Title 3"/>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1981200" y="1600201"/>
            <a:ext cx="3505200" cy="4525963"/>
          </a:xfrm>
        </p:spPr>
        <p:txBody>
          <a:bodyPr>
            <a:normAutofit fontScale="92500" lnSpcReduction="10000"/>
          </a:bodyPr>
          <a:lstStyle/>
          <a:p>
            <a:r>
              <a:rPr lang="en-US" b="1" dirty="0"/>
              <a:t>Essential Hypertension</a:t>
            </a:r>
            <a:r>
              <a:rPr lang="en-US" dirty="0"/>
              <a:t> is the form of hypertension that conventional medicine claims has no identifiable cause.</a:t>
            </a:r>
          </a:p>
        </p:txBody>
      </p:sp>
      <p:sp>
        <p:nvSpPr>
          <p:cNvPr id="6" name="Content Placeholder 5"/>
          <p:cNvSpPr>
            <a:spLocks noGrp="1"/>
          </p:cNvSpPr>
          <p:nvPr>
            <p:ph sz="half" idx="2"/>
          </p:nvPr>
        </p:nvSpPr>
        <p:spPr>
          <a:xfrm>
            <a:off x="5410200" y="1600200"/>
            <a:ext cx="4800600" cy="4876800"/>
          </a:xfrm>
        </p:spPr>
        <p:txBody>
          <a:bodyPr>
            <a:normAutofit fontScale="92500" lnSpcReduction="10000"/>
          </a:bodyPr>
          <a:lstStyle/>
          <a:p>
            <a:r>
              <a:rPr lang="en-US" dirty="0"/>
              <a:t>Hypertension, or high blood pressure is when a person's blood pressure is at least 140 mmHg systolic (i.e., number on top) or 90 mmHg diastolic. Systolic refers to blood pressure when the heart beats while pumping blood. Diastolic refers to blood pressure when the heart is at rest between beats.</a:t>
            </a:r>
          </a:p>
        </p:txBody>
      </p:sp>
      <p:sp>
        <p:nvSpPr>
          <p:cNvPr id="7" name="Slide Number Placeholder 6"/>
          <p:cNvSpPr>
            <a:spLocks noGrp="1"/>
          </p:cNvSpPr>
          <p:nvPr>
            <p:ph type="sldNum" sz="quarter" idx="12"/>
          </p:nvPr>
        </p:nvSpPr>
        <p:spPr/>
        <p:txBody>
          <a:bodyPr/>
          <a:lstStyle/>
          <a:p>
            <a:fld id="{65E7C573-500D-4A75-B887-95D5BF23D10D}" type="slidenum">
              <a:rPr lang="en-US">
                <a:solidFill>
                  <a:prstClr val="white"/>
                </a:solidFill>
                <a:latin typeface="Lucida Sans Unicode"/>
              </a:rPr>
              <a:pPr/>
              <a:t>71</a:t>
            </a:fld>
            <a:endParaRPr lang="en-US">
              <a:solidFill>
                <a:prstClr val="white"/>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r>
              <a:rPr lang="en-US" b="1" dirty="0"/>
              <a:t>Diabetes</a:t>
            </a:r>
            <a:r>
              <a:rPr lang="en-US" dirty="0"/>
              <a:t>: a disease affecting sugars used by the body.</a:t>
            </a:r>
          </a:p>
        </p:txBody>
      </p:sp>
      <p:sp>
        <p:nvSpPr>
          <p:cNvPr id="4" name="Content Placeholder 3"/>
          <p:cNvSpPr>
            <a:spLocks noGrp="1"/>
          </p:cNvSpPr>
          <p:nvPr>
            <p:ph sz="half" idx="2"/>
          </p:nvPr>
        </p:nvSpPr>
        <p:spPr>
          <a:xfrm>
            <a:off x="6172200" y="1481328"/>
            <a:ext cx="4038600" cy="4919472"/>
          </a:xfrm>
        </p:spPr>
        <p:txBody>
          <a:bodyPr>
            <a:noAutofit/>
          </a:bodyPr>
          <a:lstStyle/>
          <a:p>
            <a:pPr>
              <a:buNone/>
            </a:pPr>
            <a:r>
              <a:rPr lang="en-US" sz="1600" dirty="0"/>
              <a:t>	</a:t>
            </a:r>
          </a:p>
          <a:p>
            <a:pPr>
              <a:buNone/>
            </a:pPr>
            <a:r>
              <a:rPr lang="en-US" sz="1600" dirty="0"/>
              <a:t>	There are four main types of diabetes mellitus. Type I diabetes is also called insulin-dependent diabetes, juvenile-onset diabetes, brittle diabetes, or ketosis-prone diabetes. Type II diabetes is also called non-insulin-dependent diabetes, adult-onset diabetes, ketosis-resistant diabetes, or stable diabetes. Type II often develops in over weight adults. Type III, or gestational diabetes, occurs in some women during pregnancy. Type IV includes other types of diabetes are linked to disease of the pancreas, hormonal changes, side effects of drugs, or genetic defects.</a:t>
            </a:r>
          </a:p>
        </p:txBody>
      </p:sp>
      <p:sp>
        <p:nvSpPr>
          <p:cNvPr id="5" name="Slide Number Placeholder 4"/>
          <p:cNvSpPr>
            <a:spLocks noGrp="1"/>
          </p:cNvSpPr>
          <p:nvPr>
            <p:ph type="sldNum" sz="quarter" idx="12"/>
          </p:nvPr>
        </p:nvSpPr>
        <p:spPr/>
        <p:txBody>
          <a:bodyPr/>
          <a:lstStyle/>
          <a:p>
            <a:fld id="{65E7C573-500D-4A75-B887-95D5BF23D10D}" type="slidenum">
              <a:rPr lang="en-US">
                <a:solidFill>
                  <a:prstClr val="white"/>
                </a:solidFill>
                <a:latin typeface="Lucida Sans Unicode"/>
              </a:rPr>
              <a:pPr/>
              <a:t>72</a:t>
            </a:fld>
            <a:endParaRPr lang="en-US">
              <a:solidFill>
                <a:prstClr val="white"/>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1981200" y="1600201"/>
            <a:ext cx="2971800" cy="4525963"/>
          </a:xfrm>
        </p:spPr>
        <p:txBody>
          <a:bodyPr>
            <a:normAutofit fontScale="92500" lnSpcReduction="20000"/>
          </a:bodyPr>
          <a:lstStyle/>
          <a:p>
            <a:r>
              <a:rPr lang="en-US" b="1" dirty="0"/>
              <a:t>Heart Disease</a:t>
            </a:r>
            <a:r>
              <a:rPr lang="en-US" dirty="0"/>
              <a:t>: any of several abnormalities that affect the heart muscle or the blood vessels of the heart.</a:t>
            </a:r>
          </a:p>
        </p:txBody>
      </p:sp>
      <p:sp>
        <p:nvSpPr>
          <p:cNvPr id="6" name="Content Placeholder 5"/>
          <p:cNvSpPr>
            <a:spLocks noGrp="1"/>
          </p:cNvSpPr>
          <p:nvPr>
            <p:ph sz="half" idx="2"/>
          </p:nvPr>
        </p:nvSpPr>
        <p:spPr>
          <a:xfrm>
            <a:off x="5105400" y="1600201"/>
            <a:ext cx="5105400" cy="5029199"/>
          </a:xfrm>
        </p:spPr>
        <p:txBody>
          <a:bodyPr>
            <a:normAutofit fontScale="92500" lnSpcReduction="20000"/>
          </a:bodyPr>
          <a:lstStyle/>
          <a:p>
            <a:pPr>
              <a:buNone/>
            </a:pPr>
            <a:r>
              <a:rPr lang="en-US" dirty="0"/>
              <a:t>There are a couple dozen forms of this lifestyle disease. Heart disease and other forms of cardiovascular disease can lead to congestive heart failure, a condition in which the heart cannot pump sufficient blood to meet the demands of the body. The various forms of heart disease may also cause disturbances in normal heartbeat, called arrhythmia.</a:t>
            </a:r>
          </a:p>
        </p:txBody>
      </p:sp>
      <p:sp>
        <p:nvSpPr>
          <p:cNvPr id="7" name="Slide Number Placeholder 6"/>
          <p:cNvSpPr>
            <a:spLocks noGrp="1"/>
          </p:cNvSpPr>
          <p:nvPr>
            <p:ph type="sldNum" sz="quarter" idx="12"/>
          </p:nvPr>
        </p:nvSpPr>
        <p:spPr/>
        <p:txBody>
          <a:bodyPr/>
          <a:lstStyle/>
          <a:p>
            <a:fld id="{65E7C573-500D-4A75-B887-95D5BF23D10D}" type="slidenum">
              <a:rPr lang="en-US">
                <a:solidFill>
                  <a:prstClr val="white"/>
                </a:solidFill>
                <a:latin typeface="Lucida Sans Unicode"/>
              </a:rPr>
              <a:pPr/>
              <a:t>73</a:t>
            </a:fld>
            <a:endParaRPr lang="en-US">
              <a:solidFill>
                <a:prstClr val="white"/>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981200" y="1600201"/>
            <a:ext cx="3124200" cy="4525963"/>
          </a:xfrm>
        </p:spPr>
        <p:txBody>
          <a:bodyPr/>
          <a:lstStyle/>
          <a:p>
            <a:r>
              <a:rPr lang="en-US" b="1" dirty="0"/>
              <a:t>Nephritis/CRF</a:t>
            </a:r>
            <a:r>
              <a:rPr lang="en-US" dirty="0"/>
              <a:t>: any disease of the kidney marked by swelling and abnormal function.</a:t>
            </a:r>
          </a:p>
        </p:txBody>
      </p:sp>
      <p:sp>
        <p:nvSpPr>
          <p:cNvPr id="4" name="Content Placeholder 3"/>
          <p:cNvSpPr>
            <a:spLocks noGrp="1"/>
          </p:cNvSpPr>
          <p:nvPr>
            <p:ph sz="half" idx="2"/>
          </p:nvPr>
        </p:nvSpPr>
        <p:spPr>
          <a:xfrm>
            <a:off x="5029200" y="1600201"/>
            <a:ext cx="5181600" cy="4525963"/>
          </a:xfrm>
        </p:spPr>
        <p:txBody>
          <a:bodyPr/>
          <a:lstStyle/>
          <a:p>
            <a:r>
              <a:rPr lang="en-US" dirty="0"/>
              <a:t>Characteristics of kidney disease are bloody urine, persistent protein in urine, pus in urine, edema, difficult urination, and pain in the back.</a:t>
            </a:r>
          </a:p>
        </p:txBody>
      </p:sp>
      <p:sp>
        <p:nvSpPr>
          <p:cNvPr id="5" name="Slide Number Placeholder 4"/>
          <p:cNvSpPr>
            <a:spLocks noGrp="1"/>
          </p:cNvSpPr>
          <p:nvPr>
            <p:ph type="sldNum" sz="quarter" idx="12"/>
          </p:nvPr>
        </p:nvSpPr>
        <p:spPr/>
        <p:txBody>
          <a:bodyPr/>
          <a:lstStyle/>
          <a:p>
            <a:fld id="{65E7C573-500D-4A75-B887-95D5BF23D10D}" type="slidenum">
              <a:rPr lang="en-US">
                <a:solidFill>
                  <a:prstClr val="white"/>
                </a:solidFill>
                <a:latin typeface="Lucida Sans Unicode"/>
              </a:rPr>
              <a:pPr/>
              <a:t>74</a:t>
            </a:fld>
            <a:endParaRPr lang="en-US">
              <a:solidFill>
                <a:prstClr val="white"/>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981200" y="1600201"/>
            <a:ext cx="3276600" cy="4525963"/>
          </a:xfrm>
        </p:spPr>
        <p:txBody>
          <a:bodyPr>
            <a:normAutofit fontScale="92500" lnSpcReduction="20000"/>
          </a:bodyPr>
          <a:lstStyle/>
          <a:p>
            <a:r>
              <a:rPr lang="en-US" b="1" dirty="0"/>
              <a:t>Stroke</a:t>
            </a:r>
            <a:r>
              <a:rPr lang="en-US" dirty="0"/>
              <a:t>: a condition due to the lack of oxygen to the brain that may lead to reversible or irreversible paralysis.</a:t>
            </a:r>
          </a:p>
        </p:txBody>
      </p:sp>
      <p:sp>
        <p:nvSpPr>
          <p:cNvPr id="4" name="Content Placeholder 3"/>
          <p:cNvSpPr>
            <a:spLocks noGrp="1"/>
          </p:cNvSpPr>
          <p:nvPr>
            <p:ph sz="half" idx="2"/>
          </p:nvPr>
        </p:nvSpPr>
        <p:spPr>
          <a:xfrm>
            <a:off x="5562600" y="1600201"/>
            <a:ext cx="4648200" cy="4525963"/>
          </a:xfrm>
        </p:spPr>
        <p:txBody>
          <a:bodyPr>
            <a:normAutofit fontScale="92500" lnSpcReduction="20000"/>
          </a:bodyPr>
          <a:lstStyle/>
          <a:p>
            <a:r>
              <a:rPr lang="en-US" dirty="0"/>
              <a:t>Stroke is linked to advanced age, high blood pressure, previous attacks of poor circulation, cigarette smoking, heart disorders, embolism, family history of strokes, use of birth-control pills, diabetes mellitus, lack of exercise, over weight, high cholesterol, and </a:t>
            </a:r>
            <a:r>
              <a:rPr lang="en-US" dirty="0" err="1"/>
              <a:t>hyperlipidemia</a:t>
            </a:r>
            <a:r>
              <a:rPr lang="en-US" dirty="0"/>
              <a:t>.</a:t>
            </a:r>
          </a:p>
        </p:txBody>
      </p:sp>
      <p:sp>
        <p:nvSpPr>
          <p:cNvPr id="5" name="Slide Number Placeholder 4"/>
          <p:cNvSpPr>
            <a:spLocks noGrp="1"/>
          </p:cNvSpPr>
          <p:nvPr>
            <p:ph type="sldNum" sz="quarter" idx="12"/>
          </p:nvPr>
        </p:nvSpPr>
        <p:spPr/>
        <p:txBody>
          <a:bodyPr/>
          <a:lstStyle/>
          <a:p>
            <a:fld id="{65E7C573-500D-4A75-B887-95D5BF23D10D}" type="slidenum">
              <a:rPr lang="en-US">
                <a:solidFill>
                  <a:prstClr val="white"/>
                </a:solidFill>
                <a:latin typeface="Lucida Sans Unicode"/>
              </a:rPr>
              <a:pPr/>
              <a:t>75</a:t>
            </a:fld>
            <a:endParaRPr lang="en-US">
              <a:solidFill>
                <a:prstClr val="white"/>
              </a:solidFill>
              <a:latin typeface="Lucida Sans Unicode"/>
            </a:endParaRPr>
          </a:p>
        </p:txBody>
      </p:sp>
      <p:sp>
        <p:nvSpPr>
          <p:cNvPr id="2" name="Title 1"/>
          <p:cNvSpPr>
            <a:spLocks noGrp="1"/>
          </p:cNvSpPr>
          <p:nvPr>
            <p:ph type="title"/>
          </p:nvPr>
        </p:nvSpPr>
        <p:spPr/>
        <p:txBody>
          <a:bodyPr>
            <a:normAutofit fontScale="90000"/>
          </a:bodyPr>
          <a:lstStyle/>
          <a:p>
            <a:r>
              <a:rPr lang="en-US" dirty="0"/>
              <a:t>LIFE STYLE DISEASES</a:t>
            </a:r>
            <a:br>
              <a:rPr lang="en-US" dirty="0"/>
            </a:br>
            <a:r>
              <a:rPr lang="en-US" dirty="0"/>
              <a:t> INTRODUCTION CONT’D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normAutofit/>
          </a:bodyPr>
          <a:lstStyle/>
          <a:p>
            <a:r>
              <a:rPr lang="en-US" b="1" dirty="0"/>
              <a:t>What is cardiovascular disease?</a:t>
            </a:r>
            <a:r>
              <a:rPr lang="en-US" dirty="0"/>
              <a:t/>
            </a:r>
            <a:br>
              <a:rPr lang="en-US" dirty="0"/>
            </a:br>
            <a:r>
              <a:rPr lang="en-US" dirty="0"/>
              <a:t>Cardiovascular disease involves the heart and its two networks of blood vessels, the system which circulates the blood throughout the body and the system which circulates the blood through the lungs.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76</a:t>
            </a:fld>
            <a:endParaRPr lang="en-US">
              <a:solidFill>
                <a:prstClr val="black"/>
              </a:solidFill>
              <a:latin typeface="Lucida Sans Unicode"/>
            </a:endParaRPr>
          </a:p>
        </p:txBody>
      </p:sp>
      <p:sp>
        <p:nvSpPr>
          <p:cNvPr id="5" name="Title 4"/>
          <p:cNvSpPr>
            <a:spLocks noGrp="1"/>
          </p:cNvSpPr>
          <p:nvPr>
            <p:ph type="title"/>
          </p:nvPr>
        </p:nvSpPr>
        <p:spPr/>
        <p:txBody>
          <a:bodyPr>
            <a:normAutofit/>
          </a:bodyPr>
          <a:lstStyle/>
          <a:p>
            <a:r>
              <a:rPr lang="en-US" b="1" dirty="0"/>
              <a:t>CARDIOVASCULAR DISEASE </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heart, apart from what other mythical and emotional characteristics we may ascribe to it, is basically a living pump. Its failure, for whatever reason, usually means instant death. The heart is one of the hardest working organs in the body; it contracts and expands about 100,000 times every day. It supplies a blood vessel network 96,000 kilometers long and pumps in excess of 10,000 liters of blood around the body every single day. </a:t>
            </a:r>
          </a:p>
          <a:p>
            <a:endParaRPr lang="en-US" dirty="0"/>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77</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b="1" dirty="0"/>
              <a:t>What is cardiovascular disease? CONT’D</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981200"/>
            <a:ext cx="8229600" cy="4724400"/>
          </a:xfrm>
        </p:spPr>
        <p:txBody>
          <a:bodyPr>
            <a:normAutofit fontScale="85000" lnSpcReduction="20000"/>
          </a:bodyPr>
          <a:lstStyle/>
          <a:p>
            <a:r>
              <a:rPr lang="en-US" dirty="0"/>
              <a:t>The heart pumps returning "used" blood through the lung capillaries where waste gas, primarily carbon dioxide, is expelled and fresh oxygen is taken up by the blood. From the lungs the now oxygenated, bright red blood is pumped through the aorta into the smaller arteries, the capillaries, where the actual nutrient and oxygen exchange with individual body cells takes place, and then back to the heart through the veins. Immediately after exiting from the heart the aorta branches off into the right and left coronary arteries which supply the heart itself with fresh blood and the nutrients it needs. The coronary arteries are attached directly to the wall of the heart and are squeezed and expanded 100,000 times a day. This constant stress makes them especially vulnerable to damage and disease</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78</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b="1" dirty="0"/>
              <a:t>What is cardiovascular disease cont’d</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Coronary heart disease and stroke are the two major manifestations of cardiovascular disease. Coronary heart disease strikes hardest at men in their mid-fifties while women usually are spared until about age 65. Coronary heart disease is also known as ischemic heart disease and its most common forms are myocardial infarction (heart attack) and angina pectoris (chest pain).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79</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b="1" dirty="0"/>
              <a:t>What is cardiovascular disease cont’d</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Conduction disturbances, valve malfunctions, and arrhythmias are other common manifestations of heart disease, but their significance pales in comparison with the impact of coronary heart disease. Stroke, intermittent </a:t>
            </a:r>
            <a:r>
              <a:rPr lang="en-US" dirty="0" err="1"/>
              <a:t>claudication</a:t>
            </a:r>
            <a:r>
              <a:rPr lang="en-US" dirty="0"/>
              <a:t> (a peripheral vascular disease) and macular degeneration (a leading cause of blindness involving the central part of the retina) are cousins of coronary heart disease and all have one common ancestor - atherosclerosis. </a:t>
            </a:r>
          </a:p>
          <a:p>
            <a:endParaRPr lang="en-US" dirty="0"/>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80</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b="1" dirty="0"/>
              <a:t>What is cardiovascular disease cont’d</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b="1" dirty="0"/>
              <a:t>Atherosclerosis</a:t>
            </a:r>
            <a:r>
              <a:rPr lang="en-US" dirty="0"/>
              <a:t/>
            </a:r>
            <a:br>
              <a:rPr lang="en-US" dirty="0"/>
            </a:br>
            <a:r>
              <a:rPr lang="en-US" dirty="0"/>
              <a:t>Atherosclerosis is a disease of the arteries in which fatty, often calcified deposits develop on the inside of the arterial walls and eventually cause blockages which lead to cardiovascular disease. Atherosclerosis is the result of the body's attempt to patch up injuries to the inside of the arterial walls. These injuries come about because of weaknesses in the walls and because the walls are constantly exposed to mechanical stress induced by the heart's pumping action. This stress is exacerbated by high blood pressure (hypertension) and chronic emotional stress. </a:t>
            </a:r>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81</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b="1" dirty="0"/>
              <a:t>	ATHEROSCLEROSIS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Free radical activity also plays a major role in the development and progression of atherosclerosis both through the generation of oxidized, reactive lipoproteins (compounds of proteins and fats which serve as carriers for cholesterol) and through direct attacks on the DNA of the arterial wall cells.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82</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b="1" dirty="0"/>
              <a:t>	ATHEROSCLEROSIS cont’d</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body attempts to repair the damage to the arterial walls by producing more smooth-muscle cells in the area of the injury; these cells in turn tend to accumulate cholesterol and oxidized lipoproteins and may also undergo calcification. As the deposits grow they narrow the inside opening of the artery and eventually create a blockage. If the blockage is in the coronary arteries angina pectoris may develop or a heart attack may occur. If it is in the brain, a stroke may be the result and if the blockage is in the legs intermittent </a:t>
            </a:r>
            <a:r>
              <a:rPr lang="en-US" dirty="0" err="1"/>
              <a:t>claudication</a:t>
            </a:r>
            <a:r>
              <a:rPr lang="en-US" dirty="0"/>
              <a:t> may occur.</a:t>
            </a:r>
          </a:p>
          <a:p>
            <a:pPr>
              <a:buNone/>
            </a:pPr>
            <a:endParaRPr lang="en-US" dirty="0"/>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83</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b="1" dirty="0"/>
              <a:t>	ATHEROSCLEROSIS cont’d</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dirty="0"/>
              <a:t>RISK FACTORS:</a:t>
            </a:r>
          </a:p>
          <a:p>
            <a:pPr lvl="0"/>
            <a:r>
              <a:rPr lang="en-US" dirty="0"/>
              <a:t>Many scientific studies have shown that a lack of vitamin C and other antioxidants increases the risk of heart disease and stroke.</a:t>
            </a:r>
          </a:p>
          <a:p>
            <a:pPr lvl="0"/>
            <a:r>
              <a:rPr lang="en-US" dirty="0"/>
              <a:t> </a:t>
            </a:r>
            <a:r>
              <a:rPr lang="en-US" b="1" dirty="0"/>
              <a:t>smoking</a:t>
            </a:r>
            <a:r>
              <a:rPr lang="en-US" dirty="0"/>
              <a:t>,</a:t>
            </a:r>
          </a:p>
          <a:p>
            <a:pPr lvl="0"/>
            <a:r>
              <a:rPr lang="en-US" dirty="0"/>
              <a:t> a high level of </a:t>
            </a:r>
            <a:r>
              <a:rPr lang="en-US" b="1" dirty="0"/>
              <a:t>cholesterol and lipoproteins</a:t>
            </a:r>
            <a:r>
              <a:rPr lang="en-US" dirty="0"/>
              <a:t>, </a:t>
            </a:r>
          </a:p>
          <a:p>
            <a:pPr lvl="0"/>
            <a:r>
              <a:rPr lang="en-US" b="1" dirty="0"/>
              <a:t>diabetes</a:t>
            </a:r>
            <a:r>
              <a:rPr lang="en-US" dirty="0"/>
              <a:t>, </a:t>
            </a:r>
          </a:p>
          <a:p>
            <a:pPr lvl="0"/>
            <a:r>
              <a:rPr lang="en-US" b="1" dirty="0"/>
              <a:t>hypertension</a:t>
            </a:r>
            <a:r>
              <a:rPr lang="en-US" dirty="0"/>
              <a:t> (high blood pressure), </a:t>
            </a:r>
          </a:p>
          <a:p>
            <a:pPr lvl="0"/>
            <a:r>
              <a:rPr lang="en-US" b="1" dirty="0"/>
              <a:t>obesity</a:t>
            </a:r>
            <a:r>
              <a:rPr lang="en-US" dirty="0"/>
              <a:t> (especially around the abdomen) </a:t>
            </a:r>
          </a:p>
          <a:p>
            <a:pPr lvl="0"/>
            <a:r>
              <a:rPr lang="en-US" b="1" dirty="0"/>
              <a:t>lack of exercise</a:t>
            </a:r>
            <a:r>
              <a:rPr lang="en-US" dirty="0"/>
              <a:t>.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84</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b="1" dirty="0"/>
              <a:t>	ATHEROSCLEROSIS cont’d</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295400"/>
            <a:ext cx="8229600" cy="5181600"/>
          </a:xfrm>
        </p:spPr>
        <p:txBody>
          <a:bodyPr>
            <a:normAutofit fontScale="92500" lnSpcReduction="20000"/>
          </a:bodyPr>
          <a:lstStyle/>
          <a:p>
            <a:pPr>
              <a:buNone/>
            </a:pPr>
            <a:r>
              <a:rPr lang="en-US" dirty="0"/>
              <a:t>RISK FACTORS CONT’D</a:t>
            </a:r>
          </a:p>
          <a:p>
            <a:pPr lvl="0"/>
            <a:r>
              <a:rPr lang="en-US" b="1" dirty="0"/>
              <a:t>Genetic predisposition</a:t>
            </a:r>
            <a:r>
              <a:rPr lang="en-US" dirty="0"/>
              <a:t> can also be a factor in the development of heart disease, but some experts downplay its importance. </a:t>
            </a:r>
          </a:p>
          <a:p>
            <a:pPr lvl="0"/>
            <a:r>
              <a:rPr lang="en-US" dirty="0"/>
              <a:t>Excessive exposure to </a:t>
            </a:r>
            <a:r>
              <a:rPr lang="en-US" b="1" dirty="0"/>
              <a:t>free radicals</a:t>
            </a:r>
            <a:r>
              <a:rPr lang="en-US" dirty="0"/>
              <a:t> generated through contact with pesticides, chlorinated water, air pollutants and other toxic chemicals is a strong risk factor for cardiovascular disease. </a:t>
            </a:r>
          </a:p>
          <a:p>
            <a:pPr lvl="0"/>
            <a:r>
              <a:rPr lang="en-US" dirty="0"/>
              <a:t>Chronic emotional </a:t>
            </a:r>
            <a:r>
              <a:rPr lang="en-US" b="1" dirty="0"/>
              <a:t>stress</a:t>
            </a:r>
            <a:r>
              <a:rPr lang="en-US" dirty="0"/>
              <a:t> is also a significant risk factor and acute emotional or physical stress may precipitate a heart attack. Stress not only raises the blood pressure and constricts the arteries, it also generates large quantities of adrenalin which the body converts to </a:t>
            </a:r>
            <a:r>
              <a:rPr lang="en-US" dirty="0" err="1"/>
              <a:t>adrenochrome</a:t>
            </a:r>
            <a:r>
              <a:rPr lang="en-US" dirty="0"/>
              <a:t> - a potent free radical.</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85</a:t>
            </a:fld>
            <a:endParaRPr lang="en-US">
              <a:solidFill>
                <a:prstClr val="black"/>
              </a:solidFill>
              <a:latin typeface="Lucida Sans Unicode"/>
            </a:endParaRPr>
          </a:p>
        </p:txBody>
      </p:sp>
      <p:sp>
        <p:nvSpPr>
          <p:cNvPr id="2" name="Title 1"/>
          <p:cNvSpPr>
            <a:spLocks noGrp="1"/>
          </p:cNvSpPr>
          <p:nvPr>
            <p:ph type="title"/>
          </p:nvPr>
        </p:nvSpPr>
        <p:spPr>
          <a:xfrm>
            <a:off x="1981200" y="228600"/>
            <a:ext cx="8229600" cy="609600"/>
          </a:xfrm>
        </p:spPr>
        <p:txBody>
          <a:bodyPr>
            <a:normAutofit fontScale="90000"/>
          </a:bodyPr>
          <a:lstStyle/>
          <a:p>
            <a:r>
              <a:rPr lang="en-US" b="1" dirty="0"/>
              <a:t>ATHEROSCLEROSIS cont’d</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RISK FACTORS CONT’D</a:t>
            </a:r>
          </a:p>
          <a:p>
            <a:pPr lvl="0"/>
            <a:r>
              <a:rPr lang="en-US" dirty="0"/>
              <a:t>The role of </a:t>
            </a:r>
            <a:r>
              <a:rPr lang="en-US" b="1" dirty="0"/>
              <a:t>alcohol</a:t>
            </a:r>
            <a:r>
              <a:rPr lang="en-US" dirty="0"/>
              <a:t> in the development of cardiovascular disease is controversial. Recent research has shown that consumption of moderate amounts of wine, especially red wine, actually reduces the risk of developing heart disease; other studies dispute this. The consensus of opinion now seems to be that a couple of glasses of wine or a beer or two a day will not promote heart disease and may even help to prevent it. Heavy drinking, however, is still considered a potent risk factor for heart disease.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86</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b="1" dirty="0"/>
              <a:t>ATHEROSCLEROSIS cont’d</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RISK FACTORS CONT’D</a:t>
            </a:r>
          </a:p>
          <a:p>
            <a:pPr lvl="0">
              <a:buNone/>
            </a:pPr>
            <a:r>
              <a:rPr lang="en-US" b="1" dirty="0"/>
              <a:t>Iron</a:t>
            </a:r>
            <a:r>
              <a:rPr lang="en-US" dirty="0"/>
              <a:t> has recently been implicated in heart disease. Researchers at Harvard University now conclude that it is not the overall iron intake which increases the risk of heart attack, but rather the intake of </a:t>
            </a:r>
            <a:r>
              <a:rPr lang="en-US" dirty="0" err="1"/>
              <a:t>heme</a:t>
            </a:r>
            <a:r>
              <a:rPr lang="en-US" dirty="0"/>
              <a:t> iron as found in red meat. The Harvard researchers found that men who ate beef four times or more per week had a 38% greater risk of having a heart attack than did men who ate beef once per month or less. More recent studies show that the body is remarkably efficient in keeping the blood's iron content within safe limits.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87</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b="1" dirty="0"/>
              <a:t>ATHEROSCLEROSIS cont’d</a:t>
            </a: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600200"/>
            <a:ext cx="8229600" cy="4953000"/>
          </a:xfrm>
        </p:spPr>
        <p:txBody>
          <a:bodyPr>
            <a:normAutofit fontScale="92500" lnSpcReduction="10000"/>
          </a:bodyPr>
          <a:lstStyle/>
          <a:p>
            <a:r>
              <a:rPr lang="en-US" dirty="0"/>
              <a:t>RISK FACTORS CONT’D</a:t>
            </a:r>
          </a:p>
          <a:p>
            <a:pPr lvl="0"/>
            <a:r>
              <a:rPr lang="en-US" b="1" dirty="0"/>
              <a:t>Cholesterol</a:t>
            </a:r>
            <a:r>
              <a:rPr lang="en-US" dirty="0"/>
              <a:t> is an important intermediary in the production of many vital hormones. The liver supplies all the body's needs (about 3000 mg/day) and any excess dietary intake is unnecessary and harmful. </a:t>
            </a:r>
          </a:p>
          <a:p>
            <a:pPr lvl="0"/>
            <a:r>
              <a:rPr lang="en-US" dirty="0"/>
              <a:t>Recent research has shown that a high level of the amino acid, </a:t>
            </a:r>
            <a:r>
              <a:rPr lang="en-US" b="1" dirty="0" err="1"/>
              <a:t>homocysteine</a:t>
            </a:r>
            <a:r>
              <a:rPr lang="en-US" dirty="0"/>
              <a:t>, in the blood increases the risk of cardiovascular disease very significantly. Finnish researchers have discovered that </a:t>
            </a:r>
            <a:r>
              <a:rPr lang="en-US" b="1" dirty="0"/>
              <a:t>mercury</a:t>
            </a:r>
            <a:r>
              <a:rPr lang="en-US" dirty="0"/>
              <a:t> is a potent initiator of heart disease and other researchers have found that the risk rises with the number of amalgam tooth fillings. </a:t>
            </a:r>
          </a:p>
          <a:p>
            <a:pPr>
              <a:buNone/>
            </a:pPr>
            <a:endParaRPr lang="en-US" dirty="0"/>
          </a:p>
          <a:p>
            <a:pPr>
              <a:buNone/>
            </a:pPr>
            <a:endParaRPr lang="en-US" dirty="0"/>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88</a:t>
            </a:fld>
            <a:endParaRPr lang="en-US">
              <a:solidFill>
                <a:prstClr val="black"/>
              </a:solidFill>
              <a:latin typeface="Lucida Sans Unicode"/>
            </a:endParaRPr>
          </a:p>
        </p:txBody>
      </p:sp>
      <p:sp>
        <p:nvSpPr>
          <p:cNvPr id="2" name="Title 1"/>
          <p:cNvSpPr>
            <a:spLocks noGrp="1"/>
          </p:cNvSpPr>
          <p:nvPr>
            <p:ph type="title"/>
          </p:nvPr>
        </p:nvSpPr>
        <p:spPr>
          <a:xfrm>
            <a:off x="1981200" y="704088"/>
            <a:ext cx="8229600" cy="743712"/>
          </a:xfrm>
        </p:spPr>
        <p:txBody>
          <a:bodyPr>
            <a:normAutofit/>
          </a:bodyPr>
          <a:lstStyle/>
          <a:p>
            <a:r>
              <a:rPr lang="en-US" b="1" dirty="0"/>
              <a:t>ATHEROSCLEROSIS cont’d</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RISK FACTORS CONT’D</a:t>
            </a:r>
          </a:p>
          <a:p>
            <a:pPr lvl="0"/>
            <a:r>
              <a:rPr lang="en-US" dirty="0"/>
              <a:t>The </a:t>
            </a:r>
            <a:r>
              <a:rPr lang="en-US" i="1" dirty="0"/>
              <a:t>Helicobacter pylori</a:t>
            </a:r>
            <a:r>
              <a:rPr lang="en-US" dirty="0"/>
              <a:t> bacterium has also been implicated in the development of coronary heart disease. </a:t>
            </a:r>
          </a:p>
          <a:p>
            <a:r>
              <a:rPr lang="en-US" dirty="0"/>
              <a:t>The prevention of heart disease and stroke is synonymous with the prevention of atherosclerosis. Atherosclerosis can be prevented by developing strong artery walls, by controlling the factors which cause injuries to them and by minimizing the level of fats, lipoproteins, cholesterol and </a:t>
            </a:r>
            <a:r>
              <a:rPr lang="en-US" dirty="0" err="1"/>
              <a:t>homocysteine</a:t>
            </a:r>
            <a:r>
              <a:rPr lang="en-US" dirty="0"/>
              <a:t> in the blood.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89</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b="1" dirty="0"/>
              <a:t>ATHEROSCLEROSIS cont’d</a:t>
            </a: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371600"/>
            <a:ext cx="8229600" cy="5334000"/>
          </a:xfrm>
        </p:spPr>
        <p:txBody>
          <a:bodyPr>
            <a:normAutofit fontScale="92500" lnSpcReduction="10000"/>
          </a:bodyPr>
          <a:lstStyle/>
          <a:p>
            <a:pPr>
              <a:buNone/>
            </a:pPr>
            <a:r>
              <a:rPr lang="en-US" b="1" dirty="0"/>
              <a:t>1:</a:t>
            </a:r>
            <a:r>
              <a:rPr lang="en-US" dirty="0"/>
              <a:t>A healthy </a:t>
            </a:r>
            <a:r>
              <a:rPr lang="en-US" b="1" dirty="0"/>
              <a:t>diet</a:t>
            </a:r>
            <a:r>
              <a:rPr lang="en-US" dirty="0"/>
              <a:t> is the strongest protection against cardiovascular disease. A heart-healthy diet is rich in fruits and vegetables and low in saturated fat, cholesterol, meat, and sugar. </a:t>
            </a:r>
          </a:p>
          <a:p>
            <a:r>
              <a:rPr lang="en-US" dirty="0"/>
              <a:t>The World Health Organization recommends that dietary fats should only supply between 15 and 35% of daily energy intake with 30% being the maximum for sedentary individuals. Less than 10% of the daily energy intake should be in the form of saturated fat and the daily cholesterol intake should not exceed 300 mg (one egg) </a:t>
            </a:r>
          </a:p>
          <a:p>
            <a:r>
              <a:rPr lang="en-US" dirty="0"/>
              <a:t>Other researchers </a:t>
            </a:r>
            <a:r>
              <a:rPr lang="en-US" dirty="0" err="1"/>
              <a:t>recommed</a:t>
            </a:r>
            <a:r>
              <a:rPr lang="en-US" dirty="0"/>
              <a:t> an increased intake of non-contaminated fish as an effective way of reducing the risk of cardiovascular disease. </a:t>
            </a:r>
          </a:p>
          <a:p>
            <a:pPr lvl="0"/>
            <a:endParaRPr lang="en-US" dirty="0"/>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90</a:t>
            </a:fld>
            <a:endParaRPr lang="en-US">
              <a:solidFill>
                <a:prstClr val="black"/>
              </a:solidFill>
              <a:latin typeface="Lucida Sans Unicode"/>
            </a:endParaRPr>
          </a:p>
        </p:txBody>
      </p:sp>
      <p:sp>
        <p:nvSpPr>
          <p:cNvPr id="2" name="Title 1"/>
          <p:cNvSpPr>
            <a:spLocks noGrp="1"/>
          </p:cNvSpPr>
          <p:nvPr>
            <p:ph type="title"/>
          </p:nvPr>
        </p:nvSpPr>
        <p:spPr>
          <a:xfrm>
            <a:off x="1981200" y="704088"/>
            <a:ext cx="8229600" cy="591312"/>
          </a:xfrm>
        </p:spPr>
        <p:txBody>
          <a:bodyPr>
            <a:normAutofit fontScale="90000"/>
          </a:bodyPr>
          <a:lstStyle/>
          <a:p>
            <a:r>
              <a:rPr lang="en-US" dirty="0"/>
              <a:t>PREVENTION OF HEART DISEASE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447800"/>
            <a:ext cx="8229600" cy="5105400"/>
          </a:xfrm>
        </p:spPr>
        <p:txBody>
          <a:bodyPr>
            <a:normAutofit fontScale="85000" lnSpcReduction="20000"/>
          </a:bodyPr>
          <a:lstStyle/>
          <a:p>
            <a:pPr lvl="0">
              <a:buNone/>
            </a:pPr>
            <a:r>
              <a:rPr lang="en-US" dirty="0"/>
              <a:t>Most medical experts agree that a high total cholesterol level is a critical risk factor for cardiovascular disease and that a reduction in overall cholesterol levels is an important measure in preventing and treating atherosclerosis. There are, however, dissenters who provide compelling evidence that reducing total cholesterol levels has little if any effect on the progression of atherosclerosis and does not lower overall mortality or even mortality from cardiovascular disease. It may well be that a high cholesterol level is relatively unimportant in comparison to the major risk factors of hypertension, smoking, obesity, diabetes, and physical inactivity. Whatever the truth, there is now a growing consensus that a concerted effort should be made to lower cholesterol levels by dietary changes before considering drug therapy.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91</a:t>
            </a:fld>
            <a:endParaRPr lang="en-US">
              <a:solidFill>
                <a:prstClr val="black"/>
              </a:solidFill>
              <a:latin typeface="Lucida Sans Unicode"/>
            </a:endParaRPr>
          </a:p>
        </p:txBody>
      </p:sp>
      <p:sp>
        <p:nvSpPr>
          <p:cNvPr id="2" name="Title 1"/>
          <p:cNvSpPr>
            <a:spLocks noGrp="1"/>
          </p:cNvSpPr>
          <p:nvPr>
            <p:ph type="title"/>
          </p:nvPr>
        </p:nvSpPr>
        <p:spPr>
          <a:xfrm>
            <a:off x="1981200" y="228600"/>
            <a:ext cx="8229600" cy="1143000"/>
          </a:xfrm>
        </p:spPr>
        <p:txBody>
          <a:bodyPr>
            <a:normAutofit fontScale="90000"/>
          </a:bodyPr>
          <a:lstStyle/>
          <a:p>
            <a:r>
              <a:rPr lang="en-US" dirty="0"/>
              <a:t>PREVENTION OF HEART DISEASE CONT’D(healthy diet)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US" dirty="0"/>
              <a:t>A significant increase in the intake of fruit, vegetables, grains and legumes and a drastic reduction in the consumption of saturated fats, cholesterol, meat and sugar are the cornerstones in any cholesterol reduction program. There is extensive evidence that such dietary modifications on their own can bring about impressive reductions in overall cholesterol levels. Very effective cholesterol-lowering programs have been developed which are based on low fat diets, exercise and stress reduction. They not only lower cholesterol but actually reverse blockages in the arteries.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92</a:t>
            </a:fld>
            <a:endParaRPr lang="en-US">
              <a:solidFill>
                <a:prstClr val="black"/>
              </a:solidFill>
              <a:latin typeface="Lucida Sans Unicode"/>
            </a:endParaRPr>
          </a:p>
        </p:txBody>
      </p:sp>
      <p:sp>
        <p:nvSpPr>
          <p:cNvPr id="2" name="Title 1"/>
          <p:cNvSpPr>
            <a:spLocks noGrp="1"/>
          </p:cNvSpPr>
          <p:nvPr>
            <p:ph type="title"/>
          </p:nvPr>
        </p:nvSpPr>
        <p:spPr/>
        <p:txBody>
          <a:bodyPr>
            <a:normAutofit fontScale="90000"/>
          </a:bodyPr>
          <a:lstStyle/>
          <a:p>
            <a:r>
              <a:rPr lang="en-US" dirty="0"/>
              <a:t>PREVENTION OF HEART DISEASE CONT’D(healthy diet)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There are many specific dietary components and supplements which are highly effective in lowering cholesterol levels. Among them are wheat germ, oat bran, soy protein, calcium, green tea, nuts, garlic, and omega-3 fatty acids specifically fish oils and flax oil.  </a:t>
            </a:r>
          </a:p>
          <a:p>
            <a:r>
              <a:rPr lang="en-US" dirty="0"/>
              <a:t>Cholesterol levels can also be lowered by the use of pharmaceutical drugs. However, there is considerable controversy as to the overall benefits of this approach. Niacin (vitamin B3) is equal or superior to pharmaceutical drugs in its ability to lower the "bad" cholesterols and increase the "good" (HDL) cholesterol.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93</a:t>
            </a:fld>
            <a:endParaRPr lang="en-US">
              <a:solidFill>
                <a:prstClr val="black"/>
              </a:solidFill>
              <a:latin typeface="Lucida Sans Unicode"/>
            </a:endParaRPr>
          </a:p>
        </p:txBody>
      </p:sp>
      <p:sp>
        <p:nvSpPr>
          <p:cNvPr id="2" name="Title 1"/>
          <p:cNvSpPr>
            <a:spLocks noGrp="1"/>
          </p:cNvSpPr>
          <p:nvPr>
            <p:ph type="title"/>
          </p:nvPr>
        </p:nvSpPr>
        <p:spPr/>
        <p:txBody>
          <a:bodyPr>
            <a:normAutofit fontScale="90000"/>
          </a:bodyPr>
          <a:lstStyle/>
          <a:p>
            <a:r>
              <a:rPr lang="en-US" dirty="0"/>
              <a:t>PREVENTION OF HEART DISEASE CONT’D(healthy diet)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600200"/>
            <a:ext cx="8229600" cy="4876800"/>
          </a:xfrm>
        </p:spPr>
        <p:txBody>
          <a:bodyPr>
            <a:normAutofit fontScale="92500" lnSpcReduction="20000"/>
          </a:bodyPr>
          <a:lstStyle/>
          <a:p>
            <a:r>
              <a:rPr lang="en-US" b="1" dirty="0"/>
              <a:t>Avoidance of smoking</a:t>
            </a:r>
            <a:r>
              <a:rPr lang="en-US" dirty="0"/>
              <a:t> and secondhand smoke vie with dietary modifications as the single-most effective measure in avoiding cardiovascular disease. Smoking kills over 400,000 Americans every year and over 125,000 of them die from cardiovascular disease. Women smokers who also use oral contraceptives increase their risk of heart attack substantially. Smoking also aggravates angina. Secondhand (passive) smoking increases the risk of heart disease and may aggravate existing angina pectoris. The benefits of quitting smoking occur fairly quickly. Smokers who quit lower their risk of stroke by 27% two years after stopping. Their risk reaches the level of non-smokers after about four years.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94</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b="1" dirty="0"/>
              <a:t>Antioxidants</a:t>
            </a:r>
            <a:r>
              <a:rPr lang="en-US" dirty="0"/>
              <a:t> are very effective in preventing atherosclerosis. They work by deactivating free radicals and </a:t>
            </a:r>
            <a:r>
              <a:rPr lang="en-US" dirty="0" err="1"/>
              <a:t>peroxidized</a:t>
            </a:r>
            <a:r>
              <a:rPr lang="en-US" dirty="0"/>
              <a:t> fats and thereby prevent them from adhering to existing deposits on the artery walls. </a:t>
            </a:r>
          </a:p>
          <a:p>
            <a:r>
              <a:rPr lang="en-US" b="1" dirty="0"/>
              <a:t>Vitamin C</a:t>
            </a:r>
            <a:r>
              <a:rPr lang="en-US" dirty="0"/>
              <a:t> helps to strengthen the artery walls by building up their collagen content. Numerous studies have found that vitamin C or vitamin C- rich foods help prevent heart disease. A low vitamin C intake has also been linked to an increased risk of heart disease and stroke. Vitamin C helps thin the blood, regenerates vitamin E and lowers blood pressure. Vitamin C is safe and free of side effects even at high concentrations. </a:t>
            </a:r>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95</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Vitamin E</a:t>
            </a:r>
            <a:r>
              <a:rPr lang="en-US" dirty="0"/>
              <a:t> prevents cardiovascular disease in several different ways: by protecting low density lipoproteins from oxidation, by inhibiting smooth muscle cell proliferation (a major cause of atherosclerosis), by reducing platelet adhesion (an important factor in the formation of blood clots), and by increasing the concentration of "good" cholesterol (HDL) in the blood. Vitamin E is also useful in preventing diabetes which often leads to heart disease. </a:t>
            </a:r>
          </a:p>
          <a:p>
            <a:r>
              <a:rPr lang="en-US" dirty="0"/>
              <a:t>Vitamin E is entirely safe in dosages up to 1000 mg/day (1000 IU/day) and no toxicity has been observed with dosages as high as 3200 IU/day. Medical advice should, however, be obtained before starting a supplementation program in the case of individuals who have a vitamin K deficiency, a tendency to prolonged bleeding or who are taking anticoagulants like </a:t>
            </a:r>
            <a:r>
              <a:rPr lang="en-US" dirty="0" err="1"/>
              <a:t>warfarin</a:t>
            </a:r>
            <a:r>
              <a:rPr lang="en-US" dirty="0"/>
              <a:t>. </a:t>
            </a:r>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96</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600200"/>
            <a:ext cx="8229600" cy="4800600"/>
          </a:xfrm>
        </p:spPr>
        <p:txBody>
          <a:bodyPr>
            <a:normAutofit/>
          </a:bodyPr>
          <a:lstStyle/>
          <a:p>
            <a:r>
              <a:rPr lang="en-US" b="1" dirty="0"/>
              <a:t>Beta-carotene</a:t>
            </a:r>
            <a:r>
              <a:rPr lang="en-US" dirty="0"/>
              <a:t> is another fat-soluble antioxidant which is highly effective in protecting against free radical damage. Beta-carotene is particularly effective in protecting smokers from lipid </a:t>
            </a:r>
            <a:r>
              <a:rPr lang="en-US" dirty="0" err="1"/>
              <a:t>peroxidation</a:t>
            </a:r>
            <a:r>
              <a:rPr lang="en-US" dirty="0"/>
              <a:t> and thereby lowering their risk of heart disease. Several studies have found that people with a low level of beta-carotene in their blood have an increased risk of developing coronary heart disease.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97</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importance of </a:t>
            </a:r>
            <a:r>
              <a:rPr lang="en-US" b="1" dirty="0"/>
              <a:t>selenium</a:t>
            </a:r>
            <a:r>
              <a:rPr lang="en-US" dirty="0"/>
              <a:t> as a dietary antioxidant is becoming increasingly clear. Selenium is a component of the body's natural antioxidant, glutathione </a:t>
            </a:r>
            <a:r>
              <a:rPr lang="en-US" dirty="0" err="1"/>
              <a:t>peroxidase</a:t>
            </a:r>
            <a:r>
              <a:rPr lang="en-US" dirty="0"/>
              <a:t>, and also plays an important role in </a:t>
            </a:r>
            <a:r>
              <a:rPr lang="en-US" dirty="0" err="1"/>
              <a:t>combatting</a:t>
            </a:r>
            <a:r>
              <a:rPr lang="en-US" dirty="0"/>
              <a:t> the toxic effects of mercury. A low content of selenium in the blood has been linked to an increased risk of cancer and heart disease. A daily intake of 50-200 micrograms is safe and adequate.</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98</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a:t>
            </a:r>
            <a:r>
              <a:rPr lang="en-US" b="1" dirty="0"/>
              <a:t>B-vitamins</a:t>
            </a:r>
            <a:r>
              <a:rPr lang="en-US" dirty="0"/>
              <a:t> are receiving increasing attention as important factors in the prevention of cardiovascular disease. Folic acid, vitamin B6 and vitamin B12 are all important.. Supplementation with </a:t>
            </a:r>
            <a:r>
              <a:rPr lang="en-US" b="1" dirty="0"/>
              <a:t>niacin</a:t>
            </a:r>
            <a:r>
              <a:rPr lang="en-US" dirty="0"/>
              <a:t> (vitamin B3) reduces the risk of developing diabetes. Larger amounts of niacin are also very effective in lowering cholesterol levels.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99</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 </a:t>
            </a:r>
            <a:r>
              <a:rPr lang="en-US" b="1" dirty="0"/>
              <a:t>magnesium</a:t>
            </a:r>
            <a:r>
              <a:rPr lang="en-US" dirty="0"/>
              <a:t> deficiency is closely associated with cardiovascular disease. Lower magnesium concentrations have been found in heart attack patients and administration of magnesium has proven beneficial in treating ventricular arrhythmias. Fatal heart attacks are more common in areas where the water supply is deficient in magnesium and the average intake through the diet is often significantly less than the 200-400 milligrams required daily. </a:t>
            </a:r>
          </a:p>
          <a:p>
            <a:pPr>
              <a:buNone/>
            </a:pPr>
            <a:endParaRPr lang="en-US" dirty="0"/>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100</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Omega-3 fatty acids</a:t>
            </a:r>
            <a:r>
              <a:rPr lang="en-US" dirty="0"/>
              <a:t> found in flax oil and fish oil are all powerful preventers of heart disease. Recent research has shown that supplementation with 3 grams of fish oil per day lowers blood pressure substantially in people with borderline hypertension. </a:t>
            </a:r>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101</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Garlic</a:t>
            </a:r>
            <a:r>
              <a:rPr lang="en-US" dirty="0"/>
              <a:t> lowers cholesterol levels and blood pressure; it also prevents clotting and plays a significant role in the natural "digestion" of blood clots (</a:t>
            </a:r>
            <a:r>
              <a:rPr lang="en-US" dirty="0" err="1"/>
              <a:t>fibrinolysis</a:t>
            </a:r>
            <a:r>
              <a:rPr lang="en-US" dirty="0"/>
              <a:t>). </a:t>
            </a:r>
          </a:p>
          <a:p>
            <a:r>
              <a:rPr lang="en-US" b="1" dirty="0" err="1"/>
              <a:t>Flavonoids</a:t>
            </a:r>
            <a:r>
              <a:rPr lang="en-US" dirty="0"/>
              <a:t>, found in onions, tea and red wine, also lower the risk of coronary heart disease significantly. </a:t>
            </a:r>
          </a:p>
          <a:p>
            <a:r>
              <a:rPr lang="en-US" b="1" dirty="0"/>
              <a:t>Potassium, calcium,</a:t>
            </a:r>
            <a:r>
              <a:rPr lang="en-US" dirty="0"/>
              <a:t> and </a:t>
            </a:r>
            <a:r>
              <a:rPr lang="en-US" b="1" dirty="0"/>
              <a:t>magnesium</a:t>
            </a:r>
            <a:r>
              <a:rPr lang="en-US" dirty="0"/>
              <a:t> are all very effective in the treatment of hypertension, one of the major risk factors for cardiovascular disease. A high intake of dietary fiber (24 g/day or more) lowers high blood pressure. </a:t>
            </a:r>
          </a:p>
          <a:p>
            <a:endParaRPr lang="en-US" dirty="0"/>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102</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Regular </a:t>
            </a:r>
            <a:r>
              <a:rPr lang="en-US" b="1" dirty="0"/>
              <a:t>exercise</a:t>
            </a:r>
            <a:r>
              <a:rPr lang="en-US" dirty="0"/>
              <a:t> is one of the most important measures in the prevention of heart disease, stroke, hypertension, obesity, and diabetes. It is also effective in increasing the blood level of good HDL cholesterol.  </a:t>
            </a:r>
          </a:p>
          <a:p>
            <a:r>
              <a:rPr lang="en-US" dirty="0"/>
              <a:t>Avoidance of excessive </a:t>
            </a:r>
            <a:r>
              <a:rPr lang="en-US" b="1" dirty="0"/>
              <a:t>stress</a:t>
            </a:r>
            <a:r>
              <a:rPr lang="en-US" dirty="0"/>
              <a:t> is another important weapon in the fight against cardiovascular disease. A study by the Harvard Medical School found that men with a high anxiety level had a two to three times higher risk of dying from coronary heart disease than did men with a low level of anxiety.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103</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Exercise,  meditation, long walks, indulging in a hobby, listening to music or relaxation tapes, and making a conscious effort to reduce one's exposure to stress all go a long way towards reducing the risk of cardiovascular disease. </a:t>
            </a:r>
          </a:p>
          <a:p>
            <a:r>
              <a:rPr lang="en-US" dirty="0"/>
              <a:t>It is clear that there are many, many things we can do to effectively prevent cardiovascular disease. However, these diseases take a long time to develop and for many people it is too late to consider prevention; treatment and in many cases, urgent treatment is required.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104</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PREVENTION OF HEART DISEASE CONT’D</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As is the case with most degenerative diseases there are two avenues of treatment - conventional (allopathic) and alternative (natural) treatment. Conventional medicine employs surgery and drugs to treat the symptoms of cardiovascular disease but rarely gets to the root cause of the disease. Alternative methods, on the other hand, bolster the body's innate healing powers and focus on removing the cause of the disease rather than on treating its symptoms. Both types of treatment have a place in the fight against cardiovascular disease. </a:t>
            </a:r>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105</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dirty="0"/>
              <a:t>TREATMENT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Conventional medicine has the edge when it comes to the diagnosis and treatment of acute, life-threatening events. Alternative therapies, on the other hand, are gentler, have far fewer side effects, and are capable of actually reversing heart disease and regaining full health. </a:t>
            </a:r>
          </a:p>
          <a:p>
            <a:r>
              <a:rPr lang="en-US" dirty="0"/>
              <a:t>Searching through your herb book, cutting out the fat in your diet or swallowing a handful of vitamins is not the answer when a heart attack or stroke strikes. This is a case where conventional medicine is very much needed. Well-equipped ambulances, trained paramedics and a smoothly functioning emergency department and intensive care unit can mean the difference between life and death when it comes to an acute myocardial event (heart attack) or a stroke.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106</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dirty="0"/>
              <a:t>CONVENTIONAL TREATMENT </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Diagnosis and Conventional Treatment</a:t>
            </a:r>
            <a:r>
              <a:rPr lang="en-US" dirty="0"/>
              <a:t/>
            </a:r>
            <a:br>
              <a:rPr lang="en-US" dirty="0"/>
            </a:br>
            <a:r>
              <a:rPr lang="en-US" dirty="0"/>
              <a:t>In many cases the first indication of cardiovascular disease is a sudden heart attack.  As one popular medical textbook puts it: "Sudden death is the first and only manifestation of coronary heart disease in about 25% of patients." </a:t>
            </a:r>
          </a:p>
          <a:p>
            <a:r>
              <a:rPr lang="en-US" dirty="0"/>
              <a:t>The most useful non-invasive tests for diagnosing early heart disease involve </a:t>
            </a:r>
            <a:r>
              <a:rPr lang="en-US" b="1" dirty="0"/>
              <a:t>electrocardiograms</a:t>
            </a:r>
            <a:r>
              <a:rPr lang="en-US" dirty="0"/>
              <a:t> taken at rest and during exercise and continuous cardiograms taken over a 24-hour period using a portable </a:t>
            </a:r>
            <a:r>
              <a:rPr lang="en-US" dirty="0" err="1"/>
              <a:t>Holter</a:t>
            </a:r>
            <a:r>
              <a:rPr lang="en-US" dirty="0"/>
              <a:t> monitor. These tests are particularly indicative in people with a number of risk factors for coronary disease (smoking, diabetes, obesity and hypertension); they will also show if a patient has already suffered a mild heart attack without noticing it.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107</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CONVENTIONAL TREATMENT CONT’D</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Diagnosis and Conventional Treatment cont’d</a:t>
            </a:r>
          </a:p>
          <a:p>
            <a:r>
              <a:rPr lang="en-US" b="1" dirty="0"/>
              <a:t>Radioisotope studies</a:t>
            </a:r>
            <a:r>
              <a:rPr lang="en-US" dirty="0"/>
              <a:t> are useful in spotting inadequate blood flow in and around the heart. </a:t>
            </a:r>
            <a:r>
              <a:rPr lang="en-US" b="1" dirty="0"/>
              <a:t>Echocardiography</a:t>
            </a:r>
            <a:r>
              <a:rPr lang="en-US" dirty="0"/>
              <a:t> is another non-invasive technique which is useful in evaluating the heart's performance. Newer techniques for studying heart function without invasive procedures include positron emission tomography (PET scanning), CT scanning, and magnetic resonance spectroscopy. </a:t>
            </a:r>
          </a:p>
          <a:p>
            <a:r>
              <a:rPr lang="en-US" b="1" dirty="0"/>
              <a:t>Coronary </a:t>
            </a:r>
            <a:r>
              <a:rPr lang="en-US" b="1" dirty="0" err="1"/>
              <a:t>arteriography</a:t>
            </a:r>
            <a:r>
              <a:rPr lang="en-US" dirty="0"/>
              <a:t> is an invasive technique used to determine the extent and location of blockages in coronary arteries. It is normally used as a prelude to heart surgery such as angioplasty or bypass surgery. It is less useful and not recommended for diagnosing angina pectoris. Angiography is not very accurate in determining the extent of blockage and is a relatively dangerous procedure.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108</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CONVENTIONAL TREATMENT CONT’D</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two most common indications of cardiovascular disease are angina pectoris (chest pain) and myocardial infarction (heart attack). The pain felt in </a:t>
            </a:r>
            <a:r>
              <a:rPr lang="en-US" b="1" dirty="0"/>
              <a:t>angina pectoris</a:t>
            </a:r>
            <a:r>
              <a:rPr lang="en-US" dirty="0"/>
              <a:t> occurs because blocked arteries prevent an adequate supply of oxygen and nutrients from reaching the heart. Stable angina is brought on by increased physical effort, emotional stress, exposure to secondhand smoke, or even by certain meals or weather changes. Unstable angina can occur during rest or even while sleeping and is often considered to be an intermediate condition between stable angina and a full blown heart attack.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109</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CONVENTIONAL TREATMENT CONT’D</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Angina is treated medically with nitroglycerin, beta- blockers or calcium entry blockers. Nitroglycerin is often used to combat acute attacks and works by relaxing the heart muscle. Beta-blockers (</a:t>
            </a:r>
            <a:r>
              <a:rPr lang="en-US" dirty="0" err="1"/>
              <a:t>propranolol</a:t>
            </a:r>
            <a:r>
              <a:rPr lang="en-US" dirty="0"/>
              <a:t>, </a:t>
            </a:r>
            <a:r>
              <a:rPr lang="en-US" dirty="0" err="1"/>
              <a:t>nadolol</a:t>
            </a:r>
            <a:r>
              <a:rPr lang="en-US" dirty="0"/>
              <a:t>) reduce the heart's oxygen demand by slowing it down while calcium entry blockers (</a:t>
            </a:r>
            <a:r>
              <a:rPr lang="en-US" dirty="0" err="1"/>
              <a:t>verapamil</a:t>
            </a:r>
            <a:r>
              <a:rPr lang="en-US" dirty="0"/>
              <a:t>, </a:t>
            </a:r>
            <a:r>
              <a:rPr lang="en-US" dirty="0" err="1"/>
              <a:t>diltiazem</a:t>
            </a:r>
            <a:r>
              <a:rPr lang="en-US" dirty="0"/>
              <a:t>) also work by dilating the large arteries. Both types of drugs thus lower the demand on the heart, but of course, do nothing to treat the atherosclerosis causing the angina. Neither beta-blockers nor calcium entry blockers significantly reduce mortality or prevent a future heart attack and both have serious side effects. Beta-blockers are a poor choice for patients engaging in vigorous exercise. </a:t>
            </a:r>
          </a:p>
          <a:p>
            <a:pPr>
              <a:buNone/>
            </a:pPr>
            <a:endParaRPr lang="en-US" dirty="0"/>
          </a:p>
          <a:p>
            <a:pPr>
              <a:buNone/>
            </a:pPr>
            <a:endParaRPr lang="en-US" dirty="0"/>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110</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CONVENTIONAL TREATMENT CONT’D</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600200"/>
            <a:ext cx="8229600" cy="5105400"/>
          </a:xfrm>
        </p:spPr>
        <p:txBody>
          <a:bodyPr>
            <a:normAutofit fontScale="85000" lnSpcReduction="10000"/>
          </a:bodyPr>
          <a:lstStyle/>
          <a:p>
            <a:r>
              <a:rPr lang="en-US" dirty="0"/>
              <a:t>A </a:t>
            </a:r>
            <a:r>
              <a:rPr lang="en-US" b="1" dirty="0"/>
              <a:t>heart attack</a:t>
            </a:r>
            <a:r>
              <a:rPr lang="en-US" dirty="0"/>
              <a:t> involves the death of part of the heart's muscle tissue (ischemic necrosis) caused by a sudden disruption in the blood flow to the area. About 25% of all heart attacks are immediately fatal. If the patient makes it to the hospital the chances of survival go up considerably; injections of magnesium sulfate within the first three hours of the attack has been found to increase survival by over 20%. </a:t>
            </a:r>
          </a:p>
          <a:p>
            <a:r>
              <a:rPr lang="en-US" dirty="0"/>
              <a:t>The medical treatment of heart attack survivors is aimed at preventing a second attack and daily intake of relatively small amounts of aspirin has been found quite effective. Arrhythmias are common complications of heart attacks and other heart problems. They are often treated with </a:t>
            </a:r>
            <a:r>
              <a:rPr lang="en-US" dirty="0" err="1"/>
              <a:t>antiarrhythmic</a:t>
            </a:r>
            <a:r>
              <a:rPr lang="en-US" dirty="0"/>
              <a:t> drugs like </a:t>
            </a:r>
            <a:r>
              <a:rPr lang="en-US" dirty="0" err="1"/>
              <a:t>digoxin</a:t>
            </a:r>
            <a:r>
              <a:rPr lang="en-US" dirty="0"/>
              <a:t>, </a:t>
            </a:r>
            <a:r>
              <a:rPr lang="en-US" dirty="0" err="1"/>
              <a:t>verapamil</a:t>
            </a:r>
            <a:r>
              <a:rPr lang="en-US" dirty="0"/>
              <a:t> and </a:t>
            </a:r>
            <a:r>
              <a:rPr lang="en-US" dirty="0" err="1"/>
              <a:t>amidarone</a:t>
            </a:r>
            <a:r>
              <a:rPr lang="en-US" dirty="0"/>
              <a:t>.</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111</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CONVENTIONAL TREATMENT CONT’D</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A </a:t>
            </a:r>
            <a:r>
              <a:rPr lang="en-US" b="1" dirty="0"/>
              <a:t>stroke</a:t>
            </a:r>
            <a:r>
              <a:rPr lang="en-US" dirty="0"/>
              <a:t> (cerebral infarction) is similar to a heart attack except that it occurs in the brain. When brain tissue is deprived of blood and oxygen it is destroyed within a few minutes. Atherosclerosis is by far the most common underlying cause of a stroke. Most strokes occur when loose atherosclerosis plaque or clotted blood block a brain artery already narrowed by atherosclerotic build-up. Strokes can also be caused by the rupture (aneurysm) of an artery in the brain most often in connection with hypertension. There is no therapy which will restore the function of brain tissue destroyed in a stroke so medical treatment essentially consists of rehabilitation and measures to avoid a second stroke.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112</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CONVENTIONAL TREATMENT CONT’D</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Intermittent </a:t>
            </a:r>
            <a:r>
              <a:rPr lang="en-US" b="1" dirty="0" err="1"/>
              <a:t>claudication</a:t>
            </a:r>
            <a:r>
              <a:rPr lang="en-US" dirty="0"/>
              <a:t> involves pain in a muscle to which the blood supply has been restricted due to atherosclerosis. The pains occur with exercise and subside within a couple of minutes once the exercise is stopped. Conventional medical therapy includes an emphasis on daily walks, weight reduction, and total avoidance of smoking. </a:t>
            </a:r>
          </a:p>
          <a:p>
            <a:r>
              <a:rPr lang="en-US" dirty="0"/>
              <a:t>Many cases of coronary heart disease (angina and heart attack) are ultimately treated with surgery. The two most common procedures are angioplasty and bypass surgery.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113</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CONVENTIONAL TREATMENT CONT’D</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In </a:t>
            </a:r>
            <a:r>
              <a:rPr lang="en-US" b="1" dirty="0"/>
              <a:t>angioplasty</a:t>
            </a:r>
            <a:r>
              <a:rPr lang="en-US" dirty="0"/>
              <a:t> a small balloon is guided on a wire into the blocked artery. It is positioned at the blockage and inflated. This causes the arterial wall to stretch and may also dislodge part of the plaque deposit thus resulting in a widening of the artery. Angioplasty is often used in the treatment of an acute heart attack.  Angioplasty is dangerous; it is estimated that 2.5-5% of patients undergoing this operation have a heart attack during or after the surgery and that 2.5-5% require immediate coronary bypass surgery for complications. The overall mortality rate is 0.5 to 1% and highly dependent on the skill of the surgeon. </a:t>
            </a:r>
          </a:p>
          <a:p>
            <a:endParaRPr lang="en-US" dirty="0"/>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114</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CONVENTIONAL TREATMENT CONT’D</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Although angioplasty has proven successful in many cases of stable angina it is often a temporary measure only. About 30 to 45% of patients undergoing angioplasty reform the blockage within six months and are then back to where they started or in need of another angioplasty operation.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115</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CONVENTIONAL TREATMENT CONT’D</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600200"/>
            <a:ext cx="8229600" cy="4876800"/>
          </a:xfrm>
        </p:spPr>
        <p:txBody>
          <a:bodyPr>
            <a:normAutofit fontScale="92500" lnSpcReduction="20000"/>
          </a:bodyPr>
          <a:lstStyle/>
          <a:p>
            <a:r>
              <a:rPr lang="en-US" dirty="0"/>
              <a:t>In </a:t>
            </a:r>
            <a:r>
              <a:rPr lang="en-US" b="1" dirty="0"/>
              <a:t>bypass surgery</a:t>
            </a:r>
            <a:r>
              <a:rPr lang="en-US" dirty="0"/>
              <a:t> sections of a vein from the leg are grafted on to the coronary artery in such a way as to bypass the blockages created by atherosclerotic deposits. Bypass surgery is most commonly used when three or more arteries are blocked (triple or quadruple bypass operation). When only one or two blockages are involved angioplasty is preferred. Bypass operations often reduce angina pains and improve survival after a heart attack, however, they are dangerous and temporary in nature. Surgical mortality rates are between 1 and 3% but can go as high as 10%. The operation accelerates atherosclerosis in and around the grafts and its benefits rarely last more than five or at the most ten years.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116</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CONVENTIONAL TREATMENT CONT’D</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Conventional (allopathic) therapy is largely aimed at ameliorating the symptoms of cardiovascular disease and providing temporary relief of pain and improvement in quality of life. Alternative treatments, on the other hand, aim at containing and reversing the underlying cause of cardiovascular disease, </a:t>
            </a:r>
            <a:r>
              <a:rPr lang="en-US" dirty="0" err="1"/>
              <a:t>ie</a:t>
            </a:r>
            <a:r>
              <a:rPr lang="en-US" dirty="0"/>
              <a:t>. atherosclerosis. They are generally based on the principles which also guide prevention.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117</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b="1" dirty="0"/>
              <a:t>Diet and lifestyle changes</a:t>
            </a:r>
            <a:r>
              <a:rPr lang="en-US" dirty="0"/>
              <a:t> are perhaps the most important tools in the natural treatment of cardiovascular disease. Dr. Dean </a:t>
            </a:r>
            <a:r>
              <a:rPr lang="en-US" dirty="0" err="1"/>
              <a:t>Ornish</a:t>
            </a:r>
            <a:r>
              <a:rPr lang="en-US" dirty="0"/>
              <a:t>, MD has developed a comprehensive program which effectively reverses atherosclerosis in a relatively short time. Dr. </a:t>
            </a:r>
            <a:r>
              <a:rPr lang="en-US" dirty="0" err="1"/>
              <a:t>Ornish's</a:t>
            </a:r>
            <a:r>
              <a:rPr lang="en-US" dirty="0"/>
              <a:t> program focuses on:</a:t>
            </a:r>
          </a:p>
          <a:p>
            <a:pPr lvl="0"/>
            <a:r>
              <a:rPr lang="en-US" dirty="0"/>
              <a:t>stress management, </a:t>
            </a:r>
          </a:p>
          <a:p>
            <a:pPr lvl="0"/>
            <a:r>
              <a:rPr lang="en-US" dirty="0"/>
              <a:t>development of greater intimacy and increased social contact,</a:t>
            </a:r>
          </a:p>
          <a:p>
            <a:pPr lvl="0"/>
            <a:r>
              <a:rPr lang="en-US" dirty="0"/>
              <a:t> a diet devoid of animal products (except egg whites and nonfat dairy products)</a:t>
            </a:r>
          </a:p>
          <a:p>
            <a:pPr lvl="0"/>
            <a:r>
              <a:rPr lang="en-US" dirty="0"/>
              <a:t>very low in fats and cholesterol, </a:t>
            </a:r>
          </a:p>
          <a:p>
            <a:pPr lvl="0"/>
            <a:r>
              <a:rPr lang="en-US" dirty="0"/>
              <a:t>and a program of moderate exercise.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118</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The overcoming of smoking and other addictions is also a key component in the program. Scientific evaluations of Dr. </a:t>
            </a:r>
            <a:r>
              <a:rPr lang="en-US" dirty="0" err="1"/>
              <a:t>Ornish's</a:t>
            </a:r>
            <a:r>
              <a:rPr lang="en-US" dirty="0"/>
              <a:t> program have shown that participants who follow the program for just 24 days reduce their chest pain by over 90%, improve their exercise capacity by 55%, and reduce their cholesterol levels by 21%. Patients who followed the program for a year reduced their coronary artery blockages by significant amounts and also reported a much improved sense of well-being. Dr. </a:t>
            </a:r>
            <a:r>
              <a:rPr lang="en-US" dirty="0" err="1"/>
              <a:t>Ornish's</a:t>
            </a:r>
            <a:r>
              <a:rPr lang="en-US" dirty="0"/>
              <a:t> program has proven so successful in reversing heart disease that major insurance companies now cover the cost of it as an alternative to angioplasty or bypass surgery.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119</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b="1" dirty="0"/>
              <a:t>Antioxidants</a:t>
            </a:r>
            <a:r>
              <a:rPr lang="en-US" dirty="0"/>
              <a:t> and other supplements can be of great benefit in the treatment of heart disease. </a:t>
            </a:r>
          </a:p>
          <a:p>
            <a:r>
              <a:rPr lang="en-US" b="1" dirty="0"/>
              <a:t>Vitamin C</a:t>
            </a:r>
            <a:r>
              <a:rPr lang="en-US" dirty="0"/>
              <a:t> lowers blood pressure and cholesterol levels, helps prevent heart attacks and strokes by thinning the blood and protects the lining of the arteries against further atherosclerotic build-ups(2,7,25,98,107). Vitamin-C also increases the production of HDL-cholesterol which removes deposits from artery walls. Dr. Mathias </a:t>
            </a:r>
            <a:r>
              <a:rPr lang="en-US" dirty="0" err="1"/>
              <a:t>Rath</a:t>
            </a:r>
            <a:r>
              <a:rPr lang="en-US" dirty="0"/>
              <a:t>, MD provides convincing evidence that a supplementation program based on vitamin-C, vitamin-E, B vitamins and the amino acids l-lysine and l-</a:t>
            </a:r>
            <a:r>
              <a:rPr lang="en-US" dirty="0" err="1"/>
              <a:t>proline</a:t>
            </a:r>
            <a:r>
              <a:rPr lang="en-US" dirty="0"/>
              <a:t> can reverse atherosclerosis.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120</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Vitamin E</a:t>
            </a:r>
            <a:r>
              <a:rPr lang="en-US" dirty="0"/>
              <a:t> is highly effective in preventing abnormal blood clotting, it increases the level of HDL and together with selenium has been found useful in reducing angina pain. Long term (3 months or more) supplementation with vitamin-E reduces the leg pain in intermittent </a:t>
            </a:r>
            <a:r>
              <a:rPr lang="en-US" dirty="0" err="1"/>
              <a:t>claudication</a:t>
            </a:r>
            <a:r>
              <a:rPr lang="en-US" dirty="0"/>
              <a:t> and improves exercise tolerance . Vitamin E in combination with niacin and </a:t>
            </a:r>
            <a:r>
              <a:rPr lang="en-US" dirty="0" err="1"/>
              <a:t>colestipol</a:t>
            </a:r>
            <a:r>
              <a:rPr lang="en-US" dirty="0"/>
              <a:t> is also effective in reversing atherosclerosis. It is also noteworthy that vitamin E supplementation markedly reduces the tendency of arteries to close up again (</a:t>
            </a:r>
            <a:r>
              <a:rPr lang="en-US" dirty="0" err="1"/>
              <a:t>restenosis</a:t>
            </a:r>
            <a:r>
              <a:rPr lang="en-US" dirty="0"/>
              <a:t>) after angioplasty.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121</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Coenzyme Q10</a:t>
            </a:r>
            <a:r>
              <a:rPr lang="en-US" dirty="0"/>
              <a:t> improves the exercise capacity of patients with angina pectoris. Oral supplementation has also been used with good success in patients suffering from congestive heart failure and essential hypertension. Research is ongoing to evaluate the benefits of </a:t>
            </a:r>
            <a:r>
              <a:rPr lang="en-US" dirty="0" err="1"/>
              <a:t>ubiquinone</a:t>
            </a:r>
            <a:r>
              <a:rPr lang="en-US" dirty="0"/>
              <a:t> supplementation prior to cardiac surgery and preliminary results are promising. There is also evidence that coenzyme Q10 is useful in the treatment of mitral valve </a:t>
            </a:r>
            <a:r>
              <a:rPr lang="en-US" dirty="0" err="1"/>
              <a:t>prolapse</a:t>
            </a:r>
            <a:r>
              <a:rPr lang="en-US" dirty="0"/>
              <a:t> and ventricular arrhythmias. </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122</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Magnesium</a:t>
            </a:r>
            <a:r>
              <a:rPr lang="en-US" dirty="0"/>
              <a:t> is proving to be very important in the maintenance of heart health and in the treatment of heart disease. Magnesium, calcium, and potassium are all effective in lowering blood pressure. Magnesium is useful in preventing death from heart attack and protects against further heart attacks. It also reduces the frequency and severity of ventricular arrhythmias and helps prevent complications after bypass surgery.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123</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Fish oil</a:t>
            </a:r>
            <a:r>
              <a:rPr lang="en-US" dirty="0"/>
              <a:t> supplementation lowers blood pressure, helps prevent heart attacks, and reduces the extent of </a:t>
            </a:r>
            <a:r>
              <a:rPr lang="en-US" dirty="0" err="1"/>
              <a:t>restenosis</a:t>
            </a:r>
            <a:r>
              <a:rPr lang="en-US" dirty="0"/>
              <a:t> (reclosing) of arteries which have been unblocked with angioplasty. </a:t>
            </a:r>
            <a:r>
              <a:rPr lang="en-US" b="1" dirty="0"/>
              <a:t>Alpha-</a:t>
            </a:r>
            <a:r>
              <a:rPr lang="en-US" b="1" dirty="0" err="1"/>
              <a:t>linolenic</a:t>
            </a:r>
            <a:r>
              <a:rPr lang="en-US" b="1" dirty="0"/>
              <a:t> acid</a:t>
            </a:r>
            <a:r>
              <a:rPr lang="en-US" dirty="0"/>
              <a:t>, a major component of flax oil and </a:t>
            </a:r>
            <a:r>
              <a:rPr lang="en-US" dirty="0" err="1"/>
              <a:t>purslane</a:t>
            </a:r>
            <a:r>
              <a:rPr lang="en-US" dirty="0"/>
              <a:t>, helps prevent a second heart attack. </a:t>
            </a:r>
          </a:p>
          <a:p>
            <a:r>
              <a:rPr lang="en-US" b="1" dirty="0"/>
              <a:t>Niacin</a:t>
            </a:r>
            <a:r>
              <a:rPr lang="en-US" dirty="0"/>
              <a:t> (vitamin B3) lowers the level of "bad" cholesterol and raises the level of "good" cholesterol; it also helps reduce atherosclerotic plaque. Niacin is also effective in the treatment of </a:t>
            </a:r>
            <a:r>
              <a:rPr lang="en-US" dirty="0" err="1"/>
              <a:t>atrial</a:t>
            </a:r>
            <a:r>
              <a:rPr lang="en-US" dirty="0"/>
              <a:t> fibrillation and helps prevent diabetes, a major risk factor for heart disease.</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124</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Thiamine</a:t>
            </a:r>
            <a:r>
              <a:rPr lang="en-US" dirty="0"/>
              <a:t> (vitamin B1) has been found useful in the treatment of congestive heart failure.</a:t>
            </a:r>
            <a:endParaRPr lang="en-US" b="1" dirty="0"/>
          </a:p>
          <a:p>
            <a:r>
              <a:rPr lang="en-US" b="1" dirty="0"/>
              <a:t>Gingko </a:t>
            </a:r>
            <a:r>
              <a:rPr lang="en-US" b="1" dirty="0" err="1"/>
              <a:t>biloba</a:t>
            </a:r>
            <a:r>
              <a:rPr lang="en-US" dirty="0"/>
              <a:t> is effective in the treatment of intermittent </a:t>
            </a:r>
            <a:r>
              <a:rPr lang="en-US" dirty="0" err="1"/>
              <a:t>claudication</a:t>
            </a:r>
            <a:r>
              <a:rPr lang="en-US" dirty="0"/>
              <a:t> and improves the blood supply to the brain. </a:t>
            </a:r>
          </a:p>
          <a:p>
            <a:r>
              <a:rPr lang="en-US" b="1" dirty="0"/>
              <a:t>Hawthorn</a:t>
            </a:r>
            <a:r>
              <a:rPr lang="en-US" dirty="0"/>
              <a:t> (</a:t>
            </a:r>
            <a:r>
              <a:rPr lang="en-US" i="1" dirty="0" err="1"/>
              <a:t>Crataegus</a:t>
            </a:r>
            <a:r>
              <a:rPr lang="en-US" i="1" dirty="0"/>
              <a:t> </a:t>
            </a:r>
            <a:r>
              <a:rPr lang="en-US" i="1" dirty="0" err="1"/>
              <a:t>oxyacantha</a:t>
            </a:r>
            <a:r>
              <a:rPr lang="en-US" dirty="0"/>
              <a:t>) has long been used in Europe as a heart medicine. It is used in the treatment of arrhythmias, is non-toxic, and has also been found to improve cardiac performance in general.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125</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Exercise</a:t>
            </a:r>
            <a:r>
              <a:rPr lang="en-US" dirty="0"/>
              <a:t> is an important component in the rehabilitation of heart disease patients. Light exercise is just as effective and less dangerous than high intensity training in rehabilitating heart attack victims. Moderate exercise decreases platelet adhesiveness while vigorous exercise may actually increase it. Regular exercise helps prevent obesity and diabetes both important risk factors for heart disease and has also been found to enlarge existing arteries and help build new ones.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126</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err="1"/>
              <a:t>Chelation</a:t>
            </a:r>
            <a:r>
              <a:rPr lang="en-US" b="1" dirty="0"/>
              <a:t> therapy</a:t>
            </a:r>
            <a:r>
              <a:rPr lang="en-US" dirty="0"/>
              <a:t> is the alternative equivalent of heart surgery. It is an established medical practice for the removal of lead and other toxic materials from the body and is now being used to an increasing degree for the removal of calcified atherosclerotic deposits. </a:t>
            </a:r>
          </a:p>
          <a:p>
            <a:r>
              <a:rPr lang="en-US" dirty="0" err="1"/>
              <a:t>Chelation</a:t>
            </a:r>
            <a:r>
              <a:rPr lang="en-US" dirty="0"/>
              <a:t> therapy restores blood circulation and can help to avoid angioplasty and bypass surgery. It is also used in treating arrhythmias, intermittent </a:t>
            </a:r>
            <a:r>
              <a:rPr lang="en-US" dirty="0" err="1"/>
              <a:t>claudication</a:t>
            </a:r>
            <a:r>
              <a:rPr lang="en-US" dirty="0"/>
              <a:t>, and macular degeneration. </a:t>
            </a:r>
          </a:p>
          <a:p>
            <a:pPr>
              <a:buNone/>
            </a:pPr>
            <a:r>
              <a:rPr lang="en-US" dirty="0"/>
              <a:t>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127</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a:t>It </a:t>
            </a:r>
            <a:r>
              <a:rPr lang="en-US" dirty="0"/>
              <a:t>is clear that there is an enormous range of alternative therapies and natural supplements which are highly effective in both preventing and treating cardiovascular disease. These alternative methods deserve thorough evaluation and trial before submitting to a lifelong dependency on pharmaceutical drugs or dangerous, short term, surgical solutions. </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128</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ALTERNATIVE TREATMENT CONT’D</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Hypertension is the term used to describe high blood pressure. Blood pressure is a measurement of the force against the walls of your arteries as the heart pumps blood through the body. Blood pressure readings are measured in millimeters of mercury (mmHg) and usually given as two numbers - for example, 120 over 80 (written as 120/80 mmHg). One or both of these numbers can be too high.</a:t>
            </a:r>
          </a:p>
          <a:p>
            <a:pPr>
              <a:buNone/>
            </a:pPr>
            <a:r>
              <a:rPr lang="en-US" dirty="0"/>
              <a:t>The top number is your systolic pressure.</a:t>
            </a:r>
          </a:p>
          <a:p>
            <a:pPr lvl="0"/>
            <a:r>
              <a:rPr lang="en-US" dirty="0"/>
              <a:t>It is considered high if it is over 140 most of the time.</a:t>
            </a:r>
          </a:p>
          <a:p>
            <a:pPr lvl="0"/>
            <a:r>
              <a:rPr lang="en-US" dirty="0"/>
              <a:t>It is considered normal if it is below 120 most of the time.</a:t>
            </a:r>
          </a:p>
          <a:p>
            <a:pPr>
              <a:buNone/>
            </a:pPr>
            <a:r>
              <a:rPr lang="en-US" dirty="0"/>
              <a:t>The bottom number is your diastolic pressure.</a:t>
            </a:r>
          </a:p>
          <a:p>
            <a:pPr lvl="0"/>
            <a:r>
              <a:rPr lang="en-US" dirty="0"/>
              <a:t>It is considered high if it is over 90 most of the time.</a:t>
            </a:r>
          </a:p>
          <a:p>
            <a:pPr lvl="0"/>
            <a:r>
              <a:rPr lang="en-US" dirty="0"/>
              <a:t>It is considered normal if it is below 80 most of the time.</a:t>
            </a:r>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129</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dirty="0"/>
              <a:t>HYPERTENSION</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a:t>Pre-hypertension may be considered when your:</a:t>
            </a:r>
          </a:p>
          <a:p>
            <a:pPr lvl="0"/>
            <a:r>
              <a:rPr lang="en-US" dirty="0"/>
              <a:t>Top number (systolic blood pressure) is between 120 and 139 most of the time, or</a:t>
            </a:r>
          </a:p>
          <a:p>
            <a:pPr lvl="0"/>
            <a:r>
              <a:rPr lang="en-US" dirty="0"/>
              <a:t>Bottom number (diastolic blood pressure) is between 80 and 89 most of the time</a:t>
            </a:r>
          </a:p>
          <a:p>
            <a:pPr>
              <a:buNone/>
            </a:pPr>
            <a:r>
              <a:rPr lang="en-US" dirty="0"/>
              <a:t>If you have pre-hypertension, you are more likely to develop high blood pressure.</a:t>
            </a:r>
          </a:p>
          <a:p>
            <a:r>
              <a:rPr lang="en-US" dirty="0"/>
              <a:t>If you have heart or kidney problems, or if you had a stroke, your doctor may want your blood pressure to be even lower than that of people who do not have these condition.</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130</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dirty="0"/>
              <a:t>HYPERTENSION CONT’D</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Many factors can affect blood pressure, including:</a:t>
            </a:r>
          </a:p>
          <a:p>
            <a:pPr lvl="0"/>
            <a:r>
              <a:rPr lang="en-US" dirty="0"/>
              <a:t>How much water and salt you have in your body</a:t>
            </a:r>
          </a:p>
          <a:p>
            <a:pPr lvl="0"/>
            <a:r>
              <a:rPr lang="en-US" dirty="0"/>
              <a:t>The condition of your kidneys, nervous system, or blood vessels</a:t>
            </a:r>
          </a:p>
          <a:p>
            <a:pPr lvl="0"/>
            <a:r>
              <a:rPr lang="en-US" dirty="0"/>
              <a:t>The levels of different body hormones</a:t>
            </a:r>
          </a:p>
          <a:p>
            <a:r>
              <a:rPr lang="en-US" dirty="0"/>
              <a:t>You are more likely to be told your blood pressure is too high as you get older. This is because your blood vessels become stiffer as you age. When that happens, your blood pressure goes up. </a:t>
            </a:r>
            <a:r>
              <a:rPr lang="en-US" u="sng" dirty="0">
                <a:hlinkClick r:id="rId2"/>
              </a:rPr>
              <a:t>High blood pressure</a:t>
            </a:r>
            <a:r>
              <a:rPr lang="en-US" dirty="0"/>
              <a:t> increases your chance of having a stroke, heart attack, heart failure, kidney disease, and early death.</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131</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CAUSES OF HIGH BLOOD PRESSURE</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a:t>You have a higher risk of high blood pressure if you:</a:t>
            </a:r>
          </a:p>
          <a:p>
            <a:pPr lvl="0"/>
            <a:r>
              <a:rPr lang="en-US" dirty="0"/>
              <a:t>Are obese</a:t>
            </a:r>
          </a:p>
          <a:p>
            <a:pPr lvl="0"/>
            <a:r>
              <a:rPr lang="en-US" dirty="0"/>
              <a:t>Are often stressed or anxious</a:t>
            </a:r>
          </a:p>
          <a:p>
            <a:pPr lvl="0"/>
            <a:r>
              <a:rPr lang="en-US" dirty="0"/>
              <a:t>Eat too much </a:t>
            </a:r>
            <a:r>
              <a:rPr lang="en-US" dirty="0">
                <a:hlinkClick r:id="rId2"/>
              </a:rPr>
              <a:t>salt in your diet</a:t>
            </a:r>
            <a:endParaRPr lang="en-US" dirty="0"/>
          </a:p>
          <a:p>
            <a:pPr lvl="0"/>
            <a:r>
              <a:rPr lang="en-US" dirty="0"/>
              <a:t>Have a family history of high blood pressure</a:t>
            </a:r>
          </a:p>
          <a:p>
            <a:pPr lvl="0"/>
            <a:r>
              <a:rPr lang="en-US" dirty="0"/>
              <a:t>Have diabetes</a:t>
            </a:r>
          </a:p>
          <a:p>
            <a:pPr lvl="0"/>
            <a:r>
              <a:rPr lang="en-US" dirty="0"/>
              <a:t>Smoke</a:t>
            </a:r>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132</a:t>
            </a:fld>
            <a:endParaRPr lang="en-US">
              <a:solidFill>
                <a:prstClr val="black"/>
              </a:solidFill>
              <a:latin typeface="Lucida Sans Unicode"/>
            </a:endParaRPr>
          </a:p>
        </p:txBody>
      </p:sp>
      <p:sp>
        <p:nvSpPr>
          <p:cNvPr id="2" name="Title 1"/>
          <p:cNvSpPr>
            <a:spLocks noGrp="1"/>
          </p:cNvSpPr>
          <p:nvPr>
            <p:ph type="title"/>
          </p:nvPr>
        </p:nvSpPr>
        <p:spPr/>
        <p:txBody>
          <a:bodyPr>
            <a:normAutofit fontScale="90000"/>
          </a:bodyPr>
          <a:lstStyle/>
          <a:p>
            <a:r>
              <a:rPr lang="en-US" dirty="0"/>
              <a:t>CAUSES OF HIGH BLOOD PRESSURE CONT’D</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High blood pressure that is caused by another medical condition or medication is called secondary hypertension. Secondary hypertension may be due to:</a:t>
            </a:r>
          </a:p>
          <a:p>
            <a:pPr lvl="0"/>
            <a:r>
              <a:rPr lang="en-US" dirty="0">
                <a:hlinkClick r:id="rId2"/>
              </a:rPr>
              <a:t>Alcohol abuse</a:t>
            </a:r>
            <a:endParaRPr lang="en-US" dirty="0"/>
          </a:p>
          <a:p>
            <a:pPr lvl="0"/>
            <a:r>
              <a:rPr lang="en-US" dirty="0">
                <a:hlinkClick r:id="rId3"/>
              </a:rPr>
              <a:t>Atherosclerosis</a:t>
            </a:r>
            <a:endParaRPr lang="en-US" dirty="0"/>
          </a:p>
          <a:p>
            <a:pPr lvl="0"/>
            <a:r>
              <a:rPr lang="en-US" dirty="0"/>
              <a:t>Autoimmune disorders such as </a:t>
            </a:r>
            <a:r>
              <a:rPr lang="en-US" dirty="0" err="1">
                <a:hlinkClick r:id="rId4"/>
              </a:rPr>
              <a:t>periarteritis</a:t>
            </a:r>
            <a:r>
              <a:rPr lang="en-US" dirty="0">
                <a:hlinkClick r:id="rId4"/>
              </a:rPr>
              <a:t> </a:t>
            </a:r>
            <a:r>
              <a:rPr lang="en-US" dirty="0" err="1">
                <a:hlinkClick r:id="rId4"/>
              </a:rPr>
              <a:t>nodosa</a:t>
            </a:r>
            <a:endParaRPr lang="en-US" dirty="0"/>
          </a:p>
          <a:p>
            <a:pPr lvl="0"/>
            <a:r>
              <a:rPr lang="en-US" dirty="0">
                <a:hlinkClick r:id="rId5"/>
              </a:rPr>
              <a:t>Chronic kidney disease</a:t>
            </a:r>
            <a:endParaRPr lang="en-US" dirty="0"/>
          </a:p>
          <a:p>
            <a:pPr lvl="0"/>
            <a:r>
              <a:rPr lang="en-US" dirty="0" err="1">
                <a:hlinkClick r:id="rId6"/>
              </a:rPr>
              <a:t>Coarctation</a:t>
            </a:r>
            <a:r>
              <a:rPr lang="en-US" dirty="0">
                <a:hlinkClick r:id="rId6"/>
              </a:rPr>
              <a:t> of the aorta</a:t>
            </a:r>
            <a:endParaRPr lang="en-US" dirty="0"/>
          </a:p>
          <a:p>
            <a:pPr lvl="0"/>
            <a:r>
              <a:rPr lang="en-US" dirty="0"/>
              <a:t>Cocaine use</a:t>
            </a:r>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133</a:t>
            </a:fld>
            <a:endParaRPr lang="en-US">
              <a:solidFill>
                <a:prstClr val="black"/>
              </a:solidFill>
              <a:latin typeface="Lucida Sans Unicode"/>
            </a:endParaRPr>
          </a:p>
        </p:txBody>
      </p:sp>
      <p:sp>
        <p:nvSpPr>
          <p:cNvPr id="2" name="Title 1"/>
          <p:cNvSpPr>
            <a:spLocks noGrp="1"/>
          </p:cNvSpPr>
          <p:nvPr>
            <p:ph type="title"/>
          </p:nvPr>
        </p:nvSpPr>
        <p:spPr/>
        <p:txBody>
          <a:bodyPr>
            <a:normAutofit fontScale="90000"/>
          </a:bodyPr>
          <a:lstStyle/>
          <a:p>
            <a:r>
              <a:rPr lang="en-US" dirty="0"/>
              <a:t>CAUSES OF HIGH BLOOD PRESSURE CONT’D</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lvl="0">
              <a:buNone/>
            </a:pPr>
            <a:r>
              <a:rPr lang="en-US" dirty="0"/>
              <a:t>Secondary hypertension may be due to:</a:t>
            </a:r>
            <a:endParaRPr lang="en-US" dirty="0">
              <a:hlinkClick r:id="rId2"/>
            </a:endParaRPr>
          </a:p>
          <a:p>
            <a:pPr lvl="0"/>
            <a:r>
              <a:rPr lang="en-US" dirty="0">
                <a:hlinkClick r:id="rId2"/>
              </a:rPr>
              <a:t>Diabetes</a:t>
            </a:r>
            <a:r>
              <a:rPr lang="en-US" dirty="0"/>
              <a:t> (if it causes kidney damage)</a:t>
            </a:r>
          </a:p>
          <a:p>
            <a:pPr lvl="0"/>
            <a:r>
              <a:rPr lang="en-US" dirty="0"/>
              <a:t>Endocrine disorders, such as adrenal tumors (</a:t>
            </a:r>
            <a:r>
              <a:rPr lang="en-US" dirty="0" err="1">
                <a:hlinkClick r:id="rId3"/>
              </a:rPr>
              <a:t>pheochromocytoma</a:t>
            </a:r>
            <a:r>
              <a:rPr lang="en-US" dirty="0"/>
              <a:t>, </a:t>
            </a:r>
            <a:r>
              <a:rPr lang="en-US" dirty="0" err="1"/>
              <a:t>aldosteronism</a:t>
            </a:r>
            <a:r>
              <a:rPr lang="en-US" dirty="0"/>
              <a:t>), thyroid disorders, and </a:t>
            </a:r>
            <a:r>
              <a:rPr lang="en-US" dirty="0">
                <a:hlinkClick r:id="rId4"/>
              </a:rPr>
              <a:t>Cushing syndrome</a:t>
            </a:r>
            <a:endParaRPr lang="en-US" dirty="0"/>
          </a:p>
          <a:p>
            <a:pPr lvl="0"/>
            <a:r>
              <a:rPr lang="en-US" dirty="0"/>
              <a:t>Medications </a:t>
            </a:r>
          </a:p>
          <a:p>
            <a:pPr lvl="1"/>
            <a:r>
              <a:rPr lang="en-US" dirty="0"/>
              <a:t>Appetite suppressants</a:t>
            </a:r>
            <a:endParaRPr lang="en-US" sz="5400" dirty="0"/>
          </a:p>
          <a:p>
            <a:pPr lvl="1"/>
            <a:r>
              <a:rPr lang="en-US" dirty="0"/>
              <a:t>Birth control pills</a:t>
            </a:r>
            <a:endParaRPr lang="en-US" sz="5400" dirty="0"/>
          </a:p>
          <a:p>
            <a:pPr lvl="1"/>
            <a:r>
              <a:rPr lang="en-US" dirty="0"/>
              <a:t>Certain cold medications</a:t>
            </a:r>
            <a:endParaRPr lang="en-US" sz="5400" dirty="0"/>
          </a:p>
          <a:p>
            <a:pPr lvl="1"/>
            <a:r>
              <a:rPr lang="en-US" dirty="0"/>
              <a:t>Corticosteroids</a:t>
            </a:r>
            <a:endParaRPr lang="en-US" sz="5400" dirty="0"/>
          </a:p>
          <a:p>
            <a:pPr lvl="1"/>
            <a:r>
              <a:rPr lang="en-US" dirty="0"/>
              <a:t>Migraine medications</a:t>
            </a:r>
            <a:endParaRPr lang="en-US" sz="5400" dirty="0"/>
          </a:p>
          <a:p>
            <a:pPr lvl="0"/>
            <a:r>
              <a:rPr lang="en-US" dirty="0"/>
              <a:t>Renal artery </a:t>
            </a:r>
            <a:r>
              <a:rPr lang="en-US" dirty="0" err="1"/>
              <a:t>stenosis</a:t>
            </a:r>
            <a:endParaRPr lang="en-US" dirty="0"/>
          </a:p>
          <a:p>
            <a:pPr>
              <a:buNone/>
            </a:pPr>
            <a:endParaRPr lang="en-US" sz="4200" dirty="0"/>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134</a:t>
            </a:fld>
            <a:endParaRPr lang="en-US">
              <a:solidFill>
                <a:prstClr val="black"/>
              </a:solidFill>
              <a:latin typeface="Lucida Sans Unicode"/>
            </a:endParaRPr>
          </a:p>
        </p:txBody>
      </p:sp>
      <p:sp>
        <p:nvSpPr>
          <p:cNvPr id="2" name="Title 1"/>
          <p:cNvSpPr>
            <a:spLocks noGrp="1"/>
          </p:cNvSpPr>
          <p:nvPr>
            <p:ph type="title"/>
          </p:nvPr>
        </p:nvSpPr>
        <p:spPr/>
        <p:txBody>
          <a:bodyPr>
            <a:normAutofit fontScale="90000"/>
          </a:bodyPr>
          <a:lstStyle/>
          <a:p>
            <a:r>
              <a:rPr lang="en-US" dirty="0"/>
              <a:t>CAUSES OF HIGH BLOOD PRESSURE CONT’D</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a:t>Most of the time, there are no symptoms. Symptoms that may occur include:</a:t>
            </a:r>
          </a:p>
          <a:p>
            <a:pPr lvl="0"/>
            <a:r>
              <a:rPr lang="en-US" dirty="0"/>
              <a:t>Confusion</a:t>
            </a:r>
          </a:p>
          <a:p>
            <a:pPr lvl="0"/>
            <a:r>
              <a:rPr lang="en-US" dirty="0"/>
              <a:t>Ear noise or buzzing</a:t>
            </a:r>
          </a:p>
          <a:p>
            <a:pPr lvl="0"/>
            <a:r>
              <a:rPr lang="en-US" dirty="0"/>
              <a:t>Fatigue</a:t>
            </a:r>
          </a:p>
          <a:p>
            <a:pPr lvl="0"/>
            <a:r>
              <a:rPr lang="en-US" dirty="0"/>
              <a:t>Headache</a:t>
            </a:r>
          </a:p>
          <a:p>
            <a:pPr lvl="0"/>
            <a:r>
              <a:rPr lang="en-US" dirty="0"/>
              <a:t>Irregular heartbeat</a:t>
            </a:r>
          </a:p>
          <a:p>
            <a:pPr lvl="0"/>
            <a:r>
              <a:rPr lang="en-US" dirty="0"/>
              <a:t>Nosebleed</a:t>
            </a:r>
          </a:p>
          <a:p>
            <a:pPr lvl="0"/>
            <a:r>
              <a:rPr lang="en-US" dirty="0"/>
              <a:t>Vision changes</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135</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SYMPTOMS OF HIGH BLOOD PRESSURE </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1600200"/>
            <a:ext cx="8229600" cy="4876800"/>
          </a:xfrm>
        </p:spPr>
        <p:txBody>
          <a:bodyPr>
            <a:normAutofit fontScale="92500" lnSpcReduction="20000"/>
          </a:bodyPr>
          <a:lstStyle/>
          <a:p>
            <a:pPr>
              <a:buNone/>
            </a:pPr>
            <a:r>
              <a:rPr lang="en-US" dirty="0"/>
              <a:t>The goal of treatment is to reduce blood pressure so that you have a lower risk of complications. There are many different medicines that can be used to treat high blood pressure, including:</a:t>
            </a:r>
          </a:p>
          <a:p>
            <a:pPr lvl="0"/>
            <a:r>
              <a:rPr lang="en-US" dirty="0"/>
              <a:t>Alpha blockers</a:t>
            </a:r>
          </a:p>
          <a:p>
            <a:pPr lvl="0"/>
            <a:r>
              <a:rPr lang="en-US" dirty="0" err="1"/>
              <a:t>Angiotensin</a:t>
            </a:r>
            <a:r>
              <a:rPr lang="en-US" dirty="0"/>
              <a:t>-converting enzyme (ACE) inhibitors</a:t>
            </a:r>
          </a:p>
          <a:p>
            <a:pPr lvl="0"/>
            <a:r>
              <a:rPr lang="en-US" dirty="0" err="1"/>
              <a:t>Angiotensin</a:t>
            </a:r>
            <a:r>
              <a:rPr lang="en-US" dirty="0"/>
              <a:t> receptor blockers (ARBs)</a:t>
            </a:r>
          </a:p>
          <a:p>
            <a:pPr lvl="0"/>
            <a:r>
              <a:rPr lang="en-US" dirty="0"/>
              <a:t>Beta blockers</a:t>
            </a:r>
          </a:p>
          <a:p>
            <a:pPr lvl="0"/>
            <a:r>
              <a:rPr lang="en-US" dirty="0"/>
              <a:t>Calcium channel blockers</a:t>
            </a:r>
          </a:p>
          <a:p>
            <a:pPr lvl="0"/>
            <a:r>
              <a:rPr lang="en-US" dirty="0"/>
              <a:t>Central alpha agonists</a:t>
            </a:r>
          </a:p>
          <a:p>
            <a:pPr lvl="0"/>
            <a:r>
              <a:rPr lang="en-US" dirty="0"/>
              <a:t>Diuretics</a:t>
            </a:r>
          </a:p>
          <a:p>
            <a:pPr lvl="0"/>
            <a:r>
              <a:rPr lang="en-US" dirty="0" err="1"/>
              <a:t>Renin</a:t>
            </a:r>
            <a:r>
              <a:rPr lang="en-US" dirty="0"/>
              <a:t> inhibitors, including </a:t>
            </a:r>
            <a:r>
              <a:rPr lang="en-US" dirty="0" err="1"/>
              <a:t>aliskiren</a:t>
            </a:r>
            <a:r>
              <a:rPr lang="en-US" dirty="0"/>
              <a:t> </a:t>
            </a:r>
          </a:p>
          <a:p>
            <a:pPr lvl="0"/>
            <a:r>
              <a:rPr lang="en-US" dirty="0"/>
              <a:t>Vasodilators</a:t>
            </a:r>
          </a:p>
          <a:p>
            <a:pPr>
              <a:buNone/>
            </a:pPr>
            <a:endParaRPr lang="en-US" dirty="0"/>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136</a:t>
            </a:fld>
            <a:endParaRPr lang="en-US">
              <a:solidFill>
                <a:prstClr val="black"/>
              </a:solidFill>
              <a:latin typeface="Lucida Sans Unicode"/>
            </a:endParaRPr>
          </a:p>
        </p:txBody>
      </p:sp>
      <p:sp>
        <p:nvSpPr>
          <p:cNvPr id="2" name="Title 1"/>
          <p:cNvSpPr>
            <a:spLocks noGrp="1"/>
          </p:cNvSpPr>
          <p:nvPr>
            <p:ph type="title"/>
          </p:nvPr>
        </p:nvSpPr>
        <p:spPr/>
        <p:txBody>
          <a:bodyPr>
            <a:normAutofit/>
          </a:bodyPr>
          <a:lstStyle/>
          <a:p>
            <a:r>
              <a:rPr lang="en-US" dirty="0"/>
              <a:t>TREATMENT OF HIGH BLOOD PRESSURE </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Your health care provider may also tell you to exercise, lose weight, and follow a healthier diet. If you have pre-hypertension, your health care provider will recommend the same lifestyle changes to bring your blood pressure down to a normal range.</a:t>
            </a:r>
          </a:p>
          <a:p>
            <a:r>
              <a:rPr lang="en-US" dirty="0"/>
              <a:t>Often, a single blood pressure drug may not be enough to control your blood pressure, and you may need to take two or more drugs. It is very important that you take the medications prescribed to you. If you have side effects, your health care provider can substitute a different medication.</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137</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dirty="0"/>
              <a:t>TREATMENT CONT’D</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buNone/>
            </a:pPr>
            <a:r>
              <a:rPr lang="en-US" dirty="0"/>
              <a:t>In addition to taking medicine, you can do many things to help control your blood pressure, including:</a:t>
            </a:r>
          </a:p>
          <a:p>
            <a:pPr lvl="0"/>
            <a:r>
              <a:rPr lang="en-US" dirty="0"/>
              <a:t>Eat a heart-healthy diet, including potassium and fiber, and drink plenty of water.</a:t>
            </a:r>
          </a:p>
          <a:p>
            <a:pPr lvl="0"/>
            <a:r>
              <a:rPr lang="en-US" dirty="0"/>
              <a:t>Exercise regularly -- at least 30 minutes a day.</a:t>
            </a:r>
          </a:p>
          <a:p>
            <a:pPr lvl="0"/>
            <a:r>
              <a:rPr lang="en-US" dirty="0"/>
              <a:t>If you smoke, quit -- find a program that will help you stop.</a:t>
            </a:r>
          </a:p>
          <a:p>
            <a:pPr lvl="0"/>
            <a:r>
              <a:rPr lang="en-US" dirty="0"/>
              <a:t>Limit how much alcohol you drink -- 1 drink a day for women, 2 a day for men.</a:t>
            </a:r>
          </a:p>
          <a:p>
            <a:pPr lvl="0"/>
            <a:r>
              <a:rPr lang="en-US" dirty="0"/>
              <a:t>Limit the amount of sodium (salt) you eat -- aim for less than 1,500 mg per day.</a:t>
            </a:r>
          </a:p>
          <a:p>
            <a:pPr lvl="0"/>
            <a:r>
              <a:rPr lang="en-US" dirty="0"/>
              <a:t>Reduce stress -- try to avoid things that cause stress for you. You can also try meditation or yoga.</a:t>
            </a:r>
          </a:p>
          <a:p>
            <a:pPr lvl="0"/>
            <a:r>
              <a:rPr lang="en-US" dirty="0"/>
              <a:t>Stay at a healthy body weight -- find a weight-loss program to help you, if you need it.</a:t>
            </a:r>
          </a:p>
          <a:p>
            <a:pPr>
              <a:buNone/>
            </a:pPr>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138</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dirty="0"/>
              <a:t>TREATMENT CONT’D</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 Most of the time, high blood pressure can be controlled with medicine and lifestyle changes. </a:t>
            </a:r>
            <a:r>
              <a:rPr lang="en-US" b="1" dirty="0"/>
              <a:t>Possible Complications:</a:t>
            </a:r>
            <a:endParaRPr lang="en-US" dirty="0"/>
          </a:p>
          <a:p>
            <a:pPr lvl="0"/>
            <a:r>
              <a:rPr lang="en-US" dirty="0">
                <a:hlinkClick r:id="rId2"/>
              </a:rPr>
              <a:t>Aortic dissection</a:t>
            </a:r>
            <a:endParaRPr lang="en-US" dirty="0"/>
          </a:p>
          <a:p>
            <a:pPr lvl="0"/>
            <a:r>
              <a:rPr lang="en-US" dirty="0"/>
              <a:t>Blood vessel damage (</a:t>
            </a:r>
            <a:r>
              <a:rPr lang="en-US" dirty="0">
                <a:hlinkClick r:id="rId3"/>
              </a:rPr>
              <a:t>arteriosclerosis</a:t>
            </a:r>
            <a:r>
              <a:rPr lang="en-US" dirty="0"/>
              <a:t>)</a:t>
            </a:r>
          </a:p>
          <a:p>
            <a:pPr lvl="0"/>
            <a:r>
              <a:rPr lang="en-US" dirty="0"/>
              <a:t>Brain damage</a:t>
            </a:r>
          </a:p>
          <a:p>
            <a:pPr lvl="0"/>
            <a:r>
              <a:rPr lang="en-US" dirty="0">
                <a:hlinkClick r:id="rId4"/>
              </a:rPr>
              <a:t>Congestive heart failure</a:t>
            </a:r>
            <a:endParaRPr lang="en-US" dirty="0"/>
          </a:p>
          <a:p>
            <a:pPr lvl="0"/>
            <a:r>
              <a:rPr lang="en-US" dirty="0"/>
              <a:t>Chronic kidney disease</a:t>
            </a:r>
          </a:p>
          <a:p>
            <a:pPr lvl="0"/>
            <a:r>
              <a:rPr lang="en-US" dirty="0">
                <a:hlinkClick r:id="rId5"/>
              </a:rPr>
              <a:t>Heart attack</a:t>
            </a:r>
            <a:endParaRPr lang="en-US" dirty="0"/>
          </a:p>
          <a:p>
            <a:pPr lvl="0"/>
            <a:r>
              <a:rPr lang="en-US" dirty="0">
                <a:hlinkClick r:id="rId6"/>
              </a:rPr>
              <a:t>Hypertensive heart disease</a:t>
            </a:r>
            <a:endParaRPr lang="en-US" dirty="0"/>
          </a:p>
          <a:p>
            <a:pPr lvl="0"/>
            <a:r>
              <a:rPr lang="en-US" dirty="0">
                <a:hlinkClick r:id="rId7"/>
              </a:rPr>
              <a:t>Peripheral artery disease</a:t>
            </a:r>
            <a:endParaRPr lang="en-US" dirty="0"/>
          </a:p>
          <a:p>
            <a:pPr lvl="0"/>
            <a:r>
              <a:rPr lang="en-US" dirty="0"/>
              <a:t>Pregnancy complications</a:t>
            </a:r>
          </a:p>
          <a:p>
            <a:pPr lvl="0"/>
            <a:r>
              <a:rPr lang="en-US" dirty="0">
                <a:hlinkClick r:id="rId8"/>
              </a:rPr>
              <a:t>Stroke</a:t>
            </a:r>
            <a:endParaRPr lang="en-US" dirty="0"/>
          </a:p>
          <a:p>
            <a:pPr lvl="0"/>
            <a:r>
              <a:rPr lang="en-US" dirty="0">
                <a:hlinkClick r:id="rId9"/>
              </a:rPr>
              <a:t>Vision loss</a:t>
            </a:r>
            <a:endParaRPr lang="en-US" dirty="0"/>
          </a:p>
          <a:p>
            <a:pPr>
              <a:buNone/>
            </a:pPr>
            <a:endParaRPr lang="en-US" dirty="0"/>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139</a:t>
            </a:fld>
            <a:endParaRPr lang="en-US">
              <a:solidFill>
                <a:prstClr val="black"/>
              </a:solidFill>
              <a:latin typeface="Lucida Sans Unicode"/>
            </a:endParaRPr>
          </a:p>
        </p:txBody>
      </p:sp>
      <p:sp>
        <p:nvSpPr>
          <p:cNvPr id="2" name="Title 1"/>
          <p:cNvSpPr>
            <a:spLocks noGrp="1"/>
          </p:cNvSpPr>
          <p:nvPr>
            <p:ph type="title"/>
          </p:nvPr>
        </p:nvSpPr>
        <p:spPr/>
        <p:txBody>
          <a:bodyPr/>
          <a:lstStyle/>
          <a:p>
            <a:r>
              <a:rPr lang="en-US" dirty="0"/>
              <a:t>TREATMENT CONT’D</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buNone/>
            </a:pPr>
            <a:r>
              <a:rPr lang="en-US" b="1" dirty="0"/>
              <a:t>When to Contact a Medical Professional</a:t>
            </a:r>
            <a:endParaRPr lang="en-US" dirty="0"/>
          </a:p>
          <a:p>
            <a:r>
              <a:rPr lang="en-US" dirty="0"/>
              <a:t>If you have high blood pressure, you will have regularly scheduled appointments with your doctor.</a:t>
            </a:r>
          </a:p>
          <a:p>
            <a:r>
              <a:rPr lang="en-US" dirty="0"/>
              <a:t>Call your health care provider right away if home monitoring shows that your blood pressure remains high or you have any of the following symptoms:</a:t>
            </a:r>
          </a:p>
          <a:p>
            <a:pPr lvl="0"/>
            <a:r>
              <a:rPr lang="en-US" dirty="0"/>
              <a:t>Chest pain</a:t>
            </a:r>
          </a:p>
          <a:p>
            <a:pPr lvl="0"/>
            <a:r>
              <a:rPr lang="en-US" dirty="0"/>
              <a:t>Confusion</a:t>
            </a:r>
          </a:p>
          <a:p>
            <a:pPr lvl="0"/>
            <a:r>
              <a:rPr lang="en-US" dirty="0"/>
              <a:t>Excessive tiredness</a:t>
            </a:r>
          </a:p>
          <a:p>
            <a:pPr lvl="0"/>
            <a:r>
              <a:rPr lang="en-US" dirty="0"/>
              <a:t>Headache</a:t>
            </a:r>
          </a:p>
          <a:p>
            <a:pPr lvl="0"/>
            <a:r>
              <a:rPr lang="en-US" dirty="0"/>
              <a:t>Nausea and vomiting</a:t>
            </a:r>
          </a:p>
          <a:p>
            <a:pPr lvl="0"/>
            <a:r>
              <a:rPr lang="en-US" dirty="0"/>
              <a:t>Shortness of breath</a:t>
            </a:r>
          </a:p>
          <a:p>
            <a:pPr lvl="0"/>
            <a:r>
              <a:rPr lang="en-US" dirty="0"/>
              <a:t>Significant sweating</a:t>
            </a:r>
          </a:p>
          <a:p>
            <a:pPr lvl="0"/>
            <a:r>
              <a:rPr lang="en-US" dirty="0"/>
              <a:t>Vision change</a:t>
            </a:r>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140</a:t>
            </a:fld>
            <a:endParaRPr lang="en-US">
              <a:solidFill>
                <a:prstClr val="black"/>
              </a:solidFill>
              <a:latin typeface="Lucida Sans Unicode"/>
            </a:endParaRPr>
          </a:p>
        </p:txBody>
      </p:sp>
      <p:sp>
        <p:nvSpPr>
          <p:cNvPr id="2" name="Title 1"/>
          <p:cNvSpPr>
            <a:spLocks noGrp="1"/>
          </p:cNvSpPr>
          <p:nvPr>
            <p:ph type="title"/>
          </p:nvPr>
        </p:nvSpPr>
        <p:spPr/>
        <p:txBody>
          <a:bodyPr/>
          <a:lstStyle/>
          <a:p>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295400"/>
            <a:ext cx="8229600" cy="5181600"/>
          </a:xfrm>
        </p:spPr>
        <p:txBody>
          <a:bodyPr>
            <a:normAutofit fontScale="85000" lnSpcReduction="20000"/>
          </a:bodyPr>
          <a:lstStyle/>
          <a:p>
            <a:pPr>
              <a:buNone/>
            </a:pPr>
            <a:r>
              <a:rPr lang="en-US" dirty="0"/>
              <a:t>Lifestyle changes may help control your blood pressure:</a:t>
            </a:r>
          </a:p>
          <a:p>
            <a:pPr lvl="0"/>
            <a:r>
              <a:rPr lang="en-US" dirty="0"/>
              <a:t>Avoid smoking. </a:t>
            </a:r>
          </a:p>
          <a:p>
            <a:pPr lvl="0"/>
            <a:r>
              <a:rPr lang="en-US" dirty="0"/>
              <a:t>Do not consume more than 1 drink a day for women, 2 a day for men.</a:t>
            </a:r>
          </a:p>
          <a:p>
            <a:pPr lvl="0"/>
            <a:r>
              <a:rPr lang="en-US" dirty="0"/>
              <a:t>Eat a diet rich in fruits, vegetables, and low-fat dairy products while reducing total and saturated </a:t>
            </a:r>
            <a:r>
              <a:rPr lang="en-US"/>
              <a:t>fat intake. </a:t>
            </a:r>
            <a:endParaRPr lang="en-US" dirty="0"/>
          </a:p>
          <a:p>
            <a:pPr lvl="0"/>
            <a:r>
              <a:rPr lang="en-US" dirty="0"/>
              <a:t>Exercise regularly. If possible, exercise for 30 minutes on most days.</a:t>
            </a:r>
          </a:p>
          <a:p>
            <a:pPr lvl="0"/>
            <a:r>
              <a:rPr lang="en-US" dirty="0"/>
              <a:t>If you have diabetes, keep your blood sugar under control.</a:t>
            </a:r>
          </a:p>
          <a:p>
            <a:pPr lvl="0"/>
            <a:r>
              <a:rPr lang="en-US" dirty="0"/>
              <a:t>Lose weight if you are overweight. Excess weight adds to strain on the heart. In some cases, weight loss may be the only treatment needed.</a:t>
            </a:r>
          </a:p>
          <a:p>
            <a:pPr lvl="0"/>
            <a:r>
              <a:rPr lang="en-US" dirty="0"/>
              <a:t>Try to manage your stress.</a:t>
            </a:r>
          </a:p>
          <a:p>
            <a:endParaRPr lang="en-US" dirty="0"/>
          </a:p>
        </p:txBody>
      </p:sp>
      <p:sp>
        <p:nvSpPr>
          <p:cNvPr id="4" name="Slide Number Placeholder 3"/>
          <p:cNvSpPr>
            <a:spLocks noGrp="1"/>
          </p:cNvSpPr>
          <p:nvPr>
            <p:ph type="sldNum" sz="quarter" idx="12"/>
          </p:nvPr>
        </p:nvSpPr>
        <p:spPr/>
        <p:txBody>
          <a:bodyPr/>
          <a:lstStyle/>
          <a:p>
            <a:fld id="{65E7C573-500D-4A75-B887-95D5BF23D10D}" type="slidenum">
              <a:rPr lang="en-US">
                <a:solidFill>
                  <a:prstClr val="black"/>
                </a:solidFill>
                <a:latin typeface="Lucida Sans Unicode"/>
              </a:rPr>
              <a:pPr/>
              <a:t>141</a:t>
            </a:fld>
            <a:endParaRPr lang="en-US">
              <a:solidFill>
                <a:prstClr val="black"/>
              </a:solidFill>
              <a:latin typeface="Lucida Sans Unicode"/>
            </a:endParaRPr>
          </a:p>
        </p:txBody>
      </p:sp>
      <p:sp>
        <p:nvSpPr>
          <p:cNvPr id="2" name="Title 1"/>
          <p:cNvSpPr>
            <a:spLocks noGrp="1"/>
          </p:cNvSpPr>
          <p:nvPr>
            <p:ph type="title"/>
          </p:nvPr>
        </p:nvSpPr>
        <p:spPr>
          <a:xfrm>
            <a:off x="1981200" y="533400"/>
            <a:ext cx="8229600" cy="838200"/>
          </a:xfrm>
        </p:spPr>
        <p:txBody>
          <a:bodyPr>
            <a:normAutofit/>
          </a:bodyPr>
          <a:lstStyle/>
          <a:p>
            <a:r>
              <a:rPr lang="en-US" dirty="0"/>
              <a:t>PREVENTION</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902C199-3D2F-4C6B-A25E-94C9C37E0475}"/>
              </a:ext>
            </a:extLst>
          </p:cNvPr>
          <p:cNvSpPr>
            <a:spLocks noGrp="1" noChangeArrowheads="1"/>
          </p:cNvSpPr>
          <p:nvPr>
            <p:ph type="title"/>
          </p:nvPr>
        </p:nvSpPr>
        <p:spPr/>
        <p:txBody>
          <a:bodyPr/>
          <a:lstStyle/>
          <a:p>
            <a:pPr eaLnBrk="1" hangingPunct="1"/>
            <a:r>
              <a:rPr lang="en-US" altLang="en-US" sz="3600"/>
              <a:t>Prevention; Definition and Concept</a:t>
            </a:r>
          </a:p>
        </p:txBody>
      </p:sp>
      <p:sp>
        <p:nvSpPr>
          <p:cNvPr id="8195" name="Rectangle 3">
            <a:extLst>
              <a:ext uri="{FF2B5EF4-FFF2-40B4-BE49-F238E27FC236}">
                <a16:creationId xmlns:a16="http://schemas.microsoft.com/office/drawing/2014/main" id="{688394BE-1EF4-45A9-A767-34B0F27027F7}"/>
              </a:ext>
            </a:extLst>
          </p:cNvPr>
          <p:cNvSpPr>
            <a:spLocks noGrp="1" noChangeArrowheads="1"/>
          </p:cNvSpPr>
          <p:nvPr>
            <p:ph type="body" idx="1"/>
          </p:nvPr>
        </p:nvSpPr>
        <p:spPr/>
        <p:txBody>
          <a:bodyPr/>
          <a:lstStyle/>
          <a:p>
            <a:pPr eaLnBrk="1" hangingPunct="1"/>
            <a:r>
              <a:rPr lang="en-US" altLang="en-US" sz="2800"/>
              <a:t>Actions aimed at eradicating, eliminating or minimizing the impact of disease and disability, or if none of these are feasible, retarding the progress of the disease and disability.</a:t>
            </a:r>
          </a:p>
          <a:p>
            <a:pPr eaLnBrk="1" hangingPunct="1"/>
            <a:r>
              <a:rPr lang="en-US" altLang="en-US" sz="2800"/>
              <a:t>The concept of prevention is best defined in the context of levels, traditionally called primary, secondary and tertiary prevention. A fourth level, called primordial prevention, was later added.</a:t>
            </a:r>
          </a:p>
          <a:p>
            <a:pPr eaLnBrk="1" hangingPunct="1">
              <a:buFontTx/>
              <a:buNone/>
            </a:pPr>
            <a:endParaRPr lang="en-US"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blinds(horizontal)">
                                      <p:cBhvr>
                                        <p:cTn id="7" dur="500"/>
                                        <p:tgtEl>
                                          <p:spTgt spid="8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5">
                                            <p:txEl>
                                              <p:pRg st="0" end="0"/>
                                            </p:txEl>
                                          </p:spTgt>
                                        </p:tgtEl>
                                        <p:attrNameLst>
                                          <p:attrName>style.visibility</p:attrName>
                                        </p:attrNameLst>
                                      </p:cBhvr>
                                      <p:to>
                                        <p:strVal val="visible"/>
                                      </p:to>
                                    </p:set>
                                    <p:animEffect transition="in" filter="blinds(horizontal)">
                                      <p:cBhvr>
                                        <p:cTn id="12" dur="500"/>
                                        <p:tgtEl>
                                          <p:spTgt spid="819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7" dur="500"/>
                                        <p:tgtEl>
                                          <p:spTgt spid="81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8195"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3486B71-5890-4003-B02E-BB088D5E0C84}"/>
              </a:ext>
            </a:extLst>
          </p:cNvPr>
          <p:cNvSpPr>
            <a:spLocks noGrp="1" noChangeArrowheads="1"/>
          </p:cNvSpPr>
          <p:nvPr>
            <p:ph type="title"/>
          </p:nvPr>
        </p:nvSpPr>
        <p:spPr/>
        <p:txBody>
          <a:bodyPr/>
          <a:lstStyle/>
          <a:p>
            <a:pPr eaLnBrk="1" hangingPunct="1"/>
            <a:r>
              <a:rPr lang="en-US" altLang="en-US"/>
              <a:t>Determinants of Prevention</a:t>
            </a:r>
          </a:p>
        </p:txBody>
      </p:sp>
      <p:sp>
        <p:nvSpPr>
          <p:cNvPr id="7171" name="Rectangle 3">
            <a:extLst>
              <a:ext uri="{FF2B5EF4-FFF2-40B4-BE49-F238E27FC236}">
                <a16:creationId xmlns:a16="http://schemas.microsoft.com/office/drawing/2014/main" id="{44218FDF-ADAA-477E-ADF6-85B6910BC224}"/>
              </a:ext>
            </a:extLst>
          </p:cNvPr>
          <p:cNvSpPr>
            <a:spLocks noGrp="1" noChangeArrowheads="1"/>
          </p:cNvSpPr>
          <p:nvPr>
            <p:ph type="body" idx="1"/>
          </p:nvPr>
        </p:nvSpPr>
        <p:spPr/>
        <p:txBody>
          <a:bodyPr/>
          <a:lstStyle/>
          <a:p>
            <a:pPr eaLnBrk="1" hangingPunct="1"/>
            <a:r>
              <a:rPr lang="en-US" altLang="en-US" sz="2800"/>
              <a:t>Successful prevention depends upon: </a:t>
            </a:r>
          </a:p>
          <a:p>
            <a:pPr lvl="1" eaLnBrk="1" hangingPunct="1"/>
            <a:r>
              <a:rPr lang="en-US" altLang="en-US" sz="2400"/>
              <a:t>a knowledge of causation, </a:t>
            </a:r>
          </a:p>
          <a:p>
            <a:pPr lvl="1" eaLnBrk="1" hangingPunct="1"/>
            <a:r>
              <a:rPr lang="en-US" altLang="en-US" sz="2400"/>
              <a:t>dynamics of transmission, </a:t>
            </a:r>
          </a:p>
          <a:p>
            <a:pPr lvl="1" eaLnBrk="1" hangingPunct="1"/>
            <a:r>
              <a:rPr lang="en-US" altLang="en-US" sz="2400"/>
              <a:t>identification of risk factors and risk groups, </a:t>
            </a:r>
          </a:p>
          <a:p>
            <a:pPr lvl="1" eaLnBrk="1" hangingPunct="1"/>
            <a:r>
              <a:rPr lang="en-US" altLang="en-US" sz="2400"/>
              <a:t>availability of prophylactic or early detection and treatment measures, </a:t>
            </a:r>
          </a:p>
          <a:p>
            <a:pPr lvl="1" eaLnBrk="1" hangingPunct="1"/>
            <a:r>
              <a:rPr lang="en-US" altLang="en-US" sz="2400"/>
              <a:t>an organization for applying these measures to appropriate persons or groups, and </a:t>
            </a:r>
          </a:p>
          <a:p>
            <a:pPr lvl="1" eaLnBrk="1" hangingPunct="1"/>
            <a:r>
              <a:rPr lang="en-US" altLang="en-US" sz="2400"/>
              <a:t>continuous evaluation of and development of procedures applied </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B3103DE-9F41-441C-9488-2BB98417833F}"/>
              </a:ext>
            </a:extLst>
          </p:cNvPr>
          <p:cNvSpPr>
            <a:spLocks noGrp="1" noChangeArrowheads="1"/>
          </p:cNvSpPr>
          <p:nvPr>
            <p:ph type="title"/>
          </p:nvPr>
        </p:nvSpPr>
        <p:spPr/>
        <p:txBody>
          <a:bodyPr/>
          <a:lstStyle/>
          <a:p>
            <a:pPr eaLnBrk="1" hangingPunct="1"/>
            <a:r>
              <a:rPr lang="en-US" altLang="en-US"/>
              <a:t>Preventable causes of disease</a:t>
            </a:r>
          </a:p>
        </p:txBody>
      </p:sp>
      <p:sp>
        <p:nvSpPr>
          <p:cNvPr id="8195" name="Rectangle 3">
            <a:extLst>
              <a:ext uri="{FF2B5EF4-FFF2-40B4-BE49-F238E27FC236}">
                <a16:creationId xmlns:a16="http://schemas.microsoft.com/office/drawing/2014/main" id="{BE9AA980-8C1F-487D-9A01-9A6B1DC46E90}"/>
              </a:ext>
            </a:extLst>
          </p:cNvPr>
          <p:cNvSpPr>
            <a:spLocks noGrp="1" noChangeArrowheads="1"/>
          </p:cNvSpPr>
          <p:nvPr>
            <p:ph type="body" idx="1"/>
          </p:nvPr>
        </p:nvSpPr>
        <p:spPr/>
        <p:txBody>
          <a:bodyPr/>
          <a:lstStyle/>
          <a:p>
            <a:pPr algn="ctr" eaLnBrk="1" hangingPunct="1">
              <a:buFontTx/>
              <a:buNone/>
              <a:defRPr/>
            </a:pPr>
            <a:r>
              <a:rPr lang="en-US" altLang="en-US" dirty="0">
                <a:solidFill>
                  <a:schemeClr val="tx2"/>
                </a:solidFill>
              </a:rPr>
              <a:t>BEINGS</a:t>
            </a:r>
            <a:r>
              <a:rPr lang="en-US" altLang="en-US" dirty="0"/>
              <a:t> </a:t>
            </a:r>
          </a:p>
          <a:p>
            <a:pPr eaLnBrk="1" hangingPunct="1">
              <a:defRPr/>
            </a:pPr>
            <a:r>
              <a:rPr lang="en-US" altLang="en-US" dirty="0">
                <a:solidFill>
                  <a:schemeClr val="tx2"/>
                </a:solidFill>
              </a:rPr>
              <a:t>B</a:t>
            </a:r>
            <a:r>
              <a:rPr lang="en-US" altLang="en-US" dirty="0"/>
              <a:t>iological factors and </a:t>
            </a:r>
            <a:r>
              <a:rPr lang="en-US" altLang="en-US" dirty="0">
                <a:solidFill>
                  <a:schemeClr val="tx2"/>
                </a:solidFill>
              </a:rPr>
              <a:t>B</a:t>
            </a:r>
            <a:r>
              <a:rPr lang="en-US" altLang="en-US" dirty="0"/>
              <a:t>ehavioral Factor</a:t>
            </a:r>
          </a:p>
          <a:p>
            <a:pPr eaLnBrk="1" hangingPunct="1">
              <a:defRPr/>
            </a:pPr>
            <a:r>
              <a:rPr lang="en-US" altLang="en-US" dirty="0">
                <a:solidFill>
                  <a:schemeClr val="tx2"/>
                </a:solidFill>
              </a:rPr>
              <a:t>E</a:t>
            </a:r>
            <a:r>
              <a:rPr lang="en-US" altLang="en-US" dirty="0"/>
              <a:t>nvironmental factors</a:t>
            </a:r>
          </a:p>
          <a:p>
            <a:pPr eaLnBrk="1" hangingPunct="1">
              <a:defRPr/>
            </a:pPr>
            <a:r>
              <a:rPr lang="en-US" altLang="en-US" dirty="0">
                <a:solidFill>
                  <a:schemeClr val="tx2"/>
                </a:solidFill>
              </a:rPr>
              <a:t>I</a:t>
            </a:r>
            <a:r>
              <a:rPr lang="en-US" altLang="en-US" dirty="0"/>
              <a:t>mmunologic factors</a:t>
            </a:r>
          </a:p>
          <a:p>
            <a:pPr eaLnBrk="1" hangingPunct="1">
              <a:defRPr/>
            </a:pPr>
            <a:r>
              <a:rPr lang="en-US" altLang="en-US" dirty="0">
                <a:solidFill>
                  <a:schemeClr val="tx2"/>
                </a:solidFill>
              </a:rPr>
              <a:t>N</a:t>
            </a:r>
            <a:r>
              <a:rPr lang="en-US" altLang="en-US" dirty="0"/>
              <a:t>utritional factors</a:t>
            </a:r>
          </a:p>
          <a:p>
            <a:pPr eaLnBrk="1" hangingPunct="1">
              <a:defRPr/>
            </a:pPr>
            <a:r>
              <a:rPr lang="en-US" altLang="en-US" dirty="0">
                <a:solidFill>
                  <a:schemeClr val="tx2"/>
                </a:solidFill>
              </a:rPr>
              <a:t>G</a:t>
            </a:r>
            <a:r>
              <a:rPr lang="en-US" altLang="en-US" dirty="0"/>
              <a:t>enetic factors</a:t>
            </a:r>
          </a:p>
          <a:p>
            <a:pPr eaLnBrk="1" hangingPunct="1">
              <a:defRPr/>
            </a:pPr>
            <a:r>
              <a:rPr lang="en-US" altLang="en-US" dirty="0">
                <a:solidFill>
                  <a:schemeClr val="tx2"/>
                </a:solidFill>
              </a:rPr>
              <a:t>S</a:t>
            </a:r>
            <a:r>
              <a:rPr lang="en-US" altLang="en-US" dirty="0"/>
              <a:t>ervices, </a:t>
            </a:r>
            <a:r>
              <a:rPr lang="en-US" altLang="en-US" dirty="0">
                <a:solidFill>
                  <a:schemeClr val="tx2"/>
                </a:solidFill>
              </a:rPr>
              <a:t>S</a:t>
            </a:r>
            <a:r>
              <a:rPr lang="en-US" altLang="en-US" dirty="0"/>
              <a:t>ocial factors, and </a:t>
            </a:r>
            <a:r>
              <a:rPr lang="en-US" altLang="en-US" dirty="0">
                <a:solidFill>
                  <a:schemeClr val="tx2"/>
                </a:solidFill>
              </a:rPr>
              <a:t>S</a:t>
            </a:r>
            <a:r>
              <a:rPr lang="en-US" altLang="en-US" dirty="0"/>
              <a:t>piritual factors</a:t>
            </a:r>
          </a:p>
          <a:p>
            <a:pPr marL="0" indent="0" eaLnBrk="1" hangingPunct="1">
              <a:buNone/>
              <a:defRPr/>
            </a:pPr>
            <a:endParaRPr lang="en-US" altLang="en-US" dirty="0"/>
          </a:p>
        </p:txBody>
      </p:sp>
      <p:sp>
        <p:nvSpPr>
          <p:cNvPr id="8196" name="Rectangle 4">
            <a:extLst>
              <a:ext uri="{FF2B5EF4-FFF2-40B4-BE49-F238E27FC236}">
                <a16:creationId xmlns:a16="http://schemas.microsoft.com/office/drawing/2014/main" id="{DC04678A-674B-480F-9E98-2E2863B4185E}"/>
              </a:ext>
            </a:extLst>
          </p:cNvPr>
          <p:cNvSpPr>
            <a:spLocks noChangeArrowheads="1"/>
          </p:cNvSpPr>
          <p:nvPr/>
        </p:nvSpPr>
        <p:spPr bwMode="auto">
          <a:xfrm>
            <a:off x="1828800" y="228600"/>
            <a:ext cx="830580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endParaRPr lang="en-US" altLang="en-US" sz="2400">
              <a:solidFill>
                <a:srgbClr val="F7D47D"/>
              </a:solidFill>
            </a:endParaRPr>
          </a:p>
        </p:txBody>
      </p:sp>
      <p:sp>
        <p:nvSpPr>
          <p:cNvPr id="8197" name="Rectangle 5">
            <a:extLst>
              <a:ext uri="{FF2B5EF4-FFF2-40B4-BE49-F238E27FC236}">
                <a16:creationId xmlns:a16="http://schemas.microsoft.com/office/drawing/2014/main" id="{95737790-AD89-43F1-8009-48E29A97E0E9}"/>
              </a:ext>
            </a:extLst>
          </p:cNvPr>
          <p:cNvSpPr>
            <a:spLocks noChangeArrowheads="1"/>
          </p:cNvSpPr>
          <p:nvPr/>
        </p:nvSpPr>
        <p:spPr bwMode="auto">
          <a:xfrm>
            <a:off x="1828800" y="2362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tabLst>
                <a:tab pos="2290763" algn="l"/>
              </a:tabLst>
              <a:defRPr>
                <a:solidFill>
                  <a:schemeClr val="tx1"/>
                </a:solidFill>
                <a:latin typeface="Arial" panose="020B0604020202020204" pitchFamily="34" charset="0"/>
                <a:cs typeface="Arial" panose="020B0604020202020204" pitchFamily="34" charset="0"/>
              </a:defRPr>
            </a:lvl1pPr>
            <a:lvl2pPr marL="742950" indent="-285750">
              <a:tabLst>
                <a:tab pos="2290763" algn="l"/>
              </a:tabLst>
              <a:defRPr>
                <a:solidFill>
                  <a:schemeClr val="tx1"/>
                </a:solidFill>
                <a:latin typeface="Arial" panose="020B0604020202020204" pitchFamily="34" charset="0"/>
                <a:cs typeface="Arial" panose="020B0604020202020204" pitchFamily="34" charset="0"/>
              </a:defRPr>
            </a:lvl2pPr>
            <a:lvl3pPr marL="1143000" indent="-228600">
              <a:tabLst>
                <a:tab pos="2290763" algn="l"/>
              </a:tabLst>
              <a:defRPr>
                <a:solidFill>
                  <a:schemeClr val="tx1"/>
                </a:solidFill>
                <a:latin typeface="Arial" panose="020B0604020202020204" pitchFamily="34" charset="0"/>
                <a:cs typeface="Arial" panose="020B0604020202020204" pitchFamily="34" charset="0"/>
              </a:defRPr>
            </a:lvl3pPr>
            <a:lvl4pPr marL="1600200" indent="-228600">
              <a:tabLst>
                <a:tab pos="2290763" algn="l"/>
              </a:tabLst>
              <a:defRPr>
                <a:solidFill>
                  <a:schemeClr val="tx1"/>
                </a:solidFill>
                <a:latin typeface="Arial" panose="020B0604020202020204" pitchFamily="34" charset="0"/>
                <a:cs typeface="Arial" panose="020B0604020202020204" pitchFamily="34" charset="0"/>
              </a:defRPr>
            </a:lvl4pPr>
            <a:lvl5pPr marL="2057400" indent="-228600">
              <a:tabLst>
                <a:tab pos="22907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2907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2907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2907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290763" algn="l"/>
              </a:tabLs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pPr>
            <a:endParaRPr lang="en-US" altLang="en-US" sz="1200">
              <a:solidFill>
                <a:srgbClr val="2F1311"/>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D68C0E4-4299-46CA-ACEA-11A0DB993154}"/>
              </a:ext>
            </a:extLst>
          </p:cNvPr>
          <p:cNvSpPr>
            <a:spLocks noGrp="1" noChangeArrowheads="1"/>
          </p:cNvSpPr>
          <p:nvPr>
            <p:ph type="title"/>
          </p:nvPr>
        </p:nvSpPr>
        <p:spPr/>
        <p:txBody>
          <a:bodyPr/>
          <a:lstStyle/>
          <a:p>
            <a:pPr eaLnBrk="1" hangingPunct="1"/>
            <a:r>
              <a:rPr lang="en-US" altLang="en-US"/>
              <a:t>Leavell’s Levels of Prevention</a:t>
            </a:r>
          </a:p>
        </p:txBody>
      </p:sp>
      <p:grpSp>
        <p:nvGrpSpPr>
          <p:cNvPr id="12337" name="Group 49">
            <a:extLst>
              <a:ext uri="{FF2B5EF4-FFF2-40B4-BE49-F238E27FC236}">
                <a16:creationId xmlns:a16="http://schemas.microsoft.com/office/drawing/2014/main" id="{C55F107B-2177-47FA-8FBE-6DA47B79EC41}"/>
              </a:ext>
            </a:extLst>
          </p:cNvPr>
          <p:cNvGrpSpPr>
            <a:grpSpLocks/>
          </p:cNvGrpSpPr>
          <p:nvPr/>
        </p:nvGrpSpPr>
        <p:grpSpPr bwMode="auto">
          <a:xfrm>
            <a:off x="2362201" y="1981200"/>
            <a:ext cx="6729413" cy="3733800"/>
            <a:chOff x="624" y="1200"/>
            <a:chExt cx="4239" cy="2352"/>
          </a:xfrm>
        </p:grpSpPr>
        <p:sp>
          <p:nvSpPr>
            <p:cNvPr id="9220" name="Line 32">
              <a:extLst>
                <a:ext uri="{FF2B5EF4-FFF2-40B4-BE49-F238E27FC236}">
                  <a16:creationId xmlns:a16="http://schemas.microsoft.com/office/drawing/2014/main" id="{B0AA2C30-A343-48D7-B0C2-DD3865C897D6}"/>
                </a:ext>
              </a:extLst>
            </p:cNvPr>
            <p:cNvSpPr>
              <a:spLocks noChangeShapeType="1"/>
            </p:cNvSpPr>
            <p:nvPr/>
          </p:nvSpPr>
          <p:spPr bwMode="auto">
            <a:xfrm>
              <a:off x="624" y="1200"/>
              <a:ext cx="35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9221" name="Line 33">
              <a:extLst>
                <a:ext uri="{FF2B5EF4-FFF2-40B4-BE49-F238E27FC236}">
                  <a16:creationId xmlns:a16="http://schemas.microsoft.com/office/drawing/2014/main" id="{99DE78D7-8DCD-4F34-AF57-4DA0C5CB2D14}"/>
                </a:ext>
              </a:extLst>
            </p:cNvPr>
            <p:cNvSpPr>
              <a:spLocks noChangeShapeType="1"/>
            </p:cNvSpPr>
            <p:nvPr/>
          </p:nvSpPr>
          <p:spPr bwMode="auto">
            <a:xfrm>
              <a:off x="624" y="1536"/>
              <a:ext cx="35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9222" name="Text Box 34">
              <a:extLst>
                <a:ext uri="{FF2B5EF4-FFF2-40B4-BE49-F238E27FC236}">
                  <a16:creationId xmlns:a16="http://schemas.microsoft.com/office/drawing/2014/main" id="{0997DA8A-00AF-42DC-B5C9-E3097D8DBDA9}"/>
                </a:ext>
              </a:extLst>
            </p:cNvPr>
            <p:cNvSpPr txBox="1">
              <a:spLocks noChangeArrowheads="1"/>
            </p:cNvSpPr>
            <p:nvPr/>
          </p:nvSpPr>
          <p:spPr bwMode="auto">
            <a:xfrm>
              <a:off x="624" y="1282"/>
              <a:ext cx="99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Stage of disease</a:t>
              </a:r>
            </a:p>
          </p:txBody>
        </p:sp>
        <p:sp>
          <p:nvSpPr>
            <p:cNvPr id="9223" name="Text Box 35">
              <a:extLst>
                <a:ext uri="{FF2B5EF4-FFF2-40B4-BE49-F238E27FC236}">
                  <a16:creationId xmlns:a16="http://schemas.microsoft.com/office/drawing/2014/main" id="{D6E76765-FC46-43D3-B7DC-7D243FDFDE2F}"/>
                </a:ext>
              </a:extLst>
            </p:cNvPr>
            <p:cNvSpPr txBox="1">
              <a:spLocks noChangeArrowheads="1"/>
            </p:cNvSpPr>
            <p:nvPr/>
          </p:nvSpPr>
          <p:spPr bwMode="auto">
            <a:xfrm>
              <a:off x="2064" y="1282"/>
              <a:ext cx="113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Level of prevention</a:t>
              </a:r>
            </a:p>
          </p:txBody>
        </p:sp>
        <p:sp>
          <p:nvSpPr>
            <p:cNvPr id="9224" name="Text Box 36">
              <a:extLst>
                <a:ext uri="{FF2B5EF4-FFF2-40B4-BE49-F238E27FC236}">
                  <a16:creationId xmlns:a16="http://schemas.microsoft.com/office/drawing/2014/main" id="{DF1429F2-2FF3-4762-8CB6-36427462ACA6}"/>
                </a:ext>
              </a:extLst>
            </p:cNvPr>
            <p:cNvSpPr txBox="1">
              <a:spLocks noChangeArrowheads="1"/>
            </p:cNvSpPr>
            <p:nvPr/>
          </p:nvSpPr>
          <p:spPr bwMode="auto">
            <a:xfrm>
              <a:off x="3360" y="1282"/>
              <a:ext cx="103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Type of response</a:t>
              </a:r>
            </a:p>
          </p:txBody>
        </p:sp>
        <p:sp>
          <p:nvSpPr>
            <p:cNvPr id="9225" name="Text Box 37">
              <a:extLst>
                <a:ext uri="{FF2B5EF4-FFF2-40B4-BE49-F238E27FC236}">
                  <a16:creationId xmlns:a16="http://schemas.microsoft.com/office/drawing/2014/main" id="{BBF9530B-D6A9-4334-BB5B-9F3102B5FE69}"/>
                </a:ext>
              </a:extLst>
            </p:cNvPr>
            <p:cNvSpPr txBox="1">
              <a:spLocks noChangeArrowheads="1"/>
            </p:cNvSpPr>
            <p:nvPr/>
          </p:nvSpPr>
          <p:spPr bwMode="auto">
            <a:xfrm>
              <a:off x="710" y="1591"/>
              <a:ext cx="74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Pre-disease</a:t>
              </a:r>
            </a:p>
          </p:txBody>
        </p:sp>
        <p:sp>
          <p:nvSpPr>
            <p:cNvPr id="9226" name="Text Box 38">
              <a:extLst>
                <a:ext uri="{FF2B5EF4-FFF2-40B4-BE49-F238E27FC236}">
                  <a16:creationId xmlns:a16="http://schemas.microsoft.com/office/drawing/2014/main" id="{BDCE29D0-D470-4BF7-A03D-4906724205B3}"/>
                </a:ext>
              </a:extLst>
            </p:cNvPr>
            <p:cNvSpPr txBox="1">
              <a:spLocks noChangeArrowheads="1"/>
            </p:cNvSpPr>
            <p:nvPr/>
          </p:nvSpPr>
          <p:spPr bwMode="auto">
            <a:xfrm>
              <a:off x="2054" y="1591"/>
              <a:ext cx="114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Primary Prevention</a:t>
              </a:r>
            </a:p>
          </p:txBody>
        </p:sp>
        <p:sp>
          <p:nvSpPr>
            <p:cNvPr id="9227" name="Text Box 39">
              <a:extLst>
                <a:ext uri="{FF2B5EF4-FFF2-40B4-BE49-F238E27FC236}">
                  <a16:creationId xmlns:a16="http://schemas.microsoft.com/office/drawing/2014/main" id="{D4501F8E-2354-4ED9-B5A7-F590425F870A}"/>
                </a:ext>
              </a:extLst>
            </p:cNvPr>
            <p:cNvSpPr txBox="1">
              <a:spLocks noChangeArrowheads="1"/>
            </p:cNvSpPr>
            <p:nvPr/>
          </p:nvSpPr>
          <p:spPr bwMode="auto">
            <a:xfrm>
              <a:off x="3350" y="1591"/>
              <a:ext cx="131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Health promotion and </a:t>
              </a:r>
            </a:p>
            <a:p>
              <a:pPr fontAlgn="base">
                <a:spcBef>
                  <a:spcPct val="0"/>
                </a:spcBef>
                <a:spcAft>
                  <a:spcPct val="0"/>
                </a:spcAft>
              </a:pPr>
              <a:r>
                <a:rPr lang="en-US" altLang="en-US" sz="1400" b="1">
                  <a:solidFill>
                    <a:srgbClr val="2F1311"/>
                  </a:solidFill>
                </a:rPr>
                <a:t>Specific protection</a:t>
              </a:r>
            </a:p>
          </p:txBody>
        </p:sp>
        <p:sp>
          <p:nvSpPr>
            <p:cNvPr id="9228" name="Line 40">
              <a:extLst>
                <a:ext uri="{FF2B5EF4-FFF2-40B4-BE49-F238E27FC236}">
                  <a16:creationId xmlns:a16="http://schemas.microsoft.com/office/drawing/2014/main" id="{6C3CEAC4-C65F-4B16-AA3E-55655A8229F3}"/>
                </a:ext>
              </a:extLst>
            </p:cNvPr>
            <p:cNvSpPr>
              <a:spLocks noChangeShapeType="1"/>
            </p:cNvSpPr>
            <p:nvPr/>
          </p:nvSpPr>
          <p:spPr bwMode="auto">
            <a:xfrm>
              <a:off x="672" y="2064"/>
              <a:ext cx="35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9229" name="Text Box 41">
              <a:extLst>
                <a:ext uri="{FF2B5EF4-FFF2-40B4-BE49-F238E27FC236}">
                  <a16:creationId xmlns:a16="http://schemas.microsoft.com/office/drawing/2014/main" id="{1033F24B-0F3B-4F8A-85C2-DE0F49ED56F9}"/>
                </a:ext>
              </a:extLst>
            </p:cNvPr>
            <p:cNvSpPr txBox="1">
              <a:spLocks noChangeArrowheads="1"/>
            </p:cNvSpPr>
            <p:nvPr/>
          </p:nvSpPr>
          <p:spPr bwMode="auto">
            <a:xfrm>
              <a:off x="710" y="2215"/>
              <a:ext cx="9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Latent Disease</a:t>
              </a:r>
            </a:p>
          </p:txBody>
        </p:sp>
        <p:sp>
          <p:nvSpPr>
            <p:cNvPr id="9230" name="Text Box 42">
              <a:extLst>
                <a:ext uri="{FF2B5EF4-FFF2-40B4-BE49-F238E27FC236}">
                  <a16:creationId xmlns:a16="http://schemas.microsoft.com/office/drawing/2014/main" id="{623C5738-FD74-4BEF-845F-3E15F0367199}"/>
                </a:ext>
              </a:extLst>
            </p:cNvPr>
            <p:cNvSpPr txBox="1">
              <a:spLocks noChangeArrowheads="1"/>
            </p:cNvSpPr>
            <p:nvPr/>
          </p:nvSpPr>
          <p:spPr bwMode="auto">
            <a:xfrm>
              <a:off x="2016" y="2194"/>
              <a:ext cx="1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Secondary prevention</a:t>
              </a:r>
            </a:p>
          </p:txBody>
        </p:sp>
        <p:sp>
          <p:nvSpPr>
            <p:cNvPr id="9231" name="Text Box 43">
              <a:extLst>
                <a:ext uri="{FF2B5EF4-FFF2-40B4-BE49-F238E27FC236}">
                  <a16:creationId xmlns:a16="http://schemas.microsoft.com/office/drawing/2014/main" id="{32CF74E2-5C79-4C14-B208-0290B153D69B}"/>
                </a:ext>
              </a:extLst>
            </p:cNvPr>
            <p:cNvSpPr txBox="1">
              <a:spLocks noChangeArrowheads="1"/>
            </p:cNvSpPr>
            <p:nvPr/>
          </p:nvSpPr>
          <p:spPr bwMode="auto">
            <a:xfrm>
              <a:off x="3350" y="2181"/>
              <a:ext cx="1258"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Pre-symptomatic </a:t>
              </a:r>
            </a:p>
            <a:p>
              <a:pPr fontAlgn="base">
                <a:spcBef>
                  <a:spcPct val="0"/>
                </a:spcBef>
                <a:spcAft>
                  <a:spcPct val="0"/>
                </a:spcAft>
              </a:pPr>
              <a:r>
                <a:rPr lang="en-US" altLang="en-US" sz="1400" b="1">
                  <a:solidFill>
                    <a:srgbClr val="2F1311"/>
                  </a:solidFill>
                </a:rPr>
                <a:t>Diagnosis and treatment</a:t>
              </a:r>
            </a:p>
          </p:txBody>
        </p:sp>
        <p:sp>
          <p:nvSpPr>
            <p:cNvPr id="9232" name="Line 44">
              <a:extLst>
                <a:ext uri="{FF2B5EF4-FFF2-40B4-BE49-F238E27FC236}">
                  <a16:creationId xmlns:a16="http://schemas.microsoft.com/office/drawing/2014/main" id="{626904AF-75F4-4BFA-9140-843F5399F9E7}"/>
                </a:ext>
              </a:extLst>
            </p:cNvPr>
            <p:cNvSpPr>
              <a:spLocks noChangeShapeType="1"/>
            </p:cNvSpPr>
            <p:nvPr/>
          </p:nvSpPr>
          <p:spPr bwMode="auto">
            <a:xfrm>
              <a:off x="720" y="2640"/>
              <a:ext cx="34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9233" name="Text Box 45">
              <a:extLst>
                <a:ext uri="{FF2B5EF4-FFF2-40B4-BE49-F238E27FC236}">
                  <a16:creationId xmlns:a16="http://schemas.microsoft.com/office/drawing/2014/main" id="{2242A8C7-0052-4EAA-8F5F-32E557D19E5F}"/>
                </a:ext>
              </a:extLst>
            </p:cNvPr>
            <p:cNvSpPr txBox="1">
              <a:spLocks noChangeArrowheads="1"/>
            </p:cNvSpPr>
            <p:nvPr/>
          </p:nvSpPr>
          <p:spPr bwMode="auto">
            <a:xfrm>
              <a:off x="672" y="2770"/>
              <a:ext cx="127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Symptomatic Disease</a:t>
              </a:r>
            </a:p>
          </p:txBody>
        </p:sp>
        <p:sp>
          <p:nvSpPr>
            <p:cNvPr id="9234" name="Text Box 46">
              <a:extLst>
                <a:ext uri="{FF2B5EF4-FFF2-40B4-BE49-F238E27FC236}">
                  <a16:creationId xmlns:a16="http://schemas.microsoft.com/office/drawing/2014/main" id="{73EBE9A8-0F10-4C09-982E-DF3A9041CF97}"/>
                </a:ext>
              </a:extLst>
            </p:cNvPr>
            <p:cNvSpPr txBox="1">
              <a:spLocks noChangeArrowheads="1"/>
            </p:cNvSpPr>
            <p:nvPr/>
          </p:nvSpPr>
          <p:spPr bwMode="auto">
            <a:xfrm>
              <a:off x="2016" y="2770"/>
              <a:ext cx="112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400" b="1">
                  <a:solidFill>
                    <a:srgbClr val="2F1311"/>
                  </a:solidFill>
                </a:rPr>
                <a:t>Tertiary prevention</a:t>
              </a:r>
            </a:p>
          </p:txBody>
        </p:sp>
        <p:sp>
          <p:nvSpPr>
            <p:cNvPr id="9235" name="Text Box 47">
              <a:extLst>
                <a:ext uri="{FF2B5EF4-FFF2-40B4-BE49-F238E27FC236}">
                  <a16:creationId xmlns:a16="http://schemas.microsoft.com/office/drawing/2014/main" id="{DCFB535F-4296-4AA0-AB58-6ED60DE7C6B1}"/>
                </a:ext>
              </a:extLst>
            </p:cNvPr>
            <p:cNvSpPr txBox="1">
              <a:spLocks noChangeArrowheads="1"/>
            </p:cNvSpPr>
            <p:nvPr/>
          </p:nvSpPr>
          <p:spPr bwMode="auto">
            <a:xfrm>
              <a:off x="3312" y="2770"/>
              <a:ext cx="1551"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FontTx/>
                <a:buChar char="•"/>
              </a:pPr>
              <a:r>
                <a:rPr lang="en-US" altLang="en-US" sz="1400" b="1">
                  <a:solidFill>
                    <a:srgbClr val="2F1311"/>
                  </a:solidFill>
                </a:rPr>
                <a:t>Disability limitation for</a:t>
              </a:r>
            </a:p>
            <a:p>
              <a:pPr fontAlgn="base">
                <a:spcBef>
                  <a:spcPct val="0"/>
                </a:spcBef>
                <a:spcAft>
                  <a:spcPct val="0"/>
                </a:spcAft>
              </a:pPr>
              <a:r>
                <a:rPr lang="en-US" altLang="en-US" sz="1400" b="1">
                  <a:solidFill>
                    <a:srgbClr val="2F1311"/>
                  </a:solidFill>
                </a:rPr>
                <a:t>early symptomatic disease</a:t>
              </a:r>
            </a:p>
            <a:p>
              <a:pPr fontAlgn="base">
                <a:spcBef>
                  <a:spcPct val="0"/>
                </a:spcBef>
                <a:spcAft>
                  <a:spcPct val="0"/>
                </a:spcAft>
                <a:buFontTx/>
                <a:buChar char="•"/>
              </a:pPr>
              <a:r>
                <a:rPr lang="en-US" altLang="en-US" sz="1400" b="1">
                  <a:solidFill>
                    <a:srgbClr val="2F1311"/>
                  </a:solidFill>
                </a:rPr>
                <a:t>Rehabilitation for late</a:t>
              </a:r>
            </a:p>
            <a:p>
              <a:pPr fontAlgn="base">
                <a:spcBef>
                  <a:spcPct val="0"/>
                </a:spcBef>
                <a:spcAft>
                  <a:spcPct val="0"/>
                </a:spcAft>
              </a:pPr>
              <a:r>
                <a:rPr lang="en-US" altLang="en-US" sz="1400" b="1">
                  <a:solidFill>
                    <a:srgbClr val="2F1311"/>
                  </a:solidFill>
                </a:rPr>
                <a:t>Symptomatic disease</a:t>
              </a:r>
            </a:p>
          </p:txBody>
        </p:sp>
        <p:sp>
          <p:nvSpPr>
            <p:cNvPr id="9236" name="Line 48">
              <a:extLst>
                <a:ext uri="{FF2B5EF4-FFF2-40B4-BE49-F238E27FC236}">
                  <a16:creationId xmlns:a16="http://schemas.microsoft.com/office/drawing/2014/main" id="{D04460E2-3F3B-4CC5-AA5E-291A9340018E}"/>
                </a:ext>
              </a:extLst>
            </p:cNvPr>
            <p:cNvSpPr>
              <a:spLocks noChangeShapeType="1"/>
            </p:cNvSpPr>
            <p:nvPr/>
          </p:nvSpPr>
          <p:spPr bwMode="auto">
            <a:xfrm>
              <a:off x="672" y="3552"/>
              <a:ext cx="35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blinds(horizontal)">
                                      <p:cBhvr>
                                        <p:cTn id="7" dur="500"/>
                                        <p:tgtEl>
                                          <p:spTgt spid="122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nodeType="clickEffect">
                                  <p:stCondLst>
                                    <p:cond delay="0"/>
                                  </p:stCondLst>
                                  <p:childTnLst>
                                    <p:set>
                                      <p:cBhvr>
                                        <p:cTn id="11" dur="1" fill="hold">
                                          <p:stCondLst>
                                            <p:cond delay="0"/>
                                          </p:stCondLst>
                                        </p:cTn>
                                        <p:tgtEl>
                                          <p:spTgt spid="12337"/>
                                        </p:tgtEl>
                                        <p:attrNameLst>
                                          <p:attrName>style.visibility</p:attrName>
                                        </p:attrNameLst>
                                      </p:cBhvr>
                                      <p:to>
                                        <p:strVal val="visible"/>
                                      </p:to>
                                    </p:set>
                                    <p:anim calcmode="lin" valueType="num">
                                      <p:cBhvr>
                                        <p:cTn id="12" dur="1000" fill="hold"/>
                                        <p:tgtEl>
                                          <p:spTgt spid="12337"/>
                                        </p:tgtEl>
                                        <p:attrNameLst>
                                          <p:attrName>ppt_w</p:attrName>
                                        </p:attrNameLst>
                                      </p:cBhvr>
                                      <p:tavLst>
                                        <p:tav tm="0">
                                          <p:val>
                                            <p:strVal val="#ppt_w*0.70"/>
                                          </p:val>
                                        </p:tav>
                                        <p:tav tm="100000">
                                          <p:val>
                                            <p:strVal val="#ppt_w"/>
                                          </p:val>
                                        </p:tav>
                                      </p:tavLst>
                                    </p:anim>
                                    <p:anim calcmode="lin" valueType="num">
                                      <p:cBhvr>
                                        <p:cTn id="13" dur="1000" fill="hold"/>
                                        <p:tgtEl>
                                          <p:spTgt spid="12337"/>
                                        </p:tgtEl>
                                        <p:attrNameLst>
                                          <p:attrName>ppt_h</p:attrName>
                                        </p:attrNameLst>
                                      </p:cBhvr>
                                      <p:tavLst>
                                        <p:tav tm="0">
                                          <p:val>
                                            <p:strVal val="#ppt_h"/>
                                          </p:val>
                                        </p:tav>
                                        <p:tav tm="100000">
                                          <p:val>
                                            <p:strVal val="#ppt_h"/>
                                          </p:val>
                                        </p:tav>
                                      </p:tavLst>
                                    </p:anim>
                                    <p:animEffect transition="in" filter="fade">
                                      <p:cBhvr>
                                        <p:cTn id="14" dur="1000"/>
                                        <p:tgtEl>
                                          <p:spTgt spid="12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A9545808-D146-4074-A624-E0728CF0A80C}"/>
              </a:ext>
            </a:extLst>
          </p:cNvPr>
          <p:cNvSpPr>
            <a:spLocks noGrp="1" noChangeArrowheads="1"/>
          </p:cNvSpPr>
          <p:nvPr>
            <p:ph type="title"/>
          </p:nvPr>
        </p:nvSpPr>
        <p:spPr/>
        <p:txBody>
          <a:bodyPr/>
          <a:lstStyle/>
          <a:p>
            <a:pPr eaLnBrk="1" hangingPunct="1"/>
            <a:r>
              <a:rPr lang="en-US" altLang="en-US"/>
              <a:t>Levels of prevention</a:t>
            </a:r>
          </a:p>
        </p:txBody>
      </p:sp>
      <p:sp>
        <p:nvSpPr>
          <p:cNvPr id="10243" name="Rectangle 3">
            <a:extLst>
              <a:ext uri="{FF2B5EF4-FFF2-40B4-BE49-F238E27FC236}">
                <a16:creationId xmlns:a16="http://schemas.microsoft.com/office/drawing/2014/main" id="{5BAACC61-5C86-4982-995E-A3CA01E3800F}"/>
              </a:ext>
            </a:extLst>
          </p:cNvPr>
          <p:cNvSpPr>
            <a:spLocks noGrp="1" noChangeArrowheads="1"/>
          </p:cNvSpPr>
          <p:nvPr>
            <p:ph type="body" idx="1"/>
          </p:nvPr>
        </p:nvSpPr>
        <p:spPr/>
        <p:txBody>
          <a:bodyPr/>
          <a:lstStyle/>
          <a:p>
            <a:pPr marL="0" indent="0" eaLnBrk="1" hangingPunct="1">
              <a:buNone/>
            </a:pPr>
            <a:endParaRPr lang="en-US" altLang="en-US"/>
          </a:p>
        </p:txBody>
      </p:sp>
      <p:sp>
        <p:nvSpPr>
          <p:cNvPr id="14340" name="Rectangle 4">
            <a:extLst>
              <a:ext uri="{FF2B5EF4-FFF2-40B4-BE49-F238E27FC236}">
                <a16:creationId xmlns:a16="http://schemas.microsoft.com/office/drawing/2014/main" id="{4F6B19F5-B177-4D1F-9E90-EF56DFB6413A}"/>
              </a:ext>
            </a:extLst>
          </p:cNvPr>
          <p:cNvSpPr>
            <a:spLocks noChangeArrowheads="1"/>
          </p:cNvSpPr>
          <p:nvPr/>
        </p:nvSpPr>
        <p:spPr bwMode="auto">
          <a:xfrm>
            <a:off x="3810000" y="1828800"/>
            <a:ext cx="29718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Primordial prevention</a:t>
            </a:r>
          </a:p>
        </p:txBody>
      </p:sp>
      <p:sp>
        <p:nvSpPr>
          <p:cNvPr id="14342" name="Rectangle 6">
            <a:extLst>
              <a:ext uri="{FF2B5EF4-FFF2-40B4-BE49-F238E27FC236}">
                <a16:creationId xmlns:a16="http://schemas.microsoft.com/office/drawing/2014/main" id="{948B5255-425E-405D-AD0C-4967E4FAC170}"/>
              </a:ext>
            </a:extLst>
          </p:cNvPr>
          <p:cNvSpPr>
            <a:spLocks noChangeArrowheads="1"/>
          </p:cNvSpPr>
          <p:nvPr/>
        </p:nvSpPr>
        <p:spPr bwMode="auto">
          <a:xfrm>
            <a:off x="3810000" y="2895600"/>
            <a:ext cx="29718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Primary prevention</a:t>
            </a:r>
          </a:p>
        </p:txBody>
      </p:sp>
      <p:sp>
        <p:nvSpPr>
          <p:cNvPr id="14343" name="Rectangle 7">
            <a:extLst>
              <a:ext uri="{FF2B5EF4-FFF2-40B4-BE49-F238E27FC236}">
                <a16:creationId xmlns:a16="http://schemas.microsoft.com/office/drawing/2014/main" id="{217C8048-3FED-4BAC-B49B-EF73FC537B89}"/>
              </a:ext>
            </a:extLst>
          </p:cNvPr>
          <p:cNvSpPr>
            <a:spLocks noChangeArrowheads="1"/>
          </p:cNvSpPr>
          <p:nvPr/>
        </p:nvSpPr>
        <p:spPr bwMode="auto">
          <a:xfrm>
            <a:off x="3810000" y="4038600"/>
            <a:ext cx="29718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Secondary prevention</a:t>
            </a:r>
          </a:p>
        </p:txBody>
      </p:sp>
      <p:sp>
        <p:nvSpPr>
          <p:cNvPr id="14344" name="Rectangle 8">
            <a:extLst>
              <a:ext uri="{FF2B5EF4-FFF2-40B4-BE49-F238E27FC236}">
                <a16:creationId xmlns:a16="http://schemas.microsoft.com/office/drawing/2014/main" id="{CA5B26E7-A3F2-49B7-B361-68539E033E52}"/>
              </a:ext>
            </a:extLst>
          </p:cNvPr>
          <p:cNvSpPr>
            <a:spLocks noChangeArrowheads="1"/>
          </p:cNvSpPr>
          <p:nvPr/>
        </p:nvSpPr>
        <p:spPr bwMode="auto">
          <a:xfrm>
            <a:off x="3810000" y="5181600"/>
            <a:ext cx="29718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Tertiary prevention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blinds(horizontal)">
                                      <p:cBhvr>
                                        <p:cTn id="7" dur="500"/>
                                        <p:tgtEl>
                                          <p:spTgt spid="1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14340"/>
                                        </p:tgtEl>
                                        <p:attrNameLst>
                                          <p:attrName>style.visibility</p:attrName>
                                        </p:attrNameLst>
                                      </p:cBhvr>
                                      <p:to>
                                        <p:strVal val="visible"/>
                                      </p:to>
                                    </p:set>
                                    <p:anim calcmode="lin" valueType="num">
                                      <p:cBhvr>
                                        <p:cTn id="12" dur="1000" fill="hold"/>
                                        <p:tgtEl>
                                          <p:spTgt spid="14340"/>
                                        </p:tgtEl>
                                        <p:attrNameLst>
                                          <p:attrName>ppt_w</p:attrName>
                                        </p:attrNameLst>
                                      </p:cBhvr>
                                      <p:tavLst>
                                        <p:tav tm="0">
                                          <p:val>
                                            <p:strVal val="#ppt_w*0.70"/>
                                          </p:val>
                                        </p:tav>
                                        <p:tav tm="100000">
                                          <p:val>
                                            <p:strVal val="#ppt_w"/>
                                          </p:val>
                                        </p:tav>
                                      </p:tavLst>
                                    </p:anim>
                                    <p:anim calcmode="lin" valueType="num">
                                      <p:cBhvr>
                                        <p:cTn id="13" dur="1000" fill="hold"/>
                                        <p:tgtEl>
                                          <p:spTgt spid="14340"/>
                                        </p:tgtEl>
                                        <p:attrNameLst>
                                          <p:attrName>ppt_h</p:attrName>
                                        </p:attrNameLst>
                                      </p:cBhvr>
                                      <p:tavLst>
                                        <p:tav tm="0">
                                          <p:val>
                                            <p:strVal val="#ppt_h"/>
                                          </p:val>
                                        </p:tav>
                                        <p:tav tm="100000">
                                          <p:val>
                                            <p:strVal val="#ppt_h"/>
                                          </p:val>
                                        </p:tav>
                                      </p:tavLst>
                                    </p:anim>
                                    <p:animEffect transition="in" filter="fade">
                                      <p:cBhvr>
                                        <p:cTn id="14" dur="1000"/>
                                        <p:tgtEl>
                                          <p:spTgt spid="1434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14342"/>
                                        </p:tgtEl>
                                        <p:attrNameLst>
                                          <p:attrName>style.visibility</p:attrName>
                                        </p:attrNameLst>
                                      </p:cBhvr>
                                      <p:to>
                                        <p:strVal val="visible"/>
                                      </p:to>
                                    </p:set>
                                    <p:anim calcmode="lin" valueType="num">
                                      <p:cBhvr>
                                        <p:cTn id="19" dur="1000" fill="hold"/>
                                        <p:tgtEl>
                                          <p:spTgt spid="14342"/>
                                        </p:tgtEl>
                                        <p:attrNameLst>
                                          <p:attrName>ppt_w</p:attrName>
                                        </p:attrNameLst>
                                      </p:cBhvr>
                                      <p:tavLst>
                                        <p:tav tm="0">
                                          <p:val>
                                            <p:strVal val="#ppt_w*0.70"/>
                                          </p:val>
                                        </p:tav>
                                        <p:tav tm="100000">
                                          <p:val>
                                            <p:strVal val="#ppt_w"/>
                                          </p:val>
                                        </p:tav>
                                      </p:tavLst>
                                    </p:anim>
                                    <p:anim calcmode="lin" valueType="num">
                                      <p:cBhvr>
                                        <p:cTn id="20" dur="1000" fill="hold"/>
                                        <p:tgtEl>
                                          <p:spTgt spid="14342"/>
                                        </p:tgtEl>
                                        <p:attrNameLst>
                                          <p:attrName>ppt_h</p:attrName>
                                        </p:attrNameLst>
                                      </p:cBhvr>
                                      <p:tavLst>
                                        <p:tav tm="0">
                                          <p:val>
                                            <p:strVal val="#ppt_h"/>
                                          </p:val>
                                        </p:tav>
                                        <p:tav tm="100000">
                                          <p:val>
                                            <p:strVal val="#ppt_h"/>
                                          </p:val>
                                        </p:tav>
                                      </p:tavLst>
                                    </p:anim>
                                    <p:animEffect transition="in" filter="fade">
                                      <p:cBhvr>
                                        <p:cTn id="21" dur="1000"/>
                                        <p:tgtEl>
                                          <p:spTgt spid="1434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14343"/>
                                        </p:tgtEl>
                                        <p:attrNameLst>
                                          <p:attrName>style.visibility</p:attrName>
                                        </p:attrNameLst>
                                      </p:cBhvr>
                                      <p:to>
                                        <p:strVal val="visible"/>
                                      </p:to>
                                    </p:set>
                                    <p:anim calcmode="lin" valueType="num">
                                      <p:cBhvr>
                                        <p:cTn id="26" dur="1000" fill="hold"/>
                                        <p:tgtEl>
                                          <p:spTgt spid="14343"/>
                                        </p:tgtEl>
                                        <p:attrNameLst>
                                          <p:attrName>ppt_w</p:attrName>
                                        </p:attrNameLst>
                                      </p:cBhvr>
                                      <p:tavLst>
                                        <p:tav tm="0">
                                          <p:val>
                                            <p:strVal val="#ppt_w*0.70"/>
                                          </p:val>
                                        </p:tav>
                                        <p:tav tm="100000">
                                          <p:val>
                                            <p:strVal val="#ppt_w"/>
                                          </p:val>
                                        </p:tav>
                                      </p:tavLst>
                                    </p:anim>
                                    <p:anim calcmode="lin" valueType="num">
                                      <p:cBhvr>
                                        <p:cTn id="27" dur="1000" fill="hold"/>
                                        <p:tgtEl>
                                          <p:spTgt spid="14343"/>
                                        </p:tgtEl>
                                        <p:attrNameLst>
                                          <p:attrName>ppt_h</p:attrName>
                                        </p:attrNameLst>
                                      </p:cBhvr>
                                      <p:tavLst>
                                        <p:tav tm="0">
                                          <p:val>
                                            <p:strVal val="#ppt_h"/>
                                          </p:val>
                                        </p:tav>
                                        <p:tav tm="100000">
                                          <p:val>
                                            <p:strVal val="#ppt_h"/>
                                          </p:val>
                                        </p:tav>
                                      </p:tavLst>
                                    </p:anim>
                                    <p:animEffect transition="in" filter="fade">
                                      <p:cBhvr>
                                        <p:cTn id="28" dur="1000"/>
                                        <p:tgtEl>
                                          <p:spTgt spid="1434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14344"/>
                                        </p:tgtEl>
                                        <p:attrNameLst>
                                          <p:attrName>style.visibility</p:attrName>
                                        </p:attrNameLst>
                                      </p:cBhvr>
                                      <p:to>
                                        <p:strVal val="visible"/>
                                      </p:to>
                                    </p:set>
                                    <p:anim calcmode="lin" valueType="num">
                                      <p:cBhvr>
                                        <p:cTn id="33" dur="1000" fill="hold"/>
                                        <p:tgtEl>
                                          <p:spTgt spid="14344"/>
                                        </p:tgtEl>
                                        <p:attrNameLst>
                                          <p:attrName>ppt_w</p:attrName>
                                        </p:attrNameLst>
                                      </p:cBhvr>
                                      <p:tavLst>
                                        <p:tav tm="0">
                                          <p:val>
                                            <p:strVal val="#ppt_w*0.70"/>
                                          </p:val>
                                        </p:tav>
                                        <p:tav tm="100000">
                                          <p:val>
                                            <p:strVal val="#ppt_w"/>
                                          </p:val>
                                        </p:tav>
                                      </p:tavLst>
                                    </p:anim>
                                    <p:anim calcmode="lin" valueType="num">
                                      <p:cBhvr>
                                        <p:cTn id="34" dur="1000" fill="hold"/>
                                        <p:tgtEl>
                                          <p:spTgt spid="14344"/>
                                        </p:tgtEl>
                                        <p:attrNameLst>
                                          <p:attrName>ppt_h</p:attrName>
                                        </p:attrNameLst>
                                      </p:cBhvr>
                                      <p:tavLst>
                                        <p:tav tm="0">
                                          <p:val>
                                            <p:strVal val="#ppt_h"/>
                                          </p:val>
                                        </p:tav>
                                        <p:tav tm="100000">
                                          <p:val>
                                            <p:strVal val="#ppt_h"/>
                                          </p:val>
                                        </p:tav>
                                      </p:tavLst>
                                    </p:anim>
                                    <p:animEffect transition="in" filter="fade">
                                      <p:cBhvr>
                                        <p:cTn id="35" dur="1000"/>
                                        <p:tgtEl>
                                          <p:spTgt spid="14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40" grpId="0" animBg="1"/>
      <p:bldP spid="14342" grpId="0" animBg="1"/>
      <p:bldP spid="14343" grpId="0" animBg="1"/>
      <p:bldP spid="14344"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F52D5BE-579A-40C7-901C-B035D4C9DDC4}"/>
              </a:ext>
            </a:extLst>
          </p:cNvPr>
          <p:cNvSpPr>
            <a:spLocks noGrp="1" noChangeArrowheads="1"/>
          </p:cNvSpPr>
          <p:nvPr>
            <p:ph type="title"/>
          </p:nvPr>
        </p:nvSpPr>
        <p:spPr/>
        <p:txBody>
          <a:bodyPr/>
          <a:lstStyle/>
          <a:p>
            <a:pPr eaLnBrk="1" hangingPunct="1"/>
            <a:r>
              <a:rPr lang="en-US" altLang="en-US"/>
              <a:t>Primordial prevention</a:t>
            </a:r>
          </a:p>
        </p:txBody>
      </p:sp>
      <p:sp>
        <p:nvSpPr>
          <p:cNvPr id="15363" name="Rectangle 3">
            <a:extLst>
              <a:ext uri="{FF2B5EF4-FFF2-40B4-BE49-F238E27FC236}">
                <a16:creationId xmlns:a16="http://schemas.microsoft.com/office/drawing/2014/main" id="{49BDCDB2-3DD5-465F-9D13-D4D814533CF3}"/>
              </a:ext>
            </a:extLst>
          </p:cNvPr>
          <p:cNvSpPr>
            <a:spLocks noGrp="1" noChangeArrowheads="1"/>
          </p:cNvSpPr>
          <p:nvPr>
            <p:ph type="body" idx="1"/>
          </p:nvPr>
        </p:nvSpPr>
        <p:spPr/>
        <p:txBody>
          <a:bodyPr/>
          <a:lstStyle/>
          <a:p>
            <a:pPr eaLnBrk="1" hangingPunct="1"/>
            <a:r>
              <a:rPr lang="en-US" altLang="en-US"/>
              <a:t>Primordial prevention consists of actions and measures that inhibit the emergence of risk factors in the form of environmental, economic, social, and behavioral conditions and cultural patterns of living etc.</a:t>
            </a:r>
          </a:p>
          <a:p>
            <a:pPr eaLnBrk="1" hangingPunct="1">
              <a:buFontTx/>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blinds(horizontal)">
                                      <p:cBhvr>
                                        <p:cTn id="7" dur="500"/>
                                        <p:tgtEl>
                                          <p:spTgt spid="15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3">
                                            <p:txEl>
                                              <p:pRg st="0" end="0"/>
                                            </p:txEl>
                                          </p:spTgt>
                                        </p:tgtEl>
                                        <p:attrNameLst>
                                          <p:attrName>style.visibility</p:attrName>
                                        </p:attrNameLst>
                                      </p:cBhvr>
                                      <p:to>
                                        <p:strVal val="visible"/>
                                      </p:to>
                                    </p:set>
                                    <p:animEffect transition="in" filter="blinds(horizontal)">
                                      <p:cBhvr>
                                        <p:cTn id="12" dur="500"/>
                                        <p:tgtEl>
                                          <p:spTgt spid="153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363"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DE93926-3151-4E46-A84F-DB8905354A24}"/>
              </a:ext>
            </a:extLst>
          </p:cNvPr>
          <p:cNvSpPr>
            <a:spLocks noGrp="1" noChangeArrowheads="1"/>
          </p:cNvSpPr>
          <p:nvPr>
            <p:ph type="title"/>
          </p:nvPr>
        </p:nvSpPr>
        <p:spPr/>
        <p:txBody>
          <a:bodyPr/>
          <a:lstStyle/>
          <a:p>
            <a:pPr eaLnBrk="1" hangingPunct="1"/>
            <a:r>
              <a:rPr lang="en-US" altLang="en-US"/>
              <a:t>Primordial prevention (cont.)</a:t>
            </a:r>
          </a:p>
        </p:txBody>
      </p:sp>
      <p:sp>
        <p:nvSpPr>
          <p:cNvPr id="12291" name="Rectangle 3">
            <a:extLst>
              <a:ext uri="{FF2B5EF4-FFF2-40B4-BE49-F238E27FC236}">
                <a16:creationId xmlns:a16="http://schemas.microsoft.com/office/drawing/2014/main" id="{286E0178-7C88-4B73-8DF1-EACFEA08573C}"/>
              </a:ext>
            </a:extLst>
          </p:cNvPr>
          <p:cNvSpPr>
            <a:spLocks noGrp="1" noChangeArrowheads="1"/>
          </p:cNvSpPr>
          <p:nvPr>
            <p:ph type="body" idx="1"/>
          </p:nvPr>
        </p:nvSpPr>
        <p:spPr>
          <a:xfrm>
            <a:off x="1787525" y="1371600"/>
            <a:ext cx="7386638" cy="5486400"/>
          </a:xfrm>
        </p:spPr>
        <p:txBody>
          <a:bodyPr/>
          <a:lstStyle/>
          <a:p>
            <a:pPr eaLnBrk="1" hangingPunct="1"/>
            <a:r>
              <a:rPr lang="en-US" altLang="en-US" sz="2800"/>
              <a:t>It is the prevention of the emergence or development of risk factors in countries or population groups in which they have not yet appeared </a:t>
            </a:r>
          </a:p>
          <a:p>
            <a:pPr eaLnBrk="1" hangingPunct="1">
              <a:buFontTx/>
              <a:buNone/>
            </a:pPr>
            <a:endParaRPr lang="en-US" altLang="en-US" sz="2800"/>
          </a:p>
          <a:p>
            <a:pPr eaLnBrk="1" hangingPunct="1"/>
            <a:r>
              <a:rPr lang="en-US" altLang="en-US" sz="2800"/>
              <a:t>For example, many adult health problems (e.g., obesity, hypertension) have their early origins in childhood, because this is the time when lifestyles are formed (for example, smoking, eating patterns, physical exercise). </a:t>
            </a:r>
          </a:p>
          <a:p>
            <a:pPr eaLnBrk="1" hangingPunct="1">
              <a:buFontTx/>
              <a:buNone/>
            </a:pPr>
            <a:endParaRPr lang="en-US" altLang="en-US" sz="280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6E7FE69-0DE3-46CD-B599-F1D3D9D5BAE2}"/>
              </a:ext>
            </a:extLst>
          </p:cNvPr>
          <p:cNvSpPr>
            <a:spLocks noGrp="1" noChangeArrowheads="1"/>
          </p:cNvSpPr>
          <p:nvPr>
            <p:ph type="title"/>
          </p:nvPr>
        </p:nvSpPr>
        <p:spPr/>
        <p:txBody>
          <a:bodyPr/>
          <a:lstStyle/>
          <a:p>
            <a:pPr eaLnBrk="1" hangingPunct="1"/>
            <a:r>
              <a:rPr lang="en-US" altLang="en-US"/>
              <a:t>Primordial prevention (cont.)</a:t>
            </a:r>
          </a:p>
        </p:txBody>
      </p:sp>
      <p:sp>
        <p:nvSpPr>
          <p:cNvPr id="13315" name="Rectangle 3">
            <a:extLst>
              <a:ext uri="{FF2B5EF4-FFF2-40B4-BE49-F238E27FC236}">
                <a16:creationId xmlns:a16="http://schemas.microsoft.com/office/drawing/2014/main" id="{99DDC7C7-B1DE-4885-AD86-6C203269E21C}"/>
              </a:ext>
            </a:extLst>
          </p:cNvPr>
          <p:cNvSpPr>
            <a:spLocks noGrp="1" noChangeArrowheads="1"/>
          </p:cNvSpPr>
          <p:nvPr>
            <p:ph type="body" idx="1"/>
          </p:nvPr>
        </p:nvSpPr>
        <p:spPr/>
        <p:txBody>
          <a:bodyPr/>
          <a:lstStyle/>
          <a:p>
            <a:pPr eaLnBrk="1" hangingPunct="1"/>
            <a:r>
              <a:rPr lang="en-US" altLang="en-US"/>
              <a:t>In primordial prevention, efforts are directed towards discouraging children from adopting harmful lifestyles </a:t>
            </a:r>
          </a:p>
          <a:p>
            <a:pPr eaLnBrk="1" hangingPunct="1">
              <a:buFontTx/>
              <a:buNone/>
            </a:pPr>
            <a:endParaRPr lang="en-US" altLang="en-US" i="1"/>
          </a:p>
          <a:p>
            <a:pPr eaLnBrk="1" hangingPunct="1"/>
            <a:r>
              <a:rPr lang="en-US" altLang="en-US"/>
              <a:t>The main intervention in primordial prevention is through individual and mass education </a:t>
            </a:r>
          </a:p>
          <a:p>
            <a:pPr eaLnBrk="1" hangingPunct="1"/>
            <a:endParaRPr lang="en-US" alt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939DA0F-007D-4EDF-B56E-A0C57F47073B}"/>
              </a:ext>
            </a:extLst>
          </p:cNvPr>
          <p:cNvSpPr>
            <a:spLocks noGrp="1" noChangeArrowheads="1"/>
          </p:cNvSpPr>
          <p:nvPr>
            <p:ph type="title"/>
          </p:nvPr>
        </p:nvSpPr>
        <p:spPr/>
        <p:txBody>
          <a:bodyPr/>
          <a:lstStyle/>
          <a:p>
            <a:pPr eaLnBrk="1" hangingPunct="1"/>
            <a:r>
              <a:rPr lang="en-US" altLang="en-US"/>
              <a:t>Primary prevention</a:t>
            </a:r>
          </a:p>
        </p:txBody>
      </p:sp>
      <p:sp>
        <p:nvSpPr>
          <p:cNvPr id="14339" name="Rectangle 3">
            <a:extLst>
              <a:ext uri="{FF2B5EF4-FFF2-40B4-BE49-F238E27FC236}">
                <a16:creationId xmlns:a16="http://schemas.microsoft.com/office/drawing/2014/main" id="{34263963-FB0E-42E7-93BC-530DBF3E1A72}"/>
              </a:ext>
            </a:extLst>
          </p:cNvPr>
          <p:cNvSpPr>
            <a:spLocks noGrp="1" noChangeArrowheads="1"/>
          </p:cNvSpPr>
          <p:nvPr>
            <p:ph type="body" idx="1"/>
          </p:nvPr>
        </p:nvSpPr>
        <p:spPr/>
        <p:txBody>
          <a:bodyPr/>
          <a:lstStyle/>
          <a:p>
            <a:pPr eaLnBrk="1" hangingPunct="1">
              <a:lnSpc>
                <a:spcPct val="90000"/>
              </a:lnSpc>
            </a:pPr>
            <a:r>
              <a:rPr lang="en-US" altLang="en-US" sz="2800"/>
              <a:t>Primary prevention can be defined as the action taken prior to the onset of disease, which removes the possibility that the disease will ever occur.</a:t>
            </a:r>
          </a:p>
          <a:p>
            <a:pPr eaLnBrk="1" hangingPunct="1">
              <a:lnSpc>
                <a:spcPct val="90000"/>
              </a:lnSpc>
            </a:pPr>
            <a:r>
              <a:rPr lang="en-US" altLang="en-US" sz="2800"/>
              <a:t>It signifies intervention in the pre-pathogenesis phase of a disease or health problem.</a:t>
            </a:r>
          </a:p>
          <a:p>
            <a:pPr eaLnBrk="1" hangingPunct="1">
              <a:lnSpc>
                <a:spcPct val="90000"/>
              </a:lnSpc>
            </a:pPr>
            <a:r>
              <a:rPr lang="en-US" altLang="en-US" sz="2800"/>
              <a:t>Primary prevention may be accomplished by measures of “</a:t>
            </a:r>
            <a:r>
              <a:rPr lang="en-US" altLang="en-US" sz="2800" u="sng"/>
              <a:t>Health promotion</a:t>
            </a:r>
            <a:r>
              <a:rPr lang="en-US" altLang="en-US" sz="2800"/>
              <a:t>” and “</a:t>
            </a:r>
            <a:r>
              <a:rPr lang="en-US" altLang="en-US" sz="2800" u="sng"/>
              <a:t>specific protection</a:t>
            </a:r>
            <a:r>
              <a:rPr lang="en-US" altLang="en-US" sz="2800"/>
              <a:t>”</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0E82B28-FE6E-4F2D-A9ED-14F3626D82AD}"/>
              </a:ext>
            </a:extLst>
          </p:cNvPr>
          <p:cNvSpPr>
            <a:spLocks noGrp="1" noChangeArrowheads="1"/>
          </p:cNvSpPr>
          <p:nvPr>
            <p:ph type="title"/>
          </p:nvPr>
        </p:nvSpPr>
        <p:spPr/>
        <p:txBody>
          <a:bodyPr/>
          <a:lstStyle/>
          <a:p>
            <a:pPr eaLnBrk="1" hangingPunct="1"/>
            <a:r>
              <a:rPr lang="en-US" altLang="en-US"/>
              <a:t>Primary prevention (cont.)</a:t>
            </a:r>
          </a:p>
        </p:txBody>
      </p:sp>
      <p:sp>
        <p:nvSpPr>
          <p:cNvPr id="15363" name="Rectangle 3">
            <a:extLst>
              <a:ext uri="{FF2B5EF4-FFF2-40B4-BE49-F238E27FC236}">
                <a16:creationId xmlns:a16="http://schemas.microsoft.com/office/drawing/2014/main" id="{F4BBB38E-06DD-4029-BBE4-3328AB83FAFC}"/>
              </a:ext>
            </a:extLst>
          </p:cNvPr>
          <p:cNvSpPr>
            <a:spLocks noGrp="1" noChangeArrowheads="1"/>
          </p:cNvSpPr>
          <p:nvPr>
            <p:ph type="body" idx="1"/>
          </p:nvPr>
        </p:nvSpPr>
        <p:spPr/>
        <p:txBody>
          <a:bodyPr/>
          <a:lstStyle/>
          <a:p>
            <a:pPr eaLnBrk="1" hangingPunct="1"/>
            <a:r>
              <a:rPr lang="en-US" altLang="en-US" sz="2800"/>
              <a:t>It includes the concept of "</a:t>
            </a:r>
            <a:r>
              <a:rPr lang="en-US" altLang="en-US" sz="2800">
                <a:solidFill>
                  <a:schemeClr val="accent2"/>
                </a:solidFill>
              </a:rPr>
              <a:t>positive health</a:t>
            </a:r>
            <a:r>
              <a:rPr lang="en-US" altLang="en-US" sz="2800"/>
              <a:t>", a concept that encourages achievement and maintenance of "an acceptable level of health that will enable every individual to lead a socially and economically productive life". </a:t>
            </a:r>
          </a:p>
          <a:p>
            <a:pPr eaLnBrk="1" hangingPunct="1"/>
            <a:r>
              <a:rPr lang="en-US" altLang="en-US" sz="2800"/>
              <a:t>Primary prevention may be accomplished by measures designed to </a:t>
            </a:r>
            <a:r>
              <a:rPr lang="en-US" altLang="en-US" sz="2800">
                <a:solidFill>
                  <a:schemeClr val="tx2"/>
                </a:solidFill>
              </a:rPr>
              <a:t>promote</a:t>
            </a:r>
            <a:r>
              <a:rPr lang="en-US" altLang="en-US" sz="2800"/>
              <a:t> general health and well-being, and quality of life of people or by </a:t>
            </a:r>
            <a:r>
              <a:rPr lang="en-US" altLang="en-US" sz="2800">
                <a:solidFill>
                  <a:schemeClr val="tx2"/>
                </a:solidFill>
              </a:rPr>
              <a:t>specific protective measures. </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F764590-A9DA-4CF7-B52C-6289B3DD214D}"/>
              </a:ext>
            </a:extLst>
          </p:cNvPr>
          <p:cNvSpPr>
            <a:spLocks noGrp="1" noChangeArrowheads="1"/>
          </p:cNvSpPr>
          <p:nvPr>
            <p:ph type="title"/>
          </p:nvPr>
        </p:nvSpPr>
        <p:spPr/>
        <p:txBody>
          <a:bodyPr/>
          <a:lstStyle/>
          <a:p>
            <a:pPr eaLnBrk="1" hangingPunct="1"/>
            <a:endParaRPr lang="en-US" altLang="en-US"/>
          </a:p>
        </p:txBody>
      </p:sp>
      <p:sp>
        <p:nvSpPr>
          <p:cNvPr id="16387" name="Rectangle 3">
            <a:extLst>
              <a:ext uri="{FF2B5EF4-FFF2-40B4-BE49-F238E27FC236}">
                <a16:creationId xmlns:a16="http://schemas.microsoft.com/office/drawing/2014/main" id="{20B71B35-DC01-406B-B529-50CC0A8872DD}"/>
              </a:ext>
            </a:extLst>
          </p:cNvPr>
          <p:cNvSpPr>
            <a:spLocks noGrp="1" noChangeArrowheads="1"/>
          </p:cNvSpPr>
          <p:nvPr>
            <p:ph type="body" idx="1"/>
          </p:nvPr>
        </p:nvSpPr>
        <p:spPr>
          <a:xfrm>
            <a:off x="1905000" y="1600200"/>
            <a:ext cx="7386638" cy="4497388"/>
          </a:xfrm>
        </p:spPr>
        <p:txBody>
          <a:bodyPr/>
          <a:lstStyle/>
          <a:p>
            <a:pPr eaLnBrk="1" hangingPunct="1"/>
            <a:endParaRPr lang="en-US" altLang="en-US"/>
          </a:p>
        </p:txBody>
      </p:sp>
      <p:grpSp>
        <p:nvGrpSpPr>
          <p:cNvPr id="17444" name="Group 36">
            <a:extLst>
              <a:ext uri="{FF2B5EF4-FFF2-40B4-BE49-F238E27FC236}">
                <a16:creationId xmlns:a16="http://schemas.microsoft.com/office/drawing/2014/main" id="{2E590D77-8F07-41CA-880D-EE08F804A40A}"/>
              </a:ext>
            </a:extLst>
          </p:cNvPr>
          <p:cNvGrpSpPr>
            <a:grpSpLocks/>
          </p:cNvGrpSpPr>
          <p:nvPr/>
        </p:nvGrpSpPr>
        <p:grpSpPr bwMode="auto">
          <a:xfrm>
            <a:off x="1676400" y="1143000"/>
            <a:ext cx="7596188" cy="4191000"/>
            <a:chOff x="576" y="1296"/>
            <a:chExt cx="4785" cy="2640"/>
          </a:xfrm>
        </p:grpSpPr>
        <p:sp>
          <p:nvSpPr>
            <p:cNvPr id="16389" name="Rectangle 4">
              <a:extLst>
                <a:ext uri="{FF2B5EF4-FFF2-40B4-BE49-F238E27FC236}">
                  <a16:creationId xmlns:a16="http://schemas.microsoft.com/office/drawing/2014/main" id="{813637CA-6A15-47CC-BA91-0BCDE37C503D}"/>
                </a:ext>
              </a:extLst>
            </p:cNvPr>
            <p:cNvSpPr>
              <a:spLocks noChangeArrowheads="1"/>
            </p:cNvSpPr>
            <p:nvPr/>
          </p:nvSpPr>
          <p:spPr bwMode="auto">
            <a:xfrm>
              <a:off x="1104" y="1296"/>
              <a:ext cx="2112"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Primary prevention</a:t>
              </a:r>
            </a:p>
          </p:txBody>
        </p:sp>
        <p:sp>
          <p:nvSpPr>
            <p:cNvPr id="16390" name="Line 5">
              <a:extLst>
                <a:ext uri="{FF2B5EF4-FFF2-40B4-BE49-F238E27FC236}">
                  <a16:creationId xmlns:a16="http://schemas.microsoft.com/office/drawing/2014/main" id="{98E22E44-1A21-4086-9A6B-AEF50C94F47C}"/>
                </a:ext>
              </a:extLst>
            </p:cNvPr>
            <p:cNvSpPr>
              <a:spLocks noChangeShapeType="1"/>
            </p:cNvSpPr>
            <p:nvPr/>
          </p:nvSpPr>
          <p:spPr bwMode="auto">
            <a:xfrm flipH="1">
              <a:off x="1056" y="1872"/>
              <a:ext cx="1152"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391" name="Line 7">
              <a:extLst>
                <a:ext uri="{FF2B5EF4-FFF2-40B4-BE49-F238E27FC236}">
                  <a16:creationId xmlns:a16="http://schemas.microsoft.com/office/drawing/2014/main" id="{FE2FE35E-E92D-4CCF-9602-FAECCC699449}"/>
                </a:ext>
              </a:extLst>
            </p:cNvPr>
            <p:cNvSpPr>
              <a:spLocks noChangeShapeType="1"/>
            </p:cNvSpPr>
            <p:nvPr/>
          </p:nvSpPr>
          <p:spPr bwMode="auto">
            <a:xfrm>
              <a:off x="2208" y="1872"/>
              <a:ext cx="1152"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392" name="Rectangle 8">
              <a:extLst>
                <a:ext uri="{FF2B5EF4-FFF2-40B4-BE49-F238E27FC236}">
                  <a16:creationId xmlns:a16="http://schemas.microsoft.com/office/drawing/2014/main" id="{D95CBC89-7EEB-43D1-8CAD-2D92CF4E6B8E}"/>
                </a:ext>
              </a:extLst>
            </p:cNvPr>
            <p:cNvSpPr>
              <a:spLocks noChangeArrowheads="1"/>
            </p:cNvSpPr>
            <p:nvPr/>
          </p:nvSpPr>
          <p:spPr bwMode="auto">
            <a:xfrm>
              <a:off x="2832" y="2352"/>
              <a:ext cx="1200"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Specific protection</a:t>
              </a:r>
            </a:p>
          </p:txBody>
        </p:sp>
        <p:sp>
          <p:nvSpPr>
            <p:cNvPr id="16393" name="Rectangle 9">
              <a:extLst>
                <a:ext uri="{FF2B5EF4-FFF2-40B4-BE49-F238E27FC236}">
                  <a16:creationId xmlns:a16="http://schemas.microsoft.com/office/drawing/2014/main" id="{7451FC10-5AFC-4FA7-A569-F7758D90E872}"/>
                </a:ext>
              </a:extLst>
            </p:cNvPr>
            <p:cNvSpPr>
              <a:spLocks noChangeArrowheads="1"/>
            </p:cNvSpPr>
            <p:nvPr/>
          </p:nvSpPr>
          <p:spPr bwMode="auto">
            <a:xfrm>
              <a:off x="576" y="2352"/>
              <a:ext cx="1200"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Health promotion</a:t>
              </a:r>
            </a:p>
          </p:txBody>
        </p:sp>
        <p:sp>
          <p:nvSpPr>
            <p:cNvPr id="16394" name="Text Box 13">
              <a:extLst>
                <a:ext uri="{FF2B5EF4-FFF2-40B4-BE49-F238E27FC236}">
                  <a16:creationId xmlns:a16="http://schemas.microsoft.com/office/drawing/2014/main" id="{FBC544B9-09DB-4E0F-94B2-9EDCD917D3D0}"/>
                </a:ext>
              </a:extLst>
            </p:cNvPr>
            <p:cNvSpPr txBox="1">
              <a:spLocks noChangeArrowheads="1"/>
            </p:cNvSpPr>
            <p:nvPr/>
          </p:nvSpPr>
          <p:spPr bwMode="auto">
            <a:xfrm>
              <a:off x="1776" y="1872"/>
              <a:ext cx="9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a:solidFill>
                    <a:srgbClr val="79AF7D"/>
                  </a:solidFill>
                </a:rPr>
                <a:t>Achieved by</a:t>
              </a:r>
            </a:p>
          </p:txBody>
        </p:sp>
        <p:sp>
          <p:nvSpPr>
            <p:cNvPr id="16395" name="Line 14">
              <a:extLst>
                <a:ext uri="{FF2B5EF4-FFF2-40B4-BE49-F238E27FC236}">
                  <a16:creationId xmlns:a16="http://schemas.microsoft.com/office/drawing/2014/main" id="{0D3F4C93-7ECB-4B15-BC2A-7B64795C098D}"/>
                </a:ext>
              </a:extLst>
            </p:cNvPr>
            <p:cNvSpPr>
              <a:spLocks noChangeShapeType="1"/>
            </p:cNvSpPr>
            <p:nvPr/>
          </p:nvSpPr>
          <p:spPr bwMode="auto">
            <a:xfrm>
              <a:off x="768" y="2928"/>
              <a:ext cx="0"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396" name="Line 15">
              <a:extLst>
                <a:ext uri="{FF2B5EF4-FFF2-40B4-BE49-F238E27FC236}">
                  <a16:creationId xmlns:a16="http://schemas.microsoft.com/office/drawing/2014/main" id="{2372FE5E-B342-457B-B69F-C7A165EDA244}"/>
                </a:ext>
              </a:extLst>
            </p:cNvPr>
            <p:cNvSpPr>
              <a:spLocks noChangeShapeType="1"/>
            </p:cNvSpPr>
            <p:nvPr/>
          </p:nvSpPr>
          <p:spPr bwMode="auto">
            <a:xfrm>
              <a:off x="768" y="3072"/>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397" name="Line 16">
              <a:extLst>
                <a:ext uri="{FF2B5EF4-FFF2-40B4-BE49-F238E27FC236}">
                  <a16:creationId xmlns:a16="http://schemas.microsoft.com/office/drawing/2014/main" id="{DF3BF333-A428-4E4D-9C68-2B93082B7EF8}"/>
                </a:ext>
              </a:extLst>
            </p:cNvPr>
            <p:cNvSpPr>
              <a:spLocks noChangeShapeType="1"/>
            </p:cNvSpPr>
            <p:nvPr/>
          </p:nvSpPr>
          <p:spPr bwMode="auto">
            <a:xfrm>
              <a:off x="768" y="3312"/>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398" name="Line 17">
              <a:extLst>
                <a:ext uri="{FF2B5EF4-FFF2-40B4-BE49-F238E27FC236}">
                  <a16:creationId xmlns:a16="http://schemas.microsoft.com/office/drawing/2014/main" id="{6BE55913-9F43-4C2F-84B3-D1ECF045B0CE}"/>
                </a:ext>
              </a:extLst>
            </p:cNvPr>
            <p:cNvSpPr>
              <a:spLocks noChangeShapeType="1"/>
            </p:cNvSpPr>
            <p:nvPr/>
          </p:nvSpPr>
          <p:spPr bwMode="auto">
            <a:xfrm>
              <a:off x="768" y="3552"/>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399" name="Line 18">
              <a:extLst>
                <a:ext uri="{FF2B5EF4-FFF2-40B4-BE49-F238E27FC236}">
                  <a16:creationId xmlns:a16="http://schemas.microsoft.com/office/drawing/2014/main" id="{81A90A27-799A-4D04-AE8A-39FC2F30388B}"/>
                </a:ext>
              </a:extLst>
            </p:cNvPr>
            <p:cNvSpPr>
              <a:spLocks noChangeShapeType="1"/>
            </p:cNvSpPr>
            <p:nvPr/>
          </p:nvSpPr>
          <p:spPr bwMode="auto">
            <a:xfrm>
              <a:off x="768" y="3744"/>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400" name="Text Box 19">
              <a:extLst>
                <a:ext uri="{FF2B5EF4-FFF2-40B4-BE49-F238E27FC236}">
                  <a16:creationId xmlns:a16="http://schemas.microsoft.com/office/drawing/2014/main" id="{03503339-A2D3-47A9-BC1B-B79F353BCD34}"/>
                </a:ext>
              </a:extLst>
            </p:cNvPr>
            <p:cNvSpPr txBox="1">
              <a:spLocks noChangeArrowheads="1"/>
            </p:cNvSpPr>
            <p:nvPr/>
          </p:nvSpPr>
          <p:spPr bwMode="auto">
            <a:xfrm>
              <a:off x="902" y="2997"/>
              <a:ext cx="89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Health education</a:t>
              </a:r>
            </a:p>
          </p:txBody>
        </p:sp>
        <p:sp>
          <p:nvSpPr>
            <p:cNvPr id="16401" name="Text Box 20">
              <a:extLst>
                <a:ext uri="{FF2B5EF4-FFF2-40B4-BE49-F238E27FC236}">
                  <a16:creationId xmlns:a16="http://schemas.microsoft.com/office/drawing/2014/main" id="{AFE65360-6C42-425F-B122-2FC4C3F406CF}"/>
                </a:ext>
              </a:extLst>
            </p:cNvPr>
            <p:cNvSpPr txBox="1">
              <a:spLocks noChangeArrowheads="1"/>
            </p:cNvSpPr>
            <p:nvPr/>
          </p:nvSpPr>
          <p:spPr bwMode="auto">
            <a:xfrm>
              <a:off x="902" y="3237"/>
              <a:ext cx="143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Environmental modifications</a:t>
              </a:r>
            </a:p>
          </p:txBody>
        </p:sp>
        <p:sp>
          <p:nvSpPr>
            <p:cNvPr id="16402" name="Text Box 21">
              <a:extLst>
                <a:ext uri="{FF2B5EF4-FFF2-40B4-BE49-F238E27FC236}">
                  <a16:creationId xmlns:a16="http://schemas.microsoft.com/office/drawing/2014/main" id="{4B733FE7-F41F-4726-9BB7-3929C3775C83}"/>
                </a:ext>
              </a:extLst>
            </p:cNvPr>
            <p:cNvSpPr txBox="1">
              <a:spLocks noChangeArrowheads="1"/>
            </p:cNvSpPr>
            <p:nvPr/>
          </p:nvSpPr>
          <p:spPr bwMode="auto">
            <a:xfrm>
              <a:off x="902" y="3477"/>
              <a:ext cx="122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Nutritional interventions</a:t>
              </a:r>
            </a:p>
          </p:txBody>
        </p:sp>
        <p:sp>
          <p:nvSpPr>
            <p:cNvPr id="16403" name="Text Box 22">
              <a:extLst>
                <a:ext uri="{FF2B5EF4-FFF2-40B4-BE49-F238E27FC236}">
                  <a16:creationId xmlns:a16="http://schemas.microsoft.com/office/drawing/2014/main" id="{2689665A-0E8E-4A0E-A418-F00670F6FA37}"/>
                </a:ext>
              </a:extLst>
            </p:cNvPr>
            <p:cNvSpPr txBox="1">
              <a:spLocks noChangeArrowheads="1"/>
            </p:cNvSpPr>
            <p:nvPr/>
          </p:nvSpPr>
          <p:spPr bwMode="auto">
            <a:xfrm>
              <a:off x="912" y="3646"/>
              <a:ext cx="16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Life style and behavioral changes</a:t>
              </a:r>
            </a:p>
          </p:txBody>
        </p:sp>
        <p:sp>
          <p:nvSpPr>
            <p:cNvPr id="16404" name="Line 23">
              <a:extLst>
                <a:ext uri="{FF2B5EF4-FFF2-40B4-BE49-F238E27FC236}">
                  <a16:creationId xmlns:a16="http://schemas.microsoft.com/office/drawing/2014/main" id="{387D393A-9F25-41B3-8E14-41AA9265CBC8}"/>
                </a:ext>
              </a:extLst>
            </p:cNvPr>
            <p:cNvSpPr>
              <a:spLocks noChangeShapeType="1"/>
            </p:cNvSpPr>
            <p:nvPr/>
          </p:nvSpPr>
          <p:spPr bwMode="auto">
            <a:xfrm>
              <a:off x="2976" y="2928"/>
              <a:ext cx="0"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405" name="Line 24">
              <a:extLst>
                <a:ext uri="{FF2B5EF4-FFF2-40B4-BE49-F238E27FC236}">
                  <a16:creationId xmlns:a16="http://schemas.microsoft.com/office/drawing/2014/main" id="{336EBBBE-1057-4BCF-9928-3429EB1D68E2}"/>
                </a:ext>
              </a:extLst>
            </p:cNvPr>
            <p:cNvSpPr>
              <a:spLocks noChangeShapeType="1"/>
            </p:cNvSpPr>
            <p:nvPr/>
          </p:nvSpPr>
          <p:spPr bwMode="auto">
            <a:xfrm>
              <a:off x="2976" y="3024"/>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406" name="Line 25">
              <a:extLst>
                <a:ext uri="{FF2B5EF4-FFF2-40B4-BE49-F238E27FC236}">
                  <a16:creationId xmlns:a16="http://schemas.microsoft.com/office/drawing/2014/main" id="{7C57E88F-1B4C-445F-B712-21B177B414BB}"/>
                </a:ext>
              </a:extLst>
            </p:cNvPr>
            <p:cNvSpPr>
              <a:spLocks noChangeShapeType="1"/>
            </p:cNvSpPr>
            <p:nvPr/>
          </p:nvSpPr>
          <p:spPr bwMode="auto">
            <a:xfrm>
              <a:off x="2976" y="316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407" name="Line 26">
              <a:extLst>
                <a:ext uri="{FF2B5EF4-FFF2-40B4-BE49-F238E27FC236}">
                  <a16:creationId xmlns:a16="http://schemas.microsoft.com/office/drawing/2014/main" id="{70B870C7-7252-4C0A-AF65-5282DE458896}"/>
                </a:ext>
              </a:extLst>
            </p:cNvPr>
            <p:cNvSpPr>
              <a:spLocks noChangeShapeType="1"/>
            </p:cNvSpPr>
            <p:nvPr/>
          </p:nvSpPr>
          <p:spPr bwMode="auto">
            <a:xfrm>
              <a:off x="2976" y="3312"/>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408" name="Line 27">
              <a:extLst>
                <a:ext uri="{FF2B5EF4-FFF2-40B4-BE49-F238E27FC236}">
                  <a16:creationId xmlns:a16="http://schemas.microsoft.com/office/drawing/2014/main" id="{918AF6E0-D6CC-429A-B17C-464B998A7E76}"/>
                </a:ext>
              </a:extLst>
            </p:cNvPr>
            <p:cNvSpPr>
              <a:spLocks noChangeShapeType="1"/>
            </p:cNvSpPr>
            <p:nvPr/>
          </p:nvSpPr>
          <p:spPr bwMode="auto">
            <a:xfrm>
              <a:off x="2976" y="345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409" name="Line 28">
              <a:extLst>
                <a:ext uri="{FF2B5EF4-FFF2-40B4-BE49-F238E27FC236}">
                  <a16:creationId xmlns:a16="http://schemas.microsoft.com/office/drawing/2014/main" id="{23EFC550-EA15-4C34-989E-776D344D969D}"/>
                </a:ext>
              </a:extLst>
            </p:cNvPr>
            <p:cNvSpPr>
              <a:spLocks noChangeShapeType="1"/>
            </p:cNvSpPr>
            <p:nvPr/>
          </p:nvSpPr>
          <p:spPr bwMode="auto">
            <a:xfrm>
              <a:off x="2976" y="3600"/>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410" name="Line 29">
              <a:extLst>
                <a:ext uri="{FF2B5EF4-FFF2-40B4-BE49-F238E27FC236}">
                  <a16:creationId xmlns:a16="http://schemas.microsoft.com/office/drawing/2014/main" id="{8177ADF4-FAB0-4633-8BE5-A9B09D162802}"/>
                </a:ext>
              </a:extLst>
            </p:cNvPr>
            <p:cNvSpPr>
              <a:spLocks noChangeShapeType="1"/>
            </p:cNvSpPr>
            <p:nvPr/>
          </p:nvSpPr>
          <p:spPr bwMode="auto">
            <a:xfrm>
              <a:off x="2976" y="3744"/>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16411" name="Text Box 30">
              <a:extLst>
                <a:ext uri="{FF2B5EF4-FFF2-40B4-BE49-F238E27FC236}">
                  <a16:creationId xmlns:a16="http://schemas.microsoft.com/office/drawing/2014/main" id="{8A3F13A7-7E4C-45EF-870B-F46B485A48A7}"/>
                </a:ext>
              </a:extLst>
            </p:cNvPr>
            <p:cNvSpPr txBox="1">
              <a:spLocks noChangeArrowheads="1"/>
            </p:cNvSpPr>
            <p:nvPr/>
          </p:nvSpPr>
          <p:spPr bwMode="auto">
            <a:xfrm>
              <a:off x="3120" y="2928"/>
              <a:ext cx="170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Immunization and seroprophylaxis</a:t>
              </a:r>
            </a:p>
          </p:txBody>
        </p:sp>
        <p:sp>
          <p:nvSpPr>
            <p:cNvPr id="16412" name="Text Box 31">
              <a:extLst>
                <a:ext uri="{FF2B5EF4-FFF2-40B4-BE49-F238E27FC236}">
                  <a16:creationId xmlns:a16="http://schemas.microsoft.com/office/drawing/2014/main" id="{A5C93A3D-5F3D-4428-8F2C-019BDC3A69AF}"/>
                </a:ext>
              </a:extLst>
            </p:cNvPr>
            <p:cNvSpPr txBox="1">
              <a:spLocks noChangeArrowheads="1"/>
            </p:cNvSpPr>
            <p:nvPr/>
          </p:nvSpPr>
          <p:spPr bwMode="auto">
            <a:xfrm>
              <a:off x="3120" y="3072"/>
              <a:ext cx="9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chemoprophylaxis</a:t>
              </a:r>
            </a:p>
          </p:txBody>
        </p:sp>
        <p:sp>
          <p:nvSpPr>
            <p:cNvPr id="16413" name="Text Box 32">
              <a:extLst>
                <a:ext uri="{FF2B5EF4-FFF2-40B4-BE49-F238E27FC236}">
                  <a16:creationId xmlns:a16="http://schemas.microsoft.com/office/drawing/2014/main" id="{675C78B9-4CCC-49EE-B3B3-089F3BC78E8C}"/>
                </a:ext>
              </a:extLst>
            </p:cNvPr>
            <p:cNvSpPr txBox="1">
              <a:spLocks noChangeArrowheads="1"/>
            </p:cNvSpPr>
            <p:nvPr/>
          </p:nvSpPr>
          <p:spPr bwMode="auto">
            <a:xfrm>
              <a:off x="3158" y="3189"/>
              <a:ext cx="220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Use of specific nutrients or supplementations</a:t>
              </a:r>
            </a:p>
          </p:txBody>
        </p:sp>
        <p:sp>
          <p:nvSpPr>
            <p:cNvPr id="16414" name="Text Box 33">
              <a:extLst>
                <a:ext uri="{FF2B5EF4-FFF2-40B4-BE49-F238E27FC236}">
                  <a16:creationId xmlns:a16="http://schemas.microsoft.com/office/drawing/2014/main" id="{89FB0687-6EE2-4534-95FF-4E5604681340}"/>
                </a:ext>
              </a:extLst>
            </p:cNvPr>
            <p:cNvSpPr txBox="1">
              <a:spLocks noChangeArrowheads="1"/>
            </p:cNvSpPr>
            <p:nvPr/>
          </p:nvSpPr>
          <p:spPr bwMode="auto">
            <a:xfrm>
              <a:off x="3158" y="3333"/>
              <a:ext cx="19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Protection against occupational hazards</a:t>
              </a:r>
            </a:p>
          </p:txBody>
        </p:sp>
        <p:sp>
          <p:nvSpPr>
            <p:cNvPr id="16415" name="Text Box 34">
              <a:extLst>
                <a:ext uri="{FF2B5EF4-FFF2-40B4-BE49-F238E27FC236}">
                  <a16:creationId xmlns:a16="http://schemas.microsoft.com/office/drawing/2014/main" id="{261F2175-2FDA-4FB3-BCFC-B41F0C793F20}"/>
                </a:ext>
              </a:extLst>
            </p:cNvPr>
            <p:cNvSpPr txBox="1">
              <a:spLocks noChangeArrowheads="1"/>
            </p:cNvSpPr>
            <p:nvPr/>
          </p:nvSpPr>
          <p:spPr bwMode="auto">
            <a:xfrm>
              <a:off x="3168" y="3504"/>
              <a:ext cx="130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Safety of drugs and foods</a:t>
              </a:r>
            </a:p>
          </p:txBody>
        </p:sp>
        <p:sp>
          <p:nvSpPr>
            <p:cNvPr id="16416" name="Text Box 35">
              <a:extLst>
                <a:ext uri="{FF2B5EF4-FFF2-40B4-BE49-F238E27FC236}">
                  <a16:creationId xmlns:a16="http://schemas.microsoft.com/office/drawing/2014/main" id="{26784C20-3C9B-4A6E-A776-6F7A123C0C52}"/>
                </a:ext>
              </a:extLst>
            </p:cNvPr>
            <p:cNvSpPr txBox="1">
              <a:spLocks noChangeArrowheads="1"/>
            </p:cNvSpPr>
            <p:nvPr/>
          </p:nvSpPr>
          <p:spPr bwMode="auto">
            <a:xfrm>
              <a:off x="3168" y="3648"/>
              <a:ext cx="17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Control of environmental hazards, </a:t>
              </a:r>
            </a:p>
            <a:p>
              <a:pPr fontAlgn="base">
                <a:spcBef>
                  <a:spcPct val="0"/>
                </a:spcBef>
                <a:spcAft>
                  <a:spcPct val="0"/>
                </a:spcAft>
              </a:pPr>
              <a:r>
                <a:rPr lang="en-US" altLang="en-US" sz="1200" b="1">
                  <a:solidFill>
                    <a:srgbClr val="2F1311"/>
                  </a:solidFill>
                </a:rPr>
                <a:t>e.g. air pollution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7444"/>
                                        </p:tgtEl>
                                        <p:attrNameLst>
                                          <p:attrName>style.visibility</p:attrName>
                                        </p:attrNameLst>
                                      </p:cBhvr>
                                      <p:to>
                                        <p:strVal val="visible"/>
                                      </p:to>
                                    </p:set>
                                    <p:anim calcmode="lin" valueType="num">
                                      <p:cBhvr>
                                        <p:cTn id="7" dur="1000" fill="hold"/>
                                        <p:tgtEl>
                                          <p:spTgt spid="17444"/>
                                        </p:tgtEl>
                                        <p:attrNameLst>
                                          <p:attrName>ppt_w</p:attrName>
                                        </p:attrNameLst>
                                      </p:cBhvr>
                                      <p:tavLst>
                                        <p:tav tm="0">
                                          <p:val>
                                            <p:strVal val="#ppt_w*0.70"/>
                                          </p:val>
                                        </p:tav>
                                        <p:tav tm="100000">
                                          <p:val>
                                            <p:strVal val="#ppt_w"/>
                                          </p:val>
                                        </p:tav>
                                      </p:tavLst>
                                    </p:anim>
                                    <p:anim calcmode="lin" valueType="num">
                                      <p:cBhvr>
                                        <p:cTn id="8" dur="1000" fill="hold"/>
                                        <p:tgtEl>
                                          <p:spTgt spid="17444"/>
                                        </p:tgtEl>
                                        <p:attrNameLst>
                                          <p:attrName>ppt_h</p:attrName>
                                        </p:attrNameLst>
                                      </p:cBhvr>
                                      <p:tavLst>
                                        <p:tav tm="0">
                                          <p:val>
                                            <p:strVal val="#ppt_h"/>
                                          </p:val>
                                        </p:tav>
                                        <p:tav tm="100000">
                                          <p:val>
                                            <p:strVal val="#ppt_h"/>
                                          </p:val>
                                        </p:tav>
                                      </p:tavLst>
                                    </p:anim>
                                    <p:animEffect transition="in" filter="fade">
                                      <p:cBhvr>
                                        <p:cTn id="9" dur="1000"/>
                                        <p:tgtEl>
                                          <p:spTgt spid="17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741157D-43EF-4F54-9AF8-6C2A0FEB2C6B}"/>
              </a:ext>
            </a:extLst>
          </p:cNvPr>
          <p:cNvSpPr>
            <a:spLocks noGrp="1" noChangeArrowheads="1"/>
          </p:cNvSpPr>
          <p:nvPr>
            <p:ph type="title"/>
          </p:nvPr>
        </p:nvSpPr>
        <p:spPr/>
        <p:txBody>
          <a:bodyPr/>
          <a:lstStyle/>
          <a:p>
            <a:pPr eaLnBrk="1" hangingPunct="1"/>
            <a:r>
              <a:rPr lang="en-US" altLang="en-US"/>
              <a:t>Health promotion</a:t>
            </a:r>
          </a:p>
        </p:txBody>
      </p:sp>
      <p:sp>
        <p:nvSpPr>
          <p:cNvPr id="18435" name="Rectangle 3">
            <a:extLst>
              <a:ext uri="{FF2B5EF4-FFF2-40B4-BE49-F238E27FC236}">
                <a16:creationId xmlns:a16="http://schemas.microsoft.com/office/drawing/2014/main" id="{7AE222F5-FE0F-48A5-8CDB-B990C6A0BA8D}"/>
              </a:ext>
            </a:extLst>
          </p:cNvPr>
          <p:cNvSpPr>
            <a:spLocks noGrp="1" noChangeArrowheads="1"/>
          </p:cNvSpPr>
          <p:nvPr>
            <p:ph type="body" idx="1"/>
          </p:nvPr>
        </p:nvSpPr>
        <p:spPr/>
        <p:txBody>
          <a:bodyPr/>
          <a:lstStyle/>
          <a:p>
            <a:pPr eaLnBrk="1" hangingPunct="1"/>
            <a:r>
              <a:rPr lang="en-US" altLang="en-US"/>
              <a:t>Health promotion is “ the process of enabling people to increase control over the determinants of health and thereby improve their health”.</a:t>
            </a:r>
          </a:p>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blinds(horizontal)">
                                      <p:cBhvr>
                                        <p:cTn id="7" dur="500"/>
                                        <p:tgtEl>
                                          <p:spTgt spid="184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5">
                                            <p:txEl>
                                              <p:pRg st="0" end="0"/>
                                            </p:txEl>
                                          </p:spTgt>
                                        </p:tgtEl>
                                        <p:attrNameLst>
                                          <p:attrName>style.visibility</p:attrName>
                                        </p:attrNameLst>
                                      </p:cBhvr>
                                      <p:to>
                                        <p:strVal val="visible"/>
                                      </p:to>
                                    </p:set>
                                    <p:animEffect transition="in" filter="blinds(horizontal)">
                                      <p:cBhvr>
                                        <p:cTn id="12" dur="500"/>
                                        <p:tgtEl>
                                          <p:spTgt spid="184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5" grpId="0" build="p"/>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5126BA6-0F93-4B8E-B078-04F0CFAC5777}"/>
              </a:ext>
            </a:extLst>
          </p:cNvPr>
          <p:cNvSpPr>
            <a:spLocks noGrp="1" noChangeArrowheads="1"/>
          </p:cNvSpPr>
          <p:nvPr>
            <p:ph type="title"/>
          </p:nvPr>
        </p:nvSpPr>
        <p:spPr/>
        <p:txBody>
          <a:bodyPr/>
          <a:lstStyle/>
          <a:p>
            <a:pPr eaLnBrk="1" hangingPunct="1"/>
            <a:r>
              <a:rPr lang="en-US" altLang="en-US" sz="3600"/>
              <a:t>Approaches for Primary Prevention</a:t>
            </a:r>
          </a:p>
        </p:txBody>
      </p:sp>
      <p:sp>
        <p:nvSpPr>
          <p:cNvPr id="18435" name="Rectangle 3">
            <a:extLst>
              <a:ext uri="{FF2B5EF4-FFF2-40B4-BE49-F238E27FC236}">
                <a16:creationId xmlns:a16="http://schemas.microsoft.com/office/drawing/2014/main" id="{08C1A6D0-7706-4AD2-8305-466774586B8E}"/>
              </a:ext>
            </a:extLst>
          </p:cNvPr>
          <p:cNvSpPr>
            <a:spLocks noGrp="1" noChangeArrowheads="1"/>
          </p:cNvSpPr>
          <p:nvPr>
            <p:ph type="body" idx="1"/>
          </p:nvPr>
        </p:nvSpPr>
        <p:spPr/>
        <p:txBody>
          <a:bodyPr/>
          <a:lstStyle/>
          <a:p>
            <a:pPr eaLnBrk="1" hangingPunct="1"/>
            <a:r>
              <a:rPr lang="en-US" altLang="en-US"/>
              <a:t>The WHO has recommended the following approaches for the primary prevention of chronic diseases where the risk factors are established:</a:t>
            </a:r>
          </a:p>
          <a:p>
            <a:pPr eaLnBrk="1" hangingPunct="1">
              <a:buFontTx/>
              <a:buNone/>
            </a:pPr>
            <a:endParaRPr lang="en-US" altLang="en-US"/>
          </a:p>
          <a:p>
            <a:pPr lvl="1" eaLnBrk="1" hangingPunct="1"/>
            <a:r>
              <a:rPr lang="en-US" altLang="en-US"/>
              <a:t>a. Population (mass) strategy </a:t>
            </a:r>
          </a:p>
          <a:p>
            <a:pPr lvl="1" eaLnBrk="1" hangingPunct="1"/>
            <a:r>
              <a:rPr lang="en-US" altLang="en-US"/>
              <a:t>b. High -risk strategy</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CE858F5-A16A-4B3F-BE28-8807ED4A7B0F}"/>
              </a:ext>
            </a:extLst>
          </p:cNvPr>
          <p:cNvSpPr>
            <a:spLocks noGrp="1" noChangeArrowheads="1"/>
          </p:cNvSpPr>
          <p:nvPr>
            <p:ph type="title"/>
          </p:nvPr>
        </p:nvSpPr>
        <p:spPr/>
        <p:txBody>
          <a:bodyPr/>
          <a:lstStyle/>
          <a:p>
            <a:pPr eaLnBrk="1" hangingPunct="1"/>
            <a:r>
              <a:rPr lang="en-US" altLang="en-US"/>
              <a:t>Population (mass) strategy</a:t>
            </a:r>
          </a:p>
        </p:txBody>
      </p:sp>
      <p:sp>
        <p:nvSpPr>
          <p:cNvPr id="19459" name="Rectangle 3">
            <a:extLst>
              <a:ext uri="{FF2B5EF4-FFF2-40B4-BE49-F238E27FC236}">
                <a16:creationId xmlns:a16="http://schemas.microsoft.com/office/drawing/2014/main" id="{F6E85A88-93F9-4539-9541-3A0A1638DD46}"/>
              </a:ext>
            </a:extLst>
          </p:cNvPr>
          <p:cNvSpPr>
            <a:spLocks noGrp="1" noChangeArrowheads="1"/>
          </p:cNvSpPr>
          <p:nvPr>
            <p:ph type="body" idx="1"/>
          </p:nvPr>
        </p:nvSpPr>
        <p:spPr/>
        <p:txBody>
          <a:bodyPr/>
          <a:lstStyle/>
          <a:p>
            <a:pPr eaLnBrk="1" hangingPunct="1">
              <a:lnSpc>
                <a:spcPct val="90000"/>
              </a:lnSpc>
            </a:pPr>
            <a:r>
              <a:rPr lang="en-US" altLang="en-US" sz="2400"/>
              <a:t>“Population strategy" is directed at the whole population irrespective of individual risk levels. </a:t>
            </a:r>
          </a:p>
          <a:p>
            <a:pPr eaLnBrk="1" hangingPunct="1">
              <a:lnSpc>
                <a:spcPct val="90000"/>
              </a:lnSpc>
              <a:buFontTx/>
              <a:buNone/>
            </a:pPr>
            <a:endParaRPr lang="en-US" altLang="en-US" sz="2400"/>
          </a:p>
          <a:p>
            <a:pPr eaLnBrk="1" hangingPunct="1">
              <a:lnSpc>
                <a:spcPct val="90000"/>
              </a:lnSpc>
            </a:pPr>
            <a:r>
              <a:rPr lang="en-US" altLang="en-US" sz="2400"/>
              <a:t>For example, studies have shown that even a small reduction in the average blood pressure or serum cholesterol of a population would produce a large reduction in the incidence of cardiovascular disease </a:t>
            </a:r>
          </a:p>
          <a:p>
            <a:pPr eaLnBrk="1" hangingPunct="1">
              <a:lnSpc>
                <a:spcPct val="90000"/>
              </a:lnSpc>
              <a:buFontTx/>
              <a:buNone/>
            </a:pPr>
            <a:endParaRPr lang="en-US" altLang="en-US" sz="2400" i="1"/>
          </a:p>
          <a:p>
            <a:pPr eaLnBrk="1" hangingPunct="1">
              <a:lnSpc>
                <a:spcPct val="90000"/>
              </a:lnSpc>
            </a:pPr>
            <a:r>
              <a:rPr lang="en-US" altLang="en-US" sz="2400"/>
              <a:t>The population approach is directed towards socio-economic, behavioral and lifestyle changes </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FACCE76-10DC-407D-91F3-85A77061D3A2}"/>
              </a:ext>
            </a:extLst>
          </p:cNvPr>
          <p:cNvSpPr>
            <a:spLocks noGrp="1" noChangeArrowheads="1"/>
          </p:cNvSpPr>
          <p:nvPr>
            <p:ph type="title"/>
          </p:nvPr>
        </p:nvSpPr>
        <p:spPr/>
        <p:txBody>
          <a:bodyPr/>
          <a:lstStyle/>
          <a:p>
            <a:pPr eaLnBrk="1" hangingPunct="1"/>
            <a:r>
              <a:rPr lang="en-US" altLang="en-US" sz="3600"/>
              <a:t>High -risk strategy</a:t>
            </a:r>
            <a:br>
              <a:rPr lang="en-US" altLang="en-US" sz="3600"/>
            </a:br>
            <a:endParaRPr lang="en-US" altLang="en-US" sz="3600"/>
          </a:p>
        </p:txBody>
      </p:sp>
      <p:sp>
        <p:nvSpPr>
          <p:cNvPr id="20483" name="Rectangle 3">
            <a:extLst>
              <a:ext uri="{FF2B5EF4-FFF2-40B4-BE49-F238E27FC236}">
                <a16:creationId xmlns:a16="http://schemas.microsoft.com/office/drawing/2014/main" id="{CFD64DC0-1217-4DB2-8E89-9927890F2F9E}"/>
              </a:ext>
            </a:extLst>
          </p:cNvPr>
          <p:cNvSpPr>
            <a:spLocks noGrp="1" noChangeArrowheads="1"/>
          </p:cNvSpPr>
          <p:nvPr>
            <p:ph type="body" idx="1"/>
          </p:nvPr>
        </p:nvSpPr>
        <p:spPr/>
        <p:txBody>
          <a:bodyPr/>
          <a:lstStyle/>
          <a:p>
            <a:pPr eaLnBrk="1" hangingPunct="1"/>
            <a:r>
              <a:rPr lang="en-US" altLang="en-US"/>
              <a:t>The high -risk strategy aims to bring preventive care to individuals at special risk. </a:t>
            </a:r>
          </a:p>
          <a:p>
            <a:pPr eaLnBrk="1" hangingPunct="1"/>
            <a:endParaRPr lang="en-US" altLang="en-US"/>
          </a:p>
          <a:p>
            <a:pPr eaLnBrk="1" hangingPunct="1"/>
            <a:r>
              <a:rPr lang="en-US" altLang="en-US"/>
              <a:t>This requires detection of individuals at high risk by the optimum use of clinical methods.</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346773B-3AEA-46C6-BBB1-7D2144A46533}"/>
              </a:ext>
            </a:extLst>
          </p:cNvPr>
          <p:cNvSpPr>
            <a:spLocks noGrp="1" noChangeArrowheads="1"/>
          </p:cNvSpPr>
          <p:nvPr>
            <p:ph type="title"/>
          </p:nvPr>
        </p:nvSpPr>
        <p:spPr/>
        <p:txBody>
          <a:bodyPr/>
          <a:lstStyle/>
          <a:p>
            <a:pPr eaLnBrk="1" hangingPunct="1"/>
            <a:r>
              <a:rPr lang="en-US" altLang="en-US"/>
              <a:t>Secondary prevention</a:t>
            </a:r>
          </a:p>
        </p:txBody>
      </p:sp>
      <p:sp>
        <p:nvSpPr>
          <p:cNvPr id="21507" name="Rectangle 3">
            <a:extLst>
              <a:ext uri="{FF2B5EF4-FFF2-40B4-BE49-F238E27FC236}">
                <a16:creationId xmlns:a16="http://schemas.microsoft.com/office/drawing/2014/main" id="{EBB263B3-E9E1-4385-B0EE-24618FFA0735}"/>
              </a:ext>
            </a:extLst>
          </p:cNvPr>
          <p:cNvSpPr>
            <a:spLocks noGrp="1" noChangeArrowheads="1"/>
          </p:cNvSpPr>
          <p:nvPr>
            <p:ph type="body" idx="1"/>
          </p:nvPr>
        </p:nvSpPr>
        <p:spPr/>
        <p:txBody>
          <a:bodyPr/>
          <a:lstStyle/>
          <a:p>
            <a:pPr eaLnBrk="1" hangingPunct="1">
              <a:lnSpc>
                <a:spcPct val="80000"/>
              </a:lnSpc>
            </a:pPr>
            <a:r>
              <a:rPr lang="en-US" altLang="en-US" sz="2000"/>
              <a:t>It is defined as “ action which halts the progress of a disease at its incipient stage and prevents complications.”</a:t>
            </a:r>
          </a:p>
          <a:p>
            <a:pPr eaLnBrk="1" hangingPunct="1">
              <a:lnSpc>
                <a:spcPct val="80000"/>
              </a:lnSpc>
              <a:buFontTx/>
              <a:buNone/>
            </a:pPr>
            <a:endParaRPr lang="en-US" altLang="en-US" sz="2000"/>
          </a:p>
          <a:p>
            <a:pPr eaLnBrk="1" hangingPunct="1">
              <a:lnSpc>
                <a:spcPct val="80000"/>
              </a:lnSpc>
            </a:pPr>
            <a:r>
              <a:rPr lang="en-US" altLang="en-US" sz="2000"/>
              <a:t>The specific interventions are: </a:t>
            </a:r>
            <a:r>
              <a:rPr lang="en-US" altLang="en-US" sz="2000" u="sng"/>
              <a:t>early diagnosis</a:t>
            </a:r>
            <a:r>
              <a:rPr lang="en-US" altLang="en-US" sz="2000"/>
              <a:t> (e.g. screening tests, and case finding programs….) and adequate </a:t>
            </a:r>
            <a:r>
              <a:rPr lang="en-US" altLang="en-US" sz="2000" u="sng"/>
              <a:t>treatment.</a:t>
            </a:r>
          </a:p>
          <a:p>
            <a:pPr eaLnBrk="1" hangingPunct="1">
              <a:lnSpc>
                <a:spcPct val="80000"/>
              </a:lnSpc>
              <a:buFontTx/>
              <a:buNone/>
            </a:pPr>
            <a:endParaRPr lang="en-US" altLang="en-US" sz="2000" u="sng"/>
          </a:p>
          <a:p>
            <a:pPr eaLnBrk="1" hangingPunct="1">
              <a:lnSpc>
                <a:spcPct val="80000"/>
              </a:lnSpc>
            </a:pPr>
            <a:r>
              <a:rPr lang="en-US" altLang="en-US" sz="2000"/>
              <a:t>Secondary prevention attempts to arrest the disease process, restore health by seeking out unrecognized disease and treating it before irreversible pathological changes take place, and reverse communicability of infectious diseases.</a:t>
            </a:r>
          </a:p>
          <a:p>
            <a:pPr eaLnBrk="1" hangingPunct="1">
              <a:lnSpc>
                <a:spcPct val="80000"/>
              </a:lnSpc>
              <a:buFontTx/>
              <a:buNone/>
            </a:pPr>
            <a:endParaRPr lang="en-US" altLang="en-US" sz="2000"/>
          </a:p>
          <a:p>
            <a:pPr eaLnBrk="1" hangingPunct="1">
              <a:lnSpc>
                <a:spcPct val="80000"/>
              </a:lnSpc>
            </a:pPr>
            <a:r>
              <a:rPr lang="en-US" altLang="en-US" sz="2000"/>
              <a:t>It thus protects others from in the community from acquiring the infection and thus provide at once secondary prevention for the infected ones and primary prevention for their potential contacts.</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8E1193A-0780-4AC7-AE85-1CF6065D1BB8}"/>
              </a:ext>
            </a:extLst>
          </p:cNvPr>
          <p:cNvSpPr>
            <a:spLocks noGrp="1" noChangeArrowheads="1"/>
          </p:cNvSpPr>
          <p:nvPr>
            <p:ph type="title"/>
          </p:nvPr>
        </p:nvSpPr>
        <p:spPr/>
        <p:txBody>
          <a:bodyPr/>
          <a:lstStyle/>
          <a:p>
            <a:pPr eaLnBrk="1" hangingPunct="1"/>
            <a:r>
              <a:rPr lang="en-US" altLang="en-US"/>
              <a:t>Secondary prevention (cont.)</a:t>
            </a:r>
          </a:p>
        </p:txBody>
      </p:sp>
      <p:sp>
        <p:nvSpPr>
          <p:cNvPr id="22531" name="Rectangle 3">
            <a:extLst>
              <a:ext uri="{FF2B5EF4-FFF2-40B4-BE49-F238E27FC236}">
                <a16:creationId xmlns:a16="http://schemas.microsoft.com/office/drawing/2014/main" id="{6BF6AE31-661C-4109-B342-5E8ADFD5C057}"/>
              </a:ext>
            </a:extLst>
          </p:cNvPr>
          <p:cNvSpPr>
            <a:spLocks noGrp="1" noChangeArrowheads="1"/>
          </p:cNvSpPr>
          <p:nvPr>
            <p:ph type="body" idx="1"/>
          </p:nvPr>
        </p:nvSpPr>
        <p:spPr/>
        <p:txBody>
          <a:bodyPr/>
          <a:lstStyle/>
          <a:p>
            <a:pPr eaLnBrk="1" hangingPunct="1">
              <a:lnSpc>
                <a:spcPct val="80000"/>
              </a:lnSpc>
            </a:pPr>
            <a:r>
              <a:rPr lang="en-US" altLang="en-US" sz="2800"/>
              <a:t>Secondary prevention attempts to arrest the disease process, restore health by seeking out unrecognized disease and treating it before irreversible pathological changes take place, and reverse communicability of infectious diseases.</a:t>
            </a:r>
          </a:p>
          <a:p>
            <a:pPr eaLnBrk="1" hangingPunct="1">
              <a:lnSpc>
                <a:spcPct val="80000"/>
              </a:lnSpc>
              <a:buFontTx/>
              <a:buNone/>
            </a:pPr>
            <a:endParaRPr lang="en-US" altLang="en-US" sz="2800"/>
          </a:p>
          <a:p>
            <a:pPr eaLnBrk="1" hangingPunct="1">
              <a:lnSpc>
                <a:spcPct val="80000"/>
              </a:lnSpc>
            </a:pPr>
            <a:r>
              <a:rPr lang="en-US" altLang="en-US" sz="2800"/>
              <a:t>It thus protects others from in the community from acquiring the infection and thus provide at once secondary prevention for the infected ones and primary prevention for their potential contacts.</a:t>
            </a:r>
          </a:p>
          <a:p>
            <a:pPr eaLnBrk="1" hangingPunct="1">
              <a:lnSpc>
                <a:spcPct val="80000"/>
              </a:lnSpc>
            </a:pPr>
            <a:endParaRPr lang="en-US" altLang="en-US" sz="280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859EC02-3B08-4515-8168-566E9E58CD14}"/>
              </a:ext>
            </a:extLst>
          </p:cNvPr>
          <p:cNvSpPr>
            <a:spLocks noGrp="1" noChangeArrowheads="1"/>
          </p:cNvSpPr>
          <p:nvPr>
            <p:ph type="title"/>
          </p:nvPr>
        </p:nvSpPr>
        <p:spPr/>
        <p:txBody>
          <a:bodyPr/>
          <a:lstStyle/>
          <a:p>
            <a:pPr eaLnBrk="1" hangingPunct="1"/>
            <a:r>
              <a:rPr lang="en-US" altLang="en-US"/>
              <a:t>Early diagnosis and treatment</a:t>
            </a:r>
          </a:p>
        </p:txBody>
      </p:sp>
      <p:sp>
        <p:nvSpPr>
          <p:cNvPr id="23555" name="Rectangle 3">
            <a:extLst>
              <a:ext uri="{FF2B5EF4-FFF2-40B4-BE49-F238E27FC236}">
                <a16:creationId xmlns:a16="http://schemas.microsoft.com/office/drawing/2014/main" id="{54631EEB-2656-41C6-8746-4BC9B531A780}"/>
              </a:ext>
            </a:extLst>
          </p:cNvPr>
          <p:cNvSpPr>
            <a:spLocks noGrp="1" noChangeArrowheads="1"/>
          </p:cNvSpPr>
          <p:nvPr>
            <p:ph type="body" idx="1"/>
          </p:nvPr>
        </p:nvSpPr>
        <p:spPr/>
        <p:txBody>
          <a:bodyPr/>
          <a:lstStyle/>
          <a:p>
            <a:pPr eaLnBrk="1" hangingPunct="1">
              <a:lnSpc>
                <a:spcPct val="90000"/>
              </a:lnSpc>
            </a:pPr>
            <a:r>
              <a:rPr lang="en-US" altLang="en-US" sz="2800"/>
              <a:t>WHO Expert Committee in 1973 defined early detection of health disorders as “ the detection of disturbances of homoeostatic and compensatory mechanism while biochemical, morphological and functional changes are still reversible.”</a:t>
            </a:r>
          </a:p>
          <a:p>
            <a:pPr eaLnBrk="1" hangingPunct="1">
              <a:lnSpc>
                <a:spcPct val="90000"/>
              </a:lnSpc>
              <a:buFontTx/>
              <a:buNone/>
            </a:pPr>
            <a:endParaRPr lang="en-US" altLang="en-US" sz="2800"/>
          </a:p>
          <a:p>
            <a:pPr eaLnBrk="1" hangingPunct="1">
              <a:lnSpc>
                <a:spcPct val="90000"/>
              </a:lnSpc>
            </a:pPr>
            <a:r>
              <a:rPr lang="en-US" altLang="en-US" sz="2800"/>
              <a:t>The earlier the disease is diagnosed, and treated the better it is for prognosis of the case and in the prevention of the occurrence of other secondary cases.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45A96593-1531-4336-954F-DD64A5889F29}"/>
              </a:ext>
            </a:extLst>
          </p:cNvPr>
          <p:cNvSpPr>
            <a:spLocks noGrp="1" noChangeArrowheads="1"/>
          </p:cNvSpPr>
          <p:nvPr>
            <p:ph type="title"/>
          </p:nvPr>
        </p:nvSpPr>
        <p:spPr/>
        <p:txBody>
          <a:bodyPr/>
          <a:lstStyle/>
          <a:p>
            <a:pPr eaLnBrk="1" hangingPunct="1"/>
            <a:r>
              <a:rPr lang="en-US" altLang="en-US"/>
              <a:t>Tertiary prevention</a:t>
            </a:r>
          </a:p>
        </p:txBody>
      </p:sp>
      <p:sp>
        <p:nvSpPr>
          <p:cNvPr id="24579" name="Rectangle 3">
            <a:extLst>
              <a:ext uri="{FF2B5EF4-FFF2-40B4-BE49-F238E27FC236}">
                <a16:creationId xmlns:a16="http://schemas.microsoft.com/office/drawing/2014/main" id="{4E01056B-4E7C-4F05-9573-65D860D04D61}"/>
              </a:ext>
            </a:extLst>
          </p:cNvPr>
          <p:cNvSpPr>
            <a:spLocks noGrp="1" noChangeArrowheads="1"/>
          </p:cNvSpPr>
          <p:nvPr>
            <p:ph type="body" idx="1"/>
          </p:nvPr>
        </p:nvSpPr>
        <p:spPr/>
        <p:txBody>
          <a:bodyPr/>
          <a:lstStyle/>
          <a:p>
            <a:pPr eaLnBrk="1" hangingPunct="1"/>
            <a:r>
              <a:rPr lang="en-US" altLang="en-US" sz="2800"/>
              <a:t>It is used when the disease process has advanced beyond its early stages.</a:t>
            </a:r>
          </a:p>
          <a:p>
            <a:pPr eaLnBrk="1" hangingPunct="1"/>
            <a:r>
              <a:rPr lang="en-US" altLang="en-US" sz="2800"/>
              <a:t>It is defined as “all the measures available to reduce or limit impairments and disabilities, and to promote the patients’ adjustment to irremediable conditions.”</a:t>
            </a:r>
          </a:p>
          <a:p>
            <a:pPr eaLnBrk="1" hangingPunct="1"/>
            <a:r>
              <a:rPr lang="en-US" altLang="en-US" sz="2800"/>
              <a:t>Intervention that should be accomplished in the stage of tertiary prevention are </a:t>
            </a:r>
            <a:r>
              <a:rPr lang="en-US" altLang="en-US" sz="2800" u="sng"/>
              <a:t>disability limitation</a:t>
            </a:r>
            <a:r>
              <a:rPr lang="en-US" altLang="en-US" sz="2800"/>
              <a:t>, and </a:t>
            </a:r>
            <a:r>
              <a:rPr lang="en-US" altLang="en-US" sz="2800" u="sng"/>
              <a:t>rehabilitation</a:t>
            </a:r>
            <a:r>
              <a:rPr lang="en-US" altLang="en-US" sz="2800"/>
              <a:t>.</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8877252-5FFB-4ED9-8714-89E16C10C2C2}"/>
              </a:ext>
            </a:extLst>
          </p:cNvPr>
          <p:cNvSpPr>
            <a:spLocks noGrp="1" noChangeArrowheads="1"/>
          </p:cNvSpPr>
          <p:nvPr>
            <p:ph type="title"/>
          </p:nvPr>
        </p:nvSpPr>
        <p:spPr>
          <a:xfrm>
            <a:off x="1752601" y="304800"/>
            <a:ext cx="7477125" cy="1143000"/>
          </a:xfrm>
        </p:spPr>
        <p:txBody>
          <a:bodyPr/>
          <a:lstStyle/>
          <a:p>
            <a:pPr eaLnBrk="1" hangingPunct="1"/>
            <a:r>
              <a:rPr lang="en-US" altLang="en-US"/>
              <a:t>Disability limitation</a:t>
            </a:r>
          </a:p>
        </p:txBody>
      </p:sp>
      <p:sp>
        <p:nvSpPr>
          <p:cNvPr id="25603" name="Rectangle 3">
            <a:extLst>
              <a:ext uri="{FF2B5EF4-FFF2-40B4-BE49-F238E27FC236}">
                <a16:creationId xmlns:a16="http://schemas.microsoft.com/office/drawing/2014/main" id="{16EAB974-EC0D-48CC-B21A-2A20AE9406C2}"/>
              </a:ext>
            </a:extLst>
          </p:cNvPr>
          <p:cNvSpPr>
            <a:spLocks noGrp="1" noChangeArrowheads="1"/>
          </p:cNvSpPr>
          <p:nvPr>
            <p:ph type="body" idx="1"/>
          </p:nvPr>
        </p:nvSpPr>
        <p:spPr>
          <a:xfrm>
            <a:off x="1828800" y="1600200"/>
            <a:ext cx="7386638" cy="4497388"/>
          </a:xfrm>
        </p:spPr>
        <p:txBody>
          <a:bodyPr/>
          <a:lstStyle/>
          <a:p>
            <a:pPr eaLnBrk="1" hangingPunct="1"/>
            <a:endParaRPr lang="en-US" altLang="en-US"/>
          </a:p>
        </p:txBody>
      </p:sp>
      <p:grpSp>
        <p:nvGrpSpPr>
          <p:cNvPr id="22545" name="Group 17">
            <a:extLst>
              <a:ext uri="{FF2B5EF4-FFF2-40B4-BE49-F238E27FC236}">
                <a16:creationId xmlns:a16="http://schemas.microsoft.com/office/drawing/2014/main" id="{5FFEA11F-516D-4137-8D93-871AF039D6E5}"/>
              </a:ext>
            </a:extLst>
          </p:cNvPr>
          <p:cNvGrpSpPr>
            <a:grpSpLocks/>
          </p:cNvGrpSpPr>
          <p:nvPr/>
        </p:nvGrpSpPr>
        <p:grpSpPr bwMode="auto">
          <a:xfrm>
            <a:off x="3810000" y="1752600"/>
            <a:ext cx="3352800" cy="4038600"/>
            <a:chOff x="1440" y="1104"/>
            <a:chExt cx="2112" cy="2544"/>
          </a:xfrm>
        </p:grpSpPr>
        <p:sp>
          <p:nvSpPr>
            <p:cNvPr id="25605" name="Rectangle 4">
              <a:extLst>
                <a:ext uri="{FF2B5EF4-FFF2-40B4-BE49-F238E27FC236}">
                  <a16:creationId xmlns:a16="http://schemas.microsoft.com/office/drawing/2014/main" id="{BEF30835-BC7D-46E5-BE66-2F844959F277}"/>
                </a:ext>
              </a:extLst>
            </p:cNvPr>
            <p:cNvSpPr>
              <a:spLocks noChangeArrowheads="1"/>
            </p:cNvSpPr>
            <p:nvPr/>
          </p:nvSpPr>
          <p:spPr bwMode="auto">
            <a:xfrm>
              <a:off x="1440" y="1104"/>
              <a:ext cx="2112" cy="4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disease</a:t>
              </a:r>
            </a:p>
          </p:txBody>
        </p:sp>
        <p:sp>
          <p:nvSpPr>
            <p:cNvPr id="25606" name="Rectangle 5">
              <a:extLst>
                <a:ext uri="{FF2B5EF4-FFF2-40B4-BE49-F238E27FC236}">
                  <a16:creationId xmlns:a16="http://schemas.microsoft.com/office/drawing/2014/main" id="{34C9DA8D-43C3-466A-AB0B-F6BD47921921}"/>
                </a:ext>
              </a:extLst>
            </p:cNvPr>
            <p:cNvSpPr>
              <a:spLocks noChangeArrowheads="1"/>
            </p:cNvSpPr>
            <p:nvPr/>
          </p:nvSpPr>
          <p:spPr bwMode="auto">
            <a:xfrm>
              <a:off x="1440" y="1872"/>
              <a:ext cx="2112" cy="4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impairment</a:t>
              </a:r>
            </a:p>
          </p:txBody>
        </p:sp>
        <p:sp>
          <p:nvSpPr>
            <p:cNvPr id="25607" name="Rectangle 6">
              <a:extLst>
                <a:ext uri="{FF2B5EF4-FFF2-40B4-BE49-F238E27FC236}">
                  <a16:creationId xmlns:a16="http://schemas.microsoft.com/office/drawing/2014/main" id="{9910DD2A-ACE3-4A76-B2E0-EC6B229CA4F9}"/>
                </a:ext>
              </a:extLst>
            </p:cNvPr>
            <p:cNvSpPr>
              <a:spLocks noChangeArrowheads="1"/>
            </p:cNvSpPr>
            <p:nvPr/>
          </p:nvSpPr>
          <p:spPr bwMode="auto">
            <a:xfrm>
              <a:off x="1440" y="2544"/>
              <a:ext cx="2112" cy="4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disability</a:t>
              </a:r>
            </a:p>
          </p:txBody>
        </p:sp>
        <p:sp>
          <p:nvSpPr>
            <p:cNvPr id="25608" name="Rectangle 7">
              <a:extLst>
                <a:ext uri="{FF2B5EF4-FFF2-40B4-BE49-F238E27FC236}">
                  <a16:creationId xmlns:a16="http://schemas.microsoft.com/office/drawing/2014/main" id="{D794E739-59CA-4089-B054-F942CF4FD9BA}"/>
                </a:ext>
              </a:extLst>
            </p:cNvPr>
            <p:cNvSpPr>
              <a:spLocks noChangeArrowheads="1"/>
            </p:cNvSpPr>
            <p:nvPr/>
          </p:nvSpPr>
          <p:spPr bwMode="auto">
            <a:xfrm>
              <a:off x="1440" y="3216"/>
              <a:ext cx="2112" cy="4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handicap</a:t>
              </a:r>
            </a:p>
          </p:txBody>
        </p:sp>
        <p:sp>
          <p:nvSpPr>
            <p:cNvPr id="25609" name="Line 8">
              <a:extLst>
                <a:ext uri="{FF2B5EF4-FFF2-40B4-BE49-F238E27FC236}">
                  <a16:creationId xmlns:a16="http://schemas.microsoft.com/office/drawing/2014/main" id="{7CACA94A-1C43-4E0C-A076-C29CD4295A8C}"/>
                </a:ext>
              </a:extLst>
            </p:cNvPr>
            <p:cNvSpPr>
              <a:spLocks noChangeShapeType="1"/>
            </p:cNvSpPr>
            <p:nvPr/>
          </p:nvSpPr>
          <p:spPr bwMode="auto">
            <a:xfrm>
              <a:off x="2448" y="1632"/>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25610" name="Line 9">
              <a:extLst>
                <a:ext uri="{FF2B5EF4-FFF2-40B4-BE49-F238E27FC236}">
                  <a16:creationId xmlns:a16="http://schemas.microsoft.com/office/drawing/2014/main" id="{21933FCE-5574-405B-A9FF-083CF7BD0CC0}"/>
                </a:ext>
              </a:extLst>
            </p:cNvPr>
            <p:cNvSpPr>
              <a:spLocks noChangeShapeType="1"/>
            </p:cNvSpPr>
            <p:nvPr/>
          </p:nvSpPr>
          <p:spPr bwMode="auto">
            <a:xfrm>
              <a:off x="2448" y="2352"/>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25611" name="Line 10">
              <a:extLst>
                <a:ext uri="{FF2B5EF4-FFF2-40B4-BE49-F238E27FC236}">
                  <a16:creationId xmlns:a16="http://schemas.microsoft.com/office/drawing/2014/main" id="{6A246070-6E16-4EC2-ACD7-CDC199DBC247}"/>
                </a:ext>
              </a:extLst>
            </p:cNvPr>
            <p:cNvSpPr>
              <a:spLocks noChangeShapeType="1"/>
            </p:cNvSpPr>
            <p:nvPr/>
          </p:nvSpPr>
          <p:spPr bwMode="auto">
            <a:xfrm>
              <a:off x="2448" y="3024"/>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blinds(horizontal)">
                                      <p:cBhvr>
                                        <p:cTn id="7" dur="500"/>
                                        <p:tgtEl>
                                          <p:spTgt spid="22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nodeType="clickEffect">
                                  <p:stCondLst>
                                    <p:cond delay="0"/>
                                  </p:stCondLst>
                                  <p:childTnLst>
                                    <p:set>
                                      <p:cBhvr>
                                        <p:cTn id="11" dur="1" fill="hold">
                                          <p:stCondLst>
                                            <p:cond delay="0"/>
                                          </p:stCondLst>
                                        </p:cTn>
                                        <p:tgtEl>
                                          <p:spTgt spid="22545"/>
                                        </p:tgtEl>
                                        <p:attrNameLst>
                                          <p:attrName>style.visibility</p:attrName>
                                        </p:attrNameLst>
                                      </p:cBhvr>
                                      <p:to>
                                        <p:strVal val="visible"/>
                                      </p:to>
                                    </p:set>
                                    <p:anim calcmode="lin" valueType="num">
                                      <p:cBhvr>
                                        <p:cTn id="12" dur="1000" fill="hold"/>
                                        <p:tgtEl>
                                          <p:spTgt spid="22545"/>
                                        </p:tgtEl>
                                        <p:attrNameLst>
                                          <p:attrName>ppt_w</p:attrName>
                                        </p:attrNameLst>
                                      </p:cBhvr>
                                      <p:tavLst>
                                        <p:tav tm="0">
                                          <p:val>
                                            <p:strVal val="#ppt_w*0.70"/>
                                          </p:val>
                                        </p:tav>
                                        <p:tav tm="100000">
                                          <p:val>
                                            <p:strVal val="#ppt_w"/>
                                          </p:val>
                                        </p:tav>
                                      </p:tavLst>
                                    </p:anim>
                                    <p:anim calcmode="lin" valueType="num">
                                      <p:cBhvr>
                                        <p:cTn id="13" dur="1000" fill="hold"/>
                                        <p:tgtEl>
                                          <p:spTgt spid="22545"/>
                                        </p:tgtEl>
                                        <p:attrNameLst>
                                          <p:attrName>ppt_h</p:attrName>
                                        </p:attrNameLst>
                                      </p:cBhvr>
                                      <p:tavLst>
                                        <p:tav tm="0">
                                          <p:val>
                                            <p:strVal val="#ppt_h"/>
                                          </p:val>
                                        </p:tav>
                                        <p:tav tm="100000">
                                          <p:val>
                                            <p:strVal val="#ppt_h"/>
                                          </p:val>
                                        </p:tav>
                                      </p:tavLst>
                                    </p:anim>
                                    <p:animEffect transition="in" filter="fade">
                                      <p:cBhvr>
                                        <p:cTn id="14" dur="1000"/>
                                        <p:tgtEl>
                                          <p:spTgt spid="22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A5E06ED-C2D4-4996-9A4C-DA4019FCEF49}"/>
              </a:ext>
            </a:extLst>
          </p:cNvPr>
          <p:cNvSpPr>
            <a:spLocks noGrp="1" noChangeArrowheads="1"/>
          </p:cNvSpPr>
          <p:nvPr>
            <p:ph type="title"/>
          </p:nvPr>
        </p:nvSpPr>
        <p:spPr/>
        <p:txBody>
          <a:bodyPr/>
          <a:lstStyle/>
          <a:p>
            <a:pPr eaLnBrk="1" hangingPunct="1"/>
            <a:r>
              <a:rPr lang="en-US" altLang="en-US"/>
              <a:t>Impairment</a:t>
            </a:r>
          </a:p>
        </p:txBody>
      </p:sp>
      <p:sp>
        <p:nvSpPr>
          <p:cNvPr id="23555" name="Rectangle 3">
            <a:extLst>
              <a:ext uri="{FF2B5EF4-FFF2-40B4-BE49-F238E27FC236}">
                <a16:creationId xmlns:a16="http://schemas.microsoft.com/office/drawing/2014/main" id="{142AE728-373E-4897-A9FE-4BA0287F67D9}"/>
              </a:ext>
            </a:extLst>
          </p:cNvPr>
          <p:cNvSpPr>
            <a:spLocks noGrp="1" noChangeArrowheads="1"/>
          </p:cNvSpPr>
          <p:nvPr>
            <p:ph type="body" idx="1"/>
          </p:nvPr>
        </p:nvSpPr>
        <p:spPr/>
        <p:txBody>
          <a:bodyPr/>
          <a:lstStyle/>
          <a:p>
            <a:pPr eaLnBrk="1" hangingPunct="1"/>
            <a:r>
              <a:rPr lang="en-US" altLang="en-US"/>
              <a:t>Impairment is “any loss or abnormality of psychological, physiological or anatomical structure or function.”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blinds(horizontal)">
                                      <p:cBhvr>
                                        <p:cTn id="7" dur="500"/>
                                        <p:tgtEl>
                                          <p:spTgt spid="235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12" dur="500"/>
                                        <p:tgtEl>
                                          <p:spTgt spid="2355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23554"/>
                                        </p:tgtEl>
                                        <p:attrNameLst>
                                          <p:attrName>style.visibility</p:attrName>
                                        </p:attrNameLst>
                                      </p:cBhvr>
                                      <p:to>
                                        <p:strVal val="visible"/>
                                      </p:to>
                                    </p:set>
                                    <p:animEffect transition="in" filter="blinds(horizontal)">
                                      <p:cBhvr>
                                        <p:cTn id="17" dur="500"/>
                                        <p:tgtEl>
                                          <p:spTgt spid="235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22" dur="500"/>
                                        <p:tgtEl>
                                          <p:spTgt spid="235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p:bldP spid="23554" grpId="1"/>
      <p:bldP spid="23555" grpId="0" build="p"/>
      <p:bldP spid="23555" grpId="1"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603484D-B754-4794-8C8A-51E4C902D36A}"/>
              </a:ext>
            </a:extLst>
          </p:cNvPr>
          <p:cNvSpPr>
            <a:spLocks noGrp="1" noChangeArrowheads="1"/>
          </p:cNvSpPr>
          <p:nvPr>
            <p:ph type="title"/>
          </p:nvPr>
        </p:nvSpPr>
        <p:spPr>
          <a:xfrm>
            <a:off x="1752601" y="228600"/>
            <a:ext cx="7477125" cy="1143000"/>
          </a:xfrm>
        </p:spPr>
        <p:txBody>
          <a:bodyPr/>
          <a:lstStyle/>
          <a:p>
            <a:pPr eaLnBrk="1" hangingPunct="1"/>
            <a:r>
              <a:rPr lang="en-US" altLang="en-US"/>
              <a:t>Disability</a:t>
            </a:r>
          </a:p>
        </p:txBody>
      </p:sp>
      <p:sp>
        <p:nvSpPr>
          <p:cNvPr id="24579" name="Rectangle 3">
            <a:extLst>
              <a:ext uri="{FF2B5EF4-FFF2-40B4-BE49-F238E27FC236}">
                <a16:creationId xmlns:a16="http://schemas.microsoft.com/office/drawing/2014/main" id="{B89EEC6A-0DF5-4E7E-A9F9-0170744DDF8F}"/>
              </a:ext>
            </a:extLst>
          </p:cNvPr>
          <p:cNvSpPr>
            <a:spLocks noGrp="1" noChangeArrowheads="1"/>
          </p:cNvSpPr>
          <p:nvPr>
            <p:ph type="body" idx="1"/>
          </p:nvPr>
        </p:nvSpPr>
        <p:spPr/>
        <p:txBody>
          <a:bodyPr/>
          <a:lstStyle/>
          <a:p>
            <a:pPr eaLnBrk="1" hangingPunct="1"/>
            <a:r>
              <a:rPr lang="en-US" altLang="en-US"/>
              <a:t>Disability is “any restriction or lack of ability to perform an activity in the manner or within the range considered normal for the human being.”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blinds(horizontal)">
                                      <p:cBhvr>
                                        <p:cTn id="7" dur="500"/>
                                        <p:tgtEl>
                                          <p:spTgt spid="245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12" dur="500"/>
                                        <p:tgtEl>
                                          <p:spTgt spid="245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4579" grpId="0" build="p"/>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4C4BC7DC-968D-4A51-9C6E-0C995B466E5A}"/>
              </a:ext>
            </a:extLst>
          </p:cNvPr>
          <p:cNvSpPr>
            <a:spLocks noGrp="1" noChangeArrowheads="1"/>
          </p:cNvSpPr>
          <p:nvPr>
            <p:ph type="title"/>
          </p:nvPr>
        </p:nvSpPr>
        <p:spPr/>
        <p:txBody>
          <a:bodyPr/>
          <a:lstStyle/>
          <a:p>
            <a:pPr eaLnBrk="1" hangingPunct="1"/>
            <a:r>
              <a:rPr lang="en-US" altLang="en-US"/>
              <a:t>Handicap</a:t>
            </a:r>
          </a:p>
        </p:txBody>
      </p:sp>
      <p:sp>
        <p:nvSpPr>
          <p:cNvPr id="25603" name="Rectangle 3">
            <a:extLst>
              <a:ext uri="{FF2B5EF4-FFF2-40B4-BE49-F238E27FC236}">
                <a16:creationId xmlns:a16="http://schemas.microsoft.com/office/drawing/2014/main" id="{EDC9D2AA-4F93-4745-84C4-8107B5861E58}"/>
              </a:ext>
            </a:extLst>
          </p:cNvPr>
          <p:cNvSpPr>
            <a:spLocks noGrp="1" noChangeArrowheads="1"/>
          </p:cNvSpPr>
          <p:nvPr>
            <p:ph type="body" idx="1"/>
          </p:nvPr>
        </p:nvSpPr>
        <p:spPr/>
        <p:txBody>
          <a:bodyPr/>
          <a:lstStyle/>
          <a:p>
            <a:pPr eaLnBrk="1" hangingPunct="1"/>
            <a:r>
              <a:rPr lang="en-US" altLang="en-US"/>
              <a:t>Handicap is termed as “a disadvantage for a given individual, resulting from an impairment or  disability, that limits or prevents the fulfillment of a role in the community that is normal (depending on age, sex, and social and cultural factors) for that individual.”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blinds(horizontal)">
                                      <p:cBhvr>
                                        <p:cTn id="7" dur="500"/>
                                        <p:tgtEl>
                                          <p:spTgt spid="256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12" dur="500"/>
                                        <p:tgtEl>
                                          <p:spTgt spid="256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4F553E06-6FD7-4B7C-81F2-0F2D616F4B50}"/>
              </a:ext>
            </a:extLst>
          </p:cNvPr>
          <p:cNvSpPr>
            <a:spLocks noGrp="1" noChangeArrowheads="1"/>
          </p:cNvSpPr>
          <p:nvPr>
            <p:ph type="title"/>
          </p:nvPr>
        </p:nvSpPr>
        <p:spPr/>
        <p:txBody>
          <a:bodyPr/>
          <a:lstStyle/>
          <a:p>
            <a:pPr eaLnBrk="1" hangingPunct="1"/>
            <a:r>
              <a:rPr lang="en-US" altLang="en-US" sz="3600"/>
              <a:t>Rehabilitation</a:t>
            </a:r>
            <a:br>
              <a:rPr lang="en-US" altLang="en-US" sz="3600"/>
            </a:br>
            <a:endParaRPr lang="en-US" altLang="en-US" sz="3600"/>
          </a:p>
        </p:txBody>
      </p:sp>
      <p:sp>
        <p:nvSpPr>
          <p:cNvPr id="26627" name="Rectangle 3">
            <a:extLst>
              <a:ext uri="{FF2B5EF4-FFF2-40B4-BE49-F238E27FC236}">
                <a16:creationId xmlns:a16="http://schemas.microsoft.com/office/drawing/2014/main" id="{34A7FC33-6448-4598-B648-F5356A4FE015}"/>
              </a:ext>
            </a:extLst>
          </p:cNvPr>
          <p:cNvSpPr>
            <a:spLocks noGrp="1" noChangeArrowheads="1"/>
          </p:cNvSpPr>
          <p:nvPr>
            <p:ph type="body" idx="1"/>
          </p:nvPr>
        </p:nvSpPr>
        <p:spPr/>
        <p:txBody>
          <a:bodyPr/>
          <a:lstStyle/>
          <a:p>
            <a:pPr eaLnBrk="1" hangingPunct="1"/>
            <a:r>
              <a:rPr lang="en-US" altLang="en-US"/>
              <a:t>Rehabilitation is “ the combined and coordinated use of medical, social, educational, and vocational measures for training and retraining the individual to the highest possible level of functional ability.”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blinds(horizontal)">
                                      <p:cBhvr>
                                        <p:cTn id="7" dur="500"/>
                                        <p:tgtEl>
                                          <p:spTgt spid="266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12" dur="500"/>
                                        <p:tgtEl>
                                          <p:spTgt spid="266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7" grpId="0" build="p"/>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21C5D17-8092-45BB-A59F-23102A89694B}"/>
              </a:ext>
            </a:extLst>
          </p:cNvPr>
          <p:cNvSpPr>
            <a:spLocks noGrp="1" noChangeArrowheads="1"/>
          </p:cNvSpPr>
          <p:nvPr>
            <p:ph type="title"/>
          </p:nvPr>
        </p:nvSpPr>
        <p:spPr/>
        <p:txBody>
          <a:bodyPr/>
          <a:lstStyle/>
          <a:p>
            <a:pPr eaLnBrk="1" hangingPunct="1"/>
            <a:endParaRPr lang="en-US" altLang="en-US"/>
          </a:p>
        </p:txBody>
      </p:sp>
      <p:sp>
        <p:nvSpPr>
          <p:cNvPr id="27651" name="Rectangle 3">
            <a:extLst>
              <a:ext uri="{FF2B5EF4-FFF2-40B4-BE49-F238E27FC236}">
                <a16:creationId xmlns:a16="http://schemas.microsoft.com/office/drawing/2014/main" id="{F5CB724D-076E-4658-8D04-8F3FFA499595}"/>
              </a:ext>
            </a:extLst>
          </p:cNvPr>
          <p:cNvSpPr>
            <a:spLocks noGrp="1" noChangeArrowheads="1"/>
          </p:cNvSpPr>
          <p:nvPr>
            <p:ph type="body" idx="1"/>
          </p:nvPr>
        </p:nvSpPr>
        <p:spPr/>
        <p:txBody>
          <a:bodyPr/>
          <a:lstStyle/>
          <a:p>
            <a:pPr eaLnBrk="1" hangingPunct="1"/>
            <a:endParaRPr lang="en-US" altLang="en-US"/>
          </a:p>
        </p:txBody>
      </p:sp>
      <p:grpSp>
        <p:nvGrpSpPr>
          <p:cNvPr id="30724" name="Group 21">
            <a:extLst>
              <a:ext uri="{FF2B5EF4-FFF2-40B4-BE49-F238E27FC236}">
                <a16:creationId xmlns:a16="http://schemas.microsoft.com/office/drawing/2014/main" id="{A74CB155-092A-4ABB-AEC0-E9CDCFF6E3F1}"/>
              </a:ext>
            </a:extLst>
          </p:cNvPr>
          <p:cNvGrpSpPr>
            <a:grpSpLocks/>
          </p:cNvGrpSpPr>
          <p:nvPr/>
        </p:nvGrpSpPr>
        <p:grpSpPr bwMode="auto">
          <a:xfrm>
            <a:off x="1905000" y="1981200"/>
            <a:ext cx="7010400" cy="1828800"/>
            <a:chOff x="240" y="1248"/>
            <a:chExt cx="4416" cy="1152"/>
          </a:xfrm>
        </p:grpSpPr>
        <p:sp>
          <p:nvSpPr>
            <p:cNvPr id="30725" name="Rectangle 4">
              <a:extLst>
                <a:ext uri="{FF2B5EF4-FFF2-40B4-BE49-F238E27FC236}">
                  <a16:creationId xmlns:a16="http://schemas.microsoft.com/office/drawing/2014/main" id="{811A8B5F-B526-42A2-A883-5AB4E0F465CE}"/>
                </a:ext>
              </a:extLst>
            </p:cNvPr>
            <p:cNvSpPr>
              <a:spLocks noChangeArrowheads="1"/>
            </p:cNvSpPr>
            <p:nvPr/>
          </p:nvSpPr>
          <p:spPr bwMode="auto">
            <a:xfrm>
              <a:off x="1632" y="1248"/>
              <a:ext cx="1440"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sz="2400">
                  <a:solidFill>
                    <a:srgbClr val="2F1311"/>
                  </a:solidFill>
                </a:rPr>
                <a:t>Rehabilitation</a:t>
              </a:r>
            </a:p>
          </p:txBody>
        </p:sp>
        <p:sp>
          <p:nvSpPr>
            <p:cNvPr id="30726" name="Line 5">
              <a:extLst>
                <a:ext uri="{FF2B5EF4-FFF2-40B4-BE49-F238E27FC236}">
                  <a16:creationId xmlns:a16="http://schemas.microsoft.com/office/drawing/2014/main" id="{F64499EA-654A-43E4-B835-FA1CF8F01AF8}"/>
                </a:ext>
              </a:extLst>
            </p:cNvPr>
            <p:cNvSpPr>
              <a:spLocks noChangeShapeType="1"/>
            </p:cNvSpPr>
            <p:nvPr/>
          </p:nvSpPr>
          <p:spPr bwMode="auto">
            <a:xfrm>
              <a:off x="2352" y="1536"/>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0727" name="Line 6">
              <a:extLst>
                <a:ext uri="{FF2B5EF4-FFF2-40B4-BE49-F238E27FC236}">
                  <a16:creationId xmlns:a16="http://schemas.microsoft.com/office/drawing/2014/main" id="{84311FED-B294-4AF8-872C-C74D52A973B8}"/>
                </a:ext>
              </a:extLst>
            </p:cNvPr>
            <p:cNvSpPr>
              <a:spLocks noChangeShapeType="1"/>
            </p:cNvSpPr>
            <p:nvPr/>
          </p:nvSpPr>
          <p:spPr bwMode="auto">
            <a:xfrm>
              <a:off x="1008" y="1776"/>
              <a:ext cx="28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0728" name="Line 7">
              <a:extLst>
                <a:ext uri="{FF2B5EF4-FFF2-40B4-BE49-F238E27FC236}">
                  <a16:creationId xmlns:a16="http://schemas.microsoft.com/office/drawing/2014/main" id="{F5426074-E0DC-48BF-A57B-5BAE5DB23ACD}"/>
                </a:ext>
              </a:extLst>
            </p:cNvPr>
            <p:cNvSpPr>
              <a:spLocks noChangeShapeType="1"/>
            </p:cNvSpPr>
            <p:nvPr/>
          </p:nvSpPr>
          <p:spPr bwMode="auto">
            <a:xfrm>
              <a:off x="1008" y="177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0729" name="Line 8">
              <a:extLst>
                <a:ext uri="{FF2B5EF4-FFF2-40B4-BE49-F238E27FC236}">
                  <a16:creationId xmlns:a16="http://schemas.microsoft.com/office/drawing/2014/main" id="{711A68B0-0523-4FA7-89C0-B56524D219F4}"/>
                </a:ext>
              </a:extLst>
            </p:cNvPr>
            <p:cNvSpPr>
              <a:spLocks noChangeShapeType="1"/>
            </p:cNvSpPr>
            <p:nvPr/>
          </p:nvSpPr>
          <p:spPr bwMode="auto">
            <a:xfrm>
              <a:off x="1824" y="177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0730" name="Line 9">
              <a:extLst>
                <a:ext uri="{FF2B5EF4-FFF2-40B4-BE49-F238E27FC236}">
                  <a16:creationId xmlns:a16="http://schemas.microsoft.com/office/drawing/2014/main" id="{4ACAE6EA-E96D-4D06-93F4-CF5793DB1909}"/>
                </a:ext>
              </a:extLst>
            </p:cNvPr>
            <p:cNvSpPr>
              <a:spLocks noChangeShapeType="1"/>
            </p:cNvSpPr>
            <p:nvPr/>
          </p:nvSpPr>
          <p:spPr bwMode="auto">
            <a:xfrm>
              <a:off x="2880" y="177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0731" name="Line 10">
              <a:extLst>
                <a:ext uri="{FF2B5EF4-FFF2-40B4-BE49-F238E27FC236}">
                  <a16:creationId xmlns:a16="http://schemas.microsoft.com/office/drawing/2014/main" id="{E0F9528C-6917-427A-B821-F595FD48B8E1}"/>
                </a:ext>
              </a:extLst>
            </p:cNvPr>
            <p:cNvSpPr>
              <a:spLocks noChangeShapeType="1"/>
            </p:cNvSpPr>
            <p:nvPr/>
          </p:nvSpPr>
          <p:spPr bwMode="auto">
            <a:xfrm>
              <a:off x="3888" y="177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0732" name="Rectangle 11">
              <a:extLst>
                <a:ext uri="{FF2B5EF4-FFF2-40B4-BE49-F238E27FC236}">
                  <a16:creationId xmlns:a16="http://schemas.microsoft.com/office/drawing/2014/main" id="{95B53B38-4432-487F-A069-9560D0118590}"/>
                </a:ext>
              </a:extLst>
            </p:cNvPr>
            <p:cNvSpPr>
              <a:spLocks noChangeArrowheads="1"/>
            </p:cNvSpPr>
            <p:nvPr/>
          </p:nvSpPr>
          <p:spPr bwMode="auto">
            <a:xfrm>
              <a:off x="240" y="2016"/>
              <a:ext cx="91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Medical</a:t>
              </a:r>
            </a:p>
            <a:p>
              <a:pPr algn="ctr" fontAlgn="base">
                <a:spcBef>
                  <a:spcPct val="0"/>
                </a:spcBef>
                <a:spcAft>
                  <a:spcPct val="0"/>
                </a:spcAft>
              </a:pPr>
              <a:r>
                <a:rPr lang="en-US" altLang="en-US">
                  <a:solidFill>
                    <a:srgbClr val="2F1311"/>
                  </a:solidFill>
                </a:rPr>
                <a:t>rehabilitation</a:t>
              </a:r>
            </a:p>
          </p:txBody>
        </p:sp>
        <p:sp>
          <p:nvSpPr>
            <p:cNvPr id="30733" name="Rectangle 12">
              <a:extLst>
                <a:ext uri="{FF2B5EF4-FFF2-40B4-BE49-F238E27FC236}">
                  <a16:creationId xmlns:a16="http://schemas.microsoft.com/office/drawing/2014/main" id="{EFBBB0C2-42D1-4AD7-BDF9-C84410FE5C80}"/>
                </a:ext>
              </a:extLst>
            </p:cNvPr>
            <p:cNvSpPr>
              <a:spLocks noChangeArrowheads="1"/>
            </p:cNvSpPr>
            <p:nvPr/>
          </p:nvSpPr>
          <p:spPr bwMode="auto">
            <a:xfrm>
              <a:off x="1296" y="2016"/>
              <a:ext cx="91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Vocational</a:t>
              </a:r>
            </a:p>
            <a:p>
              <a:pPr algn="ctr" fontAlgn="base">
                <a:spcBef>
                  <a:spcPct val="0"/>
                </a:spcBef>
                <a:spcAft>
                  <a:spcPct val="0"/>
                </a:spcAft>
              </a:pPr>
              <a:r>
                <a:rPr lang="en-US" altLang="en-US">
                  <a:solidFill>
                    <a:srgbClr val="2F1311"/>
                  </a:solidFill>
                </a:rPr>
                <a:t>rehabilitation</a:t>
              </a:r>
            </a:p>
          </p:txBody>
        </p:sp>
        <p:sp>
          <p:nvSpPr>
            <p:cNvPr id="30734" name="Rectangle 13">
              <a:extLst>
                <a:ext uri="{FF2B5EF4-FFF2-40B4-BE49-F238E27FC236}">
                  <a16:creationId xmlns:a16="http://schemas.microsoft.com/office/drawing/2014/main" id="{9A09F1CA-62BE-4E8E-A437-A8F8274799F5}"/>
                </a:ext>
              </a:extLst>
            </p:cNvPr>
            <p:cNvSpPr>
              <a:spLocks noChangeArrowheads="1"/>
            </p:cNvSpPr>
            <p:nvPr/>
          </p:nvSpPr>
          <p:spPr bwMode="auto">
            <a:xfrm>
              <a:off x="2544" y="2016"/>
              <a:ext cx="91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Social</a:t>
              </a:r>
            </a:p>
            <a:p>
              <a:pPr algn="ctr" fontAlgn="base">
                <a:spcBef>
                  <a:spcPct val="0"/>
                </a:spcBef>
                <a:spcAft>
                  <a:spcPct val="0"/>
                </a:spcAft>
              </a:pPr>
              <a:r>
                <a:rPr lang="en-US" altLang="en-US">
                  <a:solidFill>
                    <a:srgbClr val="2F1311"/>
                  </a:solidFill>
                </a:rPr>
                <a:t>rehabilitation</a:t>
              </a:r>
            </a:p>
          </p:txBody>
        </p:sp>
        <p:sp>
          <p:nvSpPr>
            <p:cNvPr id="30735" name="Rectangle 14">
              <a:extLst>
                <a:ext uri="{FF2B5EF4-FFF2-40B4-BE49-F238E27FC236}">
                  <a16:creationId xmlns:a16="http://schemas.microsoft.com/office/drawing/2014/main" id="{404808DA-D947-4C3D-84E8-1EE27F0581F6}"/>
                </a:ext>
              </a:extLst>
            </p:cNvPr>
            <p:cNvSpPr>
              <a:spLocks noChangeArrowheads="1"/>
            </p:cNvSpPr>
            <p:nvPr/>
          </p:nvSpPr>
          <p:spPr bwMode="auto">
            <a:xfrm>
              <a:off x="3744" y="2016"/>
              <a:ext cx="91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Psychological</a:t>
              </a:r>
            </a:p>
            <a:p>
              <a:pPr algn="ctr" fontAlgn="base">
                <a:spcBef>
                  <a:spcPct val="0"/>
                </a:spcBef>
                <a:spcAft>
                  <a:spcPct val="0"/>
                </a:spcAft>
              </a:pPr>
              <a:r>
                <a:rPr lang="en-US" altLang="en-US">
                  <a:solidFill>
                    <a:srgbClr val="2F1311"/>
                  </a:solidFill>
                </a:rPr>
                <a:t>rehabilitation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nodePh="1">
                                  <p:stCondLst>
                                    <p:cond delay="0"/>
                                  </p:stCondLst>
                                  <p:endCondLst>
                                    <p:cond evt="begin" delay="0">
                                      <p:tn val="5"/>
                                    </p:cond>
                                  </p:end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p:cTn id="7" dur="1000" fill="hold"/>
                                        <p:tgtEl>
                                          <p:spTgt spid="2765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765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7651">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grpId="1" nodeType="clickEffect" nodePh="1">
                                  <p:stCondLst>
                                    <p:cond delay="0"/>
                                  </p:stCondLst>
                                  <p:endCondLst>
                                    <p:cond evt="begin" delay="0">
                                      <p:tn val="12"/>
                                    </p:cond>
                                  </p:endCondLst>
                                  <p:childTnLst>
                                    <p:set>
                                      <p:cBhvr>
                                        <p:cTn id="13" dur="1" fill="hold">
                                          <p:stCondLst>
                                            <p:cond delay="0"/>
                                          </p:stCondLst>
                                        </p:cTn>
                                        <p:tgtEl>
                                          <p:spTgt spid="27651">
                                            <p:txEl>
                                              <p:pRg st="0" end="0"/>
                                            </p:txEl>
                                          </p:spTgt>
                                        </p:tgtEl>
                                        <p:attrNameLst>
                                          <p:attrName>style.visibility</p:attrName>
                                        </p:attrNameLst>
                                      </p:cBhvr>
                                      <p:to>
                                        <p:strVal val="visible"/>
                                      </p:to>
                                    </p:set>
                                    <p:anim calcmode="lin" valueType="num">
                                      <p:cBhvr>
                                        <p:cTn id="14" dur="1000" fill="hold"/>
                                        <p:tgtEl>
                                          <p:spTgt spid="27651">
                                            <p:txEl>
                                              <p:pRg st="0" end="0"/>
                                            </p:txEl>
                                          </p:spTgt>
                                        </p:tgtEl>
                                        <p:attrNameLst>
                                          <p:attrName>ppt_w</p:attrName>
                                        </p:attrNameLst>
                                      </p:cBhvr>
                                      <p:tavLst>
                                        <p:tav tm="0">
                                          <p:val>
                                            <p:strVal val="#ppt_w*0.70"/>
                                          </p:val>
                                        </p:tav>
                                        <p:tav tm="100000">
                                          <p:val>
                                            <p:strVal val="#ppt_w"/>
                                          </p:val>
                                        </p:tav>
                                      </p:tavLst>
                                    </p:anim>
                                    <p:anim calcmode="lin" valueType="num">
                                      <p:cBhvr>
                                        <p:cTn id="15" dur="1000" fill="hold"/>
                                        <p:tgtEl>
                                          <p:spTgt spid="27651">
                                            <p:txEl>
                                              <p:pRg st="0" end="0"/>
                                            </p:txEl>
                                          </p:spTgt>
                                        </p:tgtEl>
                                        <p:attrNameLst>
                                          <p:attrName>ppt_h</p:attrName>
                                        </p:attrNameLst>
                                      </p:cBhvr>
                                      <p:tavLst>
                                        <p:tav tm="0">
                                          <p:val>
                                            <p:strVal val="#ppt_h"/>
                                          </p:val>
                                        </p:tav>
                                        <p:tav tm="100000">
                                          <p:val>
                                            <p:strVal val="#ppt_h"/>
                                          </p:val>
                                        </p:tav>
                                      </p:tavLst>
                                    </p:anim>
                                    <p:animEffect transition="in" filter="fade">
                                      <p:cBhvr>
                                        <p:cTn id="16" dur="1000"/>
                                        <p:tgtEl>
                                          <p:spTgt spid="276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27651" grpId="1"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B053C36-A82B-44E1-A572-1D733FA85DA6}"/>
              </a:ext>
            </a:extLst>
          </p:cNvPr>
          <p:cNvSpPr>
            <a:spLocks noGrp="1" noChangeArrowheads="1"/>
          </p:cNvSpPr>
          <p:nvPr>
            <p:ph type="title"/>
          </p:nvPr>
        </p:nvSpPr>
        <p:spPr/>
        <p:txBody>
          <a:bodyPr/>
          <a:lstStyle/>
          <a:p>
            <a:pPr eaLnBrk="1" hangingPunct="1"/>
            <a:endParaRPr lang="en-US" altLang="en-US"/>
          </a:p>
        </p:txBody>
      </p:sp>
      <p:sp>
        <p:nvSpPr>
          <p:cNvPr id="31747" name="Rectangle 3">
            <a:extLst>
              <a:ext uri="{FF2B5EF4-FFF2-40B4-BE49-F238E27FC236}">
                <a16:creationId xmlns:a16="http://schemas.microsoft.com/office/drawing/2014/main" id="{7AA02754-D629-4C81-8487-C6D446119D15}"/>
              </a:ext>
            </a:extLst>
          </p:cNvPr>
          <p:cNvSpPr>
            <a:spLocks noGrp="1" noChangeArrowheads="1"/>
          </p:cNvSpPr>
          <p:nvPr>
            <p:ph type="body" idx="1"/>
          </p:nvPr>
        </p:nvSpPr>
        <p:spPr/>
        <p:txBody>
          <a:bodyPr/>
          <a:lstStyle/>
          <a:p>
            <a:pPr eaLnBrk="1" hangingPunct="1"/>
            <a:endParaRPr lang="en-US" altLang="en-US"/>
          </a:p>
        </p:txBody>
      </p:sp>
      <p:sp>
        <p:nvSpPr>
          <p:cNvPr id="31748" name="WordArt 4">
            <a:extLst>
              <a:ext uri="{FF2B5EF4-FFF2-40B4-BE49-F238E27FC236}">
                <a16:creationId xmlns:a16="http://schemas.microsoft.com/office/drawing/2014/main" id="{7B04B4F7-94E6-403B-92F2-8DDBA3FF9024}"/>
              </a:ext>
            </a:extLst>
          </p:cNvPr>
          <p:cNvSpPr>
            <a:spLocks noChangeArrowheads="1" noChangeShapeType="1" noTextEdit="1"/>
          </p:cNvSpPr>
          <p:nvPr/>
        </p:nvSpPr>
        <p:spPr bwMode="auto">
          <a:xfrm>
            <a:off x="5219701" y="2486026"/>
            <a:ext cx="66675" cy="29527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eaLnBrk="0" fontAlgn="base" hangingPunct="0">
              <a:spcBef>
                <a:spcPct val="0"/>
              </a:spcBef>
              <a:spcAft>
                <a:spcPct val="0"/>
              </a:spcAft>
            </a:pPr>
            <a:r>
              <a:rPr lang="en-KE" sz="2000" kern="10">
                <a:solidFill>
                  <a:srgbClr val="336699"/>
                </a:solidFill>
                <a:effectLst>
                  <a:outerShdw dist="45791" dir="2021404" algn="ctr" rotWithShape="0">
                    <a:srgbClr val="C0C0C0"/>
                  </a:outerShdw>
                </a:effectLst>
                <a:latin typeface="Times New Roman" panose="02020603050405020304" pitchFamily="18" charset="0"/>
                <a:cs typeface="Times New Roman" panose="02020603050405020304" pitchFamily="18" charset="0"/>
              </a:rPr>
              <a:t> </a:t>
            </a:r>
          </a:p>
        </p:txBody>
      </p:sp>
      <p:sp>
        <p:nvSpPr>
          <p:cNvPr id="31749" name="WordArt 5">
            <a:extLst>
              <a:ext uri="{FF2B5EF4-FFF2-40B4-BE49-F238E27FC236}">
                <a16:creationId xmlns:a16="http://schemas.microsoft.com/office/drawing/2014/main" id="{5919F2C6-ACF0-4D49-8ACA-969FC06694DA}"/>
              </a:ext>
            </a:extLst>
          </p:cNvPr>
          <p:cNvSpPr>
            <a:spLocks noChangeArrowheads="1" noChangeShapeType="1" noTextEdit="1"/>
          </p:cNvSpPr>
          <p:nvPr/>
        </p:nvSpPr>
        <p:spPr bwMode="auto">
          <a:xfrm>
            <a:off x="5295901" y="4695826"/>
            <a:ext cx="66675" cy="29527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eaLnBrk="0" fontAlgn="base" hangingPunct="0">
              <a:spcBef>
                <a:spcPct val="0"/>
              </a:spcBef>
              <a:spcAft>
                <a:spcPct val="0"/>
              </a:spcAft>
            </a:pPr>
            <a:r>
              <a:rPr lang="en-KE" sz="2000" kern="10">
                <a:solidFill>
                  <a:srgbClr val="336699"/>
                </a:solidFill>
                <a:effectLst>
                  <a:outerShdw dist="45791" dir="2021404" algn="ctr" rotWithShape="0">
                    <a:srgbClr val="C0C0C0"/>
                  </a:outerShdw>
                </a:effectLst>
                <a:latin typeface="Times New Roman" panose="02020603050405020304" pitchFamily="18" charset="0"/>
                <a:cs typeface="Times New Roman" panose="02020603050405020304" pitchFamily="18" charset="0"/>
              </a:rPr>
              <a:t> </a:t>
            </a:r>
          </a:p>
        </p:txBody>
      </p:sp>
      <p:sp>
        <p:nvSpPr>
          <p:cNvPr id="31750" name="Freeform 6">
            <a:extLst>
              <a:ext uri="{FF2B5EF4-FFF2-40B4-BE49-F238E27FC236}">
                <a16:creationId xmlns:a16="http://schemas.microsoft.com/office/drawing/2014/main" id="{1A218058-F3D6-4F0B-80D5-651C6E5CBDB4}"/>
              </a:ext>
            </a:extLst>
          </p:cNvPr>
          <p:cNvSpPr>
            <a:spLocks/>
          </p:cNvSpPr>
          <p:nvPr/>
        </p:nvSpPr>
        <p:spPr bwMode="auto">
          <a:xfrm>
            <a:off x="5667376" y="855664"/>
            <a:ext cx="2079625" cy="4376737"/>
          </a:xfrm>
          <a:custGeom>
            <a:avLst/>
            <a:gdLst>
              <a:gd name="T0" fmla="*/ 2147483647 w 5241"/>
              <a:gd name="T1" fmla="*/ 2147483647 h 11026"/>
              <a:gd name="T2" fmla="*/ 2147483647 w 5241"/>
              <a:gd name="T3" fmla="*/ 2147483647 h 11026"/>
              <a:gd name="T4" fmla="*/ 2147483647 w 5241"/>
              <a:gd name="T5" fmla="*/ 2147483647 h 11026"/>
              <a:gd name="T6" fmla="*/ 2147483647 w 5241"/>
              <a:gd name="T7" fmla="*/ 2147483647 h 11026"/>
              <a:gd name="T8" fmla="*/ 2147483647 w 5241"/>
              <a:gd name="T9" fmla="*/ 2147483647 h 11026"/>
              <a:gd name="T10" fmla="*/ 2147483647 w 5241"/>
              <a:gd name="T11" fmla="*/ 2147483647 h 11026"/>
              <a:gd name="T12" fmla="*/ 2147483647 w 5241"/>
              <a:gd name="T13" fmla="*/ 2147483647 h 11026"/>
              <a:gd name="T14" fmla="*/ 2147483647 w 5241"/>
              <a:gd name="T15" fmla="*/ 2147483647 h 11026"/>
              <a:gd name="T16" fmla="*/ 2147483647 w 5241"/>
              <a:gd name="T17" fmla="*/ 2147483647 h 11026"/>
              <a:gd name="T18" fmla="*/ 2147483647 w 5241"/>
              <a:gd name="T19" fmla="*/ 2147483647 h 11026"/>
              <a:gd name="T20" fmla="*/ 2147483647 w 5241"/>
              <a:gd name="T21" fmla="*/ 2147483647 h 11026"/>
              <a:gd name="T22" fmla="*/ 2147483647 w 5241"/>
              <a:gd name="T23" fmla="*/ 2147483647 h 11026"/>
              <a:gd name="T24" fmla="*/ 2147483647 w 5241"/>
              <a:gd name="T25" fmla="*/ 2147483647 h 11026"/>
              <a:gd name="T26" fmla="*/ 2147483647 w 5241"/>
              <a:gd name="T27" fmla="*/ 2147483647 h 11026"/>
              <a:gd name="T28" fmla="*/ 2147483647 w 5241"/>
              <a:gd name="T29" fmla="*/ 2147483647 h 11026"/>
              <a:gd name="T30" fmla="*/ 2147483647 w 5241"/>
              <a:gd name="T31" fmla="*/ 2147483647 h 11026"/>
              <a:gd name="T32" fmla="*/ 2147483647 w 5241"/>
              <a:gd name="T33" fmla="*/ 2147483647 h 11026"/>
              <a:gd name="T34" fmla="*/ 2147483647 w 5241"/>
              <a:gd name="T35" fmla="*/ 2147483647 h 11026"/>
              <a:gd name="T36" fmla="*/ 2147483647 w 5241"/>
              <a:gd name="T37" fmla="*/ 2147483647 h 11026"/>
              <a:gd name="T38" fmla="*/ 2147483647 w 5241"/>
              <a:gd name="T39" fmla="*/ 2147483647 h 11026"/>
              <a:gd name="T40" fmla="*/ 2147483647 w 5241"/>
              <a:gd name="T41" fmla="*/ 2147483647 h 11026"/>
              <a:gd name="T42" fmla="*/ 2147483647 w 5241"/>
              <a:gd name="T43" fmla="*/ 0 h 11026"/>
              <a:gd name="T44" fmla="*/ 2147483647 w 5241"/>
              <a:gd name="T45" fmla="*/ 2147483647 h 11026"/>
              <a:gd name="T46" fmla="*/ 0 w 5241"/>
              <a:gd name="T47" fmla="*/ 2147483647 h 11026"/>
              <a:gd name="T48" fmla="*/ 2147483647 w 5241"/>
              <a:gd name="T49" fmla="*/ 2147483647 h 11026"/>
              <a:gd name="T50" fmla="*/ 2147483647 w 5241"/>
              <a:gd name="T51" fmla="*/ 2147483647 h 11026"/>
              <a:gd name="T52" fmla="*/ 2147483647 w 5241"/>
              <a:gd name="T53" fmla="*/ 2147483647 h 11026"/>
              <a:gd name="T54" fmla="*/ 2147483647 w 5241"/>
              <a:gd name="T55" fmla="*/ 2147483647 h 11026"/>
              <a:gd name="T56" fmla="*/ 2147483647 w 5241"/>
              <a:gd name="T57" fmla="*/ 2147483647 h 11026"/>
              <a:gd name="T58" fmla="*/ 2147483647 w 5241"/>
              <a:gd name="T59" fmla="*/ 2147483647 h 11026"/>
              <a:gd name="T60" fmla="*/ 2147483647 w 5241"/>
              <a:gd name="T61" fmla="*/ 2147483647 h 11026"/>
              <a:gd name="T62" fmla="*/ 2147483647 w 5241"/>
              <a:gd name="T63" fmla="*/ 2147483647 h 11026"/>
              <a:gd name="T64" fmla="*/ 2147483647 w 5241"/>
              <a:gd name="T65" fmla="*/ 2147483647 h 11026"/>
              <a:gd name="T66" fmla="*/ 2147483647 w 5241"/>
              <a:gd name="T67" fmla="*/ 2147483647 h 11026"/>
              <a:gd name="T68" fmla="*/ 2147483647 w 5241"/>
              <a:gd name="T69" fmla="*/ 2147483647 h 11026"/>
              <a:gd name="T70" fmla="*/ 2147483647 w 5241"/>
              <a:gd name="T71" fmla="*/ 2147483647 h 11026"/>
              <a:gd name="T72" fmla="*/ 2147483647 w 5241"/>
              <a:gd name="T73" fmla="*/ 2147483647 h 11026"/>
              <a:gd name="T74" fmla="*/ 2147483647 w 5241"/>
              <a:gd name="T75" fmla="*/ 2147483647 h 11026"/>
              <a:gd name="T76" fmla="*/ 2147483647 w 5241"/>
              <a:gd name="T77" fmla="*/ 2147483647 h 11026"/>
              <a:gd name="T78" fmla="*/ 2147483647 w 5241"/>
              <a:gd name="T79" fmla="*/ 2147483647 h 11026"/>
              <a:gd name="T80" fmla="*/ 2147483647 w 5241"/>
              <a:gd name="T81" fmla="*/ 2147483647 h 11026"/>
              <a:gd name="T82" fmla="*/ 2147483647 w 5241"/>
              <a:gd name="T83" fmla="*/ 2147483647 h 11026"/>
              <a:gd name="T84" fmla="*/ 2147483647 w 5241"/>
              <a:gd name="T85" fmla="*/ 2147483647 h 11026"/>
              <a:gd name="T86" fmla="*/ 2147483647 w 5241"/>
              <a:gd name="T87" fmla="*/ 2147483647 h 1102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241" h="11026">
                <a:moveTo>
                  <a:pt x="3909" y="11026"/>
                </a:moveTo>
                <a:lnTo>
                  <a:pt x="4515" y="10973"/>
                </a:lnTo>
                <a:lnTo>
                  <a:pt x="3382" y="9977"/>
                </a:lnTo>
                <a:lnTo>
                  <a:pt x="3844" y="9325"/>
                </a:lnTo>
                <a:lnTo>
                  <a:pt x="4278" y="8603"/>
                </a:lnTo>
                <a:lnTo>
                  <a:pt x="4622" y="7862"/>
                </a:lnTo>
                <a:lnTo>
                  <a:pt x="4909" y="7099"/>
                </a:lnTo>
                <a:lnTo>
                  <a:pt x="5093" y="6340"/>
                </a:lnTo>
                <a:lnTo>
                  <a:pt x="5201" y="5589"/>
                </a:lnTo>
                <a:lnTo>
                  <a:pt x="5241" y="4846"/>
                </a:lnTo>
                <a:lnTo>
                  <a:pt x="5187" y="4142"/>
                </a:lnTo>
                <a:lnTo>
                  <a:pt x="5054" y="3451"/>
                </a:lnTo>
                <a:lnTo>
                  <a:pt x="4831" y="2817"/>
                </a:lnTo>
                <a:lnTo>
                  <a:pt x="4547" y="2219"/>
                </a:lnTo>
                <a:lnTo>
                  <a:pt x="4172" y="1679"/>
                </a:lnTo>
                <a:lnTo>
                  <a:pt x="3760" y="1221"/>
                </a:lnTo>
                <a:lnTo>
                  <a:pt x="3229" y="826"/>
                </a:lnTo>
                <a:lnTo>
                  <a:pt x="2698" y="509"/>
                </a:lnTo>
                <a:lnTo>
                  <a:pt x="2065" y="279"/>
                </a:lnTo>
                <a:lnTo>
                  <a:pt x="1418" y="125"/>
                </a:lnTo>
                <a:lnTo>
                  <a:pt x="740" y="33"/>
                </a:lnTo>
                <a:lnTo>
                  <a:pt x="325" y="0"/>
                </a:lnTo>
                <a:lnTo>
                  <a:pt x="18" y="18"/>
                </a:lnTo>
                <a:lnTo>
                  <a:pt x="0" y="249"/>
                </a:lnTo>
                <a:lnTo>
                  <a:pt x="307" y="242"/>
                </a:lnTo>
                <a:lnTo>
                  <a:pt x="980" y="336"/>
                </a:lnTo>
                <a:lnTo>
                  <a:pt x="1630" y="489"/>
                </a:lnTo>
                <a:lnTo>
                  <a:pt x="2260" y="715"/>
                </a:lnTo>
                <a:lnTo>
                  <a:pt x="2802" y="1030"/>
                </a:lnTo>
                <a:lnTo>
                  <a:pt x="3324" y="1431"/>
                </a:lnTo>
                <a:lnTo>
                  <a:pt x="3732" y="1881"/>
                </a:lnTo>
                <a:lnTo>
                  <a:pt x="4110" y="2428"/>
                </a:lnTo>
                <a:lnTo>
                  <a:pt x="4396" y="3028"/>
                </a:lnTo>
                <a:lnTo>
                  <a:pt x="4615" y="3659"/>
                </a:lnTo>
                <a:lnTo>
                  <a:pt x="4753" y="4349"/>
                </a:lnTo>
                <a:lnTo>
                  <a:pt x="4804" y="5053"/>
                </a:lnTo>
                <a:lnTo>
                  <a:pt x="4761" y="5799"/>
                </a:lnTo>
                <a:lnTo>
                  <a:pt x="4655" y="6551"/>
                </a:lnTo>
                <a:lnTo>
                  <a:pt x="4473" y="7303"/>
                </a:lnTo>
                <a:lnTo>
                  <a:pt x="4184" y="8070"/>
                </a:lnTo>
                <a:lnTo>
                  <a:pt x="3846" y="8807"/>
                </a:lnTo>
                <a:lnTo>
                  <a:pt x="3407" y="9531"/>
                </a:lnTo>
                <a:lnTo>
                  <a:pt x="2952" y="10182"/>
                </a:lnTo>
                <a:lnTo>
                  <a:pt x="3909" y="110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51" name="Freeform 7">
            <a:extLst>
              <a:ext uri="{FF2B5EF4-FFF2-40B4-BE49-F238E27FC236}">
                <a16:creationId xmlns:a16="http://schemas.microsoft.com/office/drawing/2014/main" id="{D4FC922B-8EC0-4F88-8391-58303A422254}"/>
              </a:ext>
            </a:extLst>
          </p:cNvPr>
          <p:cNvSpPr>
            <a:spLocks/>
          </p:cNvSpPr>
          <p:nvPr/>
        </p:nvSpPr>
        <p:spPr bwMode="auto">
          <a:xfrm>
            <a:off x="5667376" y="855664"/>
            <a:ext cx="2079625" cy="4376737"/>
          </a:xfrm>
          <a:custGeom>
            <a:avLst/>
            <a:gdLst>
              <a:gd name="T0" fmla="*/ 2147483647 w 5241"/>
              <a:gd name="T1" fmla="*/ 2147483647 h 11026"/>
              <a:gd name="T2" fmla="*/ 2147483647 w 5241"/>
              <a:gd name="T3" fmla="*/ 2147483647 h 11026"/>
              <a:gd name="T4" fmla="*/ 2147483647 w 5241"/>
              <a:gd name="T5" fmla="*/ 2147483647 h 11026"/>
              <a:gd name="T6" fmla="*/ 2147483647 w 5241"/>
              <a:gd name="T7" fmla="*/ 2147483647 h 11026"/>
              <a:gd name="T8" fmla="*/ 2147483647 w 5241"/>
              <a:gd name="T9" fmla="*/ 2147483647 h 11026"/>
              <a:gd name="T10" fmla="*/ 2147483647 w 5241"/>
              <a:gd name="T11" fmla="*/ 2147483647 h 11026"/>
              <a:gd name="T12" fmla="*/ 2147483647 w 5241"/>
              <a:gd name="T13" fmla="*/ 2147483647 h 11026"/>
              <a:gd name="T14" fmla="*/ 2147483647 w 5241"/>
              <a:gd name="T15" fmla="*/ 2147483647 h 11026"/>
              <a:gd name="T16" fmla="*/ 2147483647 w 5241"/>
              <a:gd name="T17" fmla="*/ 2147483647 h 11026"/>
              <a:gd name="T18" fmla="*/ 2147483647 w 5241"/>
              <a:gd name="T19" fmla="*/ 2147483647 h 11026"/>
              <a:gd name="T20" fmla="*/ 2147483647 w 5241"/>
              <a:gd name="T21" fmla="*/ 2147483647 h 11026"/>
              <a:gd name="T22" fmla="*/ 2147483647 w 5241"/>
              <a:gd name="T23" fmla="*/ 2147483647 h 11026"/>
              <a:gd name="T24" fmla="*/ 2147483647 w 5241"/>
              <a:gd name="T25" fmla="*/ 2147483647 h 11026"/>
              <a:gd name="T26" fmla="*/ 2147483647 w 5241"/>
              <a:gd name="T27" fmla="*/ 2147483647 h 11026"/>
              <a:gd name="T28" fmla="*/ 2147483647 w 5241"/>
              <a:gd name="T29" fmla="*/ 2147483647 h 11026"/>
              <a:gd name="T30" fmla="*/ 2147483647 w 5241"/>
              <a:gd name="T31" fmla="*/ 2147483647 h 11026"/>
              <a:gd name="T32" fmla="*/ 2147483647 w 5241"/>
              <a:gd name="T33" fmla="*/ 2147483647 h 11026"/>
              <a:gd name="T34" fmla="*/ 2147483647 w 5241"/>
              <a:gd name="T35" fmla="*/ 2147483647 h 11026"/>
              <a:gd name="T36" fmla="*/ 2147483647 w 5241"/>
              <a:gd name="T37" fmla="*/ 2147483647 h 11026"/>
              <a:gd name="T38" fmla="*/ 2147483647 w 5241"/>
              <a:gd name="T39" fmla="*/ 2147483647 h 11026"/>
              <a:gd name="T40" fmla="*/ 2147483647 w 5241"/>
              <a:gd name="T41" fmla="*/ 2147483647 h 11026"/>
              <a:gd name="T42" fmla="*/ 2147483647 w 5241"/>
              <a:gd name="T43" fmla="*/ 0 h 11026"/>
              <a:gd name="T44" fmla="*/ 2147483647 w 5241"/>
              <a:gd name="T45" fmla="*/ 2147483647 h 11026"/>
              <a:gd name="T46" fmla="*/ 0 w 5241"/>
              <a:gd name="T47" fmla="*/ 2147483647 h 11026"/>
              <a:gd name="T48" fmla="*/ 2147483647 w 5241"/>
              <a:gd name="T49" fmla="*/ 2147483647 h 11026"/>
              <a:gd name="T50" fmla="*/ 2147483647 w 5241"/>
              <a:gd name="T51" fmla="*/ 2147483647 h 11026"/>
              <a:gd name="T52" fmla="*/ 2147483647 w 5241"/>
              <a:gd name="T53" fmla="*/ 2147483647 h 11026"/>
              <a:gd name="T54" fmla="*/ 2147483647 w 5241"/>
              <a:gd name="T55" fmla="*/ 2147483647 h 11026"/>
              <a:gd name="T56" fmla="*/ 2147483647 w 5241"/>
              <a:gd name="T57" fmla="*/ 2147483647 h 11026"/>
              <a:gd name="T58" fmla="*/ 2147483647 w 5241"/>
              <a:gd name="T59" fmla="*/ 2147483647 h 11026"/>
              <a:gd name="T60" fmla="*/ 2147483647 w 5241"/>
              <a:gd name="T61" fmla="*/ 2147483647 h 11026"/>
              <a:gd name="T62" fmla="*/ 2147483647 w 5241"/>
              <a:gd name="T63" fmla="*/ 2147483647 h 11026"/>
              <a:gd name="T64" fmla="*/ 2147483647 w 5241"/>
              <a:gd name="T65" fmla="*/ 2147483647 h 11026"/>
              <a:gd name="T66" fmla="*/ 2147483647 w 5241"/>
              <a:gd name="T67" fmla="*/ 2147483647 h 11026"/>
              <a:gd name="T68" fmla="*/ 2147483647 w 5241"/>
              <a:gd name="T69" fmla="*/ 2147483647 h 11026"/>
              <a:gd name="T70" fmla="*/ 2147483647 w 5241"/>
              <a:gd name="T71" fmla="*/ 2147483647 h 11026"/>
              <a:gd name="T72" fmla="*/ 2147483647 w 5241"/>
              <a:gd name="T73" fmla="*/ 2147483647 h 11026"/>
              <a:gd name="T74" fmla="*/ 2147483647 w 5241"/>
              <a:gd name="T75" fmla="*/ 2147483647 h 11026"/>
              <a:gd name="T76" fmla="*/ 2147483647 w 5241"/>
              <a:gd name="T77" fmla="*/ 2147483647 h 11026"/>
              <a:gd name="T78" fmla="*/ 2147483647 w 5241"/>
              <a:gd name="T79" fmla="*/ 2147483647 h 11026"/>
              <a:gd name="T80" fmla="*/ 2147483647 w 5241"/>
              <a:gd name="T81" fmla="*/ 2147483647 h 11026"/>
              <a:gd name="T82" fmla="*/ 2147483647 w 5241"/>
              <a:gd name="T83" fmla="*/ 2147483647 h 11026"/>
              <a:gd name="T84" fmla="*/ 2147483647 w 5241"/>
              <a:gd name="T85" fmla="*/ 2147483647 h 11026"/>
              <a:gd name="T86" fmla="*/ 2147483647 w 5241"/>
              <a:gd name="T87" fmla="*/ 2147483647 h 1102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241" h="11026">
                <a:moveTo>
                  <a:pt x="3909" y="11026"/>
                </a:moveTo>
                <a:lnTo>
                  <a:pt x="4515" y="10973"/>
                </a:lnTo>
                <a:lnTo>
                  <a:pt x="3382" y="9977"/>
                </a:lnTo>
                <a:lnTo>
                  <a:pt x="3844" y="9325"/>
                </a:lnTo>
                <a:lnTo>
                  <a:pt x="4278" y="8603"/>
                </a:lnTo>
                <a:lnTo>
                  <a:pt x="4622" y="7862"/>
                </a:lnTo>
                <a:lnTo>
                  <a:pt x="4909" y="7099"/>
                </a:lnTo>
                <a:lnTo>
                  <a:pt x="5093" y="6340"/>
                </a:lnTo>
                <a:lnTo>
                  <a:pt x="5201" y="5589"/>
                </a:lnTo>
                <a:lnTo>
                  <a:pt x="5241" y="4846"/>
                </a:lnTo>
                <a:lnTo>
                  <a:pt x="5187" y="4142"/>
                </a:lnTo>
                <a:lnTo>
                  <a:pt x="5054" y="3451"/>
                </a:lnTo>
                <a:lnTo>
                  <a:pt x="4831" y="2817"/>
                </a:lnTo>
                <a:lnTo>
                  <a:pt x="4547" y="2219"/>
                </a:lnTo>
                <a:lnTo>
                  <a:pt x="4172" y="1679"/>
                </a:lnTo>
                <a:lnTo>
                  <a:pt x="3760" y="1221"/>
                </a:lnTo>
                <a:lnTo>
                  <a:pt x="3229" y="826"/>
                </a:lnTo>
                <a:lnTo>
                  <a:pt x="2698" y="509"/>
                </a:lnTo>
                <a:lnTo>
                  <a:pt x="2065" y="279"/>
                </a:lnTo>
                <a:lnTo>
                  <a:pt x="1418" y="125"/>
                </a:lnTo>
                <a:lnTo>
                  <a:pt x="740" y="33"/>
                </a:lnTo>
                <a:lnTo>
                  <a:pt x="325" y="0"/>
                </a:lnTo>
                <a:lnTo>
                  <a:pt x="18" y="18"/>
                </a:lnTo>
                <a:lnTo>
                  <a:pt x="0" y="249"/>
                </a:lnTo>
                <a:lnTo>
                  <a:pt x="307" y="242"/>
                </a:lnTo>
                <a:lnTo>
                  <a:pt x="980" y="336"/>
                </a:lnTo>
                <a:lnTo>
                  <a:pt x="1630" y="489"/>
                </a:lnTo>
                <a:lnTo>
                  <a:pt x="2260" y="715"/>
                </a:lnTo>
                <a:lnTo>
                  <a:pt x="2802" y="1030"/>
                </a:lnTo>
                <a:lnTo>
                  <a:pt x="3324" y="1431"/>
                </a:lnTo>
                <a:lnTo>
                  <a:pt x="3732" y="1881"/>
                </a:lnTo>
                <a:lnTo>
                  <a:pt x="4110" y="2428"/>
                </a:lnTo>
                <a:lnTo>
                  <a:pt x="4396" y="3028"/>
                </a:lnTo>
                <a:lnTo>
                  <a:pt x="4615" y="3659"/>
                </a:lnTo>
                <a:lnTo>
                  <a:pt x="4753" y="4349"/>
                </a:lnTo>
                <a:lnTo>
                  <a:pt x="4804" y="5053"/>
                </a:lnTo>
                <a:lnTo>
                  <a:pt x="4761" y="5799"/>
                </a:lnTo>
                <a:lnTo>
                  <a:pt x="4655" y="6551"/>
                </a:lnTo>
                <a:lnTo>
                  <a:pt x="4473" y="7303"/>
                </a:lnTo>
                <a:lnTo>
                  <a:pt x="4184" y="8070"/>
                </a:lnTo>
                <a:lnTo>
                  <a:pt x="3846" y="8807"/>
                </a:lnTo>
                <a:lnTo>
                  <a:pt x="3407" y="9531"/>
                </a:lnTo>
                <a:lnTo>
                  <a:pt x="2952" y="10182"/>
                </a:lnTo>
                <a:lnTo>
                  <a:pt x="3909" y="11026"/>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52" name="Freeform 8">
            <a:extLst>
              <a:ext uri="{FF2B5EF4-FFF2-40B4-BE49-F238E27FC236}">
                <a16:creationId xmlns:a16="http://schemas.microsoft.com/office/drawing/2014/main" id="{6664E771-5CD6-44C6-9EF4-6C0C0E1F44A6}"/>
              </a:ext>
            </a:extLst>
          </p:cNvPr>
          <p:cNvSpPr>
            <a:spLocks/>
          </p:cNvSpPr>
          <p:nvPr/>
        </p:nvSpPr>
        <p:spPr bwMode="auto">
          <a:xfrm>
            <a:off x="3402014" y="1477964"/>
            <a:ext cx="1984375" cy="1895475"/>
          </a:xfrm>
          <a:custGeom>
            <a:avLst/>
            <a:gdLst>
              <a:gd name="T0" fmla="*/ 2147483647 w 4999"/>
              <a:gd name="T1" fmla="*/ 2147483647 h 4775"/>
              <a:gd name="T2" fmla="*/ 2147483647 w 4999"/>
              <a:gd name="T3" fmla="*/ 2147483647 h 4775"/>
              <a:gd name="T4" fmla="*/ 2147483647 w 4999"/>
              <a:gd name="T5" fmla="*/ 0 h 4775"/>
              <a:gd name="T6" fmla="*/ 0 w 4999"/>
              <a:gd name="T7" fmla="*/ 2147483647 h 4775"/>
              <a:gd name="T8" fmla="*/ 2147483647 w 4999"/>
              <a:gd name="T9" fmla="*/ 2147483647 h 4775"/>
              <a:gd name="T10" fmla="*/ 2147483647 w 4999"/>
              <a:gd name="T11" fmla="*/ 2147483647 h 4775"/>
              <a:gd name="T12" fmla="*/ 2147483647 w 4999"/>
              <a:gd name="T13" fmla="*/ 2147483647 h 477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99" h="4775">
                <a:moveTo>
                  <a:pt x="4440" y="4403"/>
                </a:moveTo>
                <a:lnTo>
                  <a:pt x="4832" y="4775"/>
                </a:lnTo>
                <a:lnTo>
                  <a:pt x="4999" y="0"/>
                </a:lnTo>
                <a:lnTo>
                  <a:pt x="0" y="375"/>
                </a:lnTo>
                <a:lnTo>
                  <a:pt x="188" y="541"/>
                </a:lnTo>
                <a:lnTo>
                  <a:pt x="4564" y="214"/>
                </a:lnTo>
                <a:lnTo>
                  <a:pt x="4440" y="44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53" name="Freeform 9">
            <a:extLst>
              <a:ext uri="{FF2B5EF4-FFF2-40B4-BE49-F238E27FC236}">
                <a16:creationId xmlns:a16="http://schemas.microsoft.com/office/drawing/2014/main" id="{86A3D9D9-8768-4B27-9258-E52DA501F7BA}"/>
              </a:ext>
            </a:extLst>
          </p:cNvPr>
          <p:cNvSpPr>
            <a:spLocks/>
          </p:cNvSpPr>
          <p:nvPr/>
        </p:nvSpPr>
        <p:spPr bwMode="auto">
          <a:xfrm>
            <a:off x="3402014" y="1477964"/>
            <a:ext cx="1984375" cy="1895475"/>
          </a:xfrm>
          <a:custGeom>
            <a:avLst/>
            <a:gdLst>
              <a:gd name="T0" fmla="*/ 2147483647 w 4999"/>
              <a:gd name="T1" fmla="*/ 2147483647 h 4775"/>
              <a:gd name="T2" fmla="*/ 2147483647 w 4999"/>
              <a:gd name="T3" fmla="*/ 2147483647 h 4775"/>
              <a:gd name="T4" fmla="*/ 2147483647 w 4999"/>
              <a:gd name="T5" fmla="*/ 0 h 4775"/>
              <a:gd name="T6" fmla="*/ 0 w 4999"/>
              <a:gd name="T7" fmla="*/ 2147483647 h 4775"/>
              <a:gd name="T8" fmla="*/ 2147483647 w 4999"/>
              <a:gd name="T9" fmla="*/ 2147483647 h 4775"/>
              <a:gd name="T10" fmla="*/ 2147483647 w 4999"/>
              <a:gd name="T11" fmla="*/ 2147483647 h 4775"/>
              <a:gd name="T12" fmla="*/ 2147483647 w 4999"/>
              <a:gd name="T13" fmla="*/ 2147483647 h 477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99" h="4775">
                <a:moveTo>
                  <a:pt x="4440" y="4403"/>
                </a:moveTo>
                <a:lnTo>
                  <a:pt x="4832" y="4775"/>
                </a:lnTo>
                <a:lnTo>
                  <a:pt x="4999" y="0"/>
                </a:lnTo>
                <a:lnTo>
                  <a:pt x="0" y="375"/>
                </a:lnTo>
                <a:lnTo>
                  <a:pt x="188" y="541"/>
                </a:lnTo>
                <a:lnTo>
                  <a:pt x="4564" y="214"/>
                </a:lnTo>
                <a:lnTo>
                  <a:pt x="4440" y="4403"/>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54" name="Freeform 10">
            <a:extLst>
              <a:ext uri="{FF2B5EF4-FFF2-40B4-BE49-F238E27FC236}">
                <a16:creationId xmlns:a16="http://schemas.microsoft.com/office/drawing/2014/main" id="{59A3A62C-75AB-4020-82A1-7DFD85B2B8BC}"/>
              </a:ext>
            </a:extLst>
          </p:cNvPr>
          <p:cNvSpPr>
            <a:spLocks/>
          </p:cNvSpPr>
          <p:nvPr/>
        </p:nvSpPr>
        <p:spPr bwMode="auto">
          <a:xfrm>
            <a:off x="4344988" y="3021014"/>
            <a:ext cx="863600" cy="2941637"/>
          </a:xfrm>
          <a:custGeom>
            <a:avLst/>
            <a:gdLst>
              <a:gd name="T0" fmla="*/ 2147483647 w 2175"/>
              <a:gd name="T1" fmla="*/ 2147483647 h 7413"/>
              <a:gd name="T2" fmla="*/ 2147483647 w 2175"/>
              <a:gd name="T3" fmla="*/ 2147483647 h 7413"/>
              <a:gd name="T4" fmla="*/ 2147483647 w 2175"/>
              <a:gd name="T5" fmla="*/ 2147483647 h 7413"/>
              <a:gd name="T6" fmla="*/ 2147483647 w 2175"/>
              <a:gd name="T7" fmla="*/ 2147483647 h 7413"/>
              <a:gd name="T8" fmla="*/ 2147483647 w 2175"/>
              <a:gd name="T9" fmla="*/ 2147483647 h 7413"/>
              <a:gd name="T10" fmla="*/ 2147483647 w 2175"/>
              <a:gd name="T11" fmla="*/ 2147483647 h 7413"/>
              <a:gd name="T12" fmla="*/ 2147483647 w 2175"/>
              <a:gd name="T13" fmla="*/ 2147483647 h 7413"/>
              <a:gd name="T14" fmla="*/ 2147483647 w 2175"/>
              <a:gd name="T15" fmla="*/ 2147483647 h 7413"/>
              <a:gd name="T16" fmla="*/ 2147483647 w 2175"/>
              <a:gd name="T17" fmla="*/ 2147483647 h 7413"/>
              <a:gd name="T18" fmla="*/ 2147483647 w 2175"/>
              <a:gd name="T19" fmla="*/ 2147483647 h 7413"/>
              <a:gd name="T20" fmla="*/ 2147483647 w 2175"/>
              <a:gd name="T21" fmla="*/ 2147483647 h 7413"/>
              <a:gd name="T22" fmla="*/ 2147483647 w 2175"/>
              <a:gd name="T23" fmla="*/ 2147483647 h 7413"/>
              <a:gd name="T24" fmla="*/ 2147483647 w 2175"/>
              <a:gd name="T25" fmla="*/ 2147483647 h 7413"/>
              <a:gd name="T26" fmla="*/ 2147483647 w 2175"/>
              <a:gd name="T27" fmla="*/ 2147483647 h 7413"/>
              <a:gd name="T28" fmla="*/ 2147483647 w 2175"/>
              <a:gd name="T29" fmla="*/ 0 h 7413"/>
              <a:gd name="T30" fmla="*/ 2147483647 w 2175"/>
              <a:gd name="T31" fmla="*/ 2147483647 h 7413"/>
              <a:gd name="T32" fmla="*/ 2147483647 w 2175"/>
              <a:gd name="T33" fmla="*/ 2147483647 h 7413"/>
              <a:gd name="T34" fmla="*/ 2147483647 w 2175"/>
              <a:gd name="T35" fmla="*/ 2147483647 h 7413"/>
              <a:gd name="T36" fmla="*/ 2147483647 w 2175"/>
              <a:gd name="T37" fmla="*/ 2147483647 h 7413"/>
              <a:gd name="T38" fmla="*/ 0 w 2175"/>
              <a:gd name="T39" fmla="*/ 2147483647 h 7413"/>
              <a:gd name="T40" fmla="*/ 2147483647 w 2175"/>
              <a:gd name="T41" fmla="*/ 2147483647 h 7413"/>
              <a:gd name="T42" fmla="*/ 2147483647 w 2175"/>
              <a:gd name="T43" fmla="*/ 2147483647 h 7413"/>
              <a:gd name="T44" fmla="*/ 2147483647 w 2175"/>
              <a:gd name="T45" fmla="*/ 2147483647 h 7413"/>
              <a:gd name="T46" fmla="*/ 2147483647 w 2175"/>
              <a:gd name="T47" fmla="*/ 2147483647 h 7413"/>
              <a:gd name="T48" fmla="*/ 2147483647 w 2175"/>
              <a:gd name="T49" fmla="*/ 2147483647 h 7413"/>
              <a:gd name="T50" fmla="*/ 2147483647 w 2175"/>
              <a:gd name="T51" fmla="*/ 2147483647 h 7413"/>
              <a:gd name="T52" fmla="*/ 2147483647 w 2175"/>
              <a:gd name="T53" fmla="*/ 2147483647 h 7413"/>
              <a:gd name="T54" fmla="*/ 2147483647 w 2175"/>
              <a:gd name="T55" fmla="*/ 2147483647 h 74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75" h="7413">
                <a:moveTo>
                  <a:pt x="1719" y="7413"/>
                </a:moveTo>
                <a:lnTo>
                  <a:pt x="2141" y="7401"/>
                </a:lnTo>
                <a:lnTo>
                  <a:pt x="2175" y="3661"/>
                </a:lnTo>
                <a:lnTo>
                  <a:pt x="1873" y="3645"/>
                </a:lnTo>
                <a:lnTo>
                  <a:pt x="1486" y="3541"/>
                </a:lnTo>
                <a:lnTo>
                  <a:pt x="1133" y="3364"/>
                </a:lnTo>
                <a:lnTo>
                  <a:pt x="846" y="3111"/>
                </a:lnTo>
                <a:lnTo>
                  <a:pt x="640" y="2765"/>
                </a:lnTo>
                <a:lnTo>
                  <a:pt x="500" y="2389"/>
                </a:lnTo>
                <a:lnTo>
                  <a:pt x="434" y="1974"/>
                </a:lnTo>
                <a:lnTo>
                  <a:pt x="453" y="1525"/>
                </a:lnTo>
                <a:lnTo>
                  <a:pt x="550" y="1081"/>
                </a:lnTo>
                <a:lnTo>
                  <a:pt x="735" y="614"/>
                </a:lnTo>
                <a:lnTo>
                  <a:pt x="1083" y="190"/>
                </a:lnTo>
                <a:lnTo>
                  <a:pt x="868" y="0"/>
                </a:lnTo>
                <a:lnTo>
                  <a:pt x="541" y="401"/>
                </a:lnTo>
                <a:lnTo>
                  <a:pt x="301" y="821"/>
                </a:lnTo>
                <a:lnTo>
                  <a:pt x="113" y="1292"/>
                </a:lnTo>
                <a:lnTo>
                  <a:pt x="18" y="1738"/>
                </a:lnTo>
                <a:lnTo>
                  <a:pt x="0" y="2189"/>
                </a:lnTo>
                <a:lnTo>
                  <a:pt x="64" y="2601"/>
                </a:lnTo>
                <a:lnTo>
                  <a:pt x="203" y="2984"/>
                </a:lnTo>
                <a:lnTo>
                  <a:pt x="409" y="3325"/>
                </a:lnTo>
                <a:lnTo>
                  <a:pt x="693" y="3574"/>
                </a:lnTo>
                <a:lnTo>
                  <a:pt x="1043" y="3756"/>
                </a:lnTo>
                <a:lnTo>
                  <a:pt x="1435" y="3856"/>
                </a:lnTo>
                <a:lnTo>
                  <a:pt x="1738" y="3873"/>
                </a:lnTo>
                <a:lnTo>
                  <a:pt x="1719" y="7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55" name="Freeform 11">
            <a:extLst>
              <a:ext uri="{FF2B5EF4-FFF2-40B4-BE49-F238E27FC236}">
                <a16:creationId xmlns:a16="http://schemas.microsoft.com/office/drawing/2014/main" id="{BD0402BA-EC96-49E7-BAB4-3B1E3FF99D41}"/>
              </a:ext>
            </a:extLst>
          </p:cNvPr>
          <p:cNvSpPr>
            <a:spLocks/>
          </p:cNvSpPr>
          <p:nvPr/>
        </p:nvSpPr>
        <p:spPr bwMode="auto">
          <a:xfrm>
            <a:off x="4344988" y="3021014"/>
            <a:ext cx="863600" cy="2941637"/>
          </a:xfrm>
          <a:custGeom>
            <a:avLst/>
            <a:gdLst>
              <a:gd name="T0" fmla="*/ 2147483647 w 2175"/>
              <a:gd name="T1" fmla="*/ 2147483647 h 7413"/>
              <a:gd name="T2" fmla="*/ 2147483647 w 2175"/>
              <a:gd name="T3" fmla="*/ 2147483647 h 7413"/>
              <a:gd name="T4" fmla="*/ 2147483647 w 2175"/>
              <a:gd name="T5" fmla="*/ 2147483647 h 7413"/>
              <a:gd name="T6" fmla="*/ 2147483647 w 2175"/>
              <a:gd name="T7" fmla="*/ 2147483647 h 7413"/>
              <a:gd name="T8" fmla="*/ 2147483647 w 2175"/>
              <a:gd name="T9" fmla="*/ 2147483647 h 7413"/>
              <a:gd name="T10" fmla="*/ 2147483647 w 2175"/>
              <a:gd name="T11" fmla="*/ 2147483647 h 7413"/>
              <a:gd name="T12" fmla="*/ 2147483647 w 2175"/>
              <a:gd name="T13" fmla="*/ 2147483647 h 7413"/>
              <a:gd name="T14" fmla="*/ 2147483647 w 2175"/>
              <a:gd name="T15" fmla="*/ 2147483647 h 7413"/>
              <a:gd name="T16" fmla="*/ 2147483647 w 2175"/>
              <a:gd name="T17" fmla="*/ 2147483647 h 7413"/>
              <a:gd name="T18" fmla="*/ 2147483647 w 2175"/>
              <a:gd name="T19" fmla="*/ 2147483647 h 7413"/>
              <a:gd name="T20" fmla="*/ 2147483647 w 2175"/>
              <a:gd name="T21" fmla="*/ 2147483647 h 7413"/>
              <a:gd name="T22" fmla="*/ 2147483647 w 2175"/>
              <a:gd name="T23" fmla="*/ 2147483647 h 7413"/>
              <a:gd name="T24" fmla="*/ 2147483647 w 2175"/>
              <a:gd name="T25" fmla="*/ 2147483647 h 7413"/>
              <a:gd name="T26" fmla="*/ 2147483647 w 2175"/>
              <a:gd name="T27" fmla="*/ 2147483647 h 7413"/>
              <a:gd name="T28" fmla="*/ 2147483647 w 2175"/>
              <a:gd name="T29" fmla="*/ 0 h 7413"/>
              <a:gd name="T30" fmla="*/ 2147483647 w 2175"/>
              <a:gd name="T31" fmla="*/ 2147483647 h 7413"/>
              <a:gd name="T32" fmla="*/ 2147483647 w 2175"/>
              <a:gd name="T33" fmla="*/ 2147483647 h 7413"/>
              <a:gd name="T34" fmla="*/ 2147483647 w 2175"/>
              <a:gd name="T35" fmla="*/ 2147483647 h 7413"/>
              <a:gd name="T36" fmla="*/ 2147483647 w 2175"/>
              <a:gd name="T37" fmla="*/ 2147483647 h 7413"/>
              <a:gd name="T38" fmla="*/ 0 w 2175"/>
              <a:gd name="T39" fmla="*/ 2147483647 h 7413"/>
              <a:gd name="T40" fmla="*/ 2147483647 w 2175"/>
              <a:gd name="T41" fmla="*/ 2147483647 h 7413"/>
              <a:gd name="T42" fmla="*/ 2147483647 w 2175"/>
              <a:gd name="T43" fmla="*/ 2147483647 h 7413"/>
              <a:gd name="T44" fmla="*/ 2147483647 w 2175"/>
              <a:gd name="T45" fmla="*/ 2147483647 h 7413"/>
              <a:gd name="T46" fmla="*/ 2147483647 w 2175"/>
              <a:gd name="T47" fmla="*/ 2147483647 h 7413"/>
              <a:gd name="T48" fmla="*/ 2147483647 w 2175"/>
              <a:gd name="T49" fmla="*/ 2147483647 h 7413"/>
              <a:gd name="T50" fmla="*/ 2147483647 w 2175"/>
              <a:gd name="T51" fmla="*/ 2147483647 h 7413"/>
              <a:gd name="T52" fmla="*/ 2147483647 w 2175"/>
              <a:gd name="T53" fmla="*/ 2147483647 h 7413"/>
              <a:gd name="T54" fmla="*/ 2147483647 w 2175"/>
              <a:gd name="T55" fmla="*/ 2147483647 h 74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75" h="7413">
                <a:moveTo>
                  <a:pt x="1719" y="7413"/>
                </a:moveTo>
                <a:lnTo>
                  <a:pt x="2141" y="7401"/>
                </a:lnTo>
                <a:lnTo>
                  <a:pt x="2175" y="3661"/>
                </a:lnTo>
                <a:lnTo>
                  <a:pt x="1873" y="3645"/>
                </a:lnTo>
                <a:lnTo>
                  <a:pt x="1486" y="3541"/>
                </a:lnTo>
                <a:lnTo>
                  <a:pt x="1133" y="3364"/>
                </a:lnTo>
                <a:lnTo>
                  <a:pt x="846" y="3111"/>
                </a:lnTo>
                <a:lnTo>
                  <a:pt x="640" y="2765"/>
                </a:lnTo>
                <a:lnTo>
                  <a:pt x="500" y="2389"/>
                </a:lnTo>
                <a:lnTo>
                  <a:pt x="434" y="1974"/>
                </a:lnTo>
                <a:lnTo>
                  <a:pt x="453" y="1525"/>
                </a:lnTo>
                <a:lnTo>
                  <a:pt x="550" y="1081"/>
                </a:lnTo>
                <a:lnTo>
                  <a:pt x="735" y="614"/>
                </a:lnTo>
                <a:lnTo>
                  <a:pt x="1083" y="190"/>
                </a:lnTo>
                <a:lnTo>
                  <a:pt x="868" y="0"/>
                </a:lnTo>
                <a:lnTo>
                  <a:pt x="541" y="401"/>
                </a:lnTo>
                <a:lnTo>
                  <a:pt x="301" y="821"/>
                </a:lnTo>
                <a:lnTo>
                  <a:pt x="113" y="1292"/>
                </a:lnTo>
                <a:lnTo>
                  <a:pt x="18" y="1738"/>
                </a:lnTo>
                <a:lnTo>
                  <a:pt x="0" y="2189"/>
                </a:lnTo>
                <a:lnTo>
                  <a:pt x="64" y="2601"/>
                </a:lnTo>
                <a:lnTo>
                  <a:pt x="203" y="2984"/>
                </a:lnTo>
                <a:lnTo>
                  <a:pt x="409" y="3325"/>
                </a:lnTo>
                <a:lnTo>
                  <a:pt x="693" y="3574"/>
                </a:lnTo>
                <a:lnTo>
                  <a:pt x="1043" y="3756"/>
                </a:lnTo>
                <a:lnTo>
                  <a:pt x="1435" y="3856"/>
                </a:lnTo>
                <a:lnTo>
                  <a:pt x="1738" y="3873"/>
                </a:lnTo>
                <a:lnTo>
                  <a:pt x="1719" y="7413"/>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56" name="Freeform 12">
            <a:extLst>
              <a:ext uri="{FF2B5EF4-FFF2-40B4-BE49-F238E27FC236}">
                <a16:creationId xmlns:a16="http://schemas.microsoft.com/office/drawing/2014/main" id="{24BB096B-25FB-4E8B-922B-E20EE22102FE}"/>
              </a:ext>
            </a:extLst>
          </p:cNvPr>
          <p:cNvSpPr>
            <a:spLocks/>
          </p:cNvSpPr>
          <p:nvPr/>
        </p:nvSpPr>
        <p:spPr bwMode="auto">
          <a:xfrm>
            <a:off x="5529263" y="3468688"/>
            <a:ext cx="423862" cy="512762"/>
          </a:xfrm>
          <a:custGeom>
            <a:avLst/>
            <a:gdLst>
              <a:gd name="T0" fmla="*/ 2147483647 w 1070"/>
              <a:gd name="T1" fmla="*/ 2147483647 h 1293"/>
              <a:gd name="T2" fmla="*/ 0 w 1070"/>
              <a:gd name="T3" fmla="*/ 0 h 1293"/>
              <a:gd name="T4" fmla="*/ 2147483647 w 1070"/>
              <a:gd name="T5" fmla="*/ 2147483647 h 1293"/>
              <a:gd name="T6" fmla="*/ 2147483647 w 1070"/>
              <a:gd name="T7" fmla="*/ 2147483647 h 1293"/>
              <a:gd name="T8" fmla="*/ 2147483647 w 1070"/>
              <a:gd name="T9" fmla="*/ 2147483647 h 12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70" h="1293">
                <a:moveTo>
                  <a:pt x="1070" y="941"/>
                </a:moveTo>
                <a:lnTo>
                  <a:pt x="0" y="0"/>
                </a:lnTo>
                <a:lnTo>
                  <a:pt x="43" y="632"/>
                </a:lnTo>
                <a:lnTo>
                  <a:pt x="793" y="1293"/>
                </a:lnTo>
                <a:lnTo>
                  <a:pt x="1070" y="9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57" name="Freeform 13">
            <a:extLst>
              <a:ext uri="{FF2B5EF4-FFF2-40B4-BE49-F238E27FC236}">
                <a16:creationId xmlns:a16="http://schemas.microsoft.com/office/drawing/2014/main" id="{68A6D6C9-87C7-4498-B347-B98A2D5AF3E0}"/>
              </a:ext>
            </a:extLst>
          </p:cNvPr>
          <p:cNvSpPr>
            <a:spLocks/>
          </p:cNvSpPr>
          <p:nvPr/>
        </p:nvSpPr>
        <p:spPr bwMode="auto">
          <a:xfrm>
            <a:off x="5529263" y="3468688"/>
            <a:ext cx="423862" cy="512762"/>
          </a:xfrm>
          <a:custGeom>
            <a:avLst/>
            <a:gdLst>
              <a:gd name="T0" fmla="*/ 2147483647 w 1070"/>
              <a:gd name="T1" fmla="*/ 2147483647 h 1293"/>
              <a:gd name="T2" fmla="*/ 0 w 1070"/>
              <a:gd name="T3" fmla="*/ 0 h 1293"/>
              <a:gd name="T4" fmla="*/ 2147483647 w 1070"/>
              <a:gd name="T5" fmla="*/ 2147483647 h 1293"/>
              <a:gd name="T6" fmla="*/ 2147483647 w 1070"/>
              <a:gd name="T7" fmla="*/ 2147483647 h 1293"/>
              <a:gd name="T8" fmla="*/ 2147483647 w 1070"/>
              <a:gd name="T9" fmla="*/ 2147483647 h 12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70" h="1293">
                <a:moveTo>
                  <a:pt x="1070" y="941"/>
                </a:moveTo>
                <a:lnTo>
                  <a:pt x="0" y="0"/>
                </a:lnTo>
                <a:lnTo>
                  <a:pt x="43" y="632"/>
                </a:lnTo>
                <a:lnTo>
                  <a:pt x="793" y="1293"/>
                </a:lnTo>
                <a:lnTo>
                  <a:pt x="1070" y="941"/>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58" name="Freeform 14">
            <a:extLst>
              <a:ext uri="{FF2B5EF4-FFF2-40B4-BE49-F238E27FC236}">
                <a16:creationId xmlns:a16="http://schemas.microsoft.com/office/drawing/2014/main" id="{DDDC44C4-C693-4263-BD3E-EDC8B6182E23}"/>
              </a:ext>
            </a:extLst>
          </p:cNvPr>
          <p:cNvSpPr>
            <a:spLocks/>
          </p:cNvSpPr>
          <p:nvPr/>
        </p:nvSpPr>
        <p:spPr bwMode="auto">
          <a:xfrm>
            <a:off x="2960689" y="1543050"/>
            <a:ext cx="2281237" cy="4495800"/>
          </a:xfrm>
          <a:custGeom>
            <a:avLst/>
            <a:gdLst>
              <a:gd name="T0" fmla="*/ 2147483647 w 5748"/>
              <a:gd name="T1" fmla="*/ 2147483647 h 11329"/>
              <a:gd name="T2" fmla="*/ 2147483647 w 5748"/>
              <a:gd name="T3" fmla="*/ 0 h 11329"/>
              <a:gd name="T4" fmla="*/ 2147483647 w 5748"/>
              <a:gd name="T5" fmla="*/ 2147483647 h 11329"/>
              <a:gd name="T6" fmla="*/ 2147483647 w 5748"/>
              <a:gd name="T7" fmla="*/ 2147483647 h 11329"/>
              <a:gd name="T8" fmla="*/ 2147483647 w 5748"/>
              <a:gd name="T9" fmla="*/ 2147483647 h 11329"/>
              <a:gd name="T10" fmla="*/ 2147483647 w 5748"/>
              <a:gd name="T11" fmla="*/ 2147483647 h 11329"/>
              <a:gd name="T12" fmla="*/ 2147483647 w 5748"/>
              <a:gd name="T13" fmla="*/ 2147483647 h 11329"/>
              <a:gd name="T14" fmla="*/ 2147483647 w 5748"/>
              <a:gd name="T15" fmla="*/ 2147483647 h 11329"/>
              <a:gd name="T16" fmla="*/ 2147483647 w 5748"/>
              <a:gd name="T17" fmla="*/ 2147483647 h 11329"/>
              <a:gd name="T18" fmla="*/ 2147483647 w 5748"/>
              <a:gd name="T19" fmla="*/ 2147483647 h 11329"/>
              <a:gd name="T20" fmla="*/ 2147483647 w 5748"/>
              <a:gd name="T21" fmla="*/ 2147483647 h 11329"/>
              <a:gd name="T22" fmla="*/ 0 w 5748"/>
              <a:gd name="T23" fmla="*/ 2147483647 h 11329"/>
              <a:gd name="T24" fmla="*/ 2147483647 w 5748"/>
              <a:gd name="T25" fmla="*/ 2147483647 h 11329"/>
              <a:gd name="T26" fmla="*/ 2147483647 w 5748"/>
              <a:gd name="T27" fmla="*/ 2147483647 h 11329"/>
              <a:gd name="T28" fmla="*/ 2147483647 w 5748"/>
              <a:gd name="T29" fmla="*/ 2147483647 h 11329"/>
              <a:gd name="T30" fmla="*/ 2147483647 w 5748"/>
              <a:gd name="T31" fmla="*/ 2147483647 h 11329"/>
              <a:gd name="T32" fmla="*/ 2147483647 w 5748"/>
              <a:gd name="T33" fmla="*/ 2147483647 h 11329"/>
              <a:gd name="T34" fmla="*/ 2147483647 w 5748"/>
              <a:gd name="T35" fmla="*/ 2147483647 h 11329"/>
              <a:gd name="T36" fmla="*/ 2147483647 w 5748"/>
              <a:gd name="T37" fmla="*/ 2147483647 h 11329"/>
              <a:gd name="T38" fmla="*/ 2147483647 w 5748"/>
              <a:gd name="T39" fmla="*/ 2147483647 h 11329"/>
              <a:gd name="T40" fmla="*/ 2147483647 w 5748"/>
              <a:gd name="T41" fmla="*/ 2147483647 h 11329"/>
              <a:gd name="T42" fmla="*/ 2147483647 w 5748"/>
              <a:gd name="T43" fmla="*/ 2147483647 h 11329"/>
              <a:gd name="T44" fmla="*/ 2147483647 w 5748"/>
              <a:gd name="T45" fmla="*/ 2147483647 h 11329"/>
              <a:gd name="T46" fmla="*/ 2147483647 w 5748"/>
              <a:gd name="T47" fmla="*/ 2147483647 h 11329"/>
              <a:gd name="T48" fmla="*/ 2147483647 w 5748"/>
              <a:gd name="T49" fmla="*/ 2147483647 h 11329"/>
              <a:gd name="T50" fmla="*/ 2147483647 w 5748"/>
              <a:gd name="T51" fmla="*/ 2147483647 h 11329"/>
              <a:gd name="T52" fmla="*/ 2147483647 w 5748"/>
              <a:gd name="T53" fmla="*/ 2147483647 h 11329"/>
              <a:gd name="T54" fmla="*/ 2147483647 w 5748"/>
              <a:gd name="T55" fmla="*/ 2147483647 h 11329"/>
              <a:gd name="T56" fmla="*/ 2147483647 w 5748"/>
              <a:gd name="T57" fmla="*/ 2147483647 h 11329"/>
              <a:gd name="T58" fmla="*/ 2147483647 w 5748"/>
              <a:gd name="T59" fmla="*/ 2147483647 h 11329"/>
              <a:gd name="T60" fmla="*/ 2147483647 w 5748"/>
              <a:gd name="T61" fmla="*/ 2147483647 h 11329"/>
              <a:gd name="T62" fmla="*/ 2147483647 w 5748"/>
              <a:gd name="T63" fmla="*/ 2147483647 h 11329"/>
              <a:gd name="T64" fmla="*/ 2147483647 w 5748"/>
              <a:gd name="T65" fmla="*/ 2147483647 h 11329"/>
              <a:gd name="T66" fmla="*/ 2147483647 w 5748"/>
              <a:gd name="T67" fmla="*/ 2147483647 h 11329"/>
              <a:gd name="T68" fmla="*/ 2147483647 w 5748"/>
              <a:gd name="T69" fmla="*/ 2147483647 h 11329"/>
              <a:gd name="T70" fmla="*/ 2147483647 w 5748"/>
              <a:gd name="T71" fmla="*/ 2147483647 h 11329"/>
              <a:gd name="T72" fmla="*/ 2147483647 w 5748"/>
              <a:gd name="T73" fmla="*/ 2147483647 h 11329"/>
              <a:gd name="T74" fmla="*/ 2147483647 w 5748"/>
              <a:gd name="T75" fmla="*/ 2147483647 h 11329"/>
              <a:gd name="T76" fmla="*/ 2147483647 w 5748"/>
              <a:gd name="T77" fmla="*/ 2147483647 h 11329"/>
              <a:gd name="T78" fmla="*/ 2147483647 w 5748"/>
              <a:gd name="T79" fmla="*/ 2147483647 h 11329"/>
              <a:gd name="T80" fmla="*/ 2147483647 w 5748"/>
              <a:gd name="T81" fmla="*/ 2147483647 h 1132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748" h="11329">
                <a:moveTo>
                  <a:pt x="5624" y="4189"/>
                </a:moveTo>
                <a:lnTo>
                  <a:pt x="5748" y="0"/>
                </a:lnTo>
                <a:lnTo>
                  <a:pt x="1370" y="327"/>
                </a:lnTo>
                <a:lnTo>
                  <a:pt x="747" y="374"/>
                </a:lnTo>
                <a:lnTo>
                  <a:pt x="1883" y="1375"/>
                </a:lnTo>
                <a:lnTo>
                  <a:pt x="1401" y="2072"/>
                </a:lnTo>
                <a:lnTo>
                  <a:pt x="988" y="2773"/>
                </a:lnTo>
                <a:lnTo>
                  <a:pt x="614" y="3518"/>
                </a:lnTo>
                <a:lnTo>
                  <a:pt x="343" y="4260"/>
                </a:lnTo>
                <a:lnTo>
                  <a:pt x="137" y="5043"/>
                </a:lnTo>
                <a:lnTo>
                  <a:pt x="38" y="5790"/>
                </a:lnTo>
                <a:lnTo>
                  <a:pt x="0" y="6532"/>
                </a:lnTo>
                <a:lnTo>
                  <a:pt x="62" y="7242"/>
                </a:lnTo>
                <a:lnTo>
                  <a:pt x="192" y="7906"/>
                </a:lnTo>
                <a:lnTo>
                  <a:pt x="398" y="8557"/>
                </a:lnTo>
                <a:lnTo>
                  <a:pt x="710" y="9156"/>
                </a:lnTo>
                <a:lnTo>
                  <a:pt x="1077" y="9681"/>
                </a:lnTo>
                <a:lnTo>
                  <a:pt x="1503" y="10139"/>
                </a:lnTo>
                <a:lnTo>
                  <a:pt x="2002" y="10534"/>
                </a:lnTo>
                <a:lnTo>
                  <a:pt x="2564" y="10872"/>
                </a:lnTo>
                <a:lnTo>
                  <a:pt x="3184" y="11104"/>
                </a:lnTo>
                <a:lnTo>
                  <a:pt x="3811" y="11253"/>
                </a:lnTo>
                <a:lnTo>
                  <a:pt x="4512" y="11329"/>
                </a:lnTo>
                <a:lnTo>
                  <a:pt x="5233" y="11324"/>
                </a:lnTo>
                <a:lnTo>
                  <a:pt x="5227" y="11117"/>
                </a:lnTo>
                <a:lnTo>
                  <a:pt x="5247" y="7576"/>
                </a:lnTo>
                <a:lnTo>
                  <a:pt x="4944" y="7559"/>
                </a:lnTo>
                <a:lnTo>
                  <a:pt x="4551" y="7459"/>
                </a:lnTo>
                <a:lnTo>
                  <a:pt x="4202" y="7277"/>
                </a:lnTo>
                <a:lnTo>
                  <a:pt x="3919" y="7027"/>
                </a:lnTo>
                <a:lnTo>
                  <a:pt x="3711" y="6687"/>
                </a:lnTo>
                <a:lnTo>
                  <a:pt x="3574" y="6305"/>
                </a:lnTo>
                <a:lnTo>
                  <a:pt x="3509" y="5893"/>
                </a:lnTo>
                <a:lnTo>
                  <a:pt x="3526" y="5442"/>
                </a:lnTo>
                <a:lnTo>
                  <a:pt x="3621" y="4995"/>
                </a:lnTo>
                <a:lnTo>
                  <a:pt x="3811" y="4525"/>
                </a:lnTo>
                <a:lnTo>
                  <a:pt x="4051" y="4105"/>
                </a:lnTo>
                <a:lnTo>
                  <a:pt x="4376" y="3704"/>
                </a:lnTo>
                <a:lnTo>
                  <a:pt x="4592" y="3894"/>
                </a:lnTo>
                <a:lnTo>
                  <a:pt x="5587" y="4769"/>
                </a:lnTo>
                <a:lnTo>
                  <a:pt x="5624" y="4189"/>
                </a:lnTo>
                <a:close/>
              </a:path>
            </a:pathLst>
          </a:custGeom>
          <a:solidFill>
            <a:srgbClr val="DFDFD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59" name="Freeform 15">
            <a:extLst>
              <a:ext uri="{FF2B5EF4-FFF2-40B4-BE49-F238E27FC236}">
                <a16:creationId xmlns:a16="http://schemas.microsoft.com/office/drawing/2014/main" id="{EB9A30C9-7302-4FEF-8002-26D620293B36}"/>
              </a:ext>
            </a:extLst>
          </p:cNvPr>
          <p:cNvSpPr>
            <a:spLocks/>
          </p:cNvSpPr>
          <p:nvPr/>
        </p:nvSpPr>
        <p:spPr bwMode="auto">
          <a:xfrm>
            <a:off x="2960689" y="1543050"/>
            <a:ext cx="2281237" cy="4495800"/>
          </a:xfrm>
          <a:custGeom>
            <a:avLst/>
            <a:gdLst>
              <a:gd name="T0" fmla="*/ 2147483647 w 5748"/>
              <a:gd name="T1" fmla="*/ 2147483647 h 11329"/>
              <a:gd name="T2" fmla="*/ 2147483647 w 5748"/>
              <a:gd name="T3" fmla="*/ 0 h 11329"/>
              <a:gd name="T4" fmla="*/ 2147483647 w 5748"/>
              <a:gd name="T5" fmla="*/ 2147483647 h 11329"/>
              <a:gd name="T6" fmla="*/ 2147483647 w 5748"/>
              <a:gd name="T7" fmla="*/ 2147483647 h 11329"/>
              <a:gd name="T8" fmla="*/ 2147483647 w 5748"/>
              <a:gd name="T9" fmla="*/ 2147483647 h 11329"/>
              <a:gd name="T10" fmla="*/ 2147483647 w 5748"/>
              <a:gd name="T11" fmla="*/ 2147483647 h 11329"/>
              <a:gd name="T12" fmla="*/ 2147483647 w 5748"/>
              <a:gd name="T13" fmla="*/ 2147483647 h 11329"/>
              <a:gd name="T14" fmla="*/ 2147483647 w 5748"/>
              <a:gd name="T15" fmla="*/ 2147483647 h 11329"/>
              <a:gd name="T16" fmla="*/ 2147483647 w 5748"/>
              <a:gd name="T17" fmla="*/ 2147483647 h 11329"/>
              <a:gd name="T18" fmla="*/ 2147483647 w 5748"/>
              <a:gd name="T19" fmla="*/ 2147483647 h 11329"/>
              <a:gd name="T20" fmla="*/ 2147483647 w 5748"/>
              <a:gd name="T21" fmla="*/ 2147483647 h 11329"/>
              <a:gd name="T22" fmla="*/ 0 w 5748"/>
              <a:gd name="T23" fmla="*/ 2147483647 h 11329"/>
              <a:gd name="T24" fmla="*/ 2147483647 w 5748"/>
              <a:gd name="T25" fmla="*/ 2147483647 h 11329"/>
              <a:gd name="T26" fmla="*/ 2147483647 w 5748"/>
              <a:gd name="T27" fmla="*/ 2147483647 h 11329"/>
              <a:gd name="T28" fmla="*/ 2147483647 w 5748"/>
              <a:gd name="T29" fmla="*/ 2147483647 h 11329"/>
              <a:gd name="T30" fmla="*/ 2147483647 w 5748"/>
              <a:gd name="T31" fmla="*/ 2147483647 h 11329"/>
              <a:gd name="T32" fmla="*/ 2147483647 w 5748"/>
              <a:gd name="T33" fmla="*/ 2147483647 h 11329"/>
              <a:gd name="T34" fmla="*/ 2147483647 w 5748"/>
              <a:gd name="T35" fmla="*/ 2147483647 h 11329"/>
              <a:gd name="T36" fmla="*/ 2147483647 w 5748"/>
              <a:gd name="T37" fmla="*/ 2147483647 h 11329"/>
              <a:gd name="T38" fmla="*/ 2147483647 w 5748"/>
              <a:gd name="T39" fmla="*/ 2147483647 h 11329"/>
              <a:gd name="T40" fmla="*/ 2147483647 w 5748"/>
              <a:gd name="T41" fmla="*/ 2147483647 h 11329"/>
              <a:gd name="T42" fmla="*/ 2147483647 w 5748"/>
              <a:gd name="T43" fmla="*/ 2147483647 h 11329"/>
              <a:gd name="T44" fmla="*/ 2147483647 w 5748"/>
              <a:gd name="T45" fmla="*/ 2147483647 h 11329"/>
              <a:gd name="T46" fmla="*/ 2147483647 w 5748"/>
              <a:gd name="T47" fmla="*/ 2147483647 h 11329"/>
              <a:gd name="T48" fmla="*/ 2147483647 w 5748"/>
              <a:gd name="T49" fmla="*/ 2147483647 h 11329"/>
              <a:gd name="T50" fmla="*/ 2147483647 w 5748"/>
              <a:gd name="T51" fmla="*/ 2147483647 h 11329"/>
              <a:gd name="T52" fmla="*/ 2147483647 w 5748"/>
              <a:gd name="T53" fmla="*/ 2147483647 h 11329"/>
              <a:gd name="T54" fmla="*/ 2147483647 w 5748"/>
              <a:gd name="T55" fmla="*/ 2147483647 h 11329"/>
              <a:gd name="T56" fmla="*/ 2147483647 w 5748"/>
              <a:gd name="T57" fmla="*/ 2147483647 h 11329"/>
              <a:gd name="T58" fmla="*/ 2147483647 w 5748"/>
              <a:gd name="T59" fmla="*/ 2147483647 h 11329"/>
              <a:gd name="T60" fmla="*/ 2147483647 w 5748"/>
              <a:gd name="T61" fmla="*/ 2147483647 h 11329"/>
              <a:gd name="T62" fmla="*/ 2147483647 w 5748"/>
              <a:gd name="T63" fmla="*/ 2147483647 h 11329"/>
              <a:gd name="T64" fmla="*/ 2147483647 w 5748"/>
              <a:gd name="T65" fmla="*/ 2147483647 h 11329"/>
              <a:gd name="T66" fmla="*/ 2147483647 w 5748"/>
              <a:gd name="T67" fmla="*/ 2147483647 h 11329"/>
              <a:gd name="T68" fmla="*/ 2147483647 w 5748"/>
              <a:gd name="T69" fmla="*/ 2147483647 h 11329"/>
              <a:gd name="T70" fmla="*/ 2147483647 w 5748"/>
              <a:gd name="T71" fmla="*/ 2147483647 h 11329"/>
              <a:gd name="T72" fmla="*/ 2147483647 w 5748"/>
              <a:gd name="T73" fmla="*/ 2147483647 h 11329"/>
              <a:gd name="T74" fmla="*/ 2147483647 w 5748"/>
              <a:gd name="T75" fmla="*/ 2147483647 h 11329"/>
              <a:gd name="T76" fmla="*/ 2147483647 w 5748"/>
              <a:gd name="T77" fmla="*/ 2147483647 h 11329"/>
              <a:gd name="T78" fmla="*/ 2147483647 w 5748"/>
              <a:gd name="T79" fmla="*/ 2147483647 h 11329"/>
              <a:gd name="T80" fmla="*/ 2147483647 w 5748"/>
              <a:gd name="T81" fmla="*/ 2147483647 h 1132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748" h="11329">
                <a:moveTo>
                  <a:pt x="5624" y="4189"/>
                </a:moveTo>
                <a:lnTo>
                  <a:pt x="5748" y="0"/>
                </a:lnTo>
                <a:lnTo>
                  <a:pt x="1370" y="327"/>
                </a:lnTo>
                <a:lnTo>
                  <a:pt x="747" y="374"/>
                </a:lnTo>
                <a:lnTo>
                  <a:pt x="1883" y="1375"/>
                </a:lnTo>
                <a:lnTo>
                  <a:pt x="1401" y="2072"/>
                </a:lnTo>
                <a:lnTo>
                  <a:pt x="988" y="2773"/>
                </a:lnTo>
                <a:lnTo>
                  <a:pt x="614" y="3518"/>
                </a:lnTo>
                <a:lnTo>
                  <a:pt x="343" y="4260"/>
                </a:lnTo>
                <a:lnTo>
                  <a:pt x="137" y="5043"/>
                </a:lnTo>
                <a:lnTo>
                  <a:pt x="38" y="5790"/>
                </a:lnTo>
                <a:lnTo>
                  <a:pt x="0" y="6532"/>
                </a:lnTo>
                <a:lnTo>
                  <a:pt x="62" y="7242"/>
                </a:lnTo>
                <a:lnTo>
                  <a:pt x="192" y="7906"/>
                </a:lnTo>
                <a:lnTo>
                  <a:pt x="398" y="8557"/>
                </a:lnTo>
                <a:lnTo>
                  <a:pt x="710" y="9156"/>
                </a:lnTo>
                <a:lnTo>
                  <a:pt x="1077" y="9681"/>
                </a:lnTo>
                <a:lnTo>
                  <a:pt x="1503" y="10139"/>
                </a:lnTo>
                <a:lnTo>
                  <a:pt x="2002" y="10534"/>
                </a:lnTo>
                <a:lnTo>
                  <a:pt x="2564" y="10872"/>
                </a:lnTo>
                <a:lnTo>
                  <a:pt x="3184" y="11104"/>
                </a:lnTo>
                <a:lnTo>
                  <a:pt x="3811" y="11253"/>
                </a:lnTo>
                <a:lnTo>
                  <a:pt x="4512" y="11329"/>
                </a:lnTo>
                <a:lnTo>
                  <a:pt x="5233" y="11324"/>
                </a:lnTo>
                <a:lnTo>
                  <a:pt x="5227" y="11117"/>
                </a:lnTo>
                <a:lnTo>
                  <a:pt x="5247" y="7576"/>
                </a:lnTo>
                <a:lnTo>
                  <a:pt x="4944" y="7559"/>
                </a:lnTo>
                <a:lnTo>
                  <a:pt x="4551" y="7459"/>
                </a:lnTo>
                <a:lnTo>
                  <a:pt x="4202" y="7277"/>
                </a:lnTo>
                <a:lnTo>
                  <a:pt x="3919" y="7027"/>
                </a:lnTo>
                <a:lnTo>
                  <a:pt x="3711" y="6687"/>
                </a:lnTo>
                <a:lnTo>
                  <a:pt x="3574" y="6305"/>
                </a:lnTo>
                <a:lnTo>
                  <a:pt x="3509" y="5893"/>
                </a:lnTo>
                <a:lnTo>
                  <a:pt x="3526" y="5442"/>
                </a:lnTo>
                <a:lnTo>
                  <a:pt x="3621" y="4995"/>
                </a:lnTo>
                <a:lnTo>
                  <a:pt x="3811" y="4525"/>
                </a:lnTo>
                <a:lnTo>
                  <a:pt x="4051" y="4105"/>
                </a:lnTo>
                <a:lnTo>
                  <a:pt x="4376" y="3704"/>
                </a:lnTo>
                <a:lnTo>
                  <a:pt x="4592" y="3894"/>
                </a:lnTo>
                <a:lnTo>
                  <a:pt x="5587" y="4769"/>
                </a:lnTo>
                <a:lnTo>
                  <a:pt x="5624" y="4189"/>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60" name="Freeform 16">
            <a:extLst>
              <a:ext uri="{FF2B5EF4-FFF2-40B4-BE49-F238E27FC236}">
                <a16:creationId xmlns:a16="http://schemas.microsoft.com/office/drawing/2014/main" id="{300D328A-DD48-4005-A08C-5C71162EDB7C}"/>
              </a:ext>
            </a:extLst>
          </p:cNvPr>
          <p:cNvSpPr>
            <a:spLocks/>
          </p:cNvSpPr>
          <p:nvPr/>
        </p:nvSpPr>
        <p:spPr bwMode="auto">
          <a:xfrm>
            <a:off x="5334000" y="914401"/>
            <a:ext cx="2274888" cy="4494213"/>
          </a:xfrm>
          <a:custGeom>
            <a:avLst/>
            <a:gdLst>
              <a:gd name="T0" fmla="*/ 2147483647 w 5732"/>
              <a:gd name="T1" fmla="*/ 2147483647 h 11324"/>
              <a:gd name="T2" fmla="*/ 2147483647 w 5732"/>
              <a:gd name="T3" fmla="*/ 2147483647 h 11324"/>
              <a:gd name="T4" fmla="*/ 2147483647 w 5732"/>
              <a:gd name="T5" fmla="*/ 2147483647 h 11324"/>
              <a:gd name="T6" fmla="*/ 2147483647 w 5732"/>
              <a:gd name="T7" fmla="*/ 2147483647 h 11324"/>
              <a:gd name="T8" fmla="*/ 0 w 5732"/>
              <a:gd name="T9" fmla="*/ 2147483647 h 11324"/>
              <a:gd name="T10" fmla="*/ 2147483647 w 5732"/>
              <a:gd name="T11" fmla="*/ 2147483647 h 11324"/>
              <a:gd name="T12" fmla="*/ 2147483647 w 5732"/>
              <a:gd name="T13" fmla="*/ 2147483647 h 11324"/>
              <a:gd name="T14" fmla="*/ 2147483647 w 5732"/>
              <a:gd name="T15" fmla="*/ 2147483647 h 11324"/>
              <a:gd name="T16" fmla="*/ 2147483647 w 5732"/>
              <a:gd name="T17" fmla="*/ 2147483647 h 11324"/>
              <a:gd name="T18" fmla="*/ 2147483647 w 5732"/>
              <a:gd name="T19" fmla="*/ 2147483647 h 11324"/>
              <a:gd name="T20" fmla="*/ 2147483647 w 5732"/>
              <a:gd name="T21" fmla="*/ 2147483647 h 11324"/>
              <a:gd name="T22" fmla="*/ 2147483647 w 5732"/>
              <a:gd name="T23" fmla="*/ 2147483647 h 11324"/>
              <a:gd name="T24" fmla="*/ 2147483647 w 5732"/>
              <a:gd name="T25" fmla="*/ 2147483647 h 11324"/>
              <a:gd name="T26" fmla="*/ 2147483647 w 5732"/>
              <a:gd name="T27" fmla="*/ 2147483647 h 11324"/>
              <a:gd name="T28" fmla="*/ 2147483647 w 5732"/>
              <a:gd name="T29" fmla="*/ 2147483647 h 11324"/>
              <a:gd name="T30" fmla="*/ 2147483647 w 5732"/>
              <a:gd name="T31" fmla="*/ 2147483647 h 11324"/>
              <a:gd name="T32" fmla="*/ 2147483647 w 5732"/>
              <a:gd name="T33" fmla="*/ 2147483647 h 11324"/>
              <a:gd name="T34" fmla="*/ 2147483647 w 5732"/>
              <a:gd name="T35" fmla="*/ 2147483647 h 11324"/>
              <a:gd name="T36" fmla="*/ 2147483647 w 5732"/>
              <a:gd name="T37" fmla="*/ 2147483647 h 11324"/>
              <a:gd name="T38" fmla="*/ 2147483647 w 5732"/>
              <a:gd name="T39" fmla="*/ 2147483647 h 11324"/>
              <a:gd name="T40" fmla="*/ 2147483647 w 5732"/>
              <a:gd name="T41" fmla="*/ 2147483647 h 11324"/>
              <a:gd name="T42" fmla="*/ 2147483647 w 5732"/>
              <a:gd name="T43" fmla="*/ 2147483647 h 11324"/>
              <a:gd name="T44" fmla="*/ 2147483647 w 5732"/>
              <a:gd name="T45" fmla="*/ 2147483647 h 11324"/>
              <a:gd name="T46" fmla="*/ 2147483647 w 5732"/>
              <a:gd name="T47" fmla="*/ 2147483647 h 11324"/>
              <a:gd name="T48" fmla="*/ 2147483647 w 5732"/>
              <a:gd name="T49" fmla="*/ 2147483647 h 11324"/>
              <a:gd name="T50" fmla="*/ 2147483647 w 5732"/>
              <a:gd name="T51" fmla="*/ 0 h 11324"/>
              <a:gd name="T52" fmla="*/ 2147483647 w 5732"/>
              <a:gd name="T53" fmla="*/ 2147483647 h 11324"/>
              <a:gd name="T54" fmla="*/ 2147483647 w 5732"/>
              <a:gd name="T55" fmla="*/ 2147483647 h 11324"/>
              <a:gd name="T56" fmla="*/ 2147483647 w 5732"/>
              <a:gd name="T57" fmla="*/ 2147483647 h 11324"/>
              <a:gd name="T58" fmla="*/ 2147483647 w 5732"/>
              <a:gd name="T59" fmla="*/ 2147483647 h 11324"/>
              <a:gd name="T60" fmla="*/ 2147483647 w 5732"/>
              <a:gd name="T61" fmla="*/ 2147483647 h 11324"/>
              <a:gd name="T62" fmla="*/ 2147483647 w 5732"/>
              <a:gd name="T63" fmla="*/ 2147483647 h 11324"/>
              <a:gd name="T64" fmla="*/ 2147483647 w 5732"/>
              <a:gd name="T65" fmla="*/ 2147483647 h 11324"/>
              <a:gd name="T66" fmla="*/ 2147483647 w 5732"/>
              <a:gd name="T67" fmla="*/ 2147483647 h 11324"/>
              <a:gd name="T68" fmla="*/ 2147483647 w 5732"/>
              <a:gd name="T69" fmla="*/ 2147483647 h 11324"/>
              <a:gd name="T70" fmla="*/ 2147483647 w 5732"/>
              <a:gd name="T71" fmla="*/ 2147483647 h 11324"/>
              <a:gd name="T72" fmla="*/ 2147483647 w 5732"/>
              <a:gd name="T73" fmla="*/ 2147483647 h 11324"/>
              <a:gd name="T74" fmla="*/ 2147483647 w 5732"/>
              <a:gd name="T75" fmla="*/ 2147483647 h 11324"/>
              <a:gd name="T76" fmla="*/ 2147483647 w 5732"/>
              <a:gd name="T77" fmla="*/ 2147483647 h 11324"/>
              <a:gd name="T78" fmla="*/ 2147483647 w 5732"/>
              <a:gd name="T79" fmla="*/ 2147483647 h 113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732" h="11324">
                <a:moveTo>
                  <a:pt x="1655" y="7279"/>
                </a:moveTo>
                <a:lnTo>
                  <a:pt x="1376" y="7633"/>
                </a:lnTo>
                <a:lnTo>
                  <a:pt x="626" y="6973"/>
                </a:lnTo>
                <a:lnTo>
                  <a:pt x="144" y="6549"/>
                </a:lnTo>
                <a:lnTo>
                  <a:pt x="0" y="11324"/>
                </a:lnTo>
                <a:lnTo>
                  <a:pt x="5010" y="10935"/>
                </a:lnTo>
                <a:lnTo>
                  <a:pt x="4839" y="10785"/>
                </a:lnTo>
                <a:lnTo>
                  <a:pt x="3881" y="9941"/>
                </a:lnTo>
                <a:lnTo>
                  <a:pt x="4337" y="9291"/>
                </a:lnTo>
                <a:lnTo>
                  <a:pt x="4776" y="8566"/>
                </a:lnTo>
                <a:lnTo>
                  <a:pt x="5114" y="7828"/>
                </a:lnTo>
                <a:lnTo>
                  <a:pt x="5403" y="7063"/>
                </a:lnTo>
                <a:lnTo>
                  <a:pt x="5585" y="6310"/>
                </a:lnTo>
                <a:lnTo>
                  <a:pt x="5692" y="5558"/>
                </a:lnTo>
                <a:lnTo>
                  <a:pt x="5732" y="4812"/>
                </a:lnTo>
                <a:lnTo>
                  <a:pt x="5682" y="4107"/>
                </a:lnTo>
                <a:lnTo>
                  <a:pt x="5545" y="3418"/>
                </a:lnTo>
                <a:lnTo>
                  <a:pt x="5327" y="2786"/>
                </a:lnTo>
                <a:lnTo>
                  <a:pt x="5041" y="2186"/>
                </a:lnTo>
                <a:lnTo>
                  <a:pt x="4662" y="1639"/>
                </a:lnTo>
                <a:lnTo>
                  <a:pt x="4254" y="1190"/>
                </a:lnTo>
                <a:lnTo>
                  <a:pt x="3731" y="788"/>
                </a:lnTo>
                <a:lnTo>
                  <a:pt x="3191" y="475"/>
                </a:lnTo>
                <a:lnTo>
                  <a:pt x="2559" y="248"/>
                </a:lnTo>
                <a:lnTo>
                  <a:pt x="1910" y="95"/>
                </a:lnTo>
                <a:lnTo>
                  <a:pt x="1238" y="0"/>
                </a:lnTo>
                <a:lnTo>
                  <a:pt x="931" y="7"/>
                </a:lnTo>
                <a:lnTo>
                  <a:pt x="498" y="19"/>
                </a:lnTo>
                <a:lnTo>
                  <a:pt x="493" y="3761"/>
                </a:lnTo>
                <a:lnTo>
                  <a:pt x="784" y="3775"/>
                </a:lnTo>
                <a:lnTo>
                  <a:pt x="1174" y="3878"/>
                </a:lnTo>
                <a:lnTo>
                  <a:pt x="1536" y="4062"/>
                </a:lnTo>
                <a:lnTo>
                  <a:pt x="1819" y="4311"/>
                </a:lnTo>
                <a:lnTo>
                  <a:pt x="2023" y="4637"/>
                </a:lnTo>
                <a:lnTo>
                  <a:pt x="2180" y="5020"/>
                </a:lnTo>
                <a:lnTo>
                  <a:pt x="2241" y="5448"/>
                </a:lnTo>
                <a:lnTo>
                  <a:pt x="2221" y="5898"/>
                </a:lnTo>
                <a:lnTo>
                  <a:pt x="2111" y="6359"/>
                </a:lnTo>
                <a:lnTo>
                  <a:pt x="1939" y="6792"/>
                </a:lnTo>
                <a:lnTo>
                  <a:pt x="1655" y="72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61" name="Freeform 17">
            <a:extLst>
              <a:ext uri="{FF2B5EF4-FFF2-40B4-BE49-F238E27FC236}">
                <a16:creationId xmlns:a16="http://schemas.microsoft.com/office/drawing/2014/main" id="{63ACB99F-0EEE-4DF6-B893-947D6C2F061A}"/>
              </a:ext>
            </a:extLst>
          </p:cNvPr>
          <p:cNvSpPr>
            <a:spLocks/>
          </p:cNvSpPr>
          <p:nvPr/>
        </p:nvSpPr>
        <p:spPr bwMode="auto">
          <a:xfrm>
            <a:off x="5334000" y="914401"/>
            <a:ext cx="2274888" cy="4494213"/>
          </a:xfrm>
          <a:custGeom>
            <a:avLst/>
            <a:gdLst>
              <a:gd name="T0" fmla="*/ 2147483647 w 5732"/>
              <a:gd name="T1" fmla="*/ 2147483647 h 11324"/>
              <a:gd name="T2" fmla="*/ 2147483647 w 5732"/>
              <a:gd name="T3" fmla="*/ 2147483647 h 11324"/>
              <a:gd name="T4" fmla="*/ 2147483647 w 5732"/>
              <a:gd name="T5" fmla="*/ 2147483647 h 11324"/>
              <a:gd name="T6" fmla="*/ 2147483647 w 5732"/>
              <a:gd name="T7" fmla="*/ 2147483647 h 11324"/>
              <a:gd name="T8" fmla="*/ 0 w 5732"/>
              <a:gd name="T9" fmla="*/ 2147483647 h 11324"/>
              <a:gd name="T10" fmla="*/ 2147483647 w 5732"/>
              <a:gd name="T11" fmla="*/ 2147483647 h 11324"/>
              <a:gd name="T12" fmla="*/ 2147483647 w 5732"/>
              <a:gd name="T13" fmla="*/ 2147483647 h 11324"/>
              <a:gd name="T14" fmla="*/ 2147483647 w 5732"/>
              <a:gd name="T15" fmla="*/ 2147483647 h 11324"/>
              <a:gd name="T16" fmla="*/ 2147483647 w 5732"/>
              <a:gd name="T17" fmla="*/ 2147483647 h 11324"/>
              <a:gd name="T18" fmla="*/ 2147483647 w 5732"/>
              <a:gd name="T19" fmla="*/ 2147483647 h 11324"/>
              <a:gd name="T20" fmla="*/ 2147483647 w 5732"/>
              <a:gd name="T21" fmla="*/ 2147483647 h 11324"/>
              <a:gd name="T22" fmla="*/ 2147483647 w 5732"/>
              <a:gd name="T23" fmla="*/ 2147483647 h 11324"/>
              <a:gd name="T24" fmla="*/ 2147483647 w 5732"/>
              <a:gd name="T25" fmla="*/ 2147483647 h 11324"/>
              <a:gd name="T26" fmla="*/ 2147483647 w 5732"/>
              <a:gd name="T27" fmla="*/ 2147483647 h 11324"/>
              <a:gd name="T28" fmla="*/ 2147483647 w 5732"/>
              <a:gd name="T29" fmla="*/ 2147483647 h 11324"/>
              <a:gd name="T30" fmla="*/ 2147483647 w 5732"/>
              <a:gd name="T31" fmla="*/ 2147483647 h 11324"/>
              <a:gd name="T32" fmla="*/ 2147483647 w 5732"/>
              <a:gd name="T33" fmla="*/ 2147483647 h 11324"/>
              <a:gd name="T34" fmla="*/ 2147483647 w 5732"/>
              <a:gd name="T35" fmla="*/ 2147483647 h 11324"/>
              <a:gd name="T36" fmla="*/ 2147483647 w 5732"/>
              <a:gd name="T37" fmla="*/ 2147483647 h 11324"/>
              <a:gd name="T38" fmla="*/ 2147483647 w 5732"/>
              <a:gd name="T39" fmla="*/ 2147483647 h 11324"/>
              <a:gd name="T40" fmla="*/ 2147483647 w 5732"/>
              <a:gd name="T41" fmla="*/ 2147483647 h 11324"/>
              <a:gd name="T42" fmla="*/ 2147483647 w 5732"/>
              <a:gd name="T43" fmla="*/ 2147483647 h 11324"/>
              <a:gd name="T44" fmla="*/ 2147483647 w 5732"/>
              <a:gd name="T45" fmla="*/ 2147483647 h 11324"/>
              <a:gd name="T46" fmla="*/ 2147483647 w 5732"/>
              <a:gd name="T47" fmla="*/ 2147483647 h 11324"/>
              <a:gd name="T48" fmla="*/ 2147483647 w 5732"/>
              <a:gd name="T49" fmla="*/ 2147483647 h 11324"/>
              <a:gd name="T50" fmla="*/ 2147483647 w 5732"/>
              <a:gd name="T51" fmla="*/ 0 h 11324"/>
              <a:gd name="T52" fmla="*/ 2147483647 w 5732"/>
              <a:gd name="T53" fmla="*/ 2147483647 h 11324"/>
              <a:gd name="T54" fmla="*/ 2147483647 w 5732"/>
              <a:gd name="T55" fmla="*/ 2147483647 h 11324"/>
              <a:gd name="T56" fmla="*/ 2147483647 w 5732"/>
              <a:gd name="T57" fmla="*/ 2147483647 h 11324"/>
              <a:gd name="T58" fmla="*/ 2147483647 w 5732"/>
              <a:gd name="T59" fmla="*/ 2147483647 h 11324"/>
              <a:gd name="T60" fmla="*/ 2147483647 w 5732"/>
              <a:gd name="T61" fmla="*/ 2147483647 h 11324"/>
              <a:gd name="T62" fmla="*/ 2147483647 w 5732"/>
              <a:gd name="T63" fmla="*/ 2147483647 h 11324"/>
              <a:gd name="T64" fmla="*/ 2147483647 w 5732"/>
              <a:gd name="T65" fmla="*/ 2147483647 h 11324"/>
              <a:gd name="T66" fmla="*/ 2147483647 w 5732"/>
              <a:gd name="T67" fmla="*/ 2147483647 h 11324"/>
              <a:gd name="T68" fmla="*/ 2147483647 w 5732"/>
              <a:gd name="T69" fmla="*/ 2147483647 h 11324"/>
              <a:gd name="T70" fmla="*/ 2147483647 w 5732"/>
              <a:gd name="T71" fmla="*/ 2147483647 h 11324"/>
              <a:gd name="T72" fmla="*/ 2147483647 w 5732"/>
              <a:gd name="T73" fmla="*/ 2147483647 h 11324"/>
              <a:gd name="T74" fmla="*/ 2147483647 w 5732"/>
              <a:gd name="T75" fmla="*/ 2147483647 h 11324"/>
              <a:gd name="T76" fmla="*/ 2147483647 w 5732"/>
              <a:gd name="T77" fmla="*/ 2147483647 h 11324"/>
              <a:gd name="T78" fmla="*/ 2147483647 w 5732"/>
              <a:gd name="T79" fmla="*/ 2147483647 h 113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732" h="11324">
                <a:moveTo>
                  <a:pt x="1655" y="7279"/>
                </a:moveTo>
                <a:lnTo>
                  <a:pt x="1376" y="7633"/>
                </a:lnTo>
                <a:lnTo>
                  <a:pt x="626" y="6973"/>
                </a:lnTo>
                <a:lnTo>
                  <a:pt x="144" y="6549"/>
                </a:lnTo>
                <a:lnTo>
                  <a:pt x="0" y="11324"/>
                </a:lnTo>
                <a:lnTo>
                  <a:pt x="5010" y="10935"/>
                </a:lnTo>
                <a:lnTo>
                  <a:pt x="4839" y="10785"/>
                </a:lnTo>
                <a:lnTo>
                  <a:pt x="3881" y="9941"/>
                </a:lnTo>
                <a:lnTo>
                  <a:pt x="4337" y="9291"/>
                </a:lnTo>
                <a:lnTo>
                  <a:pt x="4776" y="8566"/>
                </a:lnTo>
                <a:lnTo>
                  <a:pt x="5114" y="7828"/>
                </a:lnTo>
                <a:lnTo>
                  <a:pt x="5403" y="7063"/>
                </a:lnTo>
                <a:lnTo>
                  <a:pt x="5585" y="6310"/>
                </a:lnTo>
                <a:lnTo>
                  <a:pt x="5692" y="5558"/>
                </a:lnTo>
                <a:lnTo>
                  <a:pt x="5732" y="4812"/>
                </a:lnTo>
                <a:lnTo>
                  <a:pt x="5682" y="4107"/>
                </a:lnTo>
                <a:lnTo>
                  <a:pt x="5545" y="3418"/>
                </a:lnTo>
                <a:lnTo>
                  <a:pt x="5327" y="2786"/>
                </a:lnTo>
                <a:lnTo>
                  <a:pt x="5041" y="2186"/>
                </a:lnTo>
                <a:lnTo>
                  <a:pt x="4662" y="1639"/>
                </a:lnTo>
                <a:lnTo>
                  <a:pt x="4254" y="1190"/>
                </a:lnTo>
                <a:lnTo>
                  <a:pt x="3731" y="788"/>
                </a:lnTo>
                <a:lnTo>
                  <a:pt x="3191" y="475"/>
                </a:lnTo>
                <a:lnTo>
                  <a:pt x="2559" y="248"/>
                </a:lnTo>
                <a:lnTo>
                  <a:pt x="1910" y="95"/>
                </a:lnTo>
                <a:lnTo>
                  <a:pt x="1238" y="0"/>
                </a:lnTo>
                <a:lnTo>
                  <a:pt x="931" y="7"/>
                </a:lnTo>
                <a:lnTo>
                  <a:pt x="498" y="19"/>
                </a:lnTo>
                <a:lnTo>
                  <a:pt x="493" y="3761"/>
                </a:lnTo>
                <a:lnTo>
                  <a:pt x="784" y="3775"/>
                </a:lnTo>
                <a:lnTo>
                  <a:pt x="1174" y="3878"/>
                </a:lnTo>
                <a:lnTo>
                  <a:pt x="1536" y="4062"/>
                </a:lnTo>
                <a:lnTo>
                  <a:pt x="1819" y="4311"/>
                </a:lnTo>
                <a:lnTo>
                  <a:pt x="2023" y="4637"/>
                </a:lnTo>
                <a:lnTo>
                  <a:pt x="2180" y="5020"/>
                </a:lnTo>
                <a:lnTo>
                  <a:pt x="2241" y="5448"/>
                </a:lnTo>
                <a:lnTo>
                  <a:pt x="2221" y="5898"/>
                </a:lnTo>
                <a:lnTo>
                  <a:pt x="2111" y="6359"/>
                </a:lnTo>
                <a:lnTo>
                  <a:pt x="1939" y="6792"/>
                </a:lnTo>
                <a:lnTo>
                  <a:pt x="1655" y="7279"/>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7906" name="Rectangle 18">
            <a:extLst>
              <a:ext uri="{FF2B5EF4-FFF2-40B4-BE49-F238E27FC236}">
                <a16:creationId xmlns:a16="http://schemas.microsoft.com/office/drawing/2014/main" id="{078B271F-0DB8-4DCC-A77F-25AEEFFD4087}"/>
              </a:ext>
            </a:extLst>
          </p:cNvPr>
          <p:cNvSpPr>
            <a:spLocks noChangeArrowheads="1"/>
          </p:cNvSpPr>
          <p:nvPr/>
        </p:nvSpPr>
        <p:spPr bwMode="auto">
          <a:xfrm>
            <a:off x="3297239" y="381001"/>
            <a:ext cx="40290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3100">
                <a:solidFill>
                  <a:srgbClr val="FFFF00"/>
                </a:solidFill>
                <a:latin typeface="Arial" panose="020B0604020202020204" pitchFamily="34" charset="0"/>
                <a:cs typeface="Arial" panose="020B0604020202020204" pitchFamily="34" charset="0"/>
              </a:rPr>
              <a:t>Strategy for Prevention</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07" name="Rectangle 19">
            <a:extLst>
              <a:ext uri="{FF2B5EF4-FFF2-40B4-BE49-F238E27FC236}">
                <a16:creationId xmlns:a16="http://schemas.microsoft.com/office/drawing/2014/main" id="{121F424F-1F48-4E3F-B4D0-3939705AF5E9}"/>
              </a:ext>
            </a:extLst>
          </p:cNvPr>
          <p:cNvSpPr>
            <a:spLocks noChangeArrowheads="1"/>
          </p:cNvSpPr>
          <p:nvPr/>
        </p:nvSpPr>
        <p:spPr bwMode="auto">
          <a:xfrm>
            <a:off x="6632576" y="3125788"/>
            <a:ext cx="7223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Assess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08" name="Rectangle 20">
            <a:extLst>
              <a:ext uri="{FF2B5EF4-FFF2-40B4-BE49-F238E27FC236}">
                <a16:creationId xmlns:a16="http://schemas.microsoft.com/office/drawing/2014/main" id="{CEC42E79-ED4C-4A00-9F65-1ABFEB206259}"/>
              </a:ext>
            </a:extLst>
          </p:cNvPr>
          <p:cNvSpPr>
            <a:spLocks noChangeArrowheads="1"/>
          </p:cNvSpPr>
          <p:nvPr/>
        </p:nvSpPr>
        <p:spPr bwMode="auto">
          <a:xfrm>
            <a:off x="6545263" y="3360738"/>
            <a:ext cx="920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Exposure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09" name="Rectangle 21">
            <a:extLst>
              <a:ext uri="{FF2B5EF4-FFF2-40B4-BE49-F238E27FC236}">
                <a16:creationId xmlns:a16="http://schemas.microsoft.com/office/drawing/2014/main" id="{FFC4DBC7-B0CA-4D2F-95EF-897FC1B0CC5A}"/>
              </a:ext>
            </a:extLst>
          </p:cNvPr>
          <p:cNvSpPr>
            <a:spLocks noChangeArrowheads="1"/>
          </p:cNvSpPr>
          <p:nvPr/>
        </p:nvSpPr>
        <p:spPr bwMode="auto">
          <a:xfrm>
            <a:off x="6084122" y="1260475"/>
            <a:ext cx="73577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Identify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10" name="Rectangle 22">
            <a:extLst>
              <a:ext uri="{FF2B5EF4-FFF2-40B4-BE49-F238E27FC236}">
                <a16:creationId xmlns:a16="http://schemas.microsoft.com/office/drawing/2014/main" id="{A13C22AD-E114-40E4-987F-28FB83A18D4C}"/>
              </a:ext>
            </a:extLst>
          </p:cNvPr>
          <p:cNvSpPr>
            <a:spLocks noChangeArrowheads="1"/>
          </p:cNvSpPr>
          <p:nvPr/>
        </p:nvSpPr>
        <p:spPr bwMode="auto">
          <a:xfrm>
            <a:off x="6042026" y="1481138"/>
            <a:ext cx="11398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Populations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11" name="Rectangle 23">
            <a:extLst>
              <a:ext uri="{FF2B5EF4-FFF2-40B4-BE49-F238E27FC236}">
                <a16:creationId xmlns:a16="http://schemas.microsoft.com/office/drawing/2014/main" id="{0D236CE4-05E1-475A-9BA2-413200446A76}"/>
              </a:ext>
            </a:extLst>
          </p:cNvPr>
          <p:cNvSpPr>
            <a:spLocks noChangeArrowheads="1"/>
          </p:cNvSpPr>
          <p:nvPr/>
        </p:nvSpPr>
        <p:spPr bwMode="auto">
          <a:xfrm>
            <a:off x="6233657" y="1716088"/>
            <a:ext cx="70371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at High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12" name="Rectangle 24">
            <a:extLst>
              <a:ext uri="{FF2B5EF4-FFF2-40B4-BE49-F238E27FC236}">
                <a16:creationId xmlns:a16="http://schemas.microsoft.com/office/drawing/2014/main" id="{A0752CAB-34B5-45A2-B53B-72A4EB746BDE}"/>
              </a:ext>
            </a:extLst>
          </p:cNvPr>
          <p:cNvSpPr>
            <a:spLocks noChangeArrowheads="1"/>
          </p:cNvSpPr>
          <p:nvPr/>
        </p:nvSpPr>
        <p:spPr bwMode="auto">
          <a:xfrm>
            <a:off x="5956301" y="1951038"/>
            <a:ext cx="11779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Disease Risk</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13" name="Rectangle 25">
            <a:extLst>
              <a:ext uri="{FF2B5EF4-FFF2-40B4-BE49-F238E27FC236}">
                <a16:creationId xmlns:a16="http://schemas.microsoft.com/office/drawing/2014/main" id="{35185152-5359-48FE-A3A9-77270673CA06}"/>
              </a:ext>
            </a:extLst>
          </p:cNvPr>
          <p:cNvSpPr>
            <a:spLocks noChangeArrowheads="1"/>
          </p:cNvSpPr>
          <p:nvPr/>
        </p:nvSpPr>
        <p:spPr bwMode="auto">
          <a:xfrm>
            <a:off x="5924551" y="2173288"/>
            <a:ext cx="140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000">
                <a:solidFill>
                  <a:srgbClr val="000000"/>
                </a:solidFill>
                <a:latin typeface="Arial" panose="020B0604020202020204" pitchFamily="34" charset="0"/>
                <a:cs typeface="Arial" panose="020B0604020202020204" pitchFamily="34" charset="0"/>
              </a:rPr>
              <a:t>(based on demography / </a:t>
            </a:r>
          </a:p>
          <a:p>
            <a:pPr algn="r" eaLnBrk="0" fontAlgn="base" hangingPunct="0">
              <a:spcBef>
                <a:spcPct val="0"/>
              </a:spcBef>
              <a:spcAft>
                <a:spcPct val="0"/>
              </a:spcAft>
              <a:defRPr/>
            </a:pPr>
            <a:r>
              <a:rPr lang="en-US" altLang="en-US" sz="1000">
                <a:solidFill>
                  <a:srgbClr val="000000"/>
                </a:solidFill>
                <a:latin typeface="Arial" panose="020B0604020202020204" pitchFamily="34" charset="0"/>
                <a:cs typeface="Arial" panose="020B0604020202020204" pitchFamily="34" charset="0"/>
              </a:rPr>
              <a:t>family history,           </a:t>
            </a:r>
          </a:p>
          <a:p>
            <a:pPr algn="r" eaLnBrk="0" fontAlgn="base" hangingPunct="0">
              <a:spcBef>
                <a:spcPct val="0"/>
              </a:spcBef>
              <a:spcAft>
                <a:spcPct val="0"/>
              </a:spcAft>
              <a:defRPr/>
            </a:pPr>
            <a:r>
              <a:rPr lang="en-US" altLang="en-US" sz="1000">
                <a:solidFill>
                  <a:srgbClr val="000000"/>
                </a:solidFill>
                <a:latin typeface="Arial" panose="020B0604020202020204" pitchFamily="34" charset="0"/>
                <a:cs typeface="Arial" panose="020B0604020202020204" pitchFamily="34" charset="0"/>
              </a:rPr>
              <a:t>host factors..)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14" name="Rectangle 26">
            <a:extLst>
              <a:ext uri="{FF2B5EF4-FFF2-40B4-BE49-F238E27FC236}">
                <a16:creationId xmlns:a16="http://schemas.microsoft.com/office/drawing/2014/main" id="{0576FA92-F895-411B-8F13-0A615B05EBAA}"/>
              </a:ext>
            </a:extLst>
          </p:cNvPr>
          <p:cNvSpPr>
            <a:spLocks noChangeArrowheads="1"/>
          </p:cNvSpPr>
          <p:nvPr/>
        </p:nvSpPr>
        <p:spPr bwMode="auto">
          <a:xfrm>
            <a:off x="5880101" y="4219575"/>
            <a:ext cx="7715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Conduct</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15" name="Rectangle 27">
            <a:extLst>
              <a:ext uri="{FF2B5EF4-FFF2-40B4-BE49-F238E27FC236}">
                <a16:creationId xmlns:a16="http://schemas.microsoft.com/office/drawing/2014/main" id="{E6039074-802F-4245-95AC-12F48CF5A82A}"/>
              </a:ext>
            </a:extLst>
          </p:cNvPr>
          <p:cNvSpPr>
            <a:spLocks noChangeArrowheads="1"/>
          </p:cNvSpPr>
          <p:nvPr/>
        </p:nvSpPr>
        <p:spPr bwMode="auto">
          <a:xfrm>
            <a:off x="5718176" y="4452938"/>
            <a:ext cx="11969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Research on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16" name="Rectangle 28">
            <a:extLst>
              <a:ext uri="{FF2B5EF4-FFF2-40B4-BE49-F238E27FC236}">
                <a16:creationId xmlns:a16="http://schemas.microsoft.com/office/drawing/2014/main" id="{81637982-E276-459B-9CAD-6E00E02752B3}"/>
              </a:ext>
            </a:extLst>
          </p:cNvPr>
          <p:cNvSpPr>
            <a:spLocks noChangeArrowheads="1"/>
          </p:cNvSpPr>
          <p:nvPr/>
        </p:nvSpPr>
        <p:spPr bwMode="auto">
          <a:xfrm>
            <a:off x="5702234" y="4687888"/>
            <a:ext cx="115576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Mechanisms</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17" name="Rectangle 29">
            <a:extLst>
              <a:ext uri="{FF2B5EF4-FFF2-40B4-BE49-F238E27FC236}">
                <a16:creationId xmlns:a16="http://schemas.microsoft.com/office/drawing/2014/main" id="{1B496EA4-AE42-4F5B-A373-1D07FDED668F}"/>
              </a:ext>
            </a:extLst>
          </p:cNvPr>
          <p:cNvSpPr>
            <a:spLocks noChangeArrowheads="1"/>
          </p:cNvSpPr>
          <p:nvPr/>
        </p:nvSpPr>
        <p:spPr bwMode="auto">
          <a:xfrm>
            <a:off x="5705695" y="4910139"/>
            <a:ext cx="12840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000">
                <a:solidFill>
                  <a:srgbClr val="000000"/>
                </a:solidFill>
                <a:latin typeface="Arial" panose="020B0604020202020204" pitchFamily="34" charset="0"/>
                <a:cs typeface="Arial" panose="020B0604020202020204" pitchFamily="34" charset="0"/>
              </a:rPr>
              <a:t>(including the study of </a:t>
            </a:r>
          </a:p>
          <a:p>
            <a:pPr algn="r" eaLnBrk="0" fontAlgn="base" hangingPunct="0">
              <a:spcBef>
                <a:spcPct val="0"/>
              </a:spcBef>
              <a:spcAft>
                <a:spcPct val="0"/>
              </a:spcAft>
              <a:defRPr/>
            </a:pPr>
            <a:r>
              <a:rPr lang="en-US" altLang="en-US" sz="1000">
                <a:solidFill>
                  <a:srgbClr val="000000"/>
                </a:solidFill>
                <a:latin typeface="Arial" panose="020B0604020202020204" pitchFamily="34" charset="0"/>
                <a:cs typeface="Arial" panose="020B0604020202020204" pitchFamily="34" charset="0"/>
              </a:rPr>
              <a:t> genetic susceptibility) </a:t>
            </a:r>
          </a:p>
          <a:p>
            <a:pPr algn="r" eaLnBrk="0" fontAlgn="base" hangingPunct="0">
              <a:spcBef>
                <a:spcPct val="0"/>
              </a:spcBef>
              <a:spcAft>
                <a:spcPct val="0"/>
              </a:spcAft>
              <a:defRPr/>
            </a:pP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18" name="Rectangle 30">
            <a:extLst>
              <a:ext uri="{FF2B5EF4-FFF2-40B4-BE49-F238E27FC236}">
                <a16:creationId xmlns:a16="http://schemas.microsoft.com/office/drawing/2014/main" id="{D9BD087D-95DE-4395-8674-AAD526B7E858}"/>
              </a:ext>
            </a:extLst>
          </p:cNvPr>
          <p:cNvSpPr>
            <a:spLocks noChangeArrowheads="1"/>
          </p:cNvSpPr>
          <p:nvPr/>
        </p:nvSpPr>
        <p:spPr bwMode="auto">
          <a:xfrm>
            <a:off x="4008439" y="4764088"/>
            <a:ext cx="5810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Apply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19" name="Rectangle 31">
            <a:extLst>
              <a:ext uri="{FF2B5EF4-FFF2-40B4-BE49-F238E27FC236}">
                <a16:creationId xmlns:a16="http://schemas.microsoft.com/office/drawing/2014/main" id="{805C54D3-49B4-4D23-A7F0-C70ABF76D005}"/>
              </a:ext>
            </a:extLst>
          </p:cNvPr>
          <p:cNvSpPr>
            <a:spLocks noChangeArrowheads="1"/>
          </p:cNvSpPr>
          <p:nvPr/>
        </p:nvSpPr>
        <p:spPr bwMode="auto">
          <a:xfrm>
            <a:off x="3503690" y="4999038"/>
            <a:ext cx="163346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Population-Based</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20" name="Rectangle 32">
            <a:extLst>
              <a:ext uri="{FF2B5EF4-FFF2-40B4-BE49-F238E27FC236}">
                <a16:creationId xmlns:a16="http://schemas.microsoft.com/office/drawing/2014/main" id="{A424D745-D559-4EF4-84E9-6B9BE86F6DAF}"/>
              </a:ext>
            </a:extLst>
          </p:cNvPr>
          <p:cNvSpPr>
            <a:spLocks noChangeArrowheads="1"/>
          </p:cNvSpPr>
          <p:nvPr/>
        </p:nvSpPr>
        <p:spPr bwMode="auto">
          <a:xfrm>
            <a:off x="3746465" y="5233988"/>
            <a:ext cx="115256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Intervention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21" name="Rectangle 33">
            <a:extLst>
              <a:ext uri="{FF2B5EF4-FFF2-40B4-BE49-F238E27FC236}">
                <a16:creationId xmlns:a16="http://schemas.microsoft.com/office/drawing/2014/main" id="{686FBE22-AA31-4FE5-A87D-DF224B784A27}"/>
              </a:ext>
            </a:extLst>
          </p:cNvPr>
          <p:cNvSpPr>
            <a:spLocks noChangeArrowheads="1"/>
          </p:cNvSpPr>
          <p:nvPr/>
        </p:nvSpPr>
        <p:spPr bwMode="auto">
          <a:xfrm>
            <a:off x="3841750" y="5468938"/>
            <a:ext cx="8905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Programs</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22" name="Rectangle 34">
            <a:extLst>
              <a:ext uri="{FF2B5EF4-FFF2-40B4-BE49-F238E27FC236}">
                <a16:creationId xmlns:a16="http://schemas.microsoft.com/office/drawing/2014/main" id="{EAA47908-1285-40B0-9CCD-F8EC00CE3A1A}"/>
              </a:ext>
            </a:extLst>
          </p:cNvPr>
          <p:cNvSpPr>
            <a:spLocks noChangeArrowheads="1"/>
          </p:cNvSpPr>
          <p:nvPr/>
        </p:nvSpPr>
        <p:spPr bwMode="auto">
          <a:xfrm>
            <a:off x="3486151" y="3311525"/>
            <a:ext cx="8366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Evaluate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23" name="Rectangle 35">
            <a:extLst>
              <a:ext uri="{FF2B5EF4-FFF2-40B4-BE49-F238E27FC236}">
                <a16:creationId xmlns:a16="http://schemas.microsoft.com/office/drawing/2014/main" id="{9CDB1E95-541D-4AB4-8A33-76241B43C7C6}"/>
              </a:ext>
            </a:extLst>
          </p:cNvPr>
          <p:cNvSpPr>
            <a:spLocks noChangeArrowheads="1"/>
          </p:cNvSpPr>
          <p:nvPr/>
        </p:nvSpPr>
        <p:spPr bwMode="auto">
          <a:xfrm>
            <a:off x="3219451" y="3546475"/>
            <a:ext cx="10890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Intervention</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24" name="Rectangle 36">
            <a:extLst>
              <a:ext uri="{FF2B5EF4-FFF2-40B4-BE49-F238E27FC236}">
                <a16:creationId xmlns:a16="http://schemas.microsoft.com/office/drawing/2014/main" id="{745E6229-F8DC-4DCF-BC6D-16CD15536591}"/>
              </a:ext>
            </a:extLst>
          </p:cNvPr>
          <p:cNvSpPr>
            <a:spLocks noChangeArrowheads="1"/>
          </p:cNvSpPr>
          <p:nvPr/>
        </p:nvSpPr>
        <p:spPr bwMode="auto">
          <a:xfrm>
            <a:off x="3411539" y="3781425"/>
            <a:ext cx="9429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 Programs</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25" name="Rectangle 37">
            <a:extLst>
              <a:ext uri="{FF2B5EF4-FFF2-40B4-BE49-F238E27FC236}">
                <a16:creationId xmlns:a16="http://schemas.microsoft.com/office/drawing/2014/main" id="{969CBF65-D9ED-483B-868A-242BD80B7CF3}"/>
              </a:ext>
            </a:extLst>
          </p:cNvPr>
          <p:cNvSpPr>
            <a:spLocks noChangeArrowheads="1"/>
          </p:cNvSpPr>
          <p:nvPr/>
        </p:nvSpPr>
        <p:spPr bwMode="auto">
          <a:xfrm>
            <a:off x="3703639" y="1793875"/>
            <a:ext cx="14573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Modify Existing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26" name="Rectangle 38">
            <a:extLst>
              <a:ext uri="{FF2B5EF4-FFF2-40B4-BE49-F238E27FC236}">
                <a16:creationId xmlns:a16="http://schemas.microsoft.com/office/drawing/2014/main" id="{F6E59AA5-F92D-495B-BEA2-17A8B2BC81EA}"/>
              </a:ext>
            </a:extLst>
          </p:cNvPr>
          <p:cNvSpPr>
            <a:spLocks noChangeArrowheads="1"/>
          </p:cNvSpPr>
          <p:nvPr/>
        </p:nvSpPr>
        <p:spPr bwMode="auto">
          <a:xfrm>
            <a:off x="4079876" y="2106613"/>
            <a:ext cx="11414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Intervention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27" name="Rectangle 39">
            <a:extLst>
              <a:ext uri="{FF2B5EF4-FFF2-40B4-BE49-F238E27FC236}">
                <a16:creationId xmlns:a16="http://schemas.microsoft.com/office/drawing/2014/main" id="{B7A3E7CC-DA1D-4596-9EBE-927A8E4E2F51}"/>
              </a:ext>
            </a:extLst>
          </p:cNvPr>
          <p:cNvSpPr>
            <a:spLocks noChangeArrowheads="1"/>
          </p:cNvSpPr>
          <p:nvPr/>
        </p:nvSpPr>
        <p:spPr bwMode="auto">
          <a:xfrm>
            <a:off x="4155316" y="2341563"/>
            <a:ext cx="89928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1500" b="1">
                <a:solidFill>
                  <a:srgbClr val="000000"/>
                </a:solidFill>
                <a:latin typeface="Arial" panose="020B0604020202020204" pitchFamily="34" charset="0"/>
                <a:cs typeface="Arial" panose="020B0604020202020204" pitchFamily="34" charset="0"/>
              </a:rPr>
              <a:t>Programs</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1784" name="Freeform 40">
            <a:extLst>
              <a:ext uri="{FF2B5EF4-FFF2-40B4-BE49-F238E27FC236}">
                <a16:creationId xmlns:a16="http://schemas.microsoft.com/office/drawing/2014/main" id="{63C93292-F4A3-4805-9D6B-11D2124DB3A8}"/>
              </a:ext>
            </a:extLst>
          </p:cNvPr>
          <p:cNvSpPr>
            <a:spLocks/>
          </p:cNvSpPr>
          <p:nvPr/>
        </p:nvSpPr>
        <p:spPr bwMode="auto">
          <a:xfrm>
            <a:off x="3709988" y="4281489"/>
            <a:ext cx="246062" cy="287337"/>
          </a:xfrm>
          <a:custGeom>
            <a:avLst/>
            <a:gdLst>
              <a:gd name="T0" fmla="*/ 2147483647 w 622"/>
              <a:gd name="T1" fmla="*/ 2147483647 h 722"/>
              <a:gd name="T2" fmla="*/ 2147483647 w 622"/>
              <a:gd name="T3" fmla="*/ 0 h 722"/>
              <a:gd name="T4" fmla="*/ 0 w 622"/>
              <a:gd name="T5" fmla="*/ 2147483647 h 722"/>
              <a:gd name="T6" fmla="*/ 2147483647 w 622"/>
              <a:gd name="T7" fmla="*/ 2147483647 h 722"/>
              <a:gd name="T8" fmla="*/ 2147483647 w 622"/>
              <a:gd name="T9" fmla="*/ 2147483647 h 722"/>
              <a:gd name="T10" fmla="*/ 2147483647 w 622"/>
              <a:gd name="T11" fmla="*/ 2147483647 h 722"/>
              <a:gd name="T12" fmla="*/ 2147483647 w 622"/>
              <a:gd name="T13" fmla="*/ 2147483647 h 722"/>
              <a:gd name="T14" fmla="*/ 2147483647 w 622"/>
              <a:gd name="T15" fmla="*/ 2147483647 h 722"/>
              <a:gd name="T16" fmla="*/ 2147483647 w 622"/>
              <a:gd name="T17" fmla="*/ 2147483647 h 722"/>
              <a:gd name="T18" fmla="*/ 2147483647 w 622"/>
              <a:gd name="T19" fmla="*/ 2147483647 h 722"/>
              <a:gd name="T20" fmla="*/ 2147483647 w 622"/>
              <a:gd name="T21" fmla="*/ 2147483647 h 722"/>
              <a:gd name="T22" fmla="*/ 2147483647 w 622"/>
              <a:gd name="T23" fmla="*/ 2147483647 h 722"/>
              <a:gd name="T24" fmla="*/ 2147483647 w 622"/>
              <a:gd name="T25" fmla="*/ 2147483647 h 722"/>
              <a:gd name="T26" fmla="*/ 2147483647 w 622"/>
              <a:gd name="T27" fmla="*/ 2147483647 h 722"/>
              <a:gd name="T28" fmla="*/ 2147483647 w 622"/>
              <a:gd name="T29" fmla="*/ 2147483647 h 722"/>
              <a:gd name="T30" fmla="*/ 2147483647 w 622"/>
              <a:gd name="T31" fmla="*/ 2147483647 h 722"/>
              <a:gd name="T32" fmla="*/ 2147483647 w 622"/>
              <a:gd name="T33" fmla="*/ 2147483647 h 722"/>
              <a:gd name="T34" fmla="*/ 2147483647 w 622"/>
              <a:gd name="T35" fmla="*/ 2147483647 h 722"/>
              <a:gd name="T36" fmla="*/ 2147483647 w 622"/>
              <a:gd name="T37" fmla="*/ 2147483647 h 722"/>
              <a:gd name="T38" fmla="*/ 2147483647 w 622"/>
              <a:gd name="T39" fmla="*/ 2147483647 h 722"/>
              <a:gd name="T40" fmla="*/ 2147483647 w 622"/>
              <a:gd name="T41" fmla="*/ 2147483647 h 722"/>
              <a:gd name="T42" fmla="*/ 2147483647 w 622"/>
              <a:gd name="T43" fmla="*/ 2147483647 h 722"/>
              <a:gd name="T44" fmla="*/ 2147483647 w 622"/>
              <a:gd name="T45" fmla="*/ 2147483647 h 722"/>
              <a:gd name="T46" fmla="*/ 2147483647 w 622"/>
              <a:gd name="T47" fmla="*/ 2147483647 h 722"/>
              <a:gd name="T48" fmla="*/ 2147483647 w 622"/>
              <a:gd name="T49" fmla="*/ 2147483647 h 722"/>
              <a:gd name="T50" fmla="*/ 2147483647 w 622"/>
              <a:gd name="T51" fmla="*/ 2147483647 h 722"/>
              <a:gd name="T52" fmla="*/ 2147483647 w 622"/>
              <a:gd name="T53" fmla="*/ 2147483647 h 722"/>
              <a:gd name="T54" fmla="*/ 2147483647 w 622"/>
              <a:gd name="T55" fmla="*/ 2147483647 h 722"/>
              <a:gd name="T56" fmla="*/ 2147483647 w 622"/>
              <a:gd name="T57" fmla="*/ 2147483647 h 722"/>
              <a:gd name="T58" fmla="*/ 2147483647 w 622"/>
              <a:gd name="T59" fmla="*/ 2147483647 h 722"/>
              <a:gd name="T60" fmla="*/ 2147483647 w 622"/>
              <a:gd name="T61" fmla="*/ 2147483647 h 722"/>
              <a:gd name="T62" fmla="*/ 2147483647 w 622"/>
              <a:gd name="T63" fmla="*/ 2147483647 h 722"/>
              <a:gd name="T64" fmla="*/ 2147483647 w 622"/>
              <a:gd name="T65" fmla="*/ 2147483647 h 722"/>
              <a:gd name="T66" fmla="*/ 2147483647 w 622"/>
              <a:gd name="T67" fmla="*/ 2147483647 h 722"/>
              <a:gd name="T68" fmla="*/ 2147483647 w 622"/>
              <a:gd name="T69" fmla="*/ 2147483647 h 722"/>
              <a:gd name="T70" fmla="*/ 2147483647 w 622"/>
              <a:gd name="T71" fmla="*/ 2147483647 h 722"/>
              <a:gd name="T72" fmla="*/ 2147483647 w 622"/>
              <a:gd name="T73" fmla="*/ 2147483647 h 722"/>
              <a:gd name="T74" fmla="*/ 2147483647 w 622"/>
              <a:gd name="T75" fmla="*/ 2147483647 h 722"/>
              <a:gd name="T76" fmla="*/ 2147483647 w 622"/>
              <a:gd name="T77" fmla="*/ 2147483647 h 72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22" h="722">
                <a:moveTo>
                  <a:pt x="340" y="171"/>
                </a:moveTo>
                <a:lnTo>
                  <a:pt x="94" y="0"/>
                </a:lnTo>
                <a:lnTo>
                  <a:pt x="0" y="370"/>
                </a:lnTo>
                <a:lnTo>
                  <a:pt x="75" y="326"/>
                </a:lnTo>
                <a:lnTo>
                  <a:pt x="91" y="378"/>
                </a:lnTo>
                <a:lnTo>
                  <a:pt x="108" y="425"/>
                </a:lnTo>
                <a:lnTo>
                  <a:pt x="129" y="470"/>
                </a:lnTo>
                <a:lnTo>
                  <a:pt x="153" y="512"/>
                </a:lnTo>
                <a:lnTo>
                  <a:pt x="179" y="550"/>
                </a:lnTo>
                <a:lnTo>
                  <a:pt x="207" y="586"/>
                </a:lnTo>
                <a:lnTo>
                  <a:pt x="236" y="617"/>
                </a:lnTo>
                <a:lnTo>
                  <a:pt x="268" y="646"/>
                </a:lnTo>
                <a:lnTo>
                  <a:pt x="301" y="669"/>
                </a:lnTo>
                <a:lnTo>
                  <a:pt x="335" y="689"/>
                </a:lnTo>
                <a:lnTo>
                  <a:pt x="369" y="704"/>
                </a:lnTo>
                <a:lnTo>
                  <a:pt x="406" y="715"/>
                </a:lnTo>
                <a:lnTo>
                  <a:pt x="442" y="720"/>
                </a:lnTo>
                <a:lnTo>
                  <a:pt x="479" y="722"/>
                </a:lnTo>
                <a:lnTo>
                  <a:pt x="514" y="719"/>
                </a:lnTo>
                <a:lnTo>
                  <a:pt x="550" y="710"/>
                </a:lnTo>
                <a:lnTo>
                  <a:pt x="585" y="697"/>
                </a:lnTo>
                <a:lnTo>
                  <a:pt x="618" y="679"/>
                </a:lnTo>
                <a:lnTo>
                  <a:pt x="622" y="677"/>
                </a:lnTo>
                <a:lnTo>
                  <a:pt x="604" y="675"/>
                </a:lnTo>
                <a:lnTo>
                  <a:pt x="573" y="668"/>
                </a:lnTo>
                <a:lnTo>
                  <a:pt x="543" y="656"/>
                </a:lnTo>
                <a:lnTo>
                  <a:pt x="514" y="639"/>
                </a:lnTo>
                <a:lnTo>
                  <a:pt x="485" y="619"/>
                </a:lnTo>
                <a:lnTo>
                  <a:pt x="456" y="595"/>
                </a:lnTo>
                <a:lnTo>
                  <a:pt x="430" y="567"/>
                </a:lnTo>
                <a:lnTo>
                  <a:pt x="403" y="536"/>
                </a:lnTo>
                <a:lnTo>
                  <a:pt x="380" y="502"/>
                </a:lnTo>
                <a:lnTo>
                  <a:pt x="357" y="463"/>
                </a:lnTo>
                <a:lnTo>
                  <a:pt x="336" y="424"/>
                </a:lnTo>
                <a:lnTo>
                  <a:pt x="318" y="380"/>
                </a:lnTo>
                <a:lnTo>
                  <a:pt x="301" y="336"/>
                </a:lnTo>
                <a:lnTo>
                  <a:pt x="286" y="289"/>
                </a:lnTo>
                <a:lnTo>
                  <a:pt x="265" y="214"/>
                </a:lnTo>
                <a:lnTo>
                  <a:pt x="340" y="171"/>
                </a:lnTo>
                <a:close/>
              </a:path>
            </a:pathLst>
          </a:custGeom>
          <a:solidFill>
            <a:srgbClr val="000000"/>
          </a:solidFill>
          <a:ln w="0">
            <a:solidFill>
              <a:srgbClr val="000000"/>
            </a:solidFill>
            <a:prstDash val="solid"/>
            <a:round/>
            <a:headEnd/>
            <a:tailEnd/>
          </a:ln>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85" name="Freeform 41">
            <a:extLst>
              <a:ext uri="{FF2B5EF4-FFF2-40B4-BE49-F238E27FC236}">
                <a16:creationId xmlns:a16="http://schemas.microsoft.com/office/drawing/2014/main" id="{C7D8FDD9-293F-42FD-A639-C20D0BD8595C}"/>
              </a:ext>
            </a:extLst>
          </p:cNvPr>
          <p:cNvSpPr>
            <a:spLocks/>
          </p:cNvSpPr>
          <p:nvPr/>
        </p:nvSpPr>
        <p:spPr bwMode="auto">
          <a:xfrm>
            <a:off x="3824289" y="2809876"/>
            <a:ext cx="180975" cy="320675"/>
          </a:xfrm>
          <a:custGeom>
            <a:avLst/>
            <a:gdLst>
              <a:gd name="T0" fmla="*/ 2147483647 w 455"/>
              <a:gd name="T1" fmla="*/ 2147483647 h 806"/>
              <a:gd name="T2" fmla="*/ 2147483647 w 455"/>
              <a:gd name="T3" fmla="*/ 0 h 806"/>
              <a:gd name="T4" fmla="*/ 2147483647 w 455"/>
              <a:gd name="T5" fmla="*/ 2147483647 h 806"/>
              <a:gd name="T6" fmla="*/ 2147483647 w 455"/>
              <a:gd name="T7" fmla="*/ 2147483647 h 806"/>
              <a:gd name="T8" fmla="*/ 2147483647 w 455"/>
              <a:gd name="T9" fmla="*/ 2147483647 h 806"/>
              <a:gd name="T10" fmla="*/ 2147483647 w 455"/>
              <a:gd name="T11" fmla="*/ 2147483647 h 806"/>
              <a:gd name="T12" fmla="*/ 2147483647 w 455"/>
              <a:gd name="T13" fmla="*/ 2147483647 h 806"/>
              <a:gd name="T14" fmla="*/ 2147483647 w 455"/>
              <a:gd name="T15" fmla="*/ 2147483647 h 806"/>
              <a:gd name="T16" fmla="*/ 2147483647 w 455"/>
              <a:gd name="T17" fmla="*/ 2147483647 h 806"/>
              <a:gd name="T18" fmla="*/ 2147483647 w 455"/>
              <a:gd name="T19" fmla="*/ 2147483647 h 806"/>
              <a:gd name="T20" fmla="*/ 2147483647 w 455"/>
              <a:gd name="T21" fmla="*/ 2147483647 h 806"/>
              <a:gd name="T22" fmla="*/ 2147483647 w 455"/>
              <a:gd name="T23" fmla="*/ 2147483647 h 806"/>
              <a:gd name="T24" fmla="*/ 0 w 455"/>
              <a:gd name="T25" fmla="*/ 2147483647 h 806"/>
              <a:gd name="T26" fmla="*/ 2147483647 w 455"/>
              <a:gd name="T27" fmla="*/ 2147483647 h 806"/>
              <a:gd name="T28" fmla="*/ 2147483647 w 455"/>
              <a:gd name="T29" fmla="*/ 2147483647 h 806"/>
              <a:gd name="T30" fmla="*/ 2147483647 w 455"/>
              <a:gd name="T31" fmla="*/ 2147483647 h 806"/>
              <a:gd name="T32" fmla="*/ 2147483647 w 455"/>
              <a:gd name="T33" fmla="*/ 2147483647 h 806"/>
              <a:gd name="T34" fmla="*/ 2147483647 w 455"/>
              <a:gd name="T35" fmla="*/ 2147483647 h 806"/>
              <a:gd name="T36" fmla="*/ 2147483647 w 455"/>
              <a:gd name="T37" fmla="*/ 2147483647 h 806"/>
              <a:gd name="T38" fmla="*/ 2147483647 w 455"/>
              <a:gd name="T39" fmla="*/ 2147483647 h 806"/>
              <a:gd name="T40" fmla="*/ 2147483647 w 455"/>
              <a:gd name="T41" fmla="*/ 2147483647 h 806"/>
              <a:gd name="T42" fmla="*/ 2147483647 w 455"/>
              <a:gd name="T43" fmla="*/ 2147483647 h 806"/>
              <a:gd name="T44" fmla="*/ 2147483647 w 455"/>
              <a:gd name="T45" fmla="*/ 2147483647 h 806"/>
              <a:gd name="T46" fmla="*/ 2147483647 w 455"/>
              <a:gd name="T47" fmla="*/ 2147483647 h 806"/>
              <a:gd name="T48" fmla="*/ 2147483647 w 455"/>
              <a:gd name="T49" fmla="*/ 2147483647 h 806"/>
              <a:gd name="T50" fmla="*/ 2147483647 w 455"/>
              <a:gd name="T51" fmla="*/ 2147483647 h 806"/>
              <a:gd name="T52" fmla="*/ 2147483647 w 455"/>
              <a:gd name="T53" fmla="*/ 2147483647 h 806"/>
              <a:gd name="T54" fmla="*/ 2147483647 w 455"/>
              <a:gd name="T55" fmla="*/ 2147483647 h 806"/>
              <a:gd name="T56" fmla="*/ 2147483647 w 455"/>
              <a:gd name="T57" fmla="*/ 2147483647 h 806"/>
              <a:gd name="T58" fmla="*/ 2147483647 w 455"/>
              <a:gd name="T59" fmla="*/ 2147483647 h 806"/>
              <a:gd name="T60" fmla="*/ 2147483647 w 455"/>
              <a:gd name="T61" fmla="*/ 2147483647 h 806"/>
              <a:gd name="T62" fmla="*/ 2147483647 w 455"/>
              <a:gd name="T63" fmla="*/ 2147483647 h 806"/>
              <a:gd name="T64" fmla="*/ 2147483647 w 455"/>
              <a:gd name="T65" fmla="*/ 2147483647 h 806"/>
              <a:gd name="T66" fmla="*/ 2147483647 w 455"/>
              <a:gd name="T67" fmla="*/ 2147483647 h 806"/>
              <a:gd name="T68" fmla="*/ 2147483647 w 455"/>
              <a:gd name="T69" fmla="*/ 2147483647 h 806"/>
              <a:gd name="T70" fmla="*/ 2147483647 w 455"/>
              <a:gd name="T71" fmla="*/ 2147483647 h 806"/>
              <a:gd name="T72" fmla="*/ 2147483647 w 455"/>
              <a:gd name="T73" fmla="*/ 2147483647 h 806"/>
              <a:gd name="T74" fmla="*/ 2147483647 w 455"/>
              <a:gd name="T75" fmla="*/ 2147483647 h 806"/>
              <a:gd name="T76" fmla="*/ 2147483647 w 455"/>
              <a:gd name="T77" fmla="*/ 2147483647 h 80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55" h="806">
                <a:moveTo>
                  <a:pt x="443" y="299"/>
                </a:moveTo>
                <a:lnTo>
                  <a:pt x="455" y="0"/>
                </a:lnTo>
                <a:lnTo>
                  <a:pt x="92" y="118"/>
                </a:lnTo>
                <a:lnTo>
                  <a:pt x="169" y="158"/>
                </a:lnTo>
                <a:lnTo>
                  <a:pt x="135" y="199"/>
                </a:lnTo>
                <a:lnTo>
                  <a:pt x="104" y="240"/>
                </a:lnTo>
                <a:lnTo>
                  <a:pt x="77" y="280"/>
                </a:lnTo>
                <a:lnTo>
                  <a:pt x="54" y="323"/>
                </a:lnTo>
                <a:lnTo>
                  <a:pt x="36" y="365"/>
                </a:lnTo>
                <a:lnTo>
                  <a:pt x="20" y="408"/>
                </a:lnTo>
                <a:lnTo>
                  <a:pt x="9" y="450"/>
                </a:lnTo>
                <a:lnTo>
                  <a:pt x="3" y="491"/>
                </a:lnTo>
                <a:lnTo>
                  <a:pt x="0" y="532"/>
                </a:lnTo>
                <a:lnTo>
                  <a:pt x="1" y="570"/>
                </a:lnTo>
                <a:lnTo>
                  <a:pt x="8" y="609"/>
                </a:lnTo>
                <a:lnTo>
                  <a:pt x="17" y="644"/>
                </a:lnTo>
                <a:lnTo>
                  <a:pt x="32" y="677"/>
                </a:lnTo>
                <a:lnTo>
                  <a:pt x="50" y="709"/>
                </a:lnTo>
                <a:lnTo>
                  <a:pt x="73" y="738"/>
                </a:lnTo>
                <a:lnTo>
                  <a:pt x="99" y="763"/>
                </a:lnTo>
                <a:lnTo>
                  <a:pt x="128" y="785"/>
                </a:lnTo>
                <a:lnTo>
                  <a:pt x="161" y="805"/>
                </a:lnTo>
                <a:lnTo>
                  <a:pt x="165" y="806"/>
                </a:lnTo>
                <a:lnTo>
                  <a:pt x="157" y="789"/>
                </a:lnTo>
                <a:lnTo>
                  <a:pt x="148" y="760"/>
                </a:lnTo>
                <a:lnTo>
                  <a:pt x="141" y="728"/>
                </a:lnTo>
                <a:lnTo>
                  <a:pt x="140" y="694"/>
                </a:lnTo>
                <a:lnTo>
                  <a:pt x="141" y="660"/>
                </a:lnTo>
                <a:lnTo>
                  <a:pt x="146" y="623"/>
                </a:lnTo>
                <a:lnTo>
                  <a:pt x="156" y="586"/>
                </a:lnTo>
                <a:lnTo>
                  <a:pt x="167" y="547"/>
                </a:lnTo>
                <a:lnTo>
                  <a:pt x="185" y="508"/>
                </a:lnTo>
                <a:lnTo>
                  <a:pt x="204" y="469"/>
                </a:lnTo>
                <a:lnTo>
                  <a:pt x="227" y="431"/>
                </a:lnTo>
                <a:lnTo>
                  <a:pt x="253" y="391"/>
                </a:lnTo>
                <a:lnTo>
                  <a:pt x="282" y="353"/>
                </a:lnTo>
                <a:lnTo>
                  <a:pt x="314" y="316"/>
                </a:lnTo>
                <a:lnTo>
                  <a:pt x="365" y="259"/>
                </a:lnTo>
                <a:lnTo>
                  <a:pt x="443" y="299"/>
                </a:lnTo>
                <a:close/>
              </a:path>
            </a:pathLst>
          </a:custGeom>
          <a:solidFill>
            <a:srgbClr val="000000"/>
          </a:solidFill>
          <a:ln w="0">
            <a:solidFill>
              <a:srgbClr val="000000"/>
            </a:solidFill>
            <a:prstDash val="solid"/>
            <a:round/>
            <a:headEnd/>
            <a:tailEnd/>
          </a:ln>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86" name="Freeform 42">
            <a:extLst>
              <a:ext uri="{FF2B5EF4-FFF2-40B4-BE49-F238E27FC236}">
                <a16:creationId xmlns:a16="http://schemas.microsoft.com/office/drawing/2014/main" id="{E4BFF316-EE53-4B7D-91F8-E475F953563E}"/>
              </a:ext>
            </a:extLst>
          </p:cNvPr>
          <p:cNvSpPr>
            <a:spLocks/>
          </p:cNvSpPr>
          <p:nvPr/>
        </p:nvSpPr>
        <p:spPr bwMode="auto">
          <a:xfrm>
            <a:off x="6789738" y="2636838"/>
            <a:ext cx="201612" cy="322262"/>
          </a:xfrm>
          <a:custGeom>
            <a:avLst/>
            <a:gdLst>
              <a:gd name="T0" fmla="*/ 2147483647 w 508"/>
              <a:gd name="T1" fmla="*/ 2147483647 h 809"/>
              <a:gd name="T2" fmla="*/ 2147483647 w 508"/>
              <a:gd name="T3" fmla="*/ 2147483647 h 809"/>
              <a:gd name="T4" fmla="*/ 2147483647 w 508"/>
              <a:gd name="T5" fmla="*/ 2147483647 h 809"/>
              <a:gd name="T6" fmla="*/ 2147483647 w 508"/>
              <a:gd name="T7" fmla="*/ 2147483647 h 809"/>
              <a:gd name="T8" fmla="*/ 2147483647 w 508"/>
              <a:gd name="T9" fmla="*/ 2147483647 h 809"/>
              <a:gd name="T10" fmla="*/ 2147483647 w 508"/>
              <a:gd name="T11" fmla="*/ 2147483647 h 809"/>
              <a:gd name="T12" fmla="*/ 2147483647 w 508"/>
              <a:gd name="T13" fmla="*/ 2147483647 h 809"/>
              <a:gd name="T14" fmla="*/ 2147483647 w 508"/>
              <a:gd name="T15" fmla="*/ 2147483647 h 809"/>
              <a:gd name="T16" fmla="*/ 2147483647 w 508"/>
              <a:gd name="T17" fmla="*/ 2147483647 h 809"/>
              <a:gd name="T18" fmla="*/ 2147483647 w 508"/>
              <a:gd name="T19" fmla="*/ 2147483647 h 809"/>
              <a:gd name="T20" fmla="*/ 2147483647 w 508"/>
              <a:gd name="T21" fmla="*/ 2147483647 h 809"/>
              <a:gd name="T22" fmla="*/ 2147483647 w 508"/>
              <a:gd name="T23" fmla="*/ 2147483647 h 809"/>
              <a:gd name="T24" fmla="*/ 2147483647 w 508"/>
              <a:gd name="T25" fmla="*/ 2147483647 h 809"/>
              <a:gd name="T26" fmla="*/ 2147483647 w 508"/>
              <a:gd name="T27" fmla="*/ 2147483647 h 809"/>
              <a:gd name="T28" fmla="*/ 2147483647 w 508"/>
              <a:gd name="T29" fmla="*/ 2147483647 h 809"/>
              <a:gd name="T30" fmla="*/ 2147483647 w 508"/>
              <a:gd name="T31" fmla="*/ 2147483647 h 809"/>
              <a:gd name="T32" fmla="*/ 2147483647 w 508"/>
              <a:gd name="T33" fmla="*/ 2147483647 h 809"/>
              <a:gd name="T34" fmla="*/ 2147483647 w 508"/>
              <a:gd name="T35" fmla="*/ 2147483647 h 809"/>
              <a:gd name="T36" fmla="*/ 2147483647 w 508"/>
              <a:gd name="T37" fmla="*/ 2147483647 h 809"/>
              <a:gd name="T38" fmla="*/ 2147483647 w 508"/>
              <a:gd name="T39" fmla="*/ 0 h 809"/>
              <a:gd name="T40" fmla="*/ 2147483647 w 508"/>
              <a:gd name="T41" fmla="*/ 2147483647 h 809"/>
              <a:gd name="T42" fmla="*/ 2147483647 w 508"/>
              <a:gd name="T43" fmla="*/ 2147483647 h 809"/>
              <a:gd name="T44" fmla="*/ 0 w 508"/>
              <a:gd name="T45" fmla="*/ 2147483647 h 809"/>
              <a:gd name="T46" fmla="*/ 2147483647 w 508"/>
              <a:gd name="T47" fmla="*/ 2147483647 h 809"/>
              <a:gd name="T48" fmla="*/ 2147483647 w 508"/>
              <a:gd name="T49" fmla="*/ 2147483647 h 809"/>
              <a:gd name="T50" fmla="*/ 2147483647 w 508"/>
              <a:gd name="T51" fmla="*/ 2147483647 h 809"/>
              <a:gd name="T52" fmla="*/ 2147483647 w 508"/>
              <a:gd name="T53" fmla="*/ 2147483647 h 809"/>
              <a:gd name="T54" fmla="*/ 2147483647 w 508"/>
              <a:gd name="T55" fmla="*/ 2147483647 h 809"/>
              <a:gd name="T56" fmla="*/ 2147483647 w 508"/>
              <a:gd name="T57" fmla="*/ 2147483647 h 809"/>
              <a:gd name="T58" fmla="*/ 2147483647 w 508"/>
              <a:gd name="T59" fmla="*/ 2147483647 h 809"/>
              <a:gd name="T60" fmla="*/ 2147483647 w 508"/>
              <a:gd name="T61" fmla="*/ 2147483647 h 809"/>
              <a:gd name="T62" fmla="*/ 2147483647 w 508"/>
              <a:gd name="T63" fmla="*/ 2147483647 h 809"/>
              <a:gd name="T64" fmla="*/ 2147483647 w 508"/>
              <a:gd name="T65" fmla="*/ 2147483647 h 809"/>
              <a:gd name="T66" fmla="*/ 2147483647 w 508"/>
              <a:gd name="T67" fmla="*/ 2147483647 h 809"/>
              <a:gd name="T68" fmla="*/ 2147483647 w 508"/>
              <a:gd name="T69" fmla="*/ 2147483647 h 809"/>
              <a:gd name="T70" fmla="*/ 2147483647 w 508"/>
              <a:gd name="T71" fmla="*/ 2147483647 h 809"/>
              <a:gd name="T72" fmla="*/ 2147483647 w 508"/>
              <a:gd name="T73" fmla="*/ 2147483647 h 809"/>
              <a:gd name="T74" fmla="*/ 2147483647 w 508"/>
              <a:gd name="T75" fmla="*/ 2147483647 h 809"/>
              <a:gd name="T76" fmla="*/ 2147483647 w 508"/>
              <a:gd name="T77" fmla="*/ 2147483647 h 80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08" h="809">
                <a:moveTo>
                  <a:pt x="126" y="575"/>
                </a:moveTo>
                <a:lnTo>
                  <a:pt x="313" y="809"/>
                </a:lnTo>
                <a:lnTo>
                  <a:pt x="508" y="481"/>
                </a:lnTo>
                <a:lnTo>
                  <a:pt x="424" y="500"/>
                </a:lnTo>
                <a:lnTo>
                  <a:pt x="424" y="448"/>
                </a:lnTo>
                <a:lnTo>
                  <a:pt x="420" y="398"/>
                </a:lnTo>
                <a:lnTo>
                  <a:pt x="412" y="349"/>
                </a:lnTo>
                <a:lnTo>
                  <a:pt x="403" y="301"/>
                </a:lnTo>
                <a:lnTo>
                  <a:pt x="388" y="257"/>
                </a:lnTo>
                <a:lnTo>
                  <a:pt x="373" y="214"/>
                </a:lnTo>
                <a:lnTo>
                  <a:pt x="353" y="176"/>
                </a:lnTo>
                <a:lnTo>
                  <a:pt x="330" y="141"/>
                </a:lnTo>
                <a:lnTo>
                  <a:pt x="305" y="109"/>
                </a:lnTo>
                <a:lnTo>
                  <a:pt x="279" y="80"/>
                </a:lnTo>
                <a:lnTo>
                  <a:pt x="250" y="56"/>
                </a:lnTo>
                <a:lnTo>
                  <a:pt x="218" y="35"/>
                </a:lnTo>
                <a:lnTo>
                  <a:pt x="185" y="19"/>
                </a:lnTo>
                <a:lnTo>
                  <a:pt x="151" y="8"/>
                </a:lnTo>
                <a:lnTo>
                  <a:pt x="116" y="1"/>
                </a:lnTo>
                <a:lnTo>
                  <a:pt x="79" y="0"/>
                </a:lnTo>
                <a:lnTo>
                  <a:pt x="42" y="2"/>
                </a:lnTo>
                <a:lnTo>
                  <a:pt x="4" y="9"/>
                </a:lnTo>
                <a:lnTo>
                  <a:pt x="0" y="10"/>
                </a:lnTo>
                <a:lnTo>
                  <a:pt x="18" y="18"/>
                </a:lnTo>
                <a:lnTo>
                  <a:pt x="44" y="34"/>
                </a:lnTo>
                <a:lnTo>
                  <a:pt x="69" y="54"/>
                </a:lnTo>
                <a:lnTo>
                  <a:pt x="93" y="77"/>
                </a:lnTo>
                <a:lnTo>
                  <a:pt x="116" y="105"/>
                </a:lnTo>
                <a:lnTo>
                  <a:pt x="135" y="135"/>
                </a:lnTo>
                <a:lnTo>
                  <a:pt x="152" y="170"/>
                </a:lnTo>
                <a:lnTo>
                  <a:pt x="168" y="208"/>
                </a:lnTo>
                <a:lnTo>
                  <a:pt x="181" y="247"/>
                </a:lnTo>
                <a:lnTo>
                  <a:pt x="193" y="290"/>
                </a:lnTo>
                <a:lnTo>
                  <a:pt x="201" y="334"/>
                </a:lnTo>
                <a:lnTo>
                  <a:pt x="208" y="380"/>
                </a:lnTo>
                <a:lnTo>
                  <a:pt x="210" y="428"/>
                </a:lnTo>
                <a:lnTo>
                  <a:pt x="210" y="477"/>
                </a:lnTo>
                <a:lnTo>
                  <a:pt x="209" y="554"/>
                </a:lnTo>
                <a:lnTo>
                  <a:pt x="126" y="575"/>
                </a:lnTo>
                <a:close/>
              </a:path>
            </a:pathLst>
          </a:custGeom>
          <a:solidFill>
            <a:srgbClr val="000000"/>
          </a:solidFill>
          <a:ln w="0">
            <a:solidFill>
              <a:srgbClr val="000000"/>
            </a:solidFill>
            <a:prstDash val="solid"/>
            <a:round/>
            <a:headEnd/>
            <a:tailEnd/>
          </a:ln>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1787" name="Freeform 43">
            <a:extLst>
              <a:ext uri="{FF2B5EF4-FFF2-40B4-BE49-F238E27FC236}">
                <a16:creationId xmlns:a16="http://schemas.microsoft.com/office/drawing/2014/main" id="{779817AF-3239-4015-B1BC-5D4A18829CAE}"/>
              </a:ext>
            </a:extLst>
          </p:cNvPr>
          <p:cNvSpPr>
            <a:spLocks/>
          </p:cNvSpPr>
          <p:nvPr/>
        </p:nvSpPr>
        <p:spPr bwMode="auto">
          <a:xfrm>
            <a:off x="6537325" y="3765551"/>
            <a:ext cx="198438" cy="307975"/>
          </a:xfrm>
          <a:custGeom>
            <a:avLst/>
            <a:gdLst>
              <a:gd name="T0" fmla="*/ 2147483647 w 502"/>
              <a:gd name="T1" fmla="*/ 2147483647 h 778"/>
              <a:gd name="T2" fmla="*/ 0 w 502"/>
              <a:gd name="T3" fmla="*/ 2147483647 h 778"/>
              <a:gd name="T4" fmla="*/ 2147483647 w 502"/>
              <a:gd name="T5" fmla="*/ 2147483647 h 778"/>
              <a:gd name="T6" fmla="*/ 2147483647 w 502"/>
              <a:gd name="T7" fmla="*/ 2147483647 h 778"/>
              <a:gd name="T8" fmla="*/ 2147483647 w 502"/>
              <a:gd name="T9" fmla="*/ 2147483647 h 778"/>
              <a:gd name="T10" fmla="*/ 2147483647 w 502"/>
              <a:gd name="T11" fmla="*/ 2147483647 h 778"/>
              <a:gd name="T12" fmla="*/ 2147483647 w 502"/>
              <a:gd name="T13" fmla="*/ 2147483647 h 778"/>
              <a:gd name="T14" fmla="*/ 2147483647 w 502"/>
              <a:gd name="T15" fmla="*/ 2147483647 h 778"/>
              <a:gd name="T16" fmla="*/ 2147483647 w 502"/>
              <a:gd name="T17" fmla="*/ 2147483647 h 778"/>
              <a:gd name="T18" fmla="*/ 2147483647 w 502"/>
              <a:gd name="T19" fmla="*/ 2147483647 h 778"/>
              <a:gd name="T20" fmla="*/ 2147483647 w 502"/>
              <a:gd name="T21" fmla="*/ 2147483647 h 778"/>
              <a:gd name="T22" fmla="*/ 2147483647 w 502"/>
              <a:gd name="T23" fmla="*/ 2147483647 h 778"/>
              <a:gd name="T24" fmla="*/ 2147483647 w 502"/>
              <a:gd name="T25" fmla="*/ 2147483647 h 778"/>
              <a:gd name="T26" fmla="*/ 2147483647 w 502"/>
              <a:gd name="T27" fmla="*/ 2147483647 h 778"/>
              <a:gd name="T28" fmla="*/ 2147483647 w 502"/>
              <a:gd name="T29" fmla="*/ 2147483647 h 778"/>
              <a:gd name="T30" fmla="*/ 2147483647 w 502"/>
              <a:gd name="T31" fmla="*/ 2147483647 h 778"/>
              <a:gd name="T32" fmla="*/ 2147483647 w 502"/>
              <a:gd name="T33" fmla="*/ 2147483647 h 778"/>
              <a:gd name="T34" fmla="*/ 2147483647 w 502"/>
              <a:gd name="T35" fmla="*/ 2147483647 h 778"/>
              <a:gd name="T36" fmla="*/ 2147483647 w 502"/>
              <a:gd name="T37" fmla="*/ 2147483647 h 778"/>
              <a:gd name="T38" fmla="*/ 2147483647 w 502"/>
              <a:gd name="T39" fmla="*/ 2147483647 h 778"/>
              <a:gd name="T40" fmla="*/ 2147483647 w 502"/>
              <a:gd name="T41" fmla="*/ 2147483647 h 778"/>
              <a:gd name="T42" fmla="*/ 2147483647 w 502"/>
              <a:gd name="T43" fmla="*/ 2147483647 h 778"/>
              <a:gd name="T44" fmla="*/ 2147483647 w 502"/>
              <a:gd name="T45" fmla="*/ 0 h 778"/>
              <a:gd name="T46" fmla="*/ 2147483647 w 502"/>
              <a:gd name="T47" fmla="*/ 2147483647 h 778"/>
              <a:gd name="T48" fmla="*/ 2147483647 w 502"/>
              <a:gd name="T49" fmla="*/ 2147483647 h 778"/>
              <a:gd name="T50" fmla="*/ 2147483647 w 502"/>
              <a:gd name="T51" fmla="*/ 2147483647 h 778"/>
              <a:gd name="T52" fmla="*/ 2147483647 w 502"/>
              <a:gd name="T53" fmla="*/ 2147483647 h 778"/>
              <a:gd name="T54" fmla="*/ 2147483647 w 502"/>
              <a:gd name="T55" fmla="*/ 2147483647 h 778"/>
              <a:gd name="T56" fmla="*/ 2147483647 w 502"/>
              <a:gd name="T57" fmla="*/ 2147483647 h 778"/>
              <a:gd name="T58" fmla="*/ 2147483647 w 502"/>
              <a:gd name="T59" fmla="*/ 2147483647 h 778"/>
              <a:gd name="T60" fmla="*/ 2147483647 w 502"/>
              <a:gd name="T61" fmla="*/ 2147483647 h 778"/>
              <a:gd name="T62" fmla="*/ 2147483647 w 502"/>
              <a:gd name="T63" fmla="*/ 2147483647 h 778"/>
              <a:gd name="T64" fmla="*/ 2147483647 w 502"/>
              <a:gd name="T65" fmla="*/ 2147483647 h 778"/>
              <a:gd name="T66" fmla="*/ 2147483647 w 502"/>
              <a:gd name="T67" fmla="*/ 2147483647 h 778"/>
              <a:gd name="T68" fmla="*/ 2147483647 w 502"/>
              <a:gd name="T69" fmla="*/ 2147483647 h 778"/>
              <a:gd name="T70" fmla="*/ 2147483647 w 502"/>
              <a:gd name="T71" fmla="*/ 2147483647 h 778"/>
              <a:gd name="T72" fmla="*/ 2147483647 w 502"/>
              <a:gd name="T73" fmla="*/ 2147483647 h 778"/>
              <a:gd name="T74" fmla="*/ 2147483647 w 502"/>
              <a:gd name="T75" fmla="*/ 2147483647 h 778"/>
              <a:gd name="T76" fmla="*/ 2147483647 w 502"/>
              <a:gd name="T77" fmla="*/ 2147483647 h 77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02" h="778">
                <a:moveTo>
                  <a:pt x="39" y="481"/>
                </a:moveTo>
                <a:lnTo>
                  <a:pt x="0" y="778"/>
                </a:lnTo>
                <a:lnTo>
                  <a:pt x="371" y="692"/>
                </a:lnTo>
                <a:lnTo>
                  <a:pt x="299" y="646"/>
                </a:lnTo>
                <a:lnTo>
                  <a:pt x="337" y="609"/>
                </a:lnTo>
                <a:lnTo>
                  <a:pt x="371" y="571"/>
                </a:lnTo>
                <a:lnTo>
                  <a:pt x="402" y="531"/>
                </a:lnTo>
                <a:lnTo>
                  <a:pt x="428" y="492"/>
                </a:lnTo>
                <a:lnTo>
                  <a:pt x="450" y="451"/>
                </a:lnTo>
                <a:lnTo>
                  <a:pt x="469" y="410"/>
                </a:lnTo>
                <a:lnTo>
                  <a:pt x="483" y="369"/>
                </a:lnTo>
                <a:lnTo>
                  <a:pt x="494" y="329"/>
                </a:lnTo>
                <a:lnTo>
                  <a:pt x="501" y="289"/>
                </a:lnTo>
                <a:lnTo>
                  <a:pt x="502" y="249"/>
                </a:lnTo>
                <a:lnTo>
                  <a:pt x="499" y="211"/>
                </a:lnTo>
                <a:lnTo>
                  <a:pt x="493" y="174"/>
                </a:lnTo>
                <a:lnTo>
                  <a:pt x="481" y="140"/>
                </a:lnTo>
                <a:lnTo>
                  <a:pt x="465" y="107"/>
                </a:lnTo>
                <a:lnTo>
                  <a:pt x="445" y="77"/>
                </a:lnTo>
                <a:lnTo>
                  <a:pt x="423" y="49"/>
                </a:lnTo>
                <a:lnTo>
                  <a:pt x="394" y="24"/>
                </a:lnTo>
                <a:lnTo>
                  <a:pt x="364" y="2"/>
                </a:lnTo>
                <a:lnTo>
                  <a:pt x="360" y="0"/>
                </a:lnTo>
                <a:lnTo>
                  <a:pt x="366" y="18"/>
                </a:lnTo>
                <a:lnTo>
                  <a:pt x="373" y="48"/>
                </a:lnTo>
                <a:lnTo>
                  <a:pt x="377" y="79"/>
                </a:lnTo>
                <a:lnTo>
                  <a:pt x="375" y="114"/>
                </a:lnTo>
                <a:lnTo>
                  <a:pt x="371" y="148"/>
                </a:lnTo>
                <a:lnTo>
                  <a:pt x="362" y="185"/>
                </a:lnTo>
                <a:lnTo>
                  <a:pt x="350" y="220"/>
                </a:lnTo>
                <a:lnTo>
                  <a:pt x="335" y="259"/>
                </a:lnTo>
                <a:lnTo>
                  <a:pt x="315" y="296"/>
                </a:lnTo>
                <a:lnTo>
                  <a:pt x="291" y="332"/>
                </a:lnTo>
                <a:lnTo>
                  <a:pt x="266" y="369"/>
                </a:lnTo>
                <a:lnTo>
                  <a:pt x="236" y="406"/>
                </a:lnTo>
                <a:lnTo>
                  <a:pt x="204" y="441"/>
                </a:lnTo>
                <a:lnTo>
                  <a:pt x="170" y="475"/>
                </a:lnTo>
                <a:lnTo>
                  <a:pt x="112" y="529"/>
                </a:lnTo>
                <a:lnTo>
                  <a:pt x="39" y="481"/>
                </a:lnTo>
                <a:close/>
              </a:path>
            </a:pathLst>
          </a:custGeom>
          <a:solidFill>
            <a:srgbClr val="000000"/>
          </a:solidFill>
          <a:ln w="0">
            <a:solidFill>
              <a:srgbClr val="000000"/>
            </a:solidFill>
            <a:prstDash val="solid"/>
            <a:round/>
            <a:headEnd/>
            <a:tailEnd/>
          </a:ln>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7932" name="Rectangle 44">
            <a:extLst>
              <a:ext uri="{FF2B5EF4-FFF2-40B4-BE49-F238E27FC236}">
                <a16:creationId xmlns:a16="http://schemas.microsoft.com/office/drawing/2014/main" id="{0714C508-BB83-4E14-A910-A1B2DD08CED7}"/>
              </a:ext>
            </a:extLst>
          </p:cNvPr>
          <p:cNvSpPr>
            <a:spLocks noChangeArrowheads="1"/>
          </p:cNvSpPr>
          <p:nvPr/>
        </p:nvSpPr>
        <p:spPr bwMode="auto">
          <a:xfrm rot="15300000">
            <a:off x="2602707" y="3953670"/>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I</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33" name="Rectangle 45">
            <a:extLst>
              <a:ext uri="{FF2B5EF4-FFF2-40B4-BE49-F238E27FC236}">
                <a16:creationId xmlns:a16="http://schemas.microsoft.com/office/drawing/2014/main" id="{EE0DF76C-7C20-47B8-BD9F-88010BAE1451}"/>
              </a:ext>
            </a:extLst>
          </p:cNvPr>
          <p:cNvSpPr>
            <a:spLocks noChangeArrowheads="1"/>
          </p:cNvSpPr>
          <p:nvPr/>
        </p:nvSpPr>
        <p:spPr bwMode="auto">
          <a:xfrm rot="15540000">
            <a:off x="2539207" y="3836195"/>
            <a:ext cx="1635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n</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34" name="Rectangle 46">
            <a:extLst>
              <a:ext uri="{FF2B5EF4-FFF2-40B4-BE49-F238E27FC236}">
                <a16:creationId xmlns:a16="http://schemas.microsoft.com/office/drawing/2014/main" id="{4B5AA31C-BBCD-40B9-B45D-37DB604E7313}"/>
              </a:ext>
            </a:extLst>
          </p:cNvPr>
          <p:cNvSpPr>
            <a:spLocks noChangeArrowheads="1"/>
          </p:cNvSpPr>
          <p:nvPr/>
        </p:nvSpPr>
        <p:spPr bwMode="auto">
          <a:xfrm rot="15780000">
            <a:off x="2570163" y="3709988"/>
            <a:ext cx="889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t</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35" name="Rectangle 47">
            <a:extLst>
              <a:ext uri="{FF2B5EF4-FFF2-40B4-BE49-F238E27FC236}">
                <a16:creationId xmlns:a16="http://schemas.microsoft.com/office/drawing/2014/main" id="{C7EF843C-320A-44CC-8FE4-F7C1FDE8571F}"/>
              </a:ext>
            </a:extLst>
          </p:cNvPr>
          <p:cNvSpPr>
            <a:spLocks noChangeArrowheads="1"/>
          </p:cNvSpPr>
          <p:nvPr/>
        </p:nvSpPr>
        <p:spPr bwMode="auto">
          <a:xfrm rot="16020000">
            <a:off x="2543969" y="3590132"/>
            <a:ext cx="1476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e</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36" name="Rectangle 48">
            <a:extLst>
              <a:ext uri="{FF2B5EF4-FFF2-40B4-BE49-F238E27FC236}">
                <a16:creationId xmlns:a16="http://schemas.microsoft.com/office/drawing/2014/main" id="{C3A84E19-79A8-4CBB-884F-2B46AA93C9EF}"/>
              </a:ext>
            </a:extLst>
          </p:cNvPr>
          <p:cNvSpPr>
            <a:spLocks noChangeArrowheads="1"/>
          </p:cNvSpPr>
          <p:nvPr/>
        </p:nvSpPr>
        <p:spPr bwMode="auto">
          <a:xfrm rot="16260000">
            <a:off x="2572544" y="3466307"/>
            <a:ext cx="1031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r</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37" name="Rectangle 49">
            <a:extLst>
              <a:ext uri="{FF2B5EF4-FFF2-40B4-BE49-F238E27FC236}">
                <a16:creationId xmlns:a16="http://schemas.microsoft.com/office/drawing/2014/main" id="{EB6EBFD5-6689-4756-8EBD-5DE6BDD951CB}"/>
              </a:ext>
            </a:extLst>
          </p:cNvPr>
          <p:cNvSpPr>
            <a:spLocks noChangeArrowheads="1"/>
          </p:cNvSpPr>
          <p:nvPr/>
        </p:nvSpPr>
        <p:spPr bwMode="auto">
          <a:xfrm rot="16560000">
            <a:off x="2568648" y="3342825"/>
            <a:ext cx="14908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v</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38" name="Rectangle 50">
            <a:extLst>
              <a:ext uri="{FF2B5EF4-FFF2-40B4-BE49-F238E27FC236}">
                <a16:creationId xmlns:a16="http://schemas.microsoft.com/office/drawing/2014/main" id="{70971696-342F-4930-99BC-7A047B9601F1}"/>
              </a:ext>
            </a:extLst>
          </p:cNvPr>
          <p:cNvSpPr>
            <a:spLocks noChangeArrowheads="1"/>
          </p:cNvSpPr>
          <p:nvPr/>
        </p:nvSpPr>
        <p:spPr bwMode="auto">
          <a:xfrm rot="16860000">
            <a:off x="2603573" y="3199950"/>
            <a:ext cx="14908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e</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39" name="Rectangle 51">
            <a:extLst>
              <a:ext uri="{FF2B5EF4-FFF2-40B4-BE49-F238E27FC236}">
                <a16:creationId xmlns:a16="http://schemas.microsoft.com/office/drawing/2014/main" id="{D449D54D-2467-4452-A792-29ADD8EE9F11}"/>
              </a:ext>
            </a:extLst>
          </p:cNvPr>
          <p:cNvSpPr>
            <a:spLocks noChangeArrowheads="1"/>
          </p:cNvSpPr>
          <p:nvPr/>
        </p:nvSpPr>
        <p:spPr bwMode="auto">
          <a:xfrm rot="17160000">
            <a:off x="2645570" y="3055145"/>
            <a:ext cx="1635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n</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40" name="Rectangle 52">
            <a:extLst>
              <a:ext uri="{FF2B5EF4-FFF2-40B4-BE49-F238E27FC236}">
                <a16:creationId xmlns:a16="http://schemas.microsoft.com/office/drawing/2014/main" id="{C69D31B6-CDBA-48B3-B651-FA0D2ED50701}"/>
              </a:ext>
            </a:extLst>
          </p:cNvPr>
          <p:cNvSpPr>
            <a:spLocks noChangeArrowheads="1"/>
          </p:cNvSpPr>
          <p:nvPr/>
        </p:nvSpPr>
        <p:spPr bwMode="auto">
          <a:xfrm rot="17400000">
            <a:off x="2732088" y="2940051"/>
            <a:ext cx="889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t</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41" name="Rectangle 53">
            <a:extLst>
              <a:ext uri="{FF2B5EF4-FFF2-40B4-BE49-F238E27FC236}">
                <a16:creationId xmlns:a16="http://schemas.microsoft.com/office/drawing/2014/main" id="{211D382B-7644-4B82-BCAA-A08CF5014D5E}"/>
              </a:ext>
            </a:extLst>
          </p:cNvPr>
          <p:cNvSpPr>
            <a:spLocks noChangeArrowheads="1"/>
          </p:cNvSpPr>
          <p:nvPr/>
        </p:nvSpPr>
        <p:spPr bwMode="auto">
          <a:xfrm rot="17580000">
            <a:off x="2777332" y="2864645"/>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i</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42" name="Rectangle 54">
            <a:extLst>
              <a:ext uri="{FF2B5EF4-FFF2-40B4-BE49-F238E27FC236}">
                <a16:creationId xmlns:a16="http://schemas.microsoft.com/office/drawing/2014/main" id="{CB832B69-5F35-4E79-9377-BBE2DEE5F872}"/>
              </a:ext>
            </a:extLst>
          </p:cNvPr>
          <p:cNvSpPr>
            <a:spLocks noChangeArrowheads="1"/>
          </p:cNvSpPr>
          <p:nvPr/>
        </p:nvSpPr>
        <p:spPr bwMode="auto">
          <a:xfrm rot="17760000">
            <a:off x="2788445" y="2756695"/>
            <a:ext cx="1635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o</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43" name="Rectangle 55">
            <a:extLst>
              <a:ext uri="{FF2B5EF4-FFF2-40B4-BE49-F238E27FC236}">
                <a16:creationId xmlns:a16="http://schemas.microsoft.com/office/drawing/2014/main" id="{C4751716-FDB6-4F03-8C2F-EE5386C95E92}"/>
              </a:ext>
            </a:extLst>
          </p:cNvPr>
          <p:cNvSpPr>
            <a:spLocks noChangeArrowheads="1"/>
          </p:cNvSpPr>
          <p:nvPr/>
        </p:nvSpPr>
        <p:spPr bwMode="auto">
          <a:xfrm rot="18120000">
            <a:off x="2881308" y="2623687"/>
            <a:ext cx="16511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n</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44" name="Rectangle 56">
            <a:extLst>
              <a:ext uri="{FF2B5EF4-FFF2-40B4-BE49-F238E27FC236}">
                <a16:creationId xmlns:a16="http://schemas.microsoft.com/office/drawing/2014/main" id="{FEA854BB-3EF1-4E39-95A4-026AA8E9F3F7}"/>
              </a:ext>
            </a:extLst>
          </p:cNvPr>
          <p:cNvSpPr>
            <a:spLocks noChangeArrowheads="1"/>
          </p:cNvSpPr>
          <p:nvPr/>
        </p:nvSpPr>
        <p:spPr bwMode="auto">
          <a:xfrm rot="3180000">
            <a:off x="7618269" y="1396550"/>
            <a:ext cx="19396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A</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45" name="Rectangle 57">
            <a:extLst>
              <a:ext uri="{FF2B5EF4-FFF2-40B4-BE49-F238E27FC236}">
                <a16:creationId xmlns:a16="http://schemas.microsoft.com/office/drawing/2014/main" id="{5ED6AE62-1D0E-4FA3-B958-4E8E4755CACD}"/>
              </a:ext>
            </a:extLst>
          </p:cNvPr>
          <p:cNvSpPr>
            <a:spLocks noChangeArrowheads="1"/>
          </p:cNvSpPr>
          <p:nvPr/>
        </p:nvSpPr>
        <p:spPr bwMode="auto">
          <a:xfrm rot="3540000">
            <a:off x="7722394" y="1542257"/>
            <a:ext cx="1476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s</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46" name="Rectangle 58">
            <a:extLst>
              <a:ext uri="{FF2B5EF4-FFF2-40B4-BE49-F238E27FC236}">
                <a16:creationId xmlns:a16="http://schemas.microsoft.com/office/drawing/2014/main" id="{9BB7C73F-FAED-4438-96AF-4DD6D868D6E9}"/>
              </a:ext>
            </a:extLst>
          </p:cNvPr>
          <p:cNvSpPr>
            <a:spLocks noChangeArrowheads="1"/>
          </p:cNvSpPr>
          <p:nvPr/>
        </p:nvSpPr>
        <p:spPr bwMode="auto">
          <a:xfrm rot="3840000">
            <a:off x="7783586" y="1675950"/>
            <a:ext cx="14908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s</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47" name="Rectangle 59">
            <a:extLst>
              <a:ext uri="{FF2B5EF4-FFF2-40B4-BE49-F238E27FC236}">
                <a16:creationId xmlns:a16="http://schemas.microsoft.com/office/drawing/2014/main" id="{1363635C-2670-4380-A78B-E831B268E760}"/>
              </a:ext>
            </a:extLst>
          </p:cNvPr>
          <p:cNvSpPr>
            <a:spLocks noChangeArrowheads="1"/>
          </p:cNvSpPr>
          <p:nvPr/>
        </p:nvSpPr>
        <p:spPr bwMode="auto">
          <a:xfrm rot="4080000">
            <a:off x="7835973" y="1815650"/>
            <a:ext cx="14908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e</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48" name="Rectangle 60">
            <a:extLst>
              <a:ext uri="{FF2B5EF4-FFF2-40B4-BE49-F238E27FC236}">
                <a16:creationId xmlns:a16="http://schemas.microsoft.com/office/drawing/2014/main" id="{ECCE4B44-7CC5-459C-98EA-E5583B6551FC}"/>
              </a:ext>
            </a:extLst>
          </p:cNvPr>
          <p:cNvSpPr>
            <a:spLocks noChangeArrowheads="1"/>
          </p:cNvSpPr>
          <p:nvPr/>
        </p:nvSpPr>
        <p:spPr bwMode="auto">
          <a:xfrm rot="4380000">
            <a:off x="7874073" y="1958525"/>
            <a:ext cx="14908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s</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49" name="Rectangle 61">
            <a:extLst>
              <a:ext uri="{FF2B5EF4-FFF2-40B4-BE49-F238E27FC236}">
                <a16:creationId xmlns:a16="http://schemas.microsoft.com/office/drawing/2014/main" id="{2E28E31B-44B5-4CC3-BC86-C38B331A9906}"/>
              </a:ext>
            </a:extLst>
          </p:cNvPr>
          <p:cNvSpPr>
            <a:spLocks noChangeArrowheads="1"/>
          </p:cNvSpPr>
          <p:nvPr/>
        </p:nvSpPr>
        <p:spPr bwMode="auto">
          <a:xfrm rot="4680000">
            <a:off x="7895432" y="2104232"/>
            <a:ext cx="1476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s</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50" name="Rectangle 62">
            <a:extLst>
              <a:ext uri="{FF2B5EF4-FFF2-40B4-BE49-F238E27FC236}">
                <a16:creationId xmlns:a16="http://schemas.microsoft.com/office/drawing/2014/main" id="{DE51B50B-7510-4711-A2FD-C4A8EC0D8D4A}"/>
              </a:ext>
            </a:extLst>
          </p:cNvPr>
          <p:cNvSpPr>
            <a:spLocks noChangeArrowheads="1"/>
          </p:cNvSpPr>
          <p:nvPr/>
        </p:nvSpPr>
        <p:spPr bwMode="auto">
          <a:xfrm rot="5040000">
            <a:off x="7864114" y="2298250"/>
            <a:ext cx="23884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m</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51" name="Rectangle 63">
            <a:extLst>
              <a:ext uri="{FF2B5EF4-FFF2-40B4-BE49-F238E27FC236}">
                <a16:creationId xmlns:a16="http://schemas.microsoft.com/office/drawing/2014/main" id="{92014DB5-636B-4A43-8C58-5CCEE6B85BEB}"/>
              </a:ext>
            </a:extLst>
          </p:cNvPr>
          <p:cNvSpPr>
            <a:spLocks noChangeArrowheads="1"/>
          </p:cNvSpPr>
          <p:nvPr/>
        </p:nvSpPr>
        <p:spPr bwMode="auto">
          <a:xfrm rot="5460000">
            <a:off x="7898607" y="2488407"/>
            <a:ext cx="1476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e</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52" name="Rectangle 64">
            <a:extLst>
              <a:ext uri="{FF2B5EF4-FFF2-40B4-BE49-F238E27FC236}">
                <a16:creationId xmlns:a16="http://schemas.microsoft.com/office/drawing/2014/main" id="{2293F759-DD8B-4462-9281-623C4E85216E}"/>
              </a:ext>
            </a:extLst>
          </p:cNvPr>
          <p:cNvSpPr>
            <a:spLocks noChangeArrowheads="1"/>
          </p:cNvSpPr>
          <p:nvPr/>
        </p:nvSpPr>
        <p:spPr bwMode="auto">
          <a:xfrm rot="5820000">
            <a:off x="7862883" y="2636387"/>
            <a:ext cx="16511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n</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53" name="Rectangle 65">
            <a:extLst>
              <a:ext uri="{FF2B5EF4-FFF2-40B4-BE49-F238E27FC236}">
                <a16:creationId xmlns:a16="http://schemas.microsoft.com/office/drawing/2014/main" id="{25F4308E-9B1D-477B-8982-B8209BEDF7C0}"/>
              </a:ext>
            </a:extLst>
          </p:cNvPr>
          <p:cNvSpPr>
            <a:spLocks noChangeArrowheads="1"/>
          </p:cNvSpPr>
          <p:nvPr/>
        </p:nvSpPr>
        <p:spPr bwMode="auto">
          <a:xfrm rot="6060000">
            <a:off x="7872413" y="2759076"/>
            <a:ext cx="889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t</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54" name="Rectangle 66">
            <a:extLst>
              <a:ext uri="{FF2B5EF4-FFF2-40B4-BE49-F238E27FC236}">
                <a16:creationId xmlns:a16="http://schemas.microsoft.com/office/drawing/2014/main" id="{D3B6260B-2801-42FE-8F9E-6AF126C51F49}"/>
              </a:ext>
            </a:extLst>
          </p:cNvPr>
          <p:cNvSpPr>
            <a:spLocks noChangeArrowheads="1"/>
          </p:cNvSpPr>
          <p:nvPr/>
        </p:nvSpPr>
        <p:spPr bwMode="auto">
          <a:xfrm rot="6180000">
            <a:off x="7856967" y="2839587"/>
            <a:ext cx="7534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55" name="Rectangle 67">
            <a:extLst>
              <a:ext uri="{FF2B5EF4-FFF2-40B4-BE49-F238E27FC236}">
                <a16:creationId xmlns:a16="http://schemas.microsoft.com/office/drawing/2014/main" id="{D9A88152-6CCB-479E-A00F-7F6F128BE243}"/>
              </a:ext>
            </a:extLst>
          </p:cNvPr>
          <p:cNvSpPr>
            <a:spLocks noChangeArrowheads="1"/>
          </p:cNvSpPr>
          <p:nvPr/>
        </p:nvSpPr>
        <p:spPr bwMode="auto">
          <a:xfrm rot="6360000">
            <a:off x="7833520" y="2909095"/>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56" name="Rectangle 68">
            <a:extLst>
              <a:ext uri="{FF2B5EF4-FFF2-40B4-BE49-F238E27FC236}">
                <a16:creationId xmlns:a16="http://schemas.microsoft.com/office/drawing/2014/main" id="{C139C001-26D1-4453-B040-1712A1DF1A5B}"/>
              </a:ext>
            </a:extLst>
          </p:cNvPr>
          <p:cNvSpPr>
            <a:spLocks noChangeArrowheads="1"/>
          </p:cNvSpPr>
          <p:nvPr/>
        </p:nvSpPr>
        <p:spPr bwMode="auto">
          <a:xfrm rot="6480000">
            <a:off x="7802992" y="2979287"/>
            <a:ext cx="7534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57" name="Rectangle 69">
            <a:extLst>
              <a:ext uri="{FF2B5EF4-FFF2-40B4-BE49-F238E27FC236}">
                <a16:creationId xmlns:a16="http://schemas.microsoft.com/office/drawing/2014/main" id="{379A6D20-167C-4755-8F7E-2B6DD3A06E22}"/>
              </a:ext>
            </a:extLst>
          </p:cNvPr>
          <p:cNvSpPr>
            <a:spLocks noChangeArrowheads="1"/>
          </p:cNvSpPr>
          <p:nvPr/>
        </p:nvSpPr>
        <p:spPr bwMode="auto">
          <a:xfrm rot="6660000">
            <a:off x="7771242" y="3045962"/>
            <a:ext cx="7534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58" name="Rectangle 70">
            <a:extLst>
              <a:ext uri="{FF2B5EF4-FFF2-40B4-BE49-F238E27FC236}">
                <a16:creationId xmlns:a16="http://schemas.microsoft.com/office/drawing/2014/main" id="{1D9BFDB9-861D-45E8-AD8B-2B5814570C63}"/>
              </a:ext>
            </a:extLst>
          </p:cNvPr>
          <p:cNvSpPr>
            <a:spLocks noChangeArrowheads="1"/>
          </p:cNvSpPr>
          <p:nvPr/>
        </p:nvSpPr>
        <p:spPr bwMode="auto">
          <a:xfrm rot="6840000">
            <a:off x="7736682" y="3109120"/>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59" name="Rectangle 71">
            <a:extLst>
              <a:ext uri="{FF2B5EF4-FFF2-40B4-BE49-F238E27FC236}">
                <a16:creationId xmlns:a16="http://schemas.microsoft.com/office/drawing/2014/main" id="{A558A96A-D10C-4F4D-A66C-6539581170F2}"/>
              </a:ext>
            </a:extLst>
          </p:cNvPr>
          <p:cNvSpPr>
            <a:spLocks noChangeArrowheads="1"/>
          </p:cNvSpPr>
          <p:nvPr/>
        </p:nvSpPr>
        <p:spPr bwMode="auto">
          <a:xfrm rot="6960000">
            <a:off x="7701757" y="3178970"/>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60" name="Rectangle 72">
            <a:extLst>
              <a:ext uri="{FF2B5EF4-FFF2-40B4-BE49-F238E27FC236}">
                <a16:creationId xmlns:a16="http://schemas.microsoft.com/office/drawing/2014/main" id="{02406904-D950-44B3-88F6-0B8684EE8262}"/>
              </a:ext>
            </a:extLst>
          </p:cNvPr>
          <p:cNvSpPr>
            <a:spLocks noChangeArrowheads="1"/>
          </p:cNvSpPr>
          <p:nvPr/>
        </p:nvSpPr>
        <p:spPr bwMode="auto">
          <a:xfrm rot="7080000">
            <a:off x="7663657" y="3242470"/>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61" name="Rectangle 73">
            <a:extLst>
              <a:ext uri="{FF2B5EF4-FFF2-40B4-BE49-F238E27FC236}">
                <a16:creationId xmlns:a16="http://schemas.microsoft.com/office/drawing/2014/main" id="{CA2F6AC3-C42F-4E00-85CE-15F4AEDCD0DB}"/>
              </a:ext>
            </a:extLst>
          </p:cNvPr>
          <p:cNvSpPr>
            <a:spLocks noChangeArrowheads="1"/>
          </p:cNvSpPr>
          <p:nvPr/>
        </p:nvSpPr>
        <p:spPr bwMode="auto">
          <a:xfrm rot="7260000">
            <a:off x="7618842" y="3303137"/>
            <a:ext cx="7534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62" name="Rectangle 74">
            <a:extLst>
              <a:ext uri="{FF2B5EF4-FFF2-40B4-BE49-F238E27FC236}">
                <a16:creationId xmlns:a16="http://schemas.microsoft.com/office/drawing/2014/main" id="{E9C925D0-E9B4-4EAD-B858-B49305982802}"/>
              </a:ext>
            </a:extLst>
          </p:cNvPr>
          <p:cNvSpPr>
            <a:spLocks noChangeArrowheads="1"/>
          </p:cNvSpPr>
          <p:nvPr/>
        </p:nvSpPr>
        <p:spPr bwMode="auto">
          <a:xfrm rot="7440000">
            <a:off x="7573170" y="3359945"/>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63" name="Rectangle 75">
            <a:extLst>
              <a:ext uri="{FF2B5EF4-FFF2-40B4-BE49-F238E27FC236}">
                <a16:creationId xmlns:a16="http://schemas.microsoft.com/office/drawing/2014/main" id="{A8FBBBDE-D0B9-42C6-A056-CB623874791D}"/>
              </a:ext>
            </a:extLst>
          </p:cNvPr>
          <p:cNvSpPr>
            <a:spLocks noChangeArrowheads="1"/>
          </p:cNvSpPr>
          <p:nvPr/>
        </p:nvSpPr>
        <p:spPr bwMode="auto">
          <a:xfrm rot="7560000">
            <a:off x="7525180" y="3417437"/>
            <a:ext cx="7534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64" name="Rectangle 76">
            <a:extLst>
              <a:ext uri="{FF2B5EF4-FFF2-40B4-BE49-F238E27FC236}">
                <a16:creationId xmlns:a16="http://schemas.microsoft.com/office/drawing/2014/main" id="{0AEE7E59-51FC-4350-8955-A1E150E35394}"/>
              </a:ext>
            </a:extLst>
          </p:cNvPr>
          <p:cNvSpPr>
            <a:spLocks noChangeArrowheads="1"/>
          </p:cNvSpPr>
          <p:nvPr/>
        </p:nvSpPr>
        <p:spPr bwMode="auto">
          <a:xfrm rot="7740000">
            <a:off x="7476332" y="3474245"/>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65" name="Rectangle 77">
            <a:extLst>
              <a:ext uri="{FF2B5EF4-FFF2-40B4-BE49-F238E27FC236}">
                <a16:creationId xmlns:a16="http://schemas.microsoft.com/office/drawing/2014/main" id="{89F453ED-A2A4-4C0C-B231-9357308F7C9A}"/>
              </a:ext>
            </a:extLst>
          </p:cNvPr>
          <p:cNvSpPr>
            <a:spLocks noChangeArrowheads="1"/>
          </p:cNvSpPr>
          <p:nvPr/>
        </p:nvSpPr>
        <p:spPr bwMode="auto">
          <a:xfrm rot="7860000">
            <a:off x="7422357" y="3528220"/>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66" name="Rectangle 78">
            <a:extLst>
              <a:ext uri="{FF2B5EF4-FFF2-40B4-BE49-F238E27FC236}">
                <a16:creationId xmlns:a16="http://schemas.microsoft.com/office/drawing/2014/main" id="{A2052319-47C0-4566-ACEF-334775DAE9BE}"/>
              </a:ext>
            </a:extLst>
          </p:cNvPr>
          <p:cNvSpPr>
            <a:spLocks noChangeArrowheads="1"/>
          </p:cNvSpPr>
          <p:nvPr/>
        </p:nvSpPr>
        <p:spPr bwMode="auto">
          <a:xfrm rot="7980000">
            <a:off x="7368382" y="3582195"/>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67" name="Rectangle 79">
            <a:extLst>
              <a:ext uri="{FF2B5EF4-FFF2-40B4-BE49-F238E27FC236}">
                <a16:creationId xmlns:a16="http://schemas.microsoft.com/office/drawing/2014/main" id="{49B614EE-2D6E-4AE5-A176-E849B3806E66}"/>
              </a:ext>
            </a:extLst>
          </p:cNvPr>
          <p:cNvSpPr>
            <a:spLocks noChangeArrowheads="1"/>
          </p:cNvSpPr>
          <p:nvPr/>
        </p:nvSpPr>
        <p:spPr bwMode="auto">
          <a:xfrm rot="8220000">
            <a:off x="7315201" y="3621089"/>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7968" name="Rectangle 80">
            <a:extLst>
              <a:ext uri="{FF2B5EF4-FFF2-40B4-BE49-F238E27FC236}">
                <a16:creationId xmlns:a16="http://schemas.microsoft.com/office/drawing/2014/main" id="{EE80B82D-24F4-4B53-8FDF-AF8E22CEE396}"/>
              </a:ext>
            </a:extLst>
          </p:cNvPr>
          <p:cNvSpPr>
            <a:spLocks noChangeArrowheads="1"/>
          </p:cNvSpPr>
          <p:nvPr/>
        </p:nvSpPr>
        <p:spPr bwMode="auto">
          <a:xfrm rot="8340000">
            <a:off x="7256098" y="3669056"/>
            <a:ext cx="7534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eaLnBrk="0" fontAlgn="base" hangingPunct="0">
              <a:spcBef>
                <a:spcPct val="0"/>
              </a:spcBef>
              <a:spcAft>
                <a:spcPct val="0"/>
              </a:spcAft>
              <a:defRPr/>
            </a:pPr>
            <a:r>
              <a:rPr lang="en-US" altLang="en-US" sz="2100" b="1">
                <a:solidFill>
                  <a:srgbClr val="FFFF00"/>
                </a:solidFill>
                <a:latin typeface="Arial" panose="020B0604020202020204" pitchFamily="34" charset="0"/>
                <a:cs typeface="Arial" panose="020B0604020202020204" pitchFamily="34" charset="0"/>
              </a:rPr>
              <a:t> </a:t>
            </a:r>
            <a:endParaRPr lang="en-US" altLang="en-US">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31825" name="Text Box 81">
            <a:extLst>
              <a:ext uri="{FF2B5EF4-FFF2-40B4-BE49-F238E27FC236}">
                <a16:creationId xmlns:a16="http://schemas.microsoft.com/office/drawing/2014/main" id="{99FBC58D-F982-41DB-B454-5C5D0C9E5646}"/>
              </a:ext>
            </a:extLst>
          </p:cNvPr>
          <p:cNvSpPr txBox="1">
            <a:spLocks noChangeArrowheads="1"/>
          </p:cNvSpPr>
          <p:nvPr/>
        </p:nvSpPr>
        <p:spPr bwMode="auto">
          <a:xfrm>
            <a:off x="7534660" y="6096000"/>
            <a:ext cx="20217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0" fontAlgn="base" hangingPunct="0">
              <a:spcBef>
                <a:spcPct val="0"/>
              </a:spcBef>
              <a:spcAft>
                <a:spcPct val="0"/>
              </a:spcAft>
            </a:pPr>
            <a:r>
              <a:rPr lang="en-US" altLang="en-US" sz="1400">
                <a:solidFill>
                  <a:srgbClr val="FFFF66"/>
                </a:solidFill>
                <a:latin typeface="Tahoma" panose="020B0604030504040204" pitchFamily="34" charset="0"/>
              </a:rPr>
              <a:t>  Epidemiology Division</a:t>
            </a:r>
          </a:p>
          <a:p>
            <a:pPr algn="ctr" eaLnBrk="0" fontAlgn="base" hangingPunct="0">
              <a:spcBef>
                <a:spcPct val="0"/>
              </a:spcBef>
              <a:spcAft>
                <a:spcPct val="0"/>
              </a:spcAft>
            </a:pPr>
            <a:r>
              <a:rPr lang="en-US" altLang="en-US" sz="1400">
                <a:solidFill>
                  <a:srgbClr val="FFFF66"/>
                </a:solidFill>
                <a:latin typeface="Tahoma" panose="020B0604030504040204" pitchFamily="34" charset="0"/>
              </a:rPr>
              <a:t> </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762D363-9532-4803-8EA1-91F56B32364D}"/>
              </a:ext>
            </a:extLst>
          </p:cNvPr>
          <p:cNvSpPr>
            <a:spLocks noGrp="1" noChangeArrowheads="1"/>
          </p:cNvSpPr>
          <p:nvPr>
            <p:ph type="title"/>
          </p:nvPr>
        </p:nvSpPr>
        <p:spPr/>
        <p:txBody>
          <a:bodyPr/>
          <a:lstStyle/>
          <a:p>
            <a:pPr eaLnBrk="1" hangingPunct="1"/>
            <a:r>
              <a:rPr lang="en-US" altLang="en-US"/>
              <a:t>CONCEPTS OF CONTROL</a:t>
            </a:r>
          </a:p>
        </p:txBody>
      </p:sp>
      <p:sp>
        <p:nvSpPr>
          <p:cNvPr id="30723" name="Rectangle 3">
            <a:extLst>
              <a:ext uri="{FF2B5EF4-FFF2-40B4-BE49-F238E27FC236}">
                <a16:creationId xmlns:a16="http://schemas.microsoft.com/office/drawing/2014/main" id="{A4122F68-D409-406D-9177-58708E997D38}"/>
              </a:ext>
            </a:extLst>
          </p:cNvPr>
          <p:cNvSpPr>
            <a:spLocks noGrp="1" noChangeArrowheads="1"/>
          </p:cNvSpPr>
          <p:nvPr>
            <p:ph type="body" idx="1"/>
          </p:nvPr>
        </p:nvSpPr>
        <p:spPr/>
        <p:txBody>
          <a:bodyPr/>
          <a:lstStyle/>
          <a:p>
            <a:pPr lvl="1" eaLnBrk="1" hangingPunct="1"/>
            <a:r>
              <a:rPr lang="en-US" altLang="en-US" sz="4400"/>
              <a:t>(II) Control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blinds(horizontal)">
                                      <p:cBhvr>
                                        <p:cTn id="7" dur="500"/>
                                        <p:tgtEl>
                                          <p:spTgt spid="307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F3F563B-41C8-4D9C-B669-FCBA46147E9E}"/>
              </a:ext>
            </a:extLst>
          </p:cNvPr>
          <p:cNvSpPr>
            <a:spLocks noGrp="1" noChangeArrowheads="1"/>
          </p:cNvSpPr>
          <p:nvPr>
            <p:ph type="title"/>
          </p:nvPr>
        </p:nvSpPr>
        <p:spPr/>
        <p:txBody>
          <a:bodyPr/>
          <a:lstStyle/>
          <a:p>
            <a:pPr eaLnBrk="1" hangingPunct="1"/>
            <a:r>
              <a:rPr lang="en-US" altLang="en-US"/>
              <a:t>Control</a:t>
            </a:r>
          </a:p>
        </p:txBody>
      </p:sp>
      <p:sp>
        <p:nvSpPr>
          <p:cNvPr id="31747" name="Rectangle 3">
            <a:extLst>
              <a:ext uri="{FF2B5EF4-FFF2-40B4-BE49-F238E27FC236}">
                <a16:creationId xmlns:a16="http://schemas.microsoft.com/office/drawing/2014/main" id="{265372D3-1FB0-489B-A9B1-16F6B6619F5D}"/>
              </a:ext>
            </a:extLst>
          </p:cNvPr>
          <p:cNvSpPr>
            <a:spLocks noGrp="1" noChangeArrowheads="1"/>
          </p:cNvSpPr>
          <p:nvPr>
            <p:ph type="body" idx="1"/>
          </p:nvPr>
        </p:nvSpPr>
        <p:spPr/>
        <p:txBody>
          <a:bodyPr/>
          <a:lstStyle/>
          <a:p>
            <a:pPr eaLnBrk="1" hangingPunct="1"/>
            <a:r>
              <a:rPr lang="en-US" altLang="en-US" sz="2800"/>
              <a:t>Concept of control:</a:t>
            </a:r>
          </a:p>
          <a:p>
            <a:pPr eaLnBrk="1" hangingPunct="1">
              <a:buFontTx/>
              <a:buNone/>
            </a:pPr>
            <a:r>
              <a:rPr lang="en-US" altLang="en-US" sz="2800"/>
              <a:t>The term disease control describes ongoing operations aimed at reducing:</a:t>
            </a:r>
          </a:p>
          <a:p>
            <a:pPr lvl="1" eaLnBrk="1" hangingPunct="1"/>
            <a:r>
              <a:rPr lang="en-US" altLang="en-US" sz="2400"/>
              <a:t>The incidence of disease</a:t>
            </a:r>
          </a:p>
          <a:p>
            <a:pPr lvl="1" eaLnBrk="1" hangingPunct="1"/>
            <a:r>
              <a:rPr lang="en-US" altLang="en-US" sz="2400"/>
              <a:t>The duration of disease and consequently the risk of transmission </a:t>
            </a:r>
          </a:p>
          <a:p>
            <a:pPr lvl="1" eaLnBrk="1" hangingPunct="1"/>
            <a:r>
              <a:rPr lang="en-US" altLang="en-US" sz="2400"/>
              <a:t>The effects of infection, including both the physical and psychosocial complications</a:t>
            </a:r>
          </a:p>
          <a:p>
            <a:pPr lvl="1" eaLnBrk="1" hangingPunct="1"/>
            <a:r>
              <a:rPr lang="en-US" altLang="en-US" sz="2400"/>
              <a:t>The financial burden to the community.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blinds(horizontal)">
                                      <p:cBhvr>
                                        <p:cTn id="7" dur="500"/>
                                        <p:tgtEl>
                                          <p:spTgt spid="317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12" dur="500"/>
                                        <p:tgtEl>
                                          <p:spTgt spid="3174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17" dur="500"/>
                                        <p:tgtEl>
                                          <p:spTgt spid="31747">
                                            <p:txEl>
                                              <p:pRg st="1" end="1"/>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20" dur="500"/>
                                        <p:tgtEl>
                                          <p:spTgt spid="31747">
                                            <p:txEl>
                                              <p:pRg st="2" end="2"/>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23" dur="500"/>
                                        <p:tgtEl>
                                          <p:spTgt spid="31747">
                                            <p:txEl>
                                              <p:pRg st="3" end="3"/>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1747">
                                            <p:txEl>
                                              <p:pRg st="4" end="4"/>
                                            </p:txEl>
                                          </p:spTgt>
                                        </p:tgtEl>
                                        <p:attrNameLst>
                                          <p:attrName>style.visibility</p:attrName>
                                        </p:attrNameLst>
                                      </p:cBhvr>
                                      <p:to>
                                        <p:strVal val="visible"/>
                                      </p:to>
                                    </p:set>
                                    <p:animEffect transition="in" filter="blinds(horizontal)">
                                      <p:cBhvr>
                                        <p:cTn id="26" dur="500"/>
                                        <p:tgtEl>
                                          <p:spTgt spid="31747">
                                            <p:txEl>
                                              <p:pRg st="4" end="4"/>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1747">
                                            <p:txEl>
                                              <p:pRg st="5" end="5"/>
                                            </p:txEl>
                                          </p:spTgt>
                                        </p:tgtEl>
                                        <p:attrNameLst>
                                          <p:attrName>style.visibility</p:attrName>
                                        </p:attrNameLst>
                                      </p:cBhvr>
                                      <p:to>
                                        <p:strVal val="visible"/>
                                      </p:to>
                                    </p:set>
                                    <p:animEffect transition="in" filter="blinds(horizontal)">
                                      <p:cBhvr>
                                        <p:cTn id="29" dur="500"/>
                                        <p:tgtEl>
                                          <p:spTgt spid="317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7" grpId="0" build="p"/>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0AAEA63-5179-4310-8B89-2CED0BC69699}"/>
              </a:ext>
            </a:extLst>
          </p:cNvPr>
          <p:cNvSpPr>
            <a:spLocks noGrp="1" noChangeArrowheads="1"/>
          </p:cNvSpPr>
          <p:nvPr>
            <p:ph type="title"/>
          </p:nvPr>
        </p:nvSpPr>
        <p:spPr/>
        <p:txBody>
          <a:bodyPr/>
          <a:lstStyle/>
          <a:p>
            <a:pPr eaLnBrk="1" hangingPunct="1"/>
            <a:endParaRPr lang="en-US" altLang="en-US"/>
          </a:p>
        </p:txBody>
      </p:sp>
      <p:sp>
        <p:nvSpPr>
          <p:cNvPr id="34819" name="Rectangle 3">
            <a:extLst>
              <a:ext uri="{FF2B5EF4-FFF2-40B4-BE49-F238E27FC236}">
                <a16:creationId xmlns:a16="http://schemas.microsoft.com/office/drawing/2014/main" id="{6D14AB7E-BCD2-4FA8-9A5D-B86711FA51B4}"/>
              </a:ext>
            </a:extLst>
          </p:cNvPr>
          <p:cNvSpPr>
            <a:spLocks noGrp="1" noChangeArrowheads="1"/>
          </p:cNvSpPr>
          <p:nvPr>
            <p:ph type="body" idx="1"/>
          </p:nvPr>
        </p:nvSpPr>
        <p:spPr/>
        <p:txBody>
          <a:bodyPr/>
          <a:lstStyle/>
          <a:p>
            <a:pPr eaLnBrk="1" hangingPunct="1"/>
            <a:r>
              <a:rPr lang="en-US" altLang="en-US"/>
              <a:t>Control activities focus on primary prevention or secondary prevention, but most programs combine both.</a:t>
            </a:r>
          </a:p>
          <a:p>
            <a:pPr eaLnBrk="1" hangingPunct="1">
              <a:buFontTx/>
              <a:buNone/>
            </a:pPr>
            <a:endParaRPr lang="en-US" altLang="en-US"/>
          </a:p>
          <a:p>
            <a:pPr eaLnBrk="1" hangingPunct="1">
              <a:buFontTx/>
              <a:buNone/>
            </a:pPr>
            <a:endParaRPr lang="en-US" altLang="en-US"/>
          </a:p>
        </p:txBody>
      </p:sp>
      <p:sp>
        <p:nvSpPr>
          <p:cNvPr id="32772" name="Rectangle 4">
            <a:extLst>
              <a:ext uri="{FF2B5EF4-FFF2-40B4-BE49-F238E27FC236}">
                <a16:creationId xmlns:a16="http://schemas.microsoft.com/office/drawing/2014/main" id="{9BE7D1F5-6403-4367-A6A9-9071ACB9BA5C}"/>
              </a:ext>
            </a:extLst>
          </p:cNvPr>
          <p:cNvSpPr>
            <a:spLocks noChangeArrowheads="1"/>
          </p:cNvSpPr>
          <p:nvPr/>
        </p:nvSpPr>
        <p:spPr bwMode="auto">
          <a:xfrm>
            <a:off x="3962400" y="3352800"/>
            <a:ext cx="2209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control</a:t>
            </a:r>
          </a:p>
        </p:txBody>
      </p:sp>
      <p:sp>
        <p:nvSpPr>
          <p:cNvPr id="32773" name="Rectangle 5">
            <a:extLst>
              <a:ext uri="{FF2B5EF4-FFF2-40B4-BE49-F238E27FC236}">
                <a16:creationId xmlns:a16="http://schemas.microsoft.com/office/drawing/2014/main" id="{64F244C7-B146-4175-949B-D162F651966D}"/>
              </a:ext>
            </a:extLst>
          </p:cNvPr>
          <p:cNvSpPr>
            <a:spLocks noChangeArrowheads="1"/>
          </p:cNvSpPr>
          <p:nvPr/>
        </p:nvSpPr>
        <p:spPr bwMode="auto">
          <a:xfrm>
            <a:off x="3962400" y="4419600"/>
            <a:ext cx="2209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elimination</a:t>
            </a:r>
          </a:p>
        </p:txBody>
      </p:sp>
      <p:sp>
        <p:nvSpPr>
          <p:cNvPr id="32774" name="Rectangle 6">
            <a:extLst>
              <a:ext uri="{FF2B5EF4-FFF2-40B4-BE49-F238E27FC236}">
                <a16:creationId xmlns:a16="http://schemas.microsoft.com/office/drawing/2014/main" id="{7AD114CE-53C9-4EA9-87CF-8C653AB54267}"/>
              </a:ext>
            </a:extLst>
          </p:cNvPr>
          <p:cNvSpPr>
            <a:spLocks noChangeArrowheads="1"/>
          </p:cNvSpPr>
          <p:nvPr/>
        </p:nvSpPr>
        <p:spPr bwMode="auto">
          <a:xfrm>
            <a:off x="3962400" y="5486400"/>
            <a:ext cx="2209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eradication</a:t>
            </a:r>
          </a:p>
        </p:txBody>
      </p:sp>
      <p:sp>
        <p:nvSpPr>
          <p:cNvPr id="34823" name="Line 7">
            <a:extLst>
              <a:ext uri="{FF2B5EF4-FFF2-40B4-BE49-F238E27FC236}">
                <a16:creationId xmlns:a16="http://schemas.microsoft.com/office/drawing/2014/main" id="{89359A07-40FA-4DF4-BC03-AB4895869F01}"/>
              </a:ext>
            </a:extLst>
          </p:cNvPr>
          <p:cNvSpPr>
            <a:spLocks noChangeShapeType="1"/>
          </p:cNvSpPr>
          <p:nvPr/>
        </p:nvSpPr>
        <p:spPr bwMode="auto">
          <a:xfrm>
            <a:off x="5029200" y="38862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34824" name="Line 8">
            <a:extLst>
              <a:ext uri="{FF2B5EF4-FFF2-40B4-BE49-F238E27FC236}">
                <a16:creationId xmlns:a16="http://schemas.microsoft.com/office/drawing/2014/main" id="{00A71684-1852-4C49-B23C-AD520883DE41}"/>
              </a:ext>
            </a:extLst>
          </p:cNvPr>
          <p:cNvSpPr>
            <a:spLocks noChangeShapeType="1"/>
          </p:cNvSpPr>
          <p:nvPr/>
        </p:nvSpPr>
        <p:spPr bwMode="auto">
          <a:xfrm>
            <a:off x="5029200" y="50292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blinds(horizontal)">
                                      <p:cBhvr>
                                        <p:cTn id="7" dur="500"/>
                                        <p:tgtEl>
                                          <p:spTgt spid="327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773"/>
                                        </p:tgtEl>
                                        <p:attrNameLst>
                                          <p:attrName>style.visibility</p:attrName>
                                        </p:attrNameLst>
                                      </p:cBhvr>
                                      <p:to>
                                        <p:strVal val="visible"/>
                                      </p:to>
                                    </p:set>
                                    <p:animEffect transition="in" filter="blinds(horizontal)">
                                      <p:cBhvr>
                                        <p:cTn id="12" dur="500"/>
                                        <p:tgtEl>
                                          <p:spTgt spid="327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774"/>
                                        </p:tgtEl>
                                        <p:attrNameLst>
                                          <p:attrName>style.visibility</p:attrName>
                                        </p:attrNameLst>
                                      </p:cBhvr>
                                      <p:to>
                                        <p:strVal val="visible"/>
                                      </p:to>
                                    </p:set>
                                    <p:animEffect transition="in" filter="blinds(horizontal)">
                                      <p:cBhvr>
                                        <p:cTn id="17" dur="500"/>
                                        <p:tgtEl>
                                          <p:spTgt spid="32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nimBg="1"/>
      <p:bldP spid="32773" grpId="0" animBg="1"/>
      <p:bldP spid="32774"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E7F02FF2-685B-48DC-B121-E734F8A4D35C}"/>
              </a:ext>
            </a:extLst>
          </p:cNvPr>
          <p:cNvSpPr>
            <a:spLocks noGrp="1" noChangeArrowheads="1"/>
          </p:cNvSpPr>
          <p:nvPr>
            <p:ph type="title"/>
          </p:nvPr>
        </p:nvSpPr>
        <p:spPr/>
        <p:txBody>
          <a:bodyPr/>
          <a:lstStyle/>
          <a:p>
            <a:pPr eaLnBrk="1" hangingPunct="1"/>
            <a:r>
              <a:rPr lang="en-US" altLang="en-US" sz="3600" b="1"/>
              <a:t>Disease Elimination</a:t>
            </a:r>
            <a:br>
              <a:rPr lang="en-US" altLang="en-US" sz="3600" b="1"/>
            </a:br>
            <a:endParaRPr lang="en-US" altLang="en-US" sz="3600" b="1"/>
          </a:p>
        </p:txBody>
      </p:sp>
      <p:sp>
        <p:nvSpPr>
          <p:cNvPr id="35843" name="Rectangle 3">
            <a:extLst>
              <a:ext uri="{FF2B5EF4-FFF2-40B4-BE49-F238E27FC236}">
                <a16:creationId xmlns:a16="http://schemas.microsoft.com/office/drawing/2014/main" id="{6AABDC3B-98EF-4E7E-BE64-E5436D379ED9}"/>
              </a:ext>
            </a:extLst>
          </p:cNvPr>
          <p:cNvSpPr>
            <a:spLocks noGrp="1" noChangeArrowheads="1"/>
          </p:cNvSpPr>
          <p:nvPr>
            <p:ph type="body" idx="1"/>
          </p:nvPr>
        </p:nvSpPr>
        <p:spPr/>
        <p:txBody>
          <a:bodyPr/>
          <a:lstStyle/>
          <a:p>
            <a:pPr eaLnBrk="1" hangingPunct="1">
              <a:lnSpc>
                <a:spcPct val="90000"/>
              </a:lnSpc>
            </a:pPr>
            <a:r>
              <a:rPr lang="en-US" altLang="en-US" sz="2800"/>
              <a:t>Between control and eradication, an intermediate goal has been described, called "regional elimination" </a:t>
            </a:r>
          </a:p>
          <a:p>
            <a:pPr eaLnBrk="1" hangingPunct="1">
              <a:lnSpc>
                <a:spcPct val="90000"/>
              </a:lnSpc>
            </a:pPr>
            <a:r>
              <a:rPr lang="en-US" altLang="en-US" sz="2800"/>
              <a:t>The term "elimination" is used to describe interruption of transmission of disease, as for example, elimination of measles, polio and diphtheria from large geographic regions or areas </a:t>
            </a:r>
          </a:p>
          <a:p>
            <a:pPr eaLnBrk="1" hangingPunct="1">
              <a:lnSpc>
                <a:spcPct val="90000"/>
              </a:lnSpc>
            </a:pPr>
            <a:r>
              <a:rPr lang="en-US" altLang="en-US" sz="2800"/>
              <a:t>Regional elimination is now seen as an important precursor of eradication</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7625D12-A3AB-4302-9E8B-E36FF631C652}"/>
              </a:ext>
            </a:extLst>
          </p:cNvPr>
          <p:cNvSpPr>
            <a:spLocks noGrp="1" noChangeArrowheads="1"/>
          </p:cNvSpPr>
          <p:nvPr>
            <p:ph type="title"/>
          </p:nvPr>
        </p:nvSpPr>
        <p:spPr/>
        <p:txBody>
          <a:bodyPr/>
          <a:lstStyle/>
          <a:p>
            <a:pPr eaLnBrk="1" hangingPunct="1"/>
            <a:r>
              <a:rPr lang="en-US" altLang="en-US"/>
              <a:t>Disease Eradication</a:t>
            </a:r>
          </a:p>
        </p:txBody>
      </p:sp>
      <p:sp>
        <p:nvSpPr>
          <p:cNvPr id="36867" name="Rectangle 3">
            <a:extLst>
              <a:ext uri="{FF2B5EF4-FFF2-40B4-BE49-F238E27FC236}">
                <a16:creationId xmlns:a16="http://schemas.microsoft.com/office/drawing/2014/main" id="{73B5FF14-8D96-4C55-B35A-9E78EA34BBC4}"/>
              </a:ext>
            </a:extLst>
          </p:cNvPr>
          <p:cNvSpPr>
            <a:spLocks noGrp="1" noChangeArrowheads="1"/>
          </p:cNvSpPr>
          <p:nvPr>
            <p:ph type="body" idx="1"/>
          </p:nvPr>
        </p:nvSpPr>
        <p:spPr>
          <a:xfrm>
            <a:off x="1787525" y="1598614"/>
            <a:ext cx="7386638" cy="5259387"/>
          </a:xfrm>
        </p:spPr>
        <p:txBody>
          <a:bodyPr/>
          <a:lstStyle/>
          <a:p>
            <a:pPr eaLnBrk="1" hangingPunct="1">
              <a:lnSpc>
                <a:spcPct val="90000"/>
              </a:lnSpc>
            </a:pPr>
            <a:r>
              <a:rPr lang="en-US" altLang="en-US" sz="2400"/>
              <a:t>Eradication literally means to "tear out by roots". </a:t>
            </a:r>
          </a:p>
          <a:p>
            <a:pPr eaLnBrk="1" hangingPunct="1">
              <a:lnSpc>
                <a:spcPct val="90000"/>
              </a:lnSpc>
            </a:pPr>
            <a:endParaRPr lang="en-US" altLang="en-US" sz="2400"/>
          </a:p>
          <a:p>
            <a:pPr eaLnBrk="1" hangingPunct="1">
              <a:lnSpc>
                <a:spcPct val="90000"/>
              </a:lnSpc>
            </a:pPr>
            <a:r>
              <a:rPr lang="en-US" altLang="en-US" sz="2400"/>
              <a:t>It is the process of “Termination of all transmission of infection by extermination of the infectious agent through surveillance and containment”.</a:t>
            </a:r>
          </a:p>
          <a:p>
            <a:pPr eaLnBrk="1" hangingPunct="1">
              <a:lnSpc>
                <a:spcPct val="90000"/>
              </a:lnSpc>
            </a:pPr>
            <a:endParaRPr lang="en-US" altLang="en-US" sz="2400"/>
          </a:p>
          <a:p>
            <a:pPr eaLnBrk="1" hangingPunct="1">
              <a:lnSpc>
                <a:spcPct val="90000"/>
              </a:lnSpc>
            </a:pPr>
            <a:r>
              <a:rPr lang="en-US" altLang="en-US" sz="2400"/>
              <a:t>Eradication is an absolute process, an "all or none" phenomenon, restricted to termination of an infection from the whole world. It implies that disease will no longer occur in a population.</a:t>
            </a:r>
          </a:p>
          <a:p>
            <a:pPr eaLnBrk="1" hangingPunct="1">
              <a:lnSpc>
                <a:spcPct val="90000"/>
              </a:lnSpc>
              <a:buFontTx/>
              <a:buNone/>
            </a:pPr>
            <a:r>
              <a:rPr lang="en-US" altLang="en-US" sz="2400"/>
              <a:t> </a:t>
            </a:r>
          </a:p>
          <a:p>
            <a:pPr eaLnBrk="1" hangingPunct="1">
              <a:lnSpc>
                <a:spcPct val="90000"/>
              </a:lnSpc>
            </a:pPr>
            <a:r>
              <a:rPr lang="en-US" altLang="en-US" sz="2400"/>
              <a:t>To-date, only one disease has been eradicated, that is smallpox.</a:t>
            </a:r>
          </a:p>
          <a:p>
            <a:pPr eaLnBrk="1" hangingPunct="1">
              <a:lnSpc>
                <a:spcPct val="90000"/>
              </a:lnSpc>
            </a:pPr>
            <a:endParaRPr lang="en-US" altLang="en-US" sz="240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8D80CF4-23C5-4AEB-AD0B-B9E1FAE43A8C}"/>
              </a:ext>
            </a:extLst>
          </p:cNvPr>
          <p:cNvSpPr>
            <a:spLocks noGrp="1" noChangeArrowheads="1"/>
          </p:cNvSpPr>
          <p:nvPr>
            <p:ph type="title"/>
          </p:nvPr>
        </p:nvSpPr>
        <p:spPr/>
        <p:txBody>
          <a:bodyPr/>
          <a:lstStyle/>
          <a:p>
            <a:pPr eaLnBrk="1" hangingPunct="1"/>
            <a:r>
              <a:rPr lang="en-US" altLang="en-US" b="1"/>
              <a:t>Monitoring</a:t>
            </a:r>
          </a:p>
        </p:txBody>
      </p:sp>
      <p:sp>
        <p:nvSpPr>
          <p:cNvPr id="37891" name="Rectangle 3">
            <a:extLst>
              <a:ext uri="{FF2B5EF4-FFF2-40B4-BE49-F238E27FC236}">
                <a16:creationId xmlns:a16="http://schemas.microsoft.com/office/drawing/2014/main" id="{67858FA7-0CE7-45FD-BFC6-B77A94E6D41A}"/>
              </a:ext>
            </a:extLst>
          </p:cNvPr>
          <p:cNvSpPr>
            <a:spLocks noGrp="1" noChangeArrowheads="1"/>
          </p:cNvSpPr>
          <p:nvPr>
            <p:ph type="body" idx="1"/>
          </p:nvPr>
        </p:nvSpPr>
        <p:spPr/>
        <p:txBody>
          <a:bodyPr/>
          <a:lstStyle/>
          <a:p>
            <a:pPr eaLnBrk="1" hangingPunct="1">
              <a:lnSpc>
                <a:spcPct val="80000"/>
              </a:lnSpc>
            </a:pPr>
            <a:r>
              <a:rPr lang="en-US" altLang="en-US" sz="2800"/>
              <a:t>Monitoring is "the performance and analysis of routine measurements aimed at detecting changes in the environment or health status of population" (Thus we have monitoring of air pollution, water quality, growth and nutritional status, etc). </a:t>
            </a:r>
          </a:p>
          <a:p>
            <a:pPr eaLnBrk="1" hangingPunct="1">
              <a:lnSpc>
                <a:spcPct val="80000"/>
              </a:lnSpc>
              <a:buFontTx/>
              <a:buNone/>
            </a:pPr>
            <a:endParaRPr lang="en-US" altLang="en-US" sz="2800"/>
          </a:p>
          <a:p>
            <a:pPr eaLnBrk="1" hangingPunct="1">
              <a:lnSpc>
                <a:spcPct val="80000"/>
              </a:lnSpc>
            </a:pPr>
            <a:r>
              <a:rPr lang="en-US" altLang="en-US" sz="2800"/>
              <a:t>It also refers to on -going measurement of performance of a health service or a health professional, or of the extent to which patients comply with or adhere to advice from health professionals.</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1FE0006-8662-4A21-A100-61641388091B}"/>
              </a:ext>
            </a:extLst>
          </p:cNvPr>
          <p:cNvSpPr>
            <a:spLocks noGrp="1" noChangeArrowheads="1"/>
          </p:cNvSpPr>
          <p:nvPr>
            <p:ph type="title"/>
          </p:nvPr>
        </p:nvSpPr>
        <p:spPr/>
        <p:txBody>
          <a:bodyPr/>
          <a:lstStyle/>
          <a:p>
            <a:pPr eaLnBrk="1" hangingPunct="1"/>
            <a:r>
              <a:rPr lang="en-US" altLang="en-US"/>
              <a:t>Surveillance </a:t>
            </a:r>
          </a:p>
        </p:txBody>
      </p:sp>
      <p:sp>
        <p:nvSpPr>
          <p:cNvPr id="38915" name="Rectangle 3">
            <a:extLst>
              <a:ext uri="{FF2B5EF4-FFF2-40B4-BE49-F238E27FC236}">
                <a16:creationId xmlns:a16="http://schemas.microsoft.com/office/drawing/2014/main" id="{FB3B49E7-552F-4F0E-98FE-3B59954AD4AB}"/>
              </a:ext>
            </a:extLst>
          </p:cNvPr>
          <p:cNvSpPr>
            <a:spLocks noGrp="1" noChangeArrowheads="1"/>
          </p:cNvSpPr>
          <p:nvPr>
            <p:ph type="body" idx="1"/>
          </p:nvPr>
        </p:nvSpPr>
        <p:spPr/>
        <p:txBody>
          <a:bodyPr/>
          <a:lstStyle/>
          <a:p>
            <a:pPr eaLnBrk="1" hangingPunct="1"/>
            <a:r>
              <a:rPr lang="en-US" altLang="en-US" sz="2800"/>
              <a:t>surveillance means to watch over with great attention, authority and often with suspicion</a:t>
            </a:r>
          </a:p>
          <a:p>
            <a:pPr eaLnBrk="1" hangingPunct="1">
              <a:buFontTx/>
              <a:buNone/>
            </a:pPr>
            <a:r>
              <a:rPr lang="en-US" altLang="en-US" sz="2800"/>
              <a:t> </a:t>
            </a:r>
          </a:p>
          <a:p>
            <a:pPr eaLnBrk="1" hangingPunct="1"/>
            <a:r>
              <a:rPr lang="en-US" altLang="en-US" sz="2800"/>
              <a:t>According to another, surveillance is defined as "the continuous scrutiny (inspection) of the factors that determine the occurrence and distribution of disease and other conditions of ill-health" </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96E71EF-8026-4E06-8EFA-2DD77DE6876D}"/>
              </a:ext>
            </a:extLst>
          </p:cNvPr>
          <p:cNvSpPr>
            <a:spLocks noGrp="1" noChangeArrowheads="1"/>
          </p:cNvSpPr>
          <p:nvPr>
            <p:ph type="title"/>
          </p:nvPr>
        </p:nvSpPr>
        <p:spPr/>
        <p:txBody>
          <a:bodyPr/>
          <a:lstStyle/>
          <a:p>
            <a:pPr eaLnBrk="1" hangingPunct="1"/>
            <a:r>
              <a:rPr lang="en-US" altLang="en-US"/>
              <a:t>Objectives of Surveillance</a:t>
            </a:r>
          </a:p>
        </p:txBody>
      </p:sp>
      <p:sp>
        <p:nvSpPr>
          <p:cNvPr id="39939" name="Rectangle 3">
            <a:extLst>
              <a:ext uri="{FF2B5EF4-FFF2-40B4-BE49-F238E27FC236}">
                <a16:creationId xmlns:a16="http://schemas.microsoft.com/office/drawing/2014/main" id="{8D4ED6E0-D611-4A98-A4BD-2D52E540CD9F}"/>
              </a:ext>
            </a:extLst>
          </p:cNvPr>
          <p:cNvSpPr>
            <a:spLocks noGrp="1" noChangeArrowheads="1"/>
          </p:cNvSpPr>
          <p:nvPr>
            <p:ph type="body" idx="1"/>
          </p:nvPr>
        </p:nvSpPr>
        <p:spPr>
          <a:xfrm>
            <a:off x="1787525" y="1598614"/>
            <a:ext cx="7386638" cy="4878387"/>
          </a:xfrm>
        </p:spPr>
        <p:txBody>
          <a:bodyPr/>
          <a:lstStyle/>
          <a:p>
            <a:pPr eaLnBrk="1" hangingPunct="1">
              <a:lnSpc>
                <a:spcPct val="90000"/>
              </a:lnSpc>
            </a:pPr>
            <a:r>
              <a:rPr lang="en-US" altLang="en-US" sz="2400"/>
              <a:t>The main objectives of surveillance are:</a:t>
            </a:r>
          </a:p>
          <a:p>
            <a:pPr eaLnBrk="1" hangingPunct="1">
              <a:lnSpc>
                <a:spcPct val="90000"/>
              </a:lnSpc>
              <a:buFontTx/>
              <a:buNone/>
            </a:pPr>
            <a:r>
              <a:rPr lang="en-US" altLang="en-US" sz="2400"/>
              <a:t> </a:t>
            </a:r>
          </a:p>
          <a:p>
            <a:pPr lvl="1" eaLnBrk="1" hangingPunct="1">
              <a:lnSpc>
                <a:spcPct val="90000"/>
              </a:lnSpc>
            </a:pPr>
            <a:r>
              <a:rPr lang="en-US" altLang="en-US" sz="2000"/>
              <a:t>(a) to provide information about new and changing trends in the health status of a population, e.g., morbidity, mortality, nutritional status or other indicators and environmental hazards, health practices and other factors that may affect health </a:t>
            </a:r>
          </a:p>
          <a:p>
            <a:pPr lvl="1" eaLnBrk="1" hangingPunct="1">
              <a:lnSpc>
                <a:spcPct val="90000"/>
              </a:lnSpc>
            </a:pPr>
            <a:endParaRPr lang="en-US" altLang="en-US" sz="2000"/>
          </a:p>
          <a:p>
            <a:pPr lvl="1" eaLnBrk="1" hangingPunct="1">
              <a:lnSpc>
                <a:spcPct val="90000"/>
              </a:lnSpc>
            </a:pPr>
            <a:r>
              <a:rPr lang="en-US" altLang="en-US" sz="2000"/>
              <a:t>(b) to provide feed-back which may be expected to modify the policy and the system itself and lead to redefinition of objectives, and </a:t>
            </a:r>
          </a:p>
          <a:p>
            <a:pPr lvl="1" eaLnBrk="1" hangingPunct="1">
              <a:lnSpc>
                <a:spcPct val="90000"/>
              </a:lnSpc>
              <a:buFontTx/>
              <a:buNone/>
            </a:pPr>
            <a:endParaRPr lang="en-US" altLang="en-US" sz="2000"/>
          </a:p>
          <a:p>
            <a:pPr lvl="1" eaLnBrk="1" hangingPunct="1">
              <a:lnSpc>
                <a:spcPct val="90000"/>
              </a:lnSpc>
            </a:pPr>
            <a:r>
              <a:rPr lang="en-US" altLang="en-US" sz="2000"/>
              <a:t>(c) provide timely warning of public health disasters so that interventions can be mobilized.</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6A76CF4-2F26-4319-9B9C-1166F19F36C2}"/>
              </a:ext>
            </a:extLst>
          </p:cNvPr>
          <p:cNvSpPr>
            <a:spLocks noGrp="1" noChangeArrowheads="1"/>
          </p:cNvSpPr>
          <p:nvPr>
            <p:ph type="title"/>
          </p:nvPr>
        </p:nvSpPr>
        <p:spPr/>
        <p:txBody>
          <a:bodyPr/>
          <a:lstStyle/>
          <a:p>
            <a:pPr eaLnBrk="1" hangingPunct="1"/>
            <a:r>
              <a:rPr lang="en-US" altLang="en-US" sz="3600"/>
              <a:t>Control of infectious diseases (the 4 “C”s</a:t>
            </a:r>
          </a:p>
        </p:txBody>
      </p:sp>
      <p:sp>
        <p:nvSpPr>
          <p:cNvPr id="33795" name="Rectangle 3">
            <a:extLst>
              <a:ext uri="{FF2B5EF4-FFF2-40B4-BE49-F238E27FC236}">
                <a16:creationId xmlns:a16="http://schemas.microsoft.com/office/drawing/2014/main" id="{90DD9DA5-407E-4017-AE72-73014F5B9B39}"/>
              </a:ext>
            </a:extLst>
          </p:cNvPr>
          <p:cNvSpPr>
            <a:spLocks noGrp="1" noChangeArrowheads="1"/>
          </p:cNvSpPr>
          <p:nvPr>
            <p:ph type="body" idx="1"/>
          </p:nvPr>
        </p:nvSpPr>
        <p:spPr/>
        <p:txBody>
          <a:bodyPr/>
          <a:lstStyle/>
          <a:p>
            <a:pPr eaLnBrk="1" hangingPunct="1"/>
            <a:endParaRPr lang="en-US" altLang="en-US"/>
          </a:p>
        </p:txBody>
      </p:sp>
      <p:grpSp>
        <p:nvGrpSpPr>
          <p:cNvPr id="33840" name="Group 48">
            <a:extLst>
              <a:ext uri="{FF2B5EF4-FFF2-40B4-BE49-F238E27FC236}">
                <a16:creationId xmlns:a16="http://schemas.microsoft.com/office/drawing/2014/main" id="{2EB379A3-D8A6-47B3-88CE-848D3C26CE6F}"/>
              </a:ext>
            </a:extLst>
          </p:cNvPr>
          <p:cNvGrpSpPr>
            <a:grpSpLocks/>
          </p:cNvGrpSpPr>
          <p:nvPr/>
        </p:nvGrpSpPr>
        <p:grpSpPr bwMode="auto">
          <a:xfrm>
            <a:off x="1752600" y="2057400"/>
            <a:ext cx="7391400" cy="4313238"/>
            <a:chOff x="144" y="1296"/>
            <a:chExt cx="4656" cy="2717"/>
          </a:xfrm>
        </p:grpSpPr>
        <p:sp>
          <p:nvSpPr>
            <p:cNvPr id="40971" name="Rectangle 4">
              <a:extLst>
                <a:ext uri="{FF2B5EF4-FFF2-40B4-BE49-F238E27FC236}">
                  <a16:creationId xmlns:a16="http://schemas.microsoft.com/office/drawing/2014/main" id="{D161189D-9E8E-49FE-839A-3163DC95123E}"/>
                </a:ext>
              </a:extLst>
            </p:cNvPr>
            <p:cNvSpPr>
              <a:spLocks noChangeArrowheads="1"/>
            </p:cNvSpPr>
            <p:nvPr/>
          </p:nvSpPr>
          <p:spPr bwMode="auto">
            <a:xfrm>
              <a:off x="1440" y="1296"/>
              <a:ext cx="2016"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sz="2400">
                  <a:solidFill>
                    <a:srgbClr val="2F1311"/>
                  </a:solidFill>
                </a:rPr>
                <a:t>Control</a:t>
              </a:r>
            </a:p>
            <a:p>
              <a:pPr algn="ctr" fontAlgn="base">
                <a:spcBef>
                  <a:spcPct val="0"/>
                </a:spcBef>
                <a:spcAft>
                  <a:spcPct val="0"/>
                </a:spcAft>
              </a:pPr>
              <a:endParaRPr lang="en-US" altLang="en-US" sz="2400">
                <a:solidFill>
                  <a:srgbClr val="2F1311"/>
                </a:solidFill>
              </a:endParaRPr>
            </a:p>
          </p:txBody>
        </p:sp>
        <p:sp>
          <p:nvSpPr>
            <p:cNvPr id="40972" name="Line 5">
              <a:extLst>
                <a:ext uri="{FF2B5EF4-FFF2-40B4-BE49-F238E27FC236}">
                  <a16:creationId xmlns:a16="http://schemas.microsoft.com/office/drawing/2014/main" id="{8B58E1C9-6A6C-4609-95FE-C99774F8DDD5}"/>
                </a:ext>
              </a:extLst>
            </p:cNvPr>
            <p:cNvSpPr>
              <a:spLocks noChangeShapeType="1"/>
            </p:cNvSpPr>
            <p:nvPr/>
          </p:nvSpPr>
          <p:spPr bwMode="auto">
            <a:xfrm>
              <a:off x="2448" y="1920"/>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73" name="Line 6">
              <a:extLst>
                <a:ext uri="{FF2B5EF4-FFF2-40B4-BE49-F238E27FC236}">
                  <a16:creationId xmlns:a16="http://schemas.microsoft.com/office/drawing/2014/main" id="{C7B17E49-2A66-486D-B00A-EF6832EB4C44}"/>
                </a:ext>
              </a:extLst>
            </p:cNvPr>
            <p:cNvSpPr>
              <a:spLocks noChangeShapeType="1"/>
            </p:cNvSpPr>
            <p:nvPr/>
          </p:nvSpPr>
          <p:spPr bwMode="auto">
            <a:xfrm>
              <a:off x="432" y="2160"/>
              <a:ext cx="38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74" name="Line 7">
              <a:extLst>
                <a:ext uri="{FF2B5EF4-FFF2-40B4-BE49-F238E27FC236}">
                  <a16:creationId xmlns:a16="http://schemas.microsoft.com/office/drawing/2014/main" id="{B1BE4305-7C58-4EE2-877A-8818D4D7405D}"/>
                </a:ext>
              </a:extLst>
            </p:cNvPr>
            <p:cNvSpPr>
              <a:spLocks noChangeShapeType="1"/>
            </p:cNvSpPr>
            <p:nvPr/>
          </p:nvSpPr>
          <p:spPr bwMode="auto">
            <a:xfrm>
              <a:off x="432" y="2160"/>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75" name="Line 8">
              <a:extLst>
                <a:ext uri="{FF2B5EF4-FFF2-40B4-BE49-F238E27FC236}">
                  <a16:creationId xmlns:a16="http://schemas.microsoft.com/office/drawing/2014/main" id="{B4EB1638-9408-4FC4-AC24-CD694FFCD034}"/>
                </a:ext>
              </a:extLst>
            </p:cNvPr>
            <p:cNvSpPr>
              <a:spLocks noChangeShapeType="1"/>
            </p:cNvSpPr>
            <p:nvPr/>
          </p:nvSpPr>
          <p:spPr bwMode="auto">
            <a:xfrm>
              <a:off x="1776" y="2160"/>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76" name="Line 9">
              <a:extLst>
                <a:ext uri="{FF2B5EF4-FFF2-40B4-BE49-F238E27FC236}">
                  <a16:creationId xmlns:a16="http://schemas.microsoft.com/office/drawing/2014/main" id="{E84FC133-9607-4829-8426-D870B06F4C48}"/>
                </a:ext>
              </a:extLst>
            </p:cNvPr>
            <p:cNvSpPr>
              <a:spLocks noChangeShapeType="1"/>
            </p:cNvSpPr>
            <p:nvPr/>
          </p:nvSpPr>
          <p:spPr bwMode="auto">
            <a:xfrm>
              <a:off x="3216" y="2160"/>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77" name="Line 10">
              <a:extLst>
                <a:ext uri="{FF2B5EF4-FFF2-40B4-BE49-F238E27FC236}">
                  <a16:creationId xmlns:a16="http://schemas.microsoft.com/office/drawing/2014/main" id="{6D129714-FEC7-4C46-9C2A-3FB38A6C2B88}"/>
                </a:ext>
              </a:extLst>
            </p:cNvPr>
            <p:cNvSpPr>
              <a:spLocks noChangeShapeType="1"/>
            </p:cNvSpPr>
            <p:nvPr/>
          </p:nvSpPr>
          <p:spPr bwMode="auto">
            <a:xfrm>
              <a:off x="4320" y="2160"/>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78" name="Oval 11">
              <a:extLst>
                <a:ext uri="{FF2B5EF4-FFF2-40B4-BE49-F238E27FC236}">
                  <a16:creationId xmlns:a16="http://schemas.microsoft.com/office/drawing/2014/main" id="{DF26C761-7E26-4C02-A312-71BFD1D717A6}"/>
                </a:ext>
              </a:extLst>
            </p:cNvPr>
            <p:cNvSpPr>
              <a:spLocks noChangeArrowheads="1"/>
            </p:cNvSpPr>
            <p:nvPr/>
          </p:nvSpPr>
          <p:spPr bwMode="auto">
            <a:xfrm>
              <a:off x="144" y="2400"/>
              <a:ext cx="912" cy="57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Cases</a:t>
              </a:r>
            </a:p>
            <a:p>
              <a:pPr algn="ctr" fontAlgn="base">
                <a:spcBef>
                  <a:spcPct val="0"/>
                </a:spcBef>
                <a:spcAft>
                  <a:spcPct val="0"/>
                </a:spcAft>
              </a:pPr>
              <a:endParaRPr lang="en-US" altLang="en-US">
                <a:solidFill>
                  <a:srgbClr val="2F1311"/>
                </a:solidFill>
              </a:endParaRPr>
            </a:p>
          </p:txBody>
        </p:sp>
        <p:sp>
          <p:nvSpPr>
            <p:cNvPr id="40979" name="Oval 12">
              <a:extLst>
                <a:ext uri="{FF2B5EF4-FFF2-40B4-BE49-F238E27FC236}">
                  <a16:creationId xmlns:a16="http://schemas.microsoft.com/office/drawing/2014/main" id="{2BF0BAF0-CD59-44C2-98B7-D79D9227B985}"/>
                </a:ext>
              </a:extLst>
            </p:cNvPr>
            <p:cNvSpPr>
              <a:spLocks noChangeArrowheads="1"/>
            </p:cNvSpPr>
            <p:nvPr/>
          </p:nvSpPr>
          <p:spPr bwMode="auto">
            <a:xfrm>
              <a:off x="1344" y="2400"/>
              <a:ext cx="912" cy="57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Contacts</a:t>
              </a:r>
            </a:p>
            <a:p>
              <a:pPr algn="ctr" fontAlgn="base">
                <a:spcBef>
                  <a:spcPct val="0"/>
                </a:spcBef>
                <a:spcAft>
                  <a:spcPct val="0"/>
                </a:spcAft>
              </a:pPr>
              <a:endParaRPr lang="en-US" altLang="en-US">
                <a:solidFill>
                  <a:srgbClr val="2F1311"/>
                </a:solidFill>
              </a:endParaRPr>
            </a:p>
          </p:txBody>
        </p:sp>
        <p:sp>
          <p:nvSpPr>
            <p:cNvPr id="40980" name="Oval 13">
              <a:extLst>
                <a:ext uri="{FF2B5EF4-FFF2-40B4-BE49-F238E27FC236}">
                  <a16:creationId xmlns:a16="http://schemas.microsoft.com/office/drawing/2014/main" id="{0DAA2355-9D62-4371-9BA4-14E9053D0906}"/>
                </a:ext>
              </a:extLst>
            </p:cNvPr>
            <p:cNvSpPr>
              <a:spLocks noChangeArrowheads="1"/>
            </p:cNvSpPr>
            <p:nvPr/>
          </p:nvSpPr>
          <p:spPr bwMode="auto">
            <a:xfrm>
              <a:off x="2736" y="2400"/>
              <a:ext cx="912" cy="57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Carriers</a:t>
              </a:r>
            </a:p>
            <a:p>
              <a:pPr algn="ctr" fontAlgn="base">
                <a:spcBef>
                  <a:spcPct val="0"/>
                </a:spcBef>
                <a:spcAft>
                  <a:spcPct val="0"/>
                </a:spcAft>
              </a:pPr>
              <a:endParaRPr lang="en-US" altLang="en-US">
                <a:solidFill>
                  <a:srgbClr val="2F1311"/>
                </a:solidFill>
              </a:endParaRPr>
            </a:p>
          </p:txBody>
        </p:sp>
        <p:sp>
          <p:nvSpPr>
            <p:cNvPr id="40981" name="Oval 14">
              <a:extLst>
                <a:ext uri="{FF2B5EF4-FFF2-40B4-BE49-F238E27FC236}">
                  <a16:creationId xmlns:a16="http://schemas.microsoft.com/office/drawing/2014/main" id="{E5F4995B-AD9A-4AA3-A414-4A0FA176F1AB}"/>
                </a:ext>
              </a:extLst>
            </p:cNvPr>
            <p:cNvSpPr>
              <a:spLocks noChangeArrowheads="1"/>
            </p:cNvSpPr>
            <p:nvPr/>
          </p:nvSpPr>
          <p:spPr bwMode="auto">
            <a:xfrm>
              <a:off x="3888" y="2400"/>
              <a:ext cx="912" cy="57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altLang="en-US">
                  <a:solidFill>
                    <a:srgbClr val="2F1311"/>
                  </a:solidFill>
                </a:rPr>
                <a:t>Community</a:t>
              </a:r>
            </a:p>
            <a:p>
              <a:pPr algn="ctr" fontAlgn="base">
                <a:spcBef>
                  <a:spcPct val="0"/>
                </a:spcBef>
                <a:spcAft>
                  <a:spcPct val="0"/>
                </a:spcAft>
              </a:pPr>
              <a:endParaRPr lang="en-US" altLang="en-US">
                <a:solidFill>
                  <a:srgbClr val="2F1311"/>
                </a:solidFill>
              </a:endParaRPr>
            </a:p>
          </p:txBody>
        </p:sp>
        <p:sp>
          <p:nvSpPr>
            <p:cNvPr id="40982" name="Line 20">
              <a:extLst>
                <a:ext uri="{FF2B5EF4-FFF2-40B4-BE49-F238E27FC236}">
                  <a16:creationId xmlns:a16="http://schemas.microsoft.com/office/drawing/2014/main" id="{FEF3B377-BCE1-4C0C-955E-76A3D57D1C48}"/>
                </a:ext>
              </a:extLst>
            </p:cNvPr>
            <p:cNvSpPr>
              <a:spLocks noChangeShapeType="1"/>
            </p:cNvSpPr>
            <p:nvPr/>
          </p:nvSpPr>
          <p:spPr bwMode="auto">
            <a:xfrm>
              <a:off x="288" y="2928"/>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83" name="Line 21">
              <a:extLst>
                <a:ext uri="{FF2B5EF4-FFF2-40B4-BE49-F238E27FC236}">
                  <a16:creationId xmlns:a16="http://schemas.microsoft.com/office/drawing/2014/main" id="{F55F1A90-8D2D-4DE6-8E96-75EBA191C748}"/>
                </a:ext>
              </a:extLst>
            </p:cNvPr>
            <p:cNvSpPr>
              <a:spLocks noChangeShapeType="1"/>
            </p:cNvSpPr>
            <p:nvPr/>
          </p:nvSpPr>
          <p:spPr bwMode="auto">
            <a:xfrm>
              <a:off x="288" y="3072"/>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84" name="Line 22">
              <a:extLst>
                <a:ext uri="{FF2B5EF4-FFF2-40B4-BE49-F238E27FC236}">
                  <a16:creationId xmlns:a16="http://schemas.microsoft.com/office/drawing/2014/main" id="{94D91395-06EE-4A7F-9227-67125C08F26F}"/>
                </a:ext>
              </a:extLst>
            </p:cNvPr>
            <p:cNvSpPr>
              <a:spLocks noChangeShapeType="1"/>
            </p:cNvSpPr>
            <p:nvPr/>
          </p:nvSpPr>
          <p:spPr bwMode="auto">
            <a:xfrm>
              <a:off x="288" y="321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85" name="Line 23">
              <a:extLst>
                <a:ext uri="{FF2B5EF4-FFF2-40B4-BE49-F238E27FC236}">
                  <a16:creationId xmlns:a16="http://schemas.microsoft.com/office/drawing/2014/main" id="{9F3FF1B7-B3EF-40F4-8B5A-5FD5FB0FA342}"/>
                </a:ext>
              </a:extLst>
            </p:cNvPr>
            <p:cNvSpPr>
              <a:spLocks noChangeShapeType="1"/>
            </p:cNvSpPr>
            <p:nvPr/>
          </p:nvSpPr>
          <p:spPr bwMode="auto">
            <a:xfrm>
              <a:off x="288" y="3360"/>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86" name="Line 24">
              <a:extLst>
                <a:ext uri="{FF2B5EF4-FFF2-40B4-BE49-F238E27FC236}">
                  <a16:creationId xmlns:a16="http://schemas.microsoft.com/office/drawing/2014/main" id="{AA2622CB-28D4-4E6A-9730-41ED47A5E113}"/>
                </a:ext>
              </a:extLst>
            </p:cNvPr>
            <p:cNvSpPr>
              <a:spLocks noChangeShapeType="1"/>
            </p:cNvSpPr>
            <p:nvPr/>
          </p:nvSpPr>
          <p:spPr bwMode="auto">
            <a:xfrm>
              <a:off x="288" y="3504"/>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87" name="Line 25">
              <a:extLst>
                <a:ext uri="{FF2B5EF4-FFF2-40B4-BE49-F238E27FC236}">
                  <a16:creationId xmlns:a16="http://schemas.microsoft.com/office/drawing/2014/main" id="{2513D076-5A75-45CE-8727-F84D988408E8}"/>
                </a:ext>
              </a:extLst>
            </p:cNvPr>
            <p:cNvSpPr>
              <a:spLocks noChangeShapeType="1"/>
            </p:cNvSpPr>
            <p:nvPr/>
          </p:nvSpPr>
          <p:spPr bwMode="auto">
            <a:xfrm>
              <a:off x="288" y="364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88" name="Line 26">
              <a:extLst>
                <a:ext uri="{FF2B5EF4-FFF2-40B4-BE49-F238E27FC236}">
                  <a16:creationId xmlns:a16="http://schemas.microsoft.com/office/drawing/2014/main" id="{92B56721-5937-439B-B1F1-B319997609E6}"/>
                </a:ext>
              </a:extLst>
            </p:cNvPr>
            <p:cNvSpPr>
              <a:spLocks noChangeShapeType="1"/>
            </p:cNvSpPr>
            <p:nvPr/>
          </p:nvSpPr>
          <p:spPr bwMode="auto">
            <a:xfrm>
              <a:off x="288" y="3792"/>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89" name="Text Box 27">
              <a:extLst>
                <a:ext uri="{FF2B5EF4-FFF2-40B4-BE49-F238E27FC236}">
                  <a16:creationId xmlns:a16="http://schemas.microsoft.com/office/drawing/2014/main" id="{C04EBCC6-0BAA-43CF-97C0-EB20641B2ACB}"/>
                </a:ext>
              </a:extLst>
            </p:cNvPr>
            <p:cNvSpPr txBox="1">
              <a:spLocks noChangeArrowheads="1"/>
            </p:cNvSpPr>
            <p:nvPr/>
          </p:nvSpPr>
          <p:spPr bwMode="auto">
            <a:xfrm>
              <a:off x="432" y="2976"/>
              <a:ext cx="60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Diagnosis </a:t>
              </a:r>
            </a:p>
          </p:txBody>
        </p:sp>
        <p:sp>
          <p:nvSpPr>
            <p:cNvPr id="40990" name="Text Box 28">
              <a:extLst>
                <a:ext uri="{FF2B5EF4-FFF2-40B4-BE49-F238E27FC236}">
                  <a16:creationId xmlns:a16="http://schemas.microsoft.com/office/drawing/2014/main" id="{FD161822-F8CB-4861-91BA-8B07D9AD618B}"/>
                </a:ext>
              </a:extLst>
            </p:cNvPr>
            <p:cNvSpPr txBox="1">
              <a:spLocks noChangeArrowheads="1"/>
            </p:cNvSpPr>
            <p:nvPr/>
          </p:nvSpPr>
          <p:spPr bwMode="auto">
            <a:xfrm>
              <a:off x="432" y="3120"/>
              <a:ext cx="63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notification</a:t>
              </a:r>
            </a:p>
          </p:txBody>
        </p:sp>
        <p:sp>
          <p:nvSpPr>
            <p:cNvPr id="40991" name="Text Box 29">
              <a:extLst>
                <a:ext uri="{FF2B5EF4-FFF2-40B4-BE49-F238E27FC236}">
                  <a16:creationId xmlns:a16="http://schemas.microsoft.com/office/drawing/2014/main" id="{C1010D99-AFC5-4902-95F1-CB0FF9122F73}"/>
                </a:ext>
              </a:extLst>
            </p:cNvPr>
            <p:cNvSpPr txBox="1">
              <a:spLocks noChangeArrowheads="1"/>
            </p:cNvSpPr>
            <p:nvPr/>
          </p:nvSpPr>
          <p:spPr bwMode="auto">
            <a:xfrm>
              <a:off x="432" y="3264"/>
              <a:ext cx="5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isolation</a:t>
              </a:r>
            </a:p>
          </p:txBody>
        </p:sp>
        <p:sp>
          <p:nvSpPr>
            <p:cNvPr id="40992" name="Text Box 30">
              <a:extLst>
                <a:ext uri="{FF2B5EF4-FFF2-40B4-BE49-F238E27FC236}">
                  <a16:creationId xmlns:a16="http://schemas.microsoft.com/office/drawing/2014/main" id="{E3F0C210-0063-4633-B027-90CDE4EAE497}"/>
                </a:ext>
              </a:extLst>
            </p:cNvPr>
            <p:cNvSpPr txBox="1">
              <a:spLocks noChangeArrowheads="1"/>
            </p:cNvSpPr>
            <p:nvPr/>
          </p:nvSpPr>
          <p:spPr bwMode="auto">
            <a:xfrm>
              <a:off x="422" y="3429"/>
              <a:ext cx="65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disinfection</a:t>
              </a:r>
            </a:p>
          </p:txBody>
        </p:sp>
        <p:sp>
          <p:nvSpPr>
            <p:cNvPr id="40993" name="Text Box 32">
              <a:extLst>
                <a:ext uri="{FF2B5EF4-FFF2-40B4-BE49-F238E27FC236}">
                  <a16:creationId xmlns:a16="http://schemas.microsoft.com/office/drawing/2014/main" id="{20F0F80E-782C-4240-B6EF-40C9059D7109}"/>
                </a:ext>
              </a:extLst>
            </p:cNvPr>
            <p:cNvSpPr txBox="1">
              <a:spLocks noChangeArrowheads="1"/>
            </p:cNvSpPr>
            <p:nvPr/>
          </p:nvSpPr>
          <p:spPr bwMode="auto">
            <a:xfrm>
              <a:off x="422" y="3573"/>
              <a:ext cx="55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treatment</a:t>
              </a:r>
            </a:p>
          </p:txBody>
        </p:sp>
        <p:sp>
          <p:nvSpPr>
            <p:cNvPr id="40994" name="Text Box 33">
              <a:extLst>
                <a:ext uri="{FF2B5EF4-FFF2-40B4-BE49-F238E27FC236}">
                  <a16:creationId xmlns:a16="http://schemas.microsoft.com/office/drawing/2014/main" id="{DF9DF91D-D69A-4DB1-B31E-6CDC91BFFCF1}"/>
                </a:ext>
              </a:extLst>
            </p:cNvPr>
            <p:cNvSpPr txBox="1">
              <a:spLocks noChangeArrowheads="1"/>
            </p:cNvSpPr>
            <p:nvPr/>
          </p:nvSpPr>
          <p:spPr bwMode="auto">
            <a:xfrm>
              <a:off x="432" y="3696"/>
              <a:ext cx="5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follow up</a:t>
              </a:r>
            </a:p>
          </p:txBody>
        </p:sp>
        <p:sp>
          <p:nvSpPr>
            <p:cNvPr id="40995" name="Line 35">
              <a:extLst>
                <a:ext uri="{FF2B5EF4-FFF2-40B4-BE49-F238E27FC236}">
                  <a16:creationId xmlns:a16="http://schemas.microsoft.com/office/drawing/2014/main" id="{881BA8EC-5144-404B-8C6D-95009BD8F5F3}"/>
                </a:ext>
              </a:extLst>
            </p:cNvPr>
            <p:cNvSpPr>
              <a:spLocks noChangeShapeType="1"/>
            </p:cNvSpPr>
            <p:nvPr/>
          </p:nvSpPr>
          <p:spPr bwMode="auto">
            <a:xfrm>
              <a:off x="288" y="3936"/>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96" name="Text Box 36">
              <a:extLst>
                <a:ext uri="{FF2B5EF4-FFF2-40B4-BE49-F238E27FC236}">
                  <a16:creationId xmlns:a16="http://schemas.microsoft.com/office/drawing/2014/main" id="{B4678B8B-996E-4E9B-B20B-BED4DAE1910B}"/>
                </a:ext>
              </a:extLst>
            </p:cNvPr>
            <p:cNvSpPr txBox="1">
              <a:spLocks noChangeArrowheads="1"/>
            </p:cNvSpPr>
            <p:nvPr/>
          </p:nvSpPr>
          <p:spPr bwMode="auto">
            <a:xfrm>
              <a:off x="432" y="3840"/>
              <a:ext cx="44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release</a:t>
              </a:r>
            </a:p>
          </p:txBody>
        </p:sp>
        <p:sp>
          <p:nvSpPr>
            <p:cNvPr id="40997" name="Line 37">
              <a:extLst>
                <a:ext uri="{FF2B5EF4-FFF2-40B4-BE49-F238E27FC236}">
                  <a16:creationId xmlns:a16="http://schemas.microsoft.com/office/drawing/2014/main" id="{F9E30E85-490A-4792-9F39-ECA57B787CE0}"/>
                </a:ext>
              </a:extLst>
            </p:cNvPr>
            <p:cNvSpPr>
              <a:spLocks noChangeShapeType="1"/>
            </p:cNvSpPr>
            <p:nvPr/>
          </p:nvSpPr>
          <p:spPr bwMode="auto">
            <a:xfrm>
              <a:off x="1776" y="2928"/>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98" name="Text Box 39">
              <a:extLst>
                <a:ext uri="{FF2B5EF4-FFF2-40B4-BE49-F238E27FC236}">
                  <a16:creationId xmlns:a16="http://schemas.microsoft.com/office/drawing/2014/main" id="{57539CA1-6C3F-45A4-AB57-BF59FE32E901}"/>
                </a:ext>
              </a:extLst>
            </p:cNvPr>
            <p:cNvSpPr txBox="1">
              <a:spLocks noChangeArrowheads="1"/>
            </p:cNvSpPr>
            <p:nvPr/>
          </p:nvSpPr>
          <p:spPr bwMode="auto">
            <a:xfrm>
              <a:off x="1488" y="3264"/>
              <a:ext cx="66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observation</a:t>
              </a:r>
            </a:p>
          </p:txBody>
        </p:sp>
        <p:sp>
          <p:nvSpPr>
            <p:cNvPr id="40999" name="Line 40">
              <a:extLst>
                <a:ext uri="{FF2B5EF4-FFF2-40B4-BE49-F238E27FC236}">
                  <a16:creationId xmlns:a16="http://schemas.microsoft.com/office/drawing/2014/main" id="{1AF2E918-4053-498D-BFAE-FC4C2D757020}"/>
                </a:ext>
              </a:extLst>
            </p:cNvPr>
            <p:cNvSpPr>
              <a:spLocks noChangeShapeType="1"/>
            </p:cNvSpPr>
            <p:nvPr/>
          </p:nvSpPr>
          <p:spPr bwMode="auto">
            <a:xfrm>
              <a:off x="3168" y="2928"/>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1000" name="Text Box 44">
              <a:extLst>
                <a:ext uri="{FF2B5EF4-FFF2-40B4-BE49-F238E27FC236}">
                  <a16:creationId xmlns:a16="http://schemas.microsoft.com/office/drawing/2014/main" id="{1FA79EF6-9A7A-4EBF-9904-9C3CD9F52E22}"/>
                </a:ext>
              </a:extLst>
            </p:cNvPr>
            <p:cNvSpPr txBox="1">
              <a:spLocks noChangeArrowheads="1"/>
            </p:cNvSpPr>
            <p:nvPr/>
          </p:nvSpPr>
          <p:spPr bwMode="auto">
            <a:xfrm>
              <a:off x="2928" y="3264"/>
              <a:ext cx="54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detection</a:t>
              </a:r>
            </a:p>
          </p:txBody>
        </p:sp>
        <p:sp>
          <p:nvSpPr>
            <p:cNvPr id="41001" name="Line 46">
              <a:extLst>
                <a:ext uri="{FF2B5EF4-FFF2-40B4-BE49-F238E27FC236}">
                  <a16:creationId xmlns:a16="http://schemas.microsoft.com/office/drawing/2014/main" id="{018BCD3F-2E77-421C-805C-C4E20EDC159A}"/>
                </a:ext>
              </a:extLst>
            </p:cNvPr>
            <p:cNvSpPr>
              <a:spLocks noChangeShapeType="1"/>
            </p:cNvSpPr>
            <p:nvPr/>
          </p:nvSpPr>
          <p:spPr bwMode="auto">
            <a:xfrm>
              <a:off x="4320" y="2976"/>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1002" name="Text Box 47">
              <a:extLst>
                <a:ext uri="{FF2B5EF4-FFF2-40B4-BE49-F238E27FC236}">
                  <a16:creationId xmlns:a16="http://schemas.microsoft.com/office/drawing/2014/main" id="{39C68C83-EA0D-46C7-8C37-4446C9523734}"/>
                </a:ext>
              </a:extLst>
            </p:cNvPr>
            <p:cNvSpPr txBox="1">
              <a:spLocks noChangeArrowheads="1"/>
            </p:cNvSpPr>
            <p:nvPr/>
          </p:nvSpPr>
          <p:spPr bwMode="auto">
            <a:xfrm>
              <a:off x="3936" y="3216"/>
              <a:ext cx="862"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b="1">
                  <a:solidFill>
                    <a:srgbClr val="2F1311"/>
                  </a:solidFill>
                </a:rPr>
                <a:t>Epidemiological</a:t>
              </a:r>
            </a:p>
            <a:p>
              <a:pPr fontAlgn="base">
                <a:spcBef>
                  <a:spcPct val="0"/>
                </a:spcBef>
                <a:spcAft>
                  <a:spcPct val="0"/>
                </a:spcAft>
              </a:pPr>
              <a:r>
                <a:rPr lang="en-US" altLang="en-US" sz="1200" b="1">
                  <a:solidFill>
                    <a:srgbClr val="2F1311"/>
                  </a:solidFill>
                </a:rPr>
                <a:t>Investigation &amp;</a:t>
              </a:r>
            </a:p>
            <a:p>
              <a:pPr fontAlgn="base">
                <a:spcBef>
                  <a:spcPct val="0"/>
                </a:spcBef>
                <a:spcAft>
                  <a:spcPct val="0"/>
                </a:spcAft>
              </a:pPr>
              <a:r>
                <a:rPr lang="en-US" altLang="en-US" sz="1200" b="1">
                  <a:solidFill>
                    <a:srgbClr val="2F1311"/>
                  </a:solidFill>
                </a:rPr>
                <a:t>containment</a:t>
              </a:r>
            </a:p>
          </p:txBody>
        </p:sp>
      </p:grpSp>
      <p:sp>
        <p:nvSpPr>
          <p:cNvPr id="40965" name="Line 49">
            <a:extLst>
              <a:ext uri="{FF2B5EF4-FFF2-40B4-BE49-F238E27FC236}">
                <a16:creationId xmlns:a16="http://schemas.microsoft.com/office/drawing/2014/main" id="{45A21EBC-A166-491B-B100-892A7C5B79C2}"/>
              </a:ext>
            </a:extLst>
          </p:cNvPr>
          <p:cNvSpPr>
            <a:spLocks noChangeShapeType="1"/>
          </p:cNvSpPr>
          <p:nvPr/>
        </p:nvSpPr>
        <p:spPr bwMode="auto">
          <a:xfrm flipV="1">
            <a:off x="2971800" y="5181600"/>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66" name="Line 50">
            <a:extLst>
              <a:ext uri="{FF2B5EF4-FFF2-40B4-BE49-F238E27FC236}">
                <a16:creationId xmlns:a16="http://schemas.microsoft.com/office/drawing/2014/main" id="{33C715DC-81F3-4420-9236-CA3E0FAB2294}"/>
              </a:ext>
            </a:extLst>
          </p:cNvPr>
          <p:cNvSpPr>
            <a:spLocks noChangeShapeType="1"/>
          </p:cNvSpPr>
          <p:nvPr/>
        </p:nvSpPr>
        <p:spPr bwMode="auto">
          <a:xfrm>
            <a:off x="2971800" y="53340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67" name="Line 51">
            <a:extLst>
              <a:ext uri="{FF2B5EF4-FFF2-40B4-BE49-F238E27FC236}">
                <a16:creationId xmlns:a16="http://schemas.microsoft.com/office/drawing/2014/main" id="{BD894086-1749-498D-BD69-AEC49DF347DA}"/>
              </a:ext>
            </a:extLst>
          </p:cNvPr>
          <p:cNvSpPr>
            <a:spLocks noChangeShapeType="1"/>
          </p:cNvSpPr>
          <p:nvPr/>
        </p:nvSpPr>
        <p:spPr bwMode="auto">
          <a:xfrm>
            <a:off x="2971800" y="5334000"/>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KE">
              <a:solidFill>
                <a:srgbClr val="2F1311"/>
              </a:solidFill>
              <a:latin typeface="Arial" panose="020B0604020202020204" pitchFamily="34" charset="0"/>
              <a:cs typeface="Arial" panose="020B0604020202020204" pitchFamily="34" charset="0"/>
            </a:endParaRPr>
          </a:p>
        </p:txBody>
      </p:sp>
      <p:sp>
        <p:nvSpPr>
          <p:cNvPr id="40968" name="Text Box 52">
            <a:extLst>
              <a:ext uri="{FF2B5EF4-FFF2-40B4-BE49-F238E27FC236}">
                <a16:creationId xmlns:a16="http://schemas.microsoft.com/office/drawing/2014/main" id="{43E7E28B-1156-49BB-BAD8-64242AF0F241}"/>
              </a:ext>
            </a:extLst>
          </p:cNvPr>
          <p:cNvSpPr txBox="1">
            <a:spLocks noChangeArrowheads="1"/>
          </p:cNvSpPr>
          <p:nvPr/>
        </p:nvSpPr>
        <p:spPr bwMode="auto">
          <a:xfrm>
            <a:off x="3184525" y="5011739"/>
            <a:ext cx="6746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000">
                <a:solidFill>
                  <a:srgbClr val="2F1311"/>
                </a:solidFill>
              </a:rPr>
              <a:t>standard</a:t>
            </a:r>
          </a:p>
        </p:txBody>
      </p:sp>
      <p:sp>
        <p:nvSpPr>
          <p:cNvPr id="40969" name="Text Box 53">
            <a:extLst>
              <a:ext uri="{FF2B5EF4-FFF2-40B4-BE49-F238E27FC236}">
                <a16:creationId xmlns:a16="http://schemas.microsoft.com/office/drawing/2014/main" id="{42FEE4B8-5A14-4373-B309-CBDEEC5E675F}"/>
              </a:ext>
            </a:extLst>
          </p:cNvPr>
          <p:cNvSpPr txBox="1">
            <a:spLocks noChangeArrowheads="1"/>
          </p:cNvSpPr>
          <p:nvPr/>
        </p:nvSpPr>
        <p:spPr bwMode="auto">
          <a:xfrm>
            <a:off x="3184525" y="5164139"/>
            <a:ext cx="4524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000">
                <a:solidFill>
                  <a:srgbClr val="2F1311"/>
                </a:solidFill>
              </a:rPr>
              <a:t>strict</a:t>
            </a:r>
          </a:p>
        </p:txBody>
      </p:sp>
      <p:sp>
        <p:nvSpPr>
          <p:cNvPr id="40970" name="Text Box 54">
            <a:extLst>
              <a:ext uri="{FF2B5EF4-FFF2-40B4-BE49-F238E27FC236}">
                <a16:creationId xmlns:a16="http://schemas.microsoft.com/office/drawing/2014/main" id="{080D1847-8921-40BD-8DB9-DED77288F454}"/>
              </a:ext>
            </a:extLst>
          </p:cNvPr>
          <p:cNvSpPr txBox="1">
            <a:spLocks noChangeArrowheads="1"/>
          </p:cNvSpPr>
          <p:nvPr/>
        </p:nvSpPr>
        <p:spPr bwMode="auto">
          <a:xfrm>
            <a:off x="3200400" y="5334001"/>
            <a:ext cx="7318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000">
                <a:solidFill>
                  <a:srgbClr val="2F1311"/>
                </a:solidFill>
              </a:rPr>
              <a:t>protective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blinds(horizontal)">
                                      <p:cBhvr>
                                        <p:cTn id="7" dur="500"/>
                                        <p:tgtEl>
                                          <p:spTgt spid="33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12" dur="500"/>
                                        <p:tgtEl>
                                          <p:spTgt spid="3379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33794"/>
                                        </p:tgtEl>
                                        <p:attrNameLst>
                                          <p:attrName>style.visibility</p:attrName>
                                        </p:attrNameLst>
                                      </p:cBhvr>
                                      <p:to>
                                        <p:strVal val="visible"/>
                                      </p:to>
                                    </p:set>
                                    <p:animEffect transition="in" filter="blinds(horizontal)">
                                      <p:cBhvr>
                                        <p:cTn id="17" dur="500"/>
                                        <p:tgtEl>
                                          <p:spTgt spid="337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3840"/>
                                        </p:tgtEl>
                                        <p:attrNameLst>
                                          <p:attrName>style.visibility</p:attrName>
                                        </p:attrNameLst>
                                      </p:cBhvr>
                                      <p:to>
                                        <p:strVal val="visible"/>
                                      </p:to>
                                    </p:set>
                                    <p:animEffect transition="in" filter="blinds(horizontal)">
                                      <p:cBhvr>
                                        <p:cTn id="22" dur="500"/>
                                        <p:tgtEl>
                                          <p:spTgt spid="33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p:bldP spid="33794" grpId="1"/>
      <p:bldP spid="33795" grpId="0" build="p"/>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F5D3696B-1D4E-4E37-B619-08BC78BA3BA4}"/>
              </a:ext>
            </a:extLst>
          </p:cNvPr>
          <p:cNvSpPr>
            <a:spLocks noGrp="1" noChangeArrowheads="1"/>
          </p:cNvSpPr>
          <p:nvPr>
            <p:ph type="title"/>
          </p:nvPr>
        </p:nvSpPr>
        <p:spPr/>
        <p:txBody>
          <a:bodyPr/>
          <a:lstStyle/>
          <a:p>
            <a:pPr eaLnBrk="1" hangingPunct="1"/>
            <a:r>
              <a:rPr lang="en-US" altLang="en-US" b="1"/>
              <a:t>Evaluation of control</a:t>
            </a:r>
          </a:p>
        </p:txBody>
      </p:sp>
      <p:sp>
        <p:nvSpPr>
          <p:cNvPr id="41987" name="Rectangle 3">
            <a:extLst>
              <a:ext uri="{FF2B5EF4-FFF2-40B4-BE49-F238E27FC236}">
                <a16:creationId xmlns:a16="http://schemas.microsoft.com/office/drawing/2014/main" id="{A567403D-9529-4D77-B953-DE555685F525}"/>
              </a:ext>
            </a:extLst>
          </p:cNvPr>
          <p:cNvSpPr>
            <a:spLocks noGrp="1" noChangeArrowheads="1"/>
          </p:cNvSpPr>
          <p:nvPr>
            <p:ph type="body" idx="1"/>
          </p:nvPr>
        </p:nvSpPr>
        <p:spPr>
          <a:xfrm>
            <a:off x="1787525" y="1598614"/>
            <a:ext cx="7386638" cy="5030787"/>
          </a:xfrm>
        </p:spPr>
        <p:txBody>
          <a:bodyPr/>
          <a:lstStyle/>
          <a:p>
            <a:pPr eaLnBrk="1" hangingPunct="1">
              <a:lnSpc>
                <a:spcPct val="80000"/>
              </a:lnSpc>
            </a:pPr>
            <a:r>
              <a:rPr lang="en-US" altLang="en-US" sz="2000"/>
              <a:t>Evaluation is the process by which results are compared with the intended objectives, or more simply the assessment of how well a program is performing.</a:t>
            </a:r>
          </a:p>
          <a:p>
            <a:pPr eaLnBrk="1" hangingPunct="1">
              <a:lnSpc>
                <a:spcPct val="80000"/>
              </a:lnSpc>
            </a:pPr>
            <a:r>
              <a:rPr lang="en-US" altLang="en-US" sz="2000"/>
              <a:t> </a:t>
            </a:r>
          </a:p>
          <a:p>
            <a:pPr eaLnBrk="1" hangingPunct="1">
              <a:lnSpc>
                <a:spcPct val="80000"/>
              </a:lnSpc>
            </a:pPr>
            <a:r>
              <a:rPr lang="en-US" altLang="en-US" sz="2000"/>
              <a:t>Evaluation should always be considered during the planning and implementation stages of a program or activity. </a:t>
            </a:r>
          </a:p>
          <a:p>
            <a:pPr eaLnBrk="1" hangingPunct="1">
              <a:lnSpc>
                <a:spcPct val="80000"/>
              </a:lnSpc>
            </a:pPr>
            <a:endParaRPr lang="en-US" altLang="en-US" sz="2000"/>
          </a:p>
          <a:p>
            <a:pPr eaLnBrk="1" hangingPunct="1">
              <a:lnSpc>
                <a:spcPct val="80000"/>
              </a:lnSpc>
            </a:pPr>
            <a:r>
              <a:rPr lang="en-US" altLang="en-US" sz="2000"/>
              <a:t>Evaluation may be crucial in identifying the health benefits derived (impact on morbidity, mortality, sequelae, patient satisfaction). </a:t>
            </a:r>
          </a:p>
          <a:p>
            <a:pPr eaLnBrk="1" hangingPunct="1">
              <a:lnSpc>
                <a:spcPct val="80000"/>
              </a:lnSpc>
            </a:pPr>
            <a:endParaRPr lang="en-US" altLang="en-US" sz="2000"/>
          </a:p>
          <a:p>
            <a:pPr eaLnBrk="1" hangingPunct="1">
              <a:lnSpc>
                <a:spcPct val="80000"/>
              </a:lnSpc>
            </a:pPr>
            <a:r>
              <a:rPr lang="en-US" altLang="en-US" sz="2000"/>
              <a:t>Evaluation can be useful inidentifying performance difficulties. </a:t>
            </a:r>
          </a:p>
          <a:p>
            <a:pPr eaLnBrk="1" hangingPunct="1">
              <a:lnSpc>
                <a:spcPct val="80000"/>
              </a:lnSpc>
            </a:pPr>
            <a:endParaRPr lang="en-US" altLang="en-US" sz="2000"/>
          </a:p>
          <a:p>
            <a:pPr eaLnBrk="1" hangingPunct="1">
              <a:lnSpc>
                <a:spcPct val="80000"/>
              </a:lnSpc>
            </a:pPr>
            <a:r>
              <a:rPr lang="en-US" altLang="en-US" sz="2000"/>
              <a:t>Evaluation studies may also be carried out to generate information for other purposes, e.g., to attract attention to a problem, extension of control activities, training and patient management, etc. </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CAA77B2-9A37-480F-8C58-29AE186812C8}"/>
              </a:ext>
            </a:extLst>
          </p:cNvPr>
          <p:cNvSpPr>
            <a:spLocks noGrp="1" noChangeArrowheads="1"/>
          </p:cNvSpPr>
          <p:nvPr>
            <p:ph type="title"/>
          </p:nvPr>
        </p:nvSpPr>
        <p:spPr/>
        <p:txBody>
          <a:bodyPr/>
          <a:lstStyle/>
          <a:p>
            <a:pPr eaLnBrk="1" hangingPunct="1"/>
            <a:r>
              <a:rPr lang="en-US" altLang="en-US"/>
              <a:t>To summarize</a:t>
            </a:r>
          </a:p>
        </p:txBody>
      </p:sp>
      <p:sp>
        <p:nvSpPr>
          <p:cNvPr id="43011" name="Rectangle 3">
            <a:extLst>
              <a:ext uri="{FF2B5EF4-FFF2-40B4-BE49-F238E27FC236}">
                <a16:creationId xmlns:a16="http://schemas.microsoft.com/office/drawing/2014/main" id="{A7CD8E98-8CA5-4104-AD59-24CDED6485EA}"/>
              </a:ext>
            </a:extLst>
          </p:cNvPr>
          <p:cNvSpPr>
            <a:spLocks noGrp="1" noChangeArrowheads="1"/>
          </p:cNvSpPr>
          <p:nvPr>
            <p:ph type="body" idx="1"/>
          </p:nvPr>
        </p:nvSpPr>
        <p:spPr>
          <a:xfrm>
            <a:off x="1787525" y="1598614"/>
            <a:ext cx="7386638" cy="4954587"/>
          </a:xfrm>
        </p:spPr>
        <p:txBody>
          <a:bodyPr/>
          <a:lstStyle/>
          <a:p>
            <a:pPr eaLnBrk="1" hangingPunct="1">
              <a:lnSpc>
                <a:spcPct val="80000"/>
              </a:lnSpc>
            </a:pPr>
            <a:r>
              <a:rPr lang="en-US" altLang="en-US" sz="2000"/>
              <a:t>The goals of medicine are to promote health, to preserve health, to restore health when it is impaired, and to minimize suffering and distress. </a:t>
            </a:r>
          </a:p>
          <a:p>
            <a:pPr eaLnBrk="1" hangingPunct="1">
              <a:lnSpc>
                <a:spcPct val="80000"/>
              </a:lnSpc>
              <a:buFontTx/>
              <a:buNone/>
            </a:pPr>
            <a:endParaRPr lang="en-US" altLang="en-US" sz="2000"/>
          </a:p>
          <a:p>
            <a:pPr eaLnBrk="1" hangingPunct="1">
              <a:lnSpc>
                <a:spcPct val="80000"/>
              </a:lnSpc>
            </a:pPr>
            <a:r>
              <a:rPr lang="en-US" altLang="en-US" sz="2000"/>
              <a:t>These goals are embodied in the word "prevention" </a:t>
            </a:r>
          </a:p>
          <a:p>
            <a:pPr eaLnBrk="1" hangingPunct="1">
              <a:lnSpc>
                <a:spcPct val="80000"/>
              </a:lnSpc>
              <a:buFontTx/>
              <a:buNone/>
            </a:pPr>
            <a:endParaRPr lang="en-US" altLang="en-US" sz="2000"/>
          </a:p>
          <a:p>
            <a:pPr eaLnBrk="1" hangingPunct="1">
              <a:lnSpc>
                <a:spcPct val="80000"/>
              </a:lnSpc>
            </a:pPr>
            <a:r>
              <a:rPr lang="en-US" altLang="en-US" sz="2000"/>
              <a:t>Successful prevention depends upon a knowledge of causation, dynamics of transmission, identification of risk factors and risk groups, availability of prophylactic or early detection and treatment measures, an organization for applying these measures to appropriate persons or groups, and continuous evaluation of and development of procedures applied </a:t>
            </a:r>
          </a:p>
          <a:p>
            <a:pPr eaLnBrk="1" hangingPunct="1">
              <a:lnSpc>
                <a:spcPct val="80000"/>
              </a:lnSpc>
              <a:buFontTx/>
              <a:buNone/>
            </a:pPr>
            <a:endParaRPr lang="en-US" altLang="en-US" sz="2000"/>
          </a:p>
          <a:p>
            <a:pPr eaLnBrk="1" hangingPunct="1">
              <a:lnSpc>
                <a:spcPct val="80000"/>
              </a:lnSpc>
            </a:pPr>
            <a:r>
              <a:rPr lang="en-US" altLang="en-US" sz="2000"/>
              <a:t>The objective of preventive medicine is to intercept or oppose the "cause" and thereby the disease process. This epidemiological concept permits the inclusion of treatment as one of the modes of intervention</a:t>
            </a:r>
          </a:p>
          <a:p>
            <a:pPr eaLnBrk="1" hangingPunct="1">
              <a:lnSpc>
                <a:spcPct val="80000"/>
              </a:lnSpc>
            </a:pPr>
            <a:endParaRPr lang="en-US" altLang="en-US" sz="200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9325F10-86A5-4DE2-8F00-AD1F8EC47B6A}"/>
              </a:ext>
            </a:extLst>
          </p:cNvPr>
          <p:cNvSpPr>
            <a:spLocks noGrp="1" noChangeArrowheads="1"/>
          </p:cNvSpPr>
          <p:nvPr>
            <p:ph type="title"/>
          </p:nvPr>
        </p:nvSpPr>
        <p:spPr/>
        <p:txBody>
          <a:bodyPr/>
          <a:lstStyle/>
          <a:p>
            <a:pPr eaLnBrk="1" hangingPunct="1"/>
            <a:r>
              <a:rPr lang="en-US" altLang="en-US"/>
              <a:t>EXERCISE</a:t>
            </a:r>
          </a:p>
        </p:txBody>
      </p:sp>
      <p:sp>
        <p:nvSpPr>
          <p:cNvPr id="34819" name="Rectangle 3">
            <a:extLst>
              <a:ext uri="{FF2B5EF4-FFF2-40B4-BE49-F238E27FC236}">
                <a16:creationId xmlns:a16="http://schemas.microsoft.com/office/drawing/2014/main" id="{309782AA-FF0D-41D9-82C3-C237C7C4B085}"/>
              </a:ext>
            </a:extLst>
          </p:cNvPr>
          <p:cNvSpPr>
            <a:spLocks noGrp="1" noChangeArrowheads="1"/>
          </p:cNvSpPr>
          <p:nvPr>
            <p:ph type="body" idx="1"/>
          </p:nvPr>
        </p:nvSpPr>
        <p:spPr>
          <a:xfrm>
            <a:off x="1752600" y="1219200"/>
            <a:ext cx="7386638" cy="4497388"/>
          </a:xfrm>
        </p:spPr>
        <p:txBody>
          <a:bodyPr/>
          <a:lstStyle/>
          <a:p>
            <a:pPr eaLnBrk="1" hangingPunct="1">
              <a:lnSpc>
                <a:spcPct val="80000"/>
              </a:lnSpc>
            </a:pPr>
            <a:r>
              <a:rPr lang="en-US" altLang="en-US" sz="2400"/>
              <a:t>Match the following statements. Each option may be selected once, more than once, or not at all:</a:t>
            </a:r>
          </a:p>
          <a:p>
            <a:pPr eaLnBrk="1" hangingPunct="1">
              <a:lnSpc>
                <a:spcPct val="80000"/>
              </a:lnSpc>
            </a:pPr>
            <a:r>
              <a:rPr lang="en-US" altLang="en-US" sz="2400"/>
              <a:t>(a) performing carotid endarterectomy in a patient with transient ischemic attack</a:t>
            </a:r>
          </a:p>
          <a:p>
            <a:pPr eaLnBrk="1" hangingPunct="1">
              <a:lnSpc>
                <a:spcPct val="80000"/>
              </a:lnSpc>
            </a:pPr>
            <a:r>
              <a:rPr lang="en-US" altLang="en-US" sz="2400"/>
              <a:t>(b) recommending regular physical activity to a patient with no known medical problem</a:t>
            </a:r>
          </a:p>
          <a:p>
            <a:pPr eaLnBrk="1" hangingPunct="1">
              <a:lnSpc>
                <a:spcPct val="80000"/>
              </a:lnSpc>
            </a:pPr>
            <a:r>
              <a:rPr lang="en-US" altLang="en-US" sz="2400"/>
              <a:t>(C) vaccinating a health care worker against hepatitis B</a:t>
            </a:r>
          </a:p>
          <a:p>
            <a:pPr eaLnBrk="1" hangingPunct="1">
              <a:lnSpc>
                <a:spcPct val="80000"/>
              </a:lnSpc>
            </a:pPr>
            <a:r>
              <a:rPr lang="en-US" altLang="en-US" sz="2400"/>
              <a:t>(d) giving isoniazid for 1 yr to a 28-year-old medical student with a positive PPD tuberculin skin test.</a:t>
            </a:r>
          </a:p>
          <a:p>
            <a:pPr eaLnBrk="1" hangingPunct="1">
              <a:lnSpc>
                <a:spcPct val="80000"/>
              </a:lnSpc>
            </a:pPr>
            <a:r>
              <a:rPr lang="en-US" altLang="en-US" sz="2400"/>
              <a:t>1. primary prevention        2. secondary prevention</a:t>
            </a:r>
          </a:p>
          <a:p>
            <a:pPr eaLnBrk="1" hangingPunct="1">
              <a:lnSpc>
                <a:spcPct val="80000"/>
              </a:lnSpc>
            </a:pPr>
            <a:r>
              <a:rPr lang="en-US" altLang="en-US" sz="2400"/>
              <a:t>3. tertiary prevention         4. health promotion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anim calcmode="lin" valueType="num">
                                      <p:cBhvr>
                                        <p:cTn id="7" dur="1000" fill="hold"/>
                                        <p:tgtEl>
                                          <p:spTgt spid="34818"/>
                                        </p:tgtEl>
                                        <p:attrNameLst>
                                          <p:attrName>ppt_w</p:attrName>
                                        </p:attrNameLst>
                                      </p:cBhvr>
                                      <p:tavLst>
                                        <p:tav tm="0">
                                          <p:val>
                                            <p:strVal val="#ppt_w*0.70"/>
                                          </p:val>
                                        </p:tav>
                                        <p:tav tm="100000">
                                          <p:val>
                                            <p:strVal val="#ppt_w"/>
                                          </p:val>
                                        </p:tav>
                                      </p:tavLst>
                                    </p:anim>
                                    <p:anim calcmode="lin" valueType="num">
                                      <p:cBhvr>
                                        <p:cTn id="8" dur="1000" fill="hold"/>
                                        <p:tgtEl>
                                          <p:spTgt spid="34818"/>
                                        </p:tgtEl>
                                        <p:attrNameLst>
                                          <p:attrName>ppt_h</p:attrName>
                                        </p:attrNameLst>
                                      </p:cBhvr>
                                      <p:tavLst>
                                        <p:tav tm="0">
                                          <p:val>
                                            <p:strVal val="#ppt_h"/>
                                          </p:val>
                                        </p:tav>
                                        <p:tav tm="100000">
                                          <p:val>
                                            <p:strVal val="#ppt_h"/>
                                          </p:val>
                                        </p:tav>
                                      </p:tavLst>
                                    </p:anim>
                                    <p:animEffect transition="in" filter="fade">
                                      <p:cBhvr>
                                        <p:cTn id="9" dur="1000"/>
                                        <p:tgtEl>
                                          <p:spTgt spid="3481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4819">
                                            <p:txEl>
                                              <p:pRg st="0" end="0"/>
                                            </p:txEl>
                                          </p:spTgt>
                                        </p:tgtEl>
                                        <p:attrNameLst>
                                          <p:attrName>style.visibility</p:attrName>
                                        </p:attrNameLst>
                                      </p:cBhvr>
                                      <p:to>
                                        <p:strVal val="visible"/>
                                      </p:to>
                                    </p:set>
                                    <p:anim calcmode="lin" valueType="num">
                                      <p:cBhvr>
                                        <p:cTn id="14" dur="1000" fill="hold"/>
                                        <p:tgtEl>
                                          <p:spTgt spid="34819">
                                            <p:txEl>
                                              <p:pRg st="0" end="0"/>
                                            </p:txEl>
                                          </p:spTgt>
                                        </p:tgtEl>
                                        <p:attrNameLst>
                                          <p:attrName>ppt_w</p:attrName>
                                        </p:attrNameLst>
                                      </p:cBhvr>
                                      <p:tavLst>
                                        <p:tav tm="0">
                                          <p:val>
                                            <p:strVal val="#ppt_w*0.70"/>
                                          </p:val>
                                        </p:tav>
                                        <p:tav tm="100000">
                                          <p:val>
                                            <p:strVal val="#ppt_w"/>
                                          </p:val>
                                        </p:tav>
                                      </p:tavLst>
                                    </p:anim>
                                    <p:anim calcmode="lin" valueType="num">
                                      <p:cBhvr>
                                        <p:cTn id="15" dur="1000" fill="hold"/>
                                        <p:tgtEl>
                                          <p:spTgt spid="34819">
                                            <p:txEl>
                                              <p:pRg st="0" end="0"/>
                                            </p:txEl>
                                          </p:spTgt>
                                        </p:tgtEl>
                                        <p:attrNameLst>
                                          <p:attrName>ppt_h</p:attrName>
                                        </p:attrNameLst>
                                      </p:cBhvr>
                                      <p:tavLst>
                                        <p:tav tm="0">
                                          <p:val>
                                            <p:strVal val="#ppt_h"/>
                                          </p:val>
                                        </p:tav>
                                        <p:tav tm="100000">
                                          <p:val>
                                            <p:strVal val="#ppt_h"/>
                                          </p:val>
                                        </p:tav>
                                      </p:tavLst>
                                    </p:anim>
                                    <p:animEffect transition="in" filter="fade">
                                      <p:cBhvr>
                                        <p:cTn id="16" dur="1000"/>
                                        <p:tgtEl>
                                          <p:spTgt spid="34819">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34819">
                                            <p:txEl>
                                              <p:pRg st="1" end="1"/>
                                            </p:txEl>
                                          </p:spTgt>
                                        </p:tgtEl>
                                        <p:attrNameLst>
                                          <p:attrName>style.visibility</p:attrName>
                                        </p:attrNameLst>
                                      </p:cBhvr>
                                      <p:to>
                                        <p:strVal val="visible"/>
                                      </p:to>
                                    </p:set>
                                    <p:anim calcmode="lin" valueType="num">
                                      <p:cBhvr>
                                        <p:cTn id="21" dur="1000" fill="hold"/>
                                        <p:tgtEl>
                                          <p:spTgt spid="34819">
                                            <p:txEl>
                                              <p:pRg st="1" end="1"/>
                                            </p:txEl>
                                          </p:spTgt>
                                        </p:tgtEl>
                                        <p:attrNameLst>
                                          <p:attrName>ppt_w</p:attrName>
                                        </p:attrNameLst>
                                      </p:cBhvr>
                                      <p:tavLst>
                                        <p:tav tm="0">
                                          <p:val>
                                            <p:strVal val="#ppt_w*0.70"/>
                                          </p:val>
                                        </p:tav>
                                        <p:tav tm="100000">
                                          <p:val>
                                            <p:strVal val="#ppt_w"/>
                                          </p:val>
                                        </p:tav>
                                      </p:tavLst>
                                    </p:anim>
                                    <p:anim calcmode="lin" valueType="num">
                                      <p:cBhvr>
                                        <p:cTn id="22" dur="1000" fill="hold"/>
                                        <p:tgtEl>
                                          <p:spTgt spid="34819">
                                            <p:txEl>
                                              <p:pRg st="1" end="1"/>
                                            </p:txEl>
                                          </p:spTgt>
                                        </p:tgtEl>
                                        <p:attrNameLst>
                                          <p:attrName>ppt_h</p:attrName>
                                        </p:attrNameLst>
                                      </p:cBhvr>
                                      <p:tavLst>
                                        <p:tav tm="0">
                                          <p:val>
                                            <p:strVal val="#ppt_h"/>
                                          </p:val>
                                        </p:tav>
                                        <p:tav tm="100000">
                                          <p:val>
                                            <p:strVal val="#ppt_h"/>
                                          </p:val>
                                        </p:tav>
                                      </p:tavLst>
                                    </p:anim>
                                    <p:animEffect transition="in" filter="fade">
                                      <p:cBhvr>
                                        <p:cTn id="23" dur="1000"/>
                                        <p:tgtEl>
                                          <p:spTgt spid="34819">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34819">
                                            <p:txEl>
                                              <p:pRg st="2" end="2"/>
                                            </p:txEl>
                                          </p:spTgt>
                                        </p:tgtEl>
                                        <p:attrNameLst>
                                          <p:attrName>style.visibility</p:attrName>
                                        </p:attrNameLst>
                                      </p:cBhvr>
                                      <p:to>
                                        <p:strVal val="visible"/>
                                      </p:to>
                                    </p:set>
                                    <p:anim calcmode="lin" valueType="num">
                                      <p:cBhvr>
                                        <p:cTn id="28" dur="1000" fill="hold"/>
                                        <p:tgtEl>
                                          <p:spTgt spid="34819">
                                            <p:txEl>
                                              <p:pRg st="2" end="2"/>
                                            </p:txEl>
                                          </p:spTgt>
                                        </p:tgtEl>
                                        <p:attrNameLst>
                                          <p:attrName>ppt_w</p:attrName>
                                        </p:attrNameLst>
                                      </p:cBhvr>
                                      <p:tavLst>
                                        <p:tav tm="0">
                                          <p:val>
                                            <p:strVal val="#ppt_w*0.70"/>
                                          </p:val>
                                        </p:tav>
                                        <p:tav tm="100000">
                                          <p:val>
                                            <p:strVal val="#ppt_w"/>
                                          </p:val>
                                        </p:tav>
                                      </p:tavLst>
                                    </p:anim>
                                    <p:anim calcmode="lin" valueType="num">
                                      <p:cBhvr>
                                        <p:cTn id="29" dur="1000" fill="hold"/>
                                        <p:tgtEl>
                                          <p:spTgt spid="34819">
                                            <p:txEl>
                                              <p:pRg st="2" end="2"/>
                                            </p:txEl>
                                          </p:spTgt>
                                        </p:tgtEl>
                                        <p:attrNameLst>
                                          <p:attrName>ppt_h</p:attrName>
                                        </p:attrNameLst>
                                      </p:cBhvr>
                                      <p:tavLst>
                                        <p:tav tm="0">
                                          <p:val>
                                            <p:strVal val="#ppt_h"/>
                                          </p:val>
                                        </p:tav>
                                        <p:tav tm="100000">
                                          <p:val>
                                            <p:strVal val="#ppt_h"/>
                                          </p:val>
                                        </p:tav>
                                      </p:tavLst>
                                    </p:anim>
                                    <p:animEffect transition="in" filter="fade">
                                      <p:cBhvr>
                                        <p:cTn id="30" dur="1000"/>
                                        <p:tgtEl>
                                          <p:spTgt spid="34819">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34819">
                                            <p:txEl>
                                              <p:pRg st="3" end="3"/>
                                            </p:txEl>
                                          </p:spTgt>
                                        </p:tgtEl>
                                        <p:attrNameLst>
                                          <p:attrName>style.visibility</p:attrName>
                                        </p:attrNameLst>
                                      </p:cBhvr>
                                      <p:to>
                                        <p:strVal val="visible"/>
                                      </p:to>
                                    </p:set>
                                    <p:anim calcmode="lin" valueType="num">
                                      <p:cBhvr>
                                        <p:cTn id="35" dur="1000" fill="hold"/>
                                        <p:tgtEl>
                                          <p:spTgt spid="34819">
                                            <p:txEl>
                                              <p:pRg st="3" end="3"/>
                                            </p:txEl>
                                          </p:spTgt>
                                        </p:tgtEl>
                                        <p:attrNameLst>
                                          <p:attrName>ppt_w</p:attrName>
                                        </p:attrNameLst>
                                      </p:cBhvr>
                                      <p:tavLst>
                                        <p:tav tm="0">
                                          <p:val>
                                            <p:strVal val="#ppt_w*0.70"/>
                                          </p:val>
                                        </p:tav>
                                        <p:tav tm="100000">
                                          <p:val>
                                            <p:strVal val="#ppt_w"/>
                                          </p:val>
                                        </p:tav>
                                      </p:tavLst>
                                    </p:anim>
                                    <p:anim calcmode="lin" valueType="num">
                                      <p:cBhvr>
                                        <p:cTn id="36" dur="1000" fill="hold"/>
                                        <p:tgtEl>
                                          <p:spTgt spid="34819">
                                            <p:txEl>
                                              <p:pRg st="3" end="3"/>
                                            </p:txEl>
                                          </p:spTgt>
                                        </p:tgtEl>
                                        <p:attrNameLst>
                                          <p:attrName>ppt_h</p:attrName>
                                        </p:attrNameLst>
                                      </p:cBhvr>
                                      <p:tavLst>
                                        <p:tav tm="0">
                                          <p:val>
                                            <p:strVal val="#ppt_h"/>
                                          </p:val>
                                        </p:tav>
                                        <p:tav tm="100000">
                                          <p:val>
                                            <p:strVal val="#ppt_h"/>
                                          </p:val>
                                        </p:tav>
                                      </p:tavLst>
                                    </p:anim>
                                    <p:animEffect transition="in" filter="fade">
                                      <p:cBhvr>
                                        <p:cTn id="37" dur="1000"/>
                                        <p:tgtEl>
                                          <p:spTgt spid="34819">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34819">
                                            <p:txEl>
                                              <p:pRg st="4" end="4"/>
                                            </p:txEl>
                                          </p:spTgt>
                                        </p:tgtEl>
                                        <p:attrNameLst>
                                          <p:attrName>style.visibility</p:attrName>
                                        </p:attrNameLst>
                                      </p:cBhvr>
                                      <p:to>
                                        <p:strVal val="visible"/>
                                      </p:to>
                                    </p:set>
                                    <p:anim calcmode="lin" valueType="num">
                                      <p:cBhvr>
                                        <p:cTn id="42" dur="1000" fill="hold"/>
                                        <p:tgtEl>
                                          <p:spTgt spid="34819">
                                            <p:txEl>
                                              <p:pRg st="4" end="4"/>
                                            </p:txEl>
                                          </p:spTgt>
                                        </p:tgtEl>
                                        <p:attrNameLst>
                                          <p:attrName>ppt_w</p:attrName>
                                        </p:attrNameLst>
                                      </p:cBhvr>
                                      <p:tavLst>
                                        <p:tav tm="0">
                                          <p:val>
                                            <p:strVal val="#ppt_w*0.70"/>
                                          </p:val>
                                        </p:tav>
                                        <p:tav tm="100000">
                                          <p:val>
                                            <p:strVal val="#ppt_w"/>
                                          </p:val>
                                        </p:tav>
                                      </p:tavLst>
                                    </p:anim>
                                    <p:anim calcmode="lin" valueType="num">
                                      <p:cBhvr>
                                        <p:cTn id="43" dur="1000" fill="hold"/>
                                        <p:tgtEl>
                                          <p:spTgt spid="34819">
                                            <p:txEl>
                                              <p:pRg st="4" end="4"/>
                                            </p:txEl>
                                          </p:spTgt>
                                        </p:tgtEl>
                                        <p:attrNameLst>
                                          <p:attrName>ppt_h</p:attrName>
                                        </p:attrNameLst>
                                      </p:cBhvr>
                                      <p:tavLst>
                                        <p:tav tm="0">
                                          <p:val>
                                            <p:strVal val="#ppt_h"/>
                                          </p:val>
                                        </p:tav>
                                        <p:tav tm="100000">
                                          <p:val>
                                            <p:strVal val="#ppt_h"/>
                                          </p:val>
                                        </p:tav>
                                      </p:tavLst>
                                    </p:anim>
                                    <p:animEffect transition="in" filter="fade">
                                      <p:cBhvr>
                                        <p:cTn id="44" dur="1000"/>
                                        <p:tgtEl>
                                          <p:spTgt spid="34819">
                                            <p:txEl>
                                              <p:pRg st="4" end="4"/>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5" presetClass="entr" presetSubtype="0" fill="hold" grpId="0" nodeType="clickEffect">
                                  <p:stCondLst>
                                    <p:cond delay="0"/>
                                  </p:stCondLst>
                                  <p:childTnLst>
                                    <p:set>
                                      <p:cBhvr>
                                        <p:cTn id="48" dur="1" fill="hold">
                                          <p:stCondLst>
                                            <p:cond delay="0"/>
                                          </p:stCondLst>
                                        </p:cTn>
                                        <p:tgtEl>
                                          <p:spTgt spid="34819">
                                            <p:txEl>
                                              <p:pRg st="5" end="5"/>
                                            </p:txEl>
                                          </p:spTgt>
                                        </p:tgtEl>
                                        <p:attrNameLst>
                                          <p:attrName>style.visibility</p:attrName>
                                        </p:attrNameLst>
                                      </p:cBhvr>
                                      <p:to>
                                        <p:strVal val="visible"/>
                                      </p:to>
                                    </p:set>
                                    <p:anim calcmode="lin" valueType="num">
                                      <p:cBhvr>
                                        <p:cTn id="49" dur="1000" fill="hold"/>
                                        <p:tgtEl>
                                          <p:spTgt spid="34819">
                                            <p:txEl>
                                              <p:pRg st="5" end="5"/>
                                            </p:txEl>
                                          </p:spTgt>
                                        </p:tgtEl>
                                        <p:attrNameLst>
                                          <p:attrName>ppt_w</p:attrName>
                                        </p:attrNameLst>
                                      </p:cBhvr>
                                      <p:tavLst>
                                        <p:tav tm="0">
                                          <p:val>
                                            <p:strVal val="#ppt_w*0.70"/>
                                          </p:val>
                                        </p:tav>
                                        <p:tav tm="100000">
                                          <p:val>
                                            <p:strVal val="#ppt_w"/>
                                          </p:val>
                                        </p:tav>
                                      </p:tavLst>
                                    </p:anim>
                                    <p:anim calcmode="lin" valueType="num">
                                      <p:cBhvr>
                                        <p:cTn id="50" dur="1000" fill="hold"/>
                                        <p:tgtEl>
                                          <p:spTgt spid="34819">
                                            <p:txEl>
                                              <p:pRg st="5" end="5"/>
                                            </p:txEl>
                                          </p:spTgt>
                                        </p:tgtEl>
                                        <p:attrNameLst>
                                          <p:attrName>ppt_h</p:attrName>
                                        </p:attrNameLst>
                                      </p:cBhvr>
                                      <p:tavLst>
                                        <p:tav tm="0">
                                          <p:val>
                                            <p:strVal val="#ppt_h"/>
                                          </p:val>
                                        </p:tav>
                                        <p:tav tm="100000">
                                          <p:val>
                                            <p:strVal val="#ppt_h"/>
                                          </p:val>
                                        </p:tav>
                                      </p:tavLst>
                                    </p:anim>
                                    <p:animEffect transition="in" filter="fade">
                                      <p:cBhvr>
                                        <p:cTn id="51" dur="1000"/>
                                        <p:tgtEl>
                                          <p:spTgt spid="34819">
                                            <p:txEl>
                                              <p:pRg st="5" end="5"/>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5" presetClass="entr" presetSubtype="0" fill="hold" grpId="0" nodeType="clickEffect">
                                  <p:stCondLst>
                                    <p:cond delay="0"/>
                                  </p:stCondLst>
                                  <p:childTnLst>
                                    <p:set>
                                      <p:cBhvr>
                                        <p:cTn id="55" dur="1" fill="hold">
                                          <p:stCondLst>
                                            <p:cond delay="0"/>
                                          </p:stCondLst>
                                        </p:cTn>
                                        <p:tgtEl>
                                          <p:spTgt spid="34819">
                                            <p:txEl>
                                              <p:pRg st="6" end="6"/>
                                            </p:txEl>
                                          </p:spTgt>
                                        </p:tgtEl>
                                        <p:attrNameLst>
                                          <p:attrName>style.visibility</p:attrName>
                                        </p:attrNameLst>
                                      </p:cBhvr>
                                      <p:to>
                                        <p:strVal val="visible"/>
                                      </p:to>
                                    </p:set>
                                    <p:anim calcmode="lin" valueType="num">
                                      <p:cBhvr>
                                        <p:cTn id="56" dur="1000" fill="hold"/>
                                        <p:tgtEl>
                                          <p:spTgt spid="34819">
                                            <p:txEl>
                                              <p:pRg st="6" end="6"/>
                                            </p:txEl>
                                          </p:spTgt>
                                        </p:tgtEl>
                                        <p:attrNameLst>
                                          <p:attrName>ppt_w</p:attrName>
                                        </p:attrNameLst>
                                      </p:cBhvr>
                                      <p:tavLst>
                                        <p:tav tm="0">
                                          <p:val>
                                            <p:strVal val="#ppt_w*0.70"/>
                                          </p:val>
                                        </p:tav>
                                        <p:tav tm="100000">
                                          <p:val>
                                            <p:strVal val="#ppt_w"/>
                                          </p:val>
                                        </p:tav>
                                      </p:tavLst>
                                    </p:anim>
                                    <p:anim calcmode="lin" valueType="num">
                                      <p:cBhvr>
                                        <p:cTn id="57" dur="1000" fill="hold"/>
                                        <p:tgtEl>
                                          <p:spTgt spid="34819">
                                            <p:txEl>
                                              <p:pRg st="6" end="6"/>
                                            </p:txEl>
                                          </p:spTgt>
                                        </p:tgtEl>
                                        <p:attrNameLst>
                                          <p:attrName>ppt_h</p:attrName>
                                        </p:attrNameLst>
                                      </p:cBhvr>
                                      <p:tavLst>
                                        <p:tav tm="0">
                                          <p:val>
                                            <p:strVal val="#ppt_h"/>
                                          </p:val>
                                        </p:tav>
                                        <p:tav tm="100000">
                                          <p:val>
                                            <p:strVal val="#ppt_h"/>
                                          </p:val>
                                        </p:tav>
                                      </p:tavLst>
                                    </p:anim>
                                    <p:animEffect transition="in" filter="fade">
                                      <p:cBhvr>
                                        <p:cTn id="58" dur="1000"/>
                                        <p:tgtEl>
                                          <p:spTgt spid="348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34819" grpId="0" build="p"/>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3814CF3-5203-48E8-9F10-3C42F34C46E1}"/>
              </a:ext>
            </a:extLst>
          </p:cNvPr>
          <p:cNvSpPr>
            <a:spLocks noGrp="1" noChangeArrowheads="1"/>
          </p:cNvSpPr>
          <p:nvPr>
            <p:ph type="title"/>
          </p:nvPr>
        </p:nvSpPr>
        <p:spPr/>
        <p:txBody>
          <a:bodyPr/>
          <a:lstStyle/>
          <a:p>
            <a:pPr eaLnBrk="1" hangingPunct="1"/>
            <a:r>
              <a:rPr lang="en-US" altLang="en-US"/>
              <a:t>THE END</a:t>
            </a:r>
          </a:p>
        </p:txBody>
      </p:sp>
      <p:sp>
        <p:nvSpPr>
          <p:cNvPr id="45059" name="Rectangle 3">
            <a:extLst>
              <a:ext uri="{FF2B5EF4-FFF2-40B4-BE49-F238E27FC236}">
                <a16:creationId xmlns:a16="http://schemas.microsoft.com/office/drawing/2014/main" id="{363340F1-7B3D-4E0C-A2AA-9E0DAF0F1724}"/>
              </a:ext>
            </a:extLst>
          </p:cNvPr>
          <p:cNvSpPr>
            <a:spLocks noGrp="1" noChangeArrowheads="1"/>
          </p:cNvSpPr>
          <p:nvPr>
            <p:ph type="body" idx="1"/>
          </p:nvPr>
        </p:nvSpPr>
        <p:spPr/>
        <p:txBody>
          <a:bodyPr/>
          <a:lstStyle/>
          <a:p>
            <a:pPr eaLnBrk="1" hangingPunct="1"/>
            <a:endParaRPr lang="en-US" altLang="en-US"/>
          </a:p>
        </p:txBody>
      </p:sp>
      <p:pic>
        <p:nvPicPr>
          <p:cNvPr id="29700" name="Picture 4" descr="j0240719">
            <a:extLst>
              <a:ext uri="{FF2B5EF4-FFF2-40B4-BE49-F238E27FC236}">
                <a16:creationId xmlns:a16="http://schemas.microsoft.com/office/drawing/2014/main" id="{85251F34-2E09-47E2-88F4-14E559862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600200"/>
            <a:ext cx="419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ext Box 5">
            <a:extLst>
              <a:ext uri="{FF2B5EF4-FFF2-40B4-BE49-F238E27FC236}">
                <a16:creationId xmlns:a16="http://schemas.microsoft.com/office/drawing/2014/main" id="{CFB37E3E-04D4-41FE-AD5A-8F2E0E6122FC}"/>
              </a:ext>
            </a:extLst>
          </p:cNvPr>
          <p:cNvSpPr txBox="1">
            <a:spLocks noChangeArrowheads="1"/>
          </p:cNvSpPr>
          <p:nvPr/>
        </p:nvSpPr>
        <p:spPr bwMode="auto">
          <a:xfrm>
            <a:off x="6324600" y="4648200"/>
            <a:ext cx="28892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4400">
                <a:solidFill>
                  <a:srgbClr val="F7D47D"/>
                </a:solidFill>
              </a:rPr>
              <a:t>Thank You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checkerboard(across)">
                                      <p:cBhvr>
                                        <p:cTn id="7" dur="500"/>
                                        <p:tgtEl>
                                          <p:spTgt spid="297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29701"/>
                                        </p:tgtEl>
                                        <p:attrNameLst>
                                          <p:attrName>style.visibility</p:attrName>
                                        </p:attrNameLst>
                                      </p:cBhvr>
                                      <p:to>
                                        <p:strVal val="visible"/>
                                      </p:to>
                                    </p:set>
                                    <p:animEffect transition="in" filter="wedge">
                                      <p:cBhvr>
                                        <p:cTn id="12" dur="2000"/>
                                        <p:tgtEl>
                                          <p:spTgt spid="29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p:bld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4.xml><?xml version="1.0" encoding="utf-8"?>
<a:theme xmlns:a="http://schemas.openxmlformats.org/drawingml/2006/main" name="Kimono">
  <a:themeElements>
    <a:clrScheme name="Kimono 1">
      <a:dk1>
        <a:srgbClr val="2F1311"/>
      </a:dk1>
      <a:lt1>
        <a:srgbClr val="C16059"/>
      </a:lt1>
      <a:dk2>
        <a:srgbClr val="F7D47D"/>
      </a:dk2>
      <a:lt2>
        <a:srgbClr val="000000"/>
      </a:lt2>
      <a:accent1>
        <a:srgbClr val="D5B781"/>
      </a:accent1>
      <a:accent2>
        <a:srgbClr val="79AF7D"/>
      </a:accent2>
      <a:accent3>
        <a:srgbClr val="DDB6B5"/>
      </a:accent3>
      <a:accent4>
        <a:srgbClr val="270E0D"/>
      </a:accent4>
      <a:accent5>
        <a:srgbClr val="E7D8C1"/>
      </a:accent5>
      <a:accent6>
        <a:srgbClr val="6D9E71"/>
      </a:accent6>
      <a:hlink>
        <a:srgbClr val="F0B854"/>
      </a:hlink>
      <a:folHlink>
        <a:srgbClr val="DC893E"/>
      </a:folHlink>
    </a:clrScheme>
    <a:fontScheme name="Kimon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Kimono 1">
        <a:dk1>
          <a:srgbClr val="2F1311"/>
        </a:dk1>
        <a:lt1>
          <a:srgbClr val="C16059"/>
        </a:lt1>
        <a:dk2>
          <a:srgbClr val="F7D47D"/>
        </a:dk2>
        <a:lt2>
          <a:srgbClr val="000000"/>
        </a:lt2>
        <a:accent1>
          <a:srgbClr val="D5B781"/>
        </a:accent1>
        <a:accent2>
          <a:srgbClr val="79AF7D"/>
        </a:accent2>
        <a:accent3>
          <a:srgbClr val="DDB6B5"/>
        </a:accent3>
        <a:accent4>
          <a:srgbClr val="270E0D"/>
        </a:accent4>
        <a:accent5>
          <a:srgbClr val="E7D8C1"/>
        </a:accent5>
        <a:accent6>
          <a:srgbClr val="6D9E71"/>
        </a:accent6>
        <a:hlink>
          <a:srgbClr val="F0B854"/>
        </a:hlink>
        <a:folHlink>
          <a:srgbClr val="DC893E"/>
        </a:folHlink>
      </a:clrScheme>
      <a:clrMap bg1="lt1" tx1="dk1" bg2="lt2" tx2="dk2" accent1="accent1" accent2="accent2" accent3="accent3" accent4="accent4" accent5="accent5" accent6="accent6" hlink="hlink" folHlink="folHlink"/>
    </a:extraClrScheme>
    <a:extraClrScheme>
      <a:clrScheme name="Kimono 2">
        <a:dk1>
          <a:srgbClr val="000000"/>
        </a:dk1>
        <a:lt1>
          <a:srgbClr val="FFFFFF"/>
        </a:lt1>
        <a:dk2>
          <a:srgbClr val="000000"/>
        </a:dk2>
        <a:lt2>
          <a:srgbClr val="F7D47D"/>
        </a:lt2>
        <a:accent1>
          <a:srgbClr val="C19341"/>
        </a:accent1>
        <a:accent2>
          <a:srgbClr val="60A265"/>
        </a:accent2>
        <a:accent3>
          <a:srgbClr val="AAAAAA"/>
        </a:accent3>
        <a:accent4>
          <a:srgbClr val="DADADA"/>
        </a:accent4>
        <a:accent5>
          <a:srgbClr val="DDC8B0"/>
        </a:accent5>
        <a:accent6>
          <a:srgbClr val="56925B"/>
        </a:accent6>
        <a:hlink>
          <a:srgbClr val="EB9F17"/>
        </a:hlink>
        <a:folHlink>
          <a:srgbClr val="CF7625"/>
        </a:folHlink>
      </a:clrScheme>
      <a:clrMap bg1="dk2" tx1="lt1" bg2="dk1" tx2="lt2" accent1="accent1" accent2="accent2" accent3="accent3" accent4="accent4" accent5="accent5" accent6="accent6" hlink="hlink" folHlink="folHlink"/>
    </a:extraClrScheme>
    <a:extraClrScheme>
      <a:clrScheme name="Kimono 3">
        <a:dk1>
          <a:srgbClr val="00002E"/>
        </a:dk1>
        <a:lt1>
          <a:srgbClr val="FFFFFF"/>
        </a:lt1>
        <a:dk2>
          <a:srgbClr val="003399"/>
        </a:dk2>
        <a:lt2>
          <a:srgbClr val="F4BC40"/>
        </a:lt2>
        <a:accent1>
          <a:srgbClr val="9280CC"/>
        </a:accent1>
        <a:accent2>
          <a:srgbClr val="BD51A1"/>
        </a:accent2>
        <a:accent3>
          <a:srgbClr val="AAADCA"/>
        </a:accent3>
        <a:accent4>
          <a:srgbClr val="DADADA"/>
        </a:accent4>
        <a:accent5>
          <a:srgbClr val="C7C0E2"/>
        </a:accent5>
        <a:accent6>
          <a:srgbClr val="AB4991"/>
        </a:accent6>
        <a:hlink>
          <a:srgbClr val="CC66FF"/>
        </a:hlink>
        <a:folHlink>
          <a:srgbClr val="824F99"/>
        </a:folHlink>
      </a:clrScheme>
      <a:clrMap bg1="dk2" tx1="lt1" bg2="dk1" tx2="lt2" accent1="accent1" accent2="accent2" accent3="accent3" accent4="accent4" accent5="accent5" accent6="accent6" hlink="hlink" folHlink="folHlink"/>
    </a:extraClrScheme>
    <a:extraClrScheme>
      <a:clrScheme name="Kimono 4">
        <a:dk1>
          <a:srgbClr val="2F1311"/>
        </a:dk1>
        <a:lt1>
          <a:srgbClr val="7A8E9C"/>
        </a:lt1>
        <a:dk2>
          <a:srgbClr val="FDF4DF"/>
        </a:dk2>
        <a:lt2>
          <a:srgbClr val="3E4A52"/>
        </a:lt2>
        <a:accent1>
          <a:srgbClr val="81ABA0"/>
        </a:accent1>
        <a:accent2>
          <a:srgbClr val="CD817B"/>
        </a:accent2>
        <a:accent3>
          <a:srgbClr val="BEC6CB"/>
        </a:accent3>
        <a:accent4>
          <a:srgbClr val="270E0D"/>
        </a:accent4>
        <a:accent5>
          <a:srgbClr val="C1D2CD"/>
        </a:accent5>
        <a:accent6>
          <a:srgbClr val="BA746F"/>
        </a:accent6>
        <a:hlink>
          <a:srgbClr val="BEBC76"/>
        </a:hlink>
        <a:folHlink>
          <a:srgbClr val="668E69"/>
        </a:folHlink>
      </a:clrScheme>
      <a:clrMap bg1="lt1" tx1="dk1" bg2="lt2" tx2="dk2" accent1="accent1" accent2="accent2" accent3="accent3" accent4="accent4" accent5="accent5" accent6="accent6" hlink="hlink" folHlink="folHlink"/>
    </a:extraClrScheme>
    <a:extraClrScheme>
      <a:clrScheme name="Kimono 5">
        <a:dk1>
          <a:srgbClr val="2F1311"/>
        </a:dk1>
        <a:lt1>
          <a:srgbClr val="7A9C7C"/>
        </a:lt1>
        <a:dk2>
          <a:srgbClr val="FBEBC3"/>
        </a:dk2>
        <a:lt2>
          <a:srgbClr val="3C503D"/>
        </a:lt2>
        <a:accent1>
          <a:srgbClr val="D5B781"/>
        </a:accent1>
        <a:accent2>
          <a:srgbClr val="C16059"/>
        </a:accent2>
        <a:accent3>
          <a:srgbClr val="BECBBF"/>
        </a:accent3>
        <a:accent4>
          <a:srgbClr val="270E0D"/>
        </a:accent4>
        <a:accent5>
          <a:srgbClr val="E7D8C1"/>
        </a:accent5>
        <a:accent6>
          <a:srgbClr val="AF5650"/>
        </a:accent6>
        <a:hlink>
          <a:srgbClr val="F0B854"/>
        </a:hlink>
        <a:folHlink>
          <a:srgbClr val="DC893E"/>
        </a:folHlink>
      </a:clrScheme>
      <a:clrMap bg1="lt1" tx1="dk1" bg2="lt2" tx2="dk2" accent1="accent1" accent2="accent2" accent3="accent3" accent4="accent4" accent5="accent5" accent6="accent6" hlink="hlink" folHlink="folHlink"/>
    </a:extraClrScheme>
    <a:extraClrScheme>
      <a:clrScheme name="Kimono 6">
        <a:dk1>
          <a:srgbClr val="000000"/>
        </a:dk1>
        <a:lt1>
          <a:srgbClr val="D9EFE0"/>
        </a:lt1>
        <a:dk2>
          <a:srgbClr val="30605A"/>
        </a:dk2>
        <a:lt2>
          <a:srgbClr val="15331E"/>
        </a:lt2>
        <a:accent1>
          <a:srgbClr val="A4C6BA"/>
        </a:accent1>
        <a:accent2>
          <a:srgbClr val="558F7D"/>
        </a:accent2>
        <a:accent3>
          <a:srgbClr val="E9F6ED"/>
        </a:accent3>
        <a:accent4>
          <a:srgbClr val="000000"/>
        </a:accent4>
        <a:accent5>
          <a:srgbClr val="CFDFD9"/>
        </a:accent5>
        <a:accent6>
          <a:srgbClr val="4C8171"/>
        </a:accent6>
        <a:hlink>
          <a:srgbClr val="C1C177"/>
        </a:hlink>
        <a:folHlink>
          <a:srgbClr val="A08F5E"/>
        </a:folHlink>
      </a:clrScheme>
      <a:clrMap bg1="lt1" tx1="dk1" bg2="lt2" tx2="dk2" accent1="accent1" accent2="accent2" accent3="accent3" accent4="accent4" accent5="accent5" accent6="accent6" hlink="hlink" folHlink="folHlink"/>
    </a:extraClrScheme>
    <a:extraClrScheme>
      <a:clrScheme name="Kimono 7">
        <a:dk1>
          <a:srgbClr val="2F1311"/>
        </a:dk1>
        <a:lt1>
          <a:srgbClr val="CFC7B5"/>
        </a:lt1>
        <a:dk2>
          <a:srgbClr val="853F35"/>
        </a:dk2>
        <a:lt2>
          <a:srgbClr val="8E7F5E"/>
        </a:lt2>
        <a:accent1>
          <a:srgbClr val="EBD2A5"/>
        </a:accent1>
        <a:accent2>
          <a:srgbClr val="A5C9A8"/>
        </a:accent2>
        <a:accent3>
          <a:srgbClr val="E4E0D7"/>
        </a:accent3>
        <a:accent4>
          <a:srgbClr val="270E0D"/>
        </a:accent4>
        <a:accent5>
          <a:srgbClr val="F3E5CF"/>
        </a:accent5>
        <a:accent6>
          <a:srgbClr val="95B698"/>
        </a:accent6>
        <a:hlink>
          <a:srgbClr val="C68510"/>
        </a:hlink>
        <a:folHlink>
          <a:srgbClr val="E5A871"/>
        </a:folHlink>
      </a:clrScheme>
      <a:clrMap bg1="lt1" tx1="dk1" bg2="lt2" tx2="dk2" accent1="accent1" accent2="accent2" accent3="accent3" accent4="accent4" accent5="accent5" accent6="accent6" hlink="hlink" folHlink="folHlink"/>
    </a:extraClrScheme>
    <a:extraClrScheme>
      <a:clrScheme name="Kimono 8">
        <a:dk1>
          <a:srgbClr val="000000"/>
        </a:dk1>
        <a:lt1>
          <a:srgbClr val="F0EED8"/>
        </a:lt1>
        <a:dk2>
          <a:srgbClr val="666729"/>
        </a:dk2>
        <a:lt2>
          <a:srgbClr val="3F3B19"/>
        </a:lt2>
        <a:accent1>
          <a:srgbClr val="E9D47D"/>
        </a:accent1>
        <a:accent2>
          <a:srgbClr val="D4DD91"/>
        </a:accent2>
        <a:accent3>
          <a:srgbClr val="F6F5E9"/>
        </a:accent3>
        <a:accent4>
          <a:srgbClr val="000000"/>
        </a:accent4>
        <a:accent5>
          <a:srgbClr val="F2E6BF"/>
        </a:accent5>
        <a:accent6>
          <a:srgbClr val="C0C883"/>
        </a:accent6>
        <a:hlink>
          <a:srgbClr val="9D943F"/>
        </a:hlink>
        <a:folHlink>
          <a:srgbClr val="C9C1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10511</Words>
  <Application>Microsoft Office PowerPoint</Application>
  <PresentationFormat>Widescreen</PresentationFormat>
  <Paragraphs>990</Paragraphs>
  <Slides>180</Slides>
  <Notes>1</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180</vt:i4>
      </vt:variant>
    </vt:vector>
  </HeadingPairs>
  <TitlesOfParts>
    <vt:vector size="196" baseType="lpstr">
      <vt:lpstr>Arial</vt:lpstr>
      <vt:lpstr>Calibri</vt:lpstr>
      <vt:lpstr>Calibri Light</vt:lpstr>
      <vt:lpstr>Franklin Gothic Book</vt:lpstr>
      <vt:lpstr>Helvetica</vt:lpstr>
      <vt:lpstr>Lucida Sans Unicode</vt:lpstr>
      <vt:lpstr>Perpetua</vt:lpstr>
      <vt:lpstr>Tahoma</vt:lpstr>
      <vt:lpstr>Times New Roman</vt:lpstr>
      <vt:lpstr>Verdana</vt:lpstr>
      <vt:lpstr>Wingdings 2</vt:lpstr>
      <vt:lpstr>Wingdings 3</vt:lpstr>
      <vt:lpstr>1_Office Theme</vt:lpstr>
      <vt:lpstr>Equity</vt:lpstr>
      <vt:lpstr>Concourse</vt:lpstr>
      <vt:lpstr>Kimono</vt:lpstr>
      <vt:lpstr>LIFE STLYE DISESASES</vt:lpstr>
      <vt:lpstr>LIFESTLYE DISEASES</vt:lpstr>
      <vt:lpstr>        WHAT ARE        LIFESTYLE        DISEASES?</vt:lpstr>
      <vt:lpstr>PowerPoint Presentation</vt:lpstr>
      <vt:lpstr>PowerPoint Presentation</vt:lpstr>
      <vt:lpstr>PowerPoint Presentation</vt:lpstr>
      <vt:lpstr>PowerPoint Presentation</vt:lpstr>
      <vt:lpstr>PowerPoint Presentation</vt:lpstr>
      <vt:lpstr>UNCONTROLLABLE FACTORS</vt:lpstr>
      <vt:lpstr>UNCONTROLLABLE FACTORS</vt:lpstr>
      <vt:lpstr>THE DISEASES – CHRONIC DISEASES</vt:lpstr>
      <vt:lpstr>PowerPoint Presentation</vt:lpstr>
      <vt:lpstr>STROKE</vt:lpstr>
      <vt:lpstr>HIGH BLOOD PRESSURE</vt:lpstr>
      <vt:lpstr>HEART ATTACK</vt:lpstr>
      <vt:lpstr>ARTERIOSCLEROSIS</vt:lpstr>
      <vt:lpstr>DETECTION OF CARDIOVASCULAR DISEASES</vt:lpstr>
      <vt:lpstr>PREVENTION</vt:lpstr>
      <vt:lpstr>PREVENTION</vt:lpstr>
      <vt:lpstr>TREATMENT</vt:lpstr>
      <vt:lpstr>CANCER</vt:lpstr>
      <vt:lpstr>CANCER</vt:lpstr>
      <vt:lpstr>CANCER</vt:lpstr>
      <vt:lpstr>CANCER PREVENTION</vt:lpstr>
      <vt:lpstr>CANCER PREVENTION</vt:lpstr>
      <vt:lpstr>DIABETES</vt:lpstr>
      <vt:lpstr>DIABETES</vt:lpstr>
      <vt:lpstr>DIABETES TYPE 1</vt:lpstr>
      <vt:lpstr>DIABETES TYPE 2</vt:lpstr>
      <vt:lpstr>DIABETES PREVENTION</vt:lpstr>
      <vt:lpstr>GESTATIONAL DIABETES</vt:lpstr>
      <vt:lpstr>PowerPoint Presentation</vt:lpstr>
      <vt:lpstr>Lifestyle Diseases</vt:lpstr>
      <vt:lpstr>Lifestyle Diseases?</vt:lpstr>
      <vt:lpstr>What Causes Lifestyle Diseases?</vt:lpstr>
      <vt:lpstr>Life style diseases: Risk factors (1)</vt:lpstr>
      <vt:lpstr>Life style diseases: Risk factors (2)</vt:lpstr>
      <vt:lpstr>Lifestyle Diseases</vt:lpstr>
      <vt:lpstr>Cardiovascular Diseases</vt:lpstr>
      <vt:lpstr>Cardiovascular Diseases</vt:lpstr>
      <vt:lpstr>Risk Factors to CVDs</vt:lpstr>
      <vt:lpstr>Types of Cardiovascular Diseases</vt:lpstr>
      <vt:lpstr>Stroke</vt:lpstr>
      <vt:lpstr>High Blood Pressure</vt:lpstr>
      <vt:lpstr>Heart Attack</vt:lpstr>
      <vt:lpstr>Atherosclerosis</vt:lpstr>
      <vt:lpstr>Detecting CVD</vt:lpstr>
      <vt:lpstr>Treating CVD</vt:lpstr>
      <vt:lpstr>Preventing CVD</vt:lpstr>
      <vt:lpstr>  Cancer</vt:lpstr>
      <vt:lpstr>Cancer</vt:lpstr>
      <vt:lpstr>Causes of cancer</vt:lpstr>
      <vt:lpstr>Types of Cancer </vt:lpstr>
      <vt:lpstr>Detecting   Treating</vt:lpstr>
      <vt:lpstr>Preventing Cancer</vt:lpstr>
      <vt:lpstr>Diabetes</vt:lpstr>
      <vt:lpstr>Hereditary Diseases</vt:lpstr>
      <vt:lpstr>Immune Disorders</vt:lpstr>
      <vt:lpstr>Autoimmune Diseases</vt:lpstr>
      <vt:lpstr>LIFESTYLE DISEASES</vt:lpstr>
      <vt:lpstr>LIFE STYLE DISEASES  INTRODUCTION</vt:lpstr>
      <vt:lpstr>LIFE STYLE DISEASES  INTRODUCTION CONT’D</vt:lpstr>
      <vt:lpstr>LIFE STYLE DISEASES  INTRODUCTION CONT’D</vt:lpstr>
      <vt:lpstr>LIFE STYLE DISEASES  INTRODUCTION CONT’D</vt:lpstr>
      <vt:lpstr>LIFE STYLE DISEASES  INTRODUCTION CONT’D</vt:lpstr>
      <vt:lpstr>LIFE STYLE DISEASES  INTRODUCTION CONT’D</vt:lpstr>
      <vt:lpstr>LIFE STYLE DISEASES  INTRODUCTION CONT’D</vt:lpstr>
      <vt:lpstr>LIFE STYLE DISEASES  INTRODUCTION CONT’D</vt:lpstr>
      <vt:lpstr>LIFE STYLE DISEASES  INTRODUCTION CONT’D</vt:lpstr>
      <vt:lpstr>LIFE STYLE DISEASES  INTRODUCTION CONT’D</vt:lpstr>
      <vt:lpstr>LIFE STYLE DISEASES  INTRODUCTION CONT’D</vt:lpstr>
      <vt:lpstr>LIFE STYLE DISEASES  INTRODUCTION CONT’D</vt:lpstr>
      <vt:lpstr>LIFE STYLE DISEASES  INTRODUCTION CONT’D</vt:lpstr>
      <vt:lpstr>LIFE STYLE DISEASES  INTRODUCTION CONT’D</vt:lpstr>
      <vt:lpstr>LIFE STYLE DISEASES  INTRODUCTION CONT’D</vt:lpstr>
      <vt:lpstr>CARDIOVASCULAR DISEASE </vt:lpstr>
      <vt:lpstr>What is cardiovascular disease? CONT’D</vt:lpstr>
      <vt:lpstr>What is cardiovascular disease cont’d</vt:lpstr>
      <vt:lpstr>What is cardiovascular disease cont’d</vt:lpstr>
      <vt:lpstr>What is cardiovascular disease cont’d</vt:lpstr>
      <vt:lpstr> ATHEROSCLEROSIS</vt:lpstr>
      <vt:lpstr> ATHEROSCLEROSIS cont’d</vt:lpstr>
      <vt:lpstr> ATHEROSCLEROSIS cont’d</vt:lpstr>
      <vt:lpstr> ATHEROSCLEROSIS cont’d</vt:lpstr>
      <vt:lpstr>ATHEROSCLEROSIS cont’d</vt:lpstr>
      <vt:lpstr>ATHEROSCLEROSIS cont’d</vt:lpstr>
      <vt:lpstr>ATHEROSCLEROSIS cont’d</vt:lpstr>
      <vt:lpstr>ATHEROSCLEROSIS cont’d</vt:lpstr>
      <vt:lpstr>ATHEROSCLEROSIS cont’d</vt:lpstr>
      <vt:lpstr>PREVENTION OF HEART DISEASE</vt:lpstr>
      <vt:lpstr>PREVENTION OF HEART DISEASE CONT’D(healthy diet)</vt:lpstr>
      <vt:lpstr>PREVENTION OF HEART DISEASE CONT’D(healthy diet)</vt:lpstr>
      <vt:lpstr>PREVENTION OF HEART DISEASE CONT’D(healthy diet)</vt:lpstr>
      <vt:lpstr>PREVENTION OF HEART DISEASE CONT’D</vt:lpstr>
      <vt:lpstr>PREVENTION OF HEART DISEASE CONT’D</vt:lpstr>
      <vt:lpstr>PREVENTION OF HEART DISEASE CONT’D</vt:lpstr>
      <vt:lpstr>PREVENTION OF HEART DISEASE CONT’D</vt:lpstr>
      <vt:lpstr>PREVENTION OF HEART DISEASE CONT’D</vt:lpstr>
      <vt:lpstr>PREVENTION OF HEART DISEASE CONT’D</vt:lpstr>
      <vt:lpstr>PREVENTION OF HEART DISEASE CONT’D</vt:lpstr>
      <vt:lpstr>PREVENTION OF HEART DISEASE CONT’D</vt:lpstr>
      <vt:lpstr>PREVENTION OF HEART DISEASE CONT’D</vt:lpstr>
      <vt:lpstr>PREVENTION OF HEART DISEASE CONT’D</vt:lpstr>
      <vt:lpstr>PREVENTION OF HEART DISEASE CONT’D</vt:lpstr>
      <vt:lpstr>TREATMENT</vt:lpstr>
      <vt:lpstr>CONVENTIONAL TREATMENT </vt:lpstr>
      <vt:lpstr>CONVENTIONAL TREATMENT CONT’D</vt:lpstr>
      <vt:lpstr>CONVENTIONAL TREATMENT CONT’D</vt:lpstr>
      <vt:lpstr>CONVENTIONAL TREATMENT CONT’D</vt:lpstr>
      <vt:lpstr>CONVENTIONAL TREATMENT CONT’D</vt:lpstr>
      <vt:lpstr>CONVENTIONAL TREATMENT CONT’D</vt:lpstr>
      <vt:lpstr>CONVENTIONAL TREATMENT CONT’D</vt:lpstr>
      <vt:lpstr>CONVENTIONAL TREATMENT CONT’D</vt:lpstr>
      <vt:lpstr>CONVENTIONAL TREATMENT CONT’D</vt:lpstr>
      <vt:lpstr>CONVENTIONAL TREATMENT CONT’D</vt:lpstr>
      <vt:lpstr>CONVENTIONAL TREATMENT CONT’D</vt:lpstr>
      <vt:lpstr>ALTERNATIVE TREATMENT </vt:lpstr>
      <vt:lpstr>ALTERNATIVE TREATMENT CONT’D</vt:lpstr>
      <vt:lpstr>ALTERNATIVE TREATMENT CONT’D</vt:lpstr>
      <vt:lpstr>ALTERNATIVE TREATMENT CONT’D</vt:lpstr>
      <vt:lpstr>ALTERNATIVE TREATMENT CONT’D</vt:lpstr>
      <vt:lpstr>ALTERNATIVE TREATMENT CONT’D</vt:lpstr>
      <vt:lpstr>ALTERNATIVE TREATMENT CONT’D</vt:lpstr>
      <vt:lpstr>ALTERNATIVE TREATMENT CONT’D</vt:lpstr>
      <vt:lpstr>ALTERNATIVE TREATMENT CONT’D</vt:lpstr>
      <vt:lpstr>ALTERNATIVE TREATMENT CONT’D</vt:lpstr>
      <vt:lpstr>ALTERNATIVE TREATMENT CONT’D</vt:lpstr>
      <vt:lpstr>ALTERNATIVE TREATMENT CONT’D</vt:lpstr>
      <vt:lpstr>HYPERTENSION</vt:lpstr>
      <vt:lpstr>HYPERTENSION CONT’D</vt:lpstr>
      <vt:lpstr>CAUSES OF HIGH BLOOD PRESSURE</vt:lpstr>
      <vt:lpstr>CAUSES OF HIGH BLOOD PRESSURE CONT’D</vt:lpstr>
      <vt:lpstr>CAUSES OF HIGH BLOOD PRESSURE CONT’D</vt:lpstr>
      <vt:lpstr>CAUSES OF HIGH BLOOD PRESSURE CONT’D</vt:lpstr>
      <vt:lpstr>SYMPTOMS OF HIGH BLOOD PRESSURE </vt:lpstr>
      <vt:lpstr>TREATMENT OF HIGH BLOOD PRESSURE </vt:lpstr>
      <vt:lpstr>TREATMENT CONT’D</vt:lpstr>
      <vt:lpstr>TREATMENT CONT’D</vt:lpstr>
      <vt:lpstr>TREATMENT CONT’D</vt:lpstr>
      <vt:lpstr>PowerPoint Presentation</vt:lpstr>
      <vt:lpstr>PREVENTION</vt:lpstr>
      <vt:lpstr>Prevention; Definition and Concept</vt:lpstr>
      <vt:lpstr>Determinants of Prevention</vt:lpstr>
      <vt:lpstr>Preventable causes of disease</vt:lpstr>
      <vt:lpstr>Leavell’s Levels of Prevention</vt:lpstr>
      <vt:lpstr>Levels of prevention</vt:lpstr>
      <vt:lpstr>Primordial prevention</vt:lpstr>
      <vt:lpstr>Primordial prevention (cont.)</vt:lpstr>
      <vt:lpstr>Primordial prevention (cont.)</vt:lpstr>
      <vt:lpstr>Primary prevention</vt:lpstr>
      <vt:lpstr>Primary prevention (cont.)</vt:lpstr>
      <vt:lpstr>PowerPoint Presentation</vt:lpstr>
      <vt:lpstr>Health promotion</vt:lpstr>
      <vt:lpstr>Approaches for Primary Prevention</vt:lpstr>
      <vt:lpstr>Population (mass) strategy</vt:lpstr>
      <vt:lpstr>High -risk strategy </vt:lpstr>
      <vt:lpstr>Secondary prevention</vt:lpstr>
      <vt:lpstr>Secondary prevention (cont.)</vt:lpstr>
      <vt:lpstr>Early diagnosis and treatment</vt:lpstr>
      <vt:lpstr>Tertiary prevention</vt:lpstr>
      <vt:lpstr>Disability limitation</vt:lpstr>
      <vt:lpstr>Impairment</vt:lpstr>
      <vt:lpstr>Disability</vt:lpstr>
      <vt:lpstr>Handicap</vt:lpstr>
      <vt:lpstr>Rehabilitation </vt:lpstr>
      <vt:lpstr>PowerPoint Presentation</vt:lpstr>
      <vt:lpstr>PowerPoint Presentation</vt:lpstr>
      <vt:lpstr>CONCEPTS OF CONTROL</vt:lpstr>
      <vt:lpstr>Control</vt:lpstr>
      <vt:lpstr>PowerPoint Presentation</vt:lpstr>
      <vt:lpstr>Disease Elimination </vt:lpstr>
      <vt:lpstr>Disease Eradication</vt:lpstr>
      <vt:lpstr>Monitoring</vt:lpstr>
      <vt:lpstr>Surveillance </vt:lpstr>
      <vt:lpstr>Objectives of Surveillance</vt:lpstr>
      <vt:lpstr>Control of infectious diseases (the 4 “C”s</vt:lpstr>
      <vt:lpstr>Evaluation of control</vt:lpstr>
      <vt:lpstr>To summarize</vt:lpstr>
      <vt:lpstr>EXERCISE</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STLYE DISESASES</dc:title>
  <dc:creator>User</dc:creator>
  <cp:lastModifiedBy>HP</cp:lastModifiedBy>
  <cp:revision>1</cp:revision>
  <dcterms:created xsi:type="dcterms:W3CDTF">2024-01-15T07:50:22Z</dcterms:created>
  <dcterms:modified xsi:type="dcterms:W3CDTF">2024-10-25T06:06:18Z</dcterms:modified>
</cp:coreProperties>
</file>
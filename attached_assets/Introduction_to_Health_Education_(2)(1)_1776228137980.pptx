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21"/>
  </p:notesMasterIdLst>
  <p:handoutMasterIdLst>
    <p:handoutMasterId r:id="rId22"/>
  </p:handoutMasterIdLst>
  <p:sldIdLst>
    <p:sldId id="256" r:id="rId2"/>
    <p:sldId id="304" r:id="rId3"/>
    <p:sldId id="291" r:id="rId4"/>
    <p:sldId id="292" r:id="rId5"/>
    <p:sldId id="293" r:id="rId6"/>
    <p:sldId id="294" r:id="rId7"/>
    <p:sldId id="295" r:id="rId8"/>
    <p:sldId id="296" r:id="rId9"/>
    <p:sldId id="297" r:id="rId10"/>
    <p:sldId id="285" r:id="rId11"/>
    <p:sldId id="305" r:id="rId12"/>
    <p:sldId id="306" r:id="rId13"/>
    <p:sldId id="307" r:id="rId14"/>
    <p:sldId id="308" r:id="rId15"/>
    <p:sldId id="309" r:id="rId16"/>
    <p:sldId id="287" r:id="rId17"/>
    <p:sldId id="288" r:id="rId18"/>
    <p:sldId id="289" r:id="rId19"/>
    <p:sldId id="282" r:id="rId20"/>
  </p:sldIdLst>
  <p:sldSz cx="9144000" cy="6858000" type="screen4x3"/>
  <p:notesSz cx="9874250" cy="6797675"/>
  <p:defaultTextStyle>
    <a:defPPr>
      <a:defRPr lang="en-US"/>
    </a:defPPr>
    <a:lvl1pPr algn="l" rtl="0" eaLnBrk="0" fontAlgn="base" hangingPunct="0">
      <a:spcBef>
        <a:spcPct val="0"/>
      </a:spcBef>
      <a:spcAft>
        <a:spcPct val="0"/>
      </a:spcAft>
      <a:defRPr kern="1200">
        <a:solidFill>
          <a:schemeClr val="tx1"/>
        </a:solidFill>
        <a:latin typeface="Verdana"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C6C2"/>
    <a:srgbClr val="1208D6"/>
    <a:srgbClr val="FE9F98"/>
    <a:srgbClr val="FFDE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62" autoAdjust="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278386" cy="339716"/>
          </a:xfrm>
          <a:prstGeom prst="rect">
            <a:avLst/>
          </a:prstGeom>
        </p:spPr>
        <p:txBody>
          <a:bodyPr vert="horz" lIns="91440" tIns="45720" rIns="91440" bIns="45720" rtlCol="0"/>
          <a:lstStyle>
            <a:lvl1pPr algn="l">
              <a:defRPr sz="1200"/>
            </a:lvl1pPr>
          </a:lstStyle>
          <a:p>
            <a:r>
              <a:rPr lang="en-US" smtClean="0"/>
              <a:t>HEALTH EDUCATION - HIV AND AIDS</a:t>
            </a:r>
            <a:endParaRPr lang="en-US"/>
          </a:p>
        </p:txBody>
      </p:sp>
      <p:sp>
        <p:nvSpPr>
          <p:cNvPr id="3" name="Date Placeholder 2"/>
          <p:cNvSpPr>
            <a:spLocks noGrp="1"/>
          </p:cNvSpPr>
          <p:nvPr>
            <p:ph type="dt" sz="quarter" idx="1"/>
          </p:nvPr>
        </p:nvSpPr>
        <p:spPr>
          <a:xfrm>
            <a:off x="5593585" y="1"/>
            <a:ext cx="4278386" cy="339716"/>
          </a:xfrm>
          <a:prstGeom prst="rect">
            <a:avLst/>
          </a:prstGeom>
        </p:spPr>
        <p:txBody>
          <a:bodyPr vert="horz" lIns="91440" tIns="45720" rIns="91440" bIns="45720" rtlCol="0"/>
          <a:lstStyle>
            <a:lvl1pPr algn="r">
              <a:defRPr sz="1200"/>
            </a:lvl1pPr>
          </a:lstStyle>
          <a:p>
            <a:fld id="{B6D6F83E-55E6-4348-820B-BB627E8BEECC}" type="datetimeFigureOut">
              <a:rPr lang="en-US" smtClean="0"/>
              <a:t>4/18/2021</a:t>
            </a:fld>
            <a:endParaRPr lang="en-US"/>
          </a:p>
        </p:txBody>
      </p:sp>
      <p:sp>
        <p:nvSpPr>
          <p:cNvPr id="4" name="Footer Placeholder 3"/>
          <p:cNvSpPr>
            <a:spLocks noGrp="1"/>
          </p:cNvSpPr>
          <p:nvPr>
            <p:ph type="ftr" sz="quarter" idx="2"/>
          </p:nvPr>
        </p:nvSpPr>
        <p:spPr>
          <a:xfrm>
            <a:off x="0" y="6456841"/>
            <a:ext cx="4278386" cy="339716"/>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593585" y="6456841"/>
            <a:ext cx="4278386" cy="339716"/>
          </a:xfrm>
          <a:prstGeom prst="rect">
            <a:avLst/>
          </a:prstGeom>
        </p:spPr>
        <p:txBody>
          <a:bodyPr vert="horz" lIns="91440" tIns="45720" rIns="91440" bIns="45720" rtlCol="0" anchor="b"/>
          <a:lstStyle>
            <a:lvl1pPr algn="r">
              <a:defRPr sz="1200"/>
            </a:lvl1pPr>
          </a:lstStyle>
          <a:p>
            <a:fld id="{E82A5828-F7B6-4686-8CFF-B1F222920142}" type="slidenum">
              <a:rPr lang="en-US" smtClean="0"/>
              <a:t>‹#›</a:t>
            </a:fld>
            <a:endParaRPr lang="en-US"/>
          </a:p>
        </p:txBody>
      </p:sp>
    </p:spTree>
    <p:extLst>
      <p:ext uri="{BB962C8B-B14F-4D97-AF65-F5344CB8AC3E}">
        <p14:creationId xmlns:p14="http://schemas.microsoft.com/office/powerpoint/2010/main" val="204763853"/>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78896" cy="340512"/>
          </a:xfrm>
          <a:prstGeom prst="rect">
            <a:avLst/>
          </a:prstGeom>
        </p:spPr>
        <p:txBody>
          <a:bodyPr vert="horz" lIns="91440" tIns="45720" rIns="91440" bIns="45720" rtlCol="0"/>
          <a:lstStyle>
            <a:lvl1pPr algn="l">
              <a:defRPr sz="1200"/>
            </a:lvl1pPr>
          </a:lstStyle>
          <a:p>
            <a:r>
              <a:rPr lang="en-US" smtClean="0"/>
              <a:t>HEALTH EDUCATION - HIV AND AIDS</a:t>
            </a:r>
            <a:endParaRPr lang="en-US"/>
          </a:p>
        </p:txBody>
      </p:sp>
      <p:sp>
        <p:nvSpPr>
          <p:cNvPr id="3" name="Date Placeholder 2"/>
          <p:cNvSpPr>
            <a:spLocks noGrp="1"/>
          </p:cNvSpPr>
          <p:nvPr>
            <p:ph type="dt" idx="1"/>
          </p:nvPr>
        </p:nvSpPr>
        <p:spPr>
          <a:xfrm>
            <a:off x="5593730" y="0"/>
            <a:ext cx="4278896" cy="340512"/>
          </a:xfrm>
          <a:prstGeom prst="rect">
            <a:avLst/>
          </a:prstGeom>
        </p:spPr>
        <p:txBody>
          <a:bodyPr vert="horz" lIns="91440" tIns="45720" rIns="91440" bIns="45720" rtlCol="0"/>
          <a:lstStyle>
            <a:lvl1pPr algn="r">
              <a:defRPr sz="1200"/>
            </a:lvl1pPr>
          </a:lstStyle>
          <a:p>
            <a:fld id="{079D597A-A381-46E0-B95B-24A0114CCB64}" type="datetimeFigureOut">
              <a:rPr lang="en-US" smtClean="0"/>
              <a:t>4/18/2021</a:t>
            </a:fld>
            <a:endParaRPr lang="en-US"/>
          </a:p>
        </p:txBody>
      </p:sp>
      <p:sp>
        <p:nvSpPr>
          <p:cNvPr id="4" name="Slide Image Placeholder 3"/>
          <p:cNvSpPr>
            <a:spLocks noGrp="1" noRot="1" noChangeAspect="1"/>
          </p:cNvSpPr>
          <p:nvPr>
            <p:ph type="sldImg" idx="2"/>
          </p:nvPr>
        </p:nvSpPr>
        <p:spPr>
          <a:xfrm>
            <a:off x="3236913" y="509588"/>
            <a:ext cx="3400425" cy="25495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86939" y="3229366"/>
            <a:ext cx="7900374" cy="305832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457164"/>
            <a:ext cx="4278896" cy="33894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593730" y="6457164"/>
            <a:ext cx="4278896" cy="338942"/>
          </a:xfrm>
          <a:prstGeom prst="rect">
            <a:avLst/>
          </a:prstGeom>
        </p:spPr>
        <p:txBody>
          <a:bodyPr vert="horz" lIns="91440" tIns="45720" rIns="91440" bIns="45720" rtlCol="0" anchor="b"/>
          <a:lstStyle>
            <a:lvl1pPr algn="r">
              <a:defRPr sz="1200"/>
            </a:lvl1pPr>
          </a:lstStyle>
          <a:p>
            <a:fld id="{0BE5E682-0576-43B8-BE9B-DB65574F48F0}" type="slidenum">
              <a:rPr lang="en-US" smtClean="0"/>
              <a:t>‹#›</a:t>
            </a:fld>
            <a:endParaRPr lang="en-US"/>
          </a:p>
        </p:txBody>
      </p:sp>
    </p:spTree>
    <p:extLst>
      <p:ext uri="{BB962C8B-B14F-4D97-AF65-F5344CB8AC3E}">
        <p14:creationId xmlns:p14="http://schemas.microsoft.com/office/powerpoint/2010/main" val="1945144704"/>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28600" y="2889250"/>
            <a:ext cx="8610600" cy="201613"/>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w="9525">
              <a:noFill/>
              <a:miter lim="800000"/>
              <a:headEnd/>
              <a:tailEnd/>
            </a:ln>
            <a:effectLst/>
          </p:spPr>
          <p:txBody>
            <a:bodyPr wrap="none" anchor="ctr"/>
            <a:lstStyle/>
            <a:p>
              <a:pPr>
                <a:defRPr/>
              </a:pPr>
              <a:endParaRPr lang="en-US"/>
            </a:p>
          </p:txBody>
        </p:sp>
        <p:sp>
          <p:nvSpPr>
            <p:cNvPr id="6" name="Rectangle 9"/>
            <p:cNvSpPr>
              <a:spLocks noChangeArrowheads="1"/>
            </p:cNvSpPr>
            <p:nvPr userDrawn="1"/>
          </p:nvSpPr>
          <p:spPr bwMode="auto">
            <a:xfrm>
              <a:off x="1952" y="1680"/>
              <a:ext cx="1808" cy="144"/>
            </a:xfrm>
            <a:prstGeom prst="rect">
              <a:avLst/>
            </a:prstGeom>
            <a:solidFill>
              <a:schemeClr val="accent1"/>
            </a:solidFill>
            <a:ln w="9525">
              <a:noFill/>
              <a:miter lim="800000"/>
              <a:headEnd/>
              <a:tailEnd/>
            </a:ln>
            <a:effectLst/>
          </p:spPr>
          <p:txBody>
            <a:bodyPr wrap="none" anchor="ctr"/>
            <a:lstStyle/>
            <a:p>
              <a:pPr>
                <a:defRPr/>
              </a:pPr>
              <a:endParaRPr lang="en-US"/>
            </a:p>
          </p:txBody>
        </p:sp>
        <p:sp>
          <p:nvSpPr>
            <p:cNvPr id="7" name="Rectangle 10"/>
            <p:cNvSpPr>
              <a:spLocks noChangeArrowheads="1"/>
            </p:cNvSpPr>
            <p:nvPr userDrawn="1"/>
          </p:nvSpPr>
          <p:spPr bwMode="auto">
            <a:xfrm>
              <a:off x="3760" y="1680"/>
              <a:ext cx="1808" cy="144"/>
            </a:xfrm>
            <a:prstGeom prst="rect">
              <a:avLst/>
            </a:prstGeom>
            <a:solidFill>
              <a:schemeClr val="tx2"/>
            </a:solidFill>
            <a:ln w="9525">
              <a:noFill/>
              <a:miter lim="800000"/>
              <a:headEnd/>
              <a:tailEnd/>
            </a:ln>
            <a:effectLst/>
          </p:spPr>
          <p:txBody>
            <a:bodyPr wrap="none" anchor="ctr"/>
            <a:lstStyle/>
            <a:p>
              <a:pPr>
                <a:defRPr/>
              </a:pPr>
              <a:endParaRPr lang="en-US"/>
            </a:p>
          </p:txBody>
        </p:sp>
      </p:grpSp>
      <p:sp>
        <p:nvSpPr>
          <p:cNvPr id="31746" name="Rectangle 2"/>
          <p:cNvSpPr>
            <a:spLocks noGrp="1" noChangeArrowheads="1"/>
          </p:cNvSpPr>
          <p:nvPr>
            <p:ph type="ctrTitle"/>
          </p:nvPr>
        </p:nvSpPr>
        <p:spPr>
          <a:xfrm>
            <a:off x="685800" y="982662"/>
            <a:ext cx="7772400" cy="1830387"/>
          </a:xfrm>
        </p:spPr>
        <p:txBody>
          <a:bodyPr/>
          <a:lstStyle>
            <a:lvl1pPr algn="ctr">
              <a:defRPr sz="5800"/>
            </a:lvl1pPr>
          </a:lstStyle>
          <a:p>
            <a:r>
              <a:rPr lang="en-US" dirty="0" smtClean="0"/>
              <a:t>Click to edit Master title style</a:t>
            </a:r>
            <a:endParaRPr lang="en-US" dirty="0"/>
          </a:p>
        </p:txBody>
      </p:sp>
      <p:sp>
        <p:nvSpPr>
          <p:cNvPr id="31747" name="Rectangle 3"/>
          <p:cNvSpPr>
            <a:spLocks noGrp="1" noChangeArrowheads="1"/>
          </p:cNvSpPr>
          <p:nvPr>
            <p:ph type="subTitle" idx="1"/>
          </p:nvPr>
        </p:nvSpPr>
        <p:spPr>
          <a:xfrm>
            <a:off x="1371600" y="3270250"/>
            <a:ext cx="6400800" cy="2209800"/>
          </a:xfrm>
        </p:spPr>
        <p:txBody>
          <a:bodyPr/>
          <a:lstStyle>
            <a:lvl1pPr marL="0" indent="0" algn="ctr">
              <a:buFont typeface="Wingdings" pitchFamily="2" charset="2"/>
              <a:buNone/>
              <a:defRPr sz="3000"/>
            </a:lvl1pPr>
          </a:lstStyle>
          <a:p>
            <a:r>
              <a:rPr lang="en-US" smtClean="0"/>
              <a:t>Click to edit Master subtitle style</a:t>
            </a:r>
            <a:endParaRPr lang="en-US"/>
          </a:p>
        </p:txBody>
      </p:sp>
      <p:pic>
        <p:nvPicPr>
          <p:cNvPr id="1026" name="Picture 2" descr="http://www.tukenya.ac.ke/sites/all/themes/venture_theme/images/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600200" y="30163"/>
            <a:ext cx="5105400" cy="952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C5A17AC-B3B6-4663-98DA-F1EC00EE3245}" type="slidenum">
              <a:rPr lang="en-US"/>
              <a:pPr>
                <a:defRPr/>
              </a:pPr>
              <a:t>‹#›</a:t>
            </a:fld>
            <a:endParaRPr lang="en-US"/>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9FE7EBE-1E58-4FE5-9AB8-098AA1BD890D}" type="slidenum">
              <a:rPr lang="en-US"/>
              <a:pPr>
                <a:defRPr/>
              </a:pPr>
              <a:t>‹#›</a:t>
            </a:fld>
            <a:endParaRPr lang="en-US"/>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184275"/>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184275"/>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C311A55-C9DF-4A24-8C85-EDAC06407E25}" type="slidenum">
              <a:rPr lang="en-US"/>
              <a:pPr>
                <a:defRPr/>
              </a:pPr>
              <a:t>‹#›</a:t>
            </a:fld>
            <a:endParaRPr lang="en-US"/>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181113F7-5F46-4AE1-B2C9-8B51A3D551DF}" type="slidenum">
              <a:rPr lang="en-US"/>
              <a:pPr>
                <a:defRPr/>
              </a:pPr>
              <a:t>‹#›</a:t>
            </a:fld>
            <a:endParaRPr lang="en-US"/>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9FA63D4-F110-4FE5-B49D-A63963F29ECE}" type="slidenum">
              <a:rPr lang="en-US"/>
              <a:pPr>
                <a:defRPr/>
              </a:pPr>
              <a:t>‹#›</a:t>
            </a:fld>
            <a:endParaRPr lang="en-US"/>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0572C0B8-960C-40C4-AF51-FC712388880A}" type="slidenum">
              <a:rPr lang="en-US"/>
              <a:pPr>
                <a:defRPr/>
              </a:pPr>
              <a:t>‹#›</a:t>
            </a:fld>
            <a:endParaRPr lang="en-US"/>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F5EA21F-7234-4181-98E0-E03428E254C2}" type="slidenum">
              <a:rPr lang="en-US"/>
              <a:pPr>
                <a:defRPr/>
              </a:pPr>
              <a:t>‹#›</a:t>
            </a:fld>
            <a:endParaRPr lang="en-US"/>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00095F0-22D0-4E4E-9832-90FBB0E53DC0}" type="slidenum">
              <a:rPr lang="en-US"/>
              <a:pPr>
                <a:defRPr/>
              </a:pPr>
              <a:t>‹#›</a:t>
            </a:fld>
            <a:endParaRPr lang="en-US"/>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8BD4E73-EA00-4E00-84C5-C8C9C5C19EAA}" type="slidenum">
              <a:rPr lang="en-US"/>
              <a:pPr>
                <a:defRPr/>
              </a:pPr>
              <a:t>‹#›</a:t>
            </a:fld>
            <a:endParaRPr lang="en-US"/>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2400"/>
            <a:ext cx="2057400" cy="5867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52400"/>
            <a:ext cx="6019800"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7A669A9-EE1B-4572-BBF1-B38C34901B19}" type="slidenum">
              <a:rPr lang="en-US"/>
              <a:pPr>
                <a:defRPr/>
              </a:pPr>
              <a:t>‹#›</a:t>
            </a:fld>
            <a:endParaRPr lang="en-US"/>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152400"/>
            <a:ext cx="8229600" cy="1139825"/>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184275"/>
            <a:ext cx="82296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30724" name="Rectangle 4"/>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smtClean="0"/>
            </a:lvl1pPr>
          </a:lstStyle>
          <a:p>
            <a:pPr>
              <a:defRPr/>
            </a:pPr>
            <a:endParaRPr lang="en-US"/>
          </a:p>
        </p:txBody>
      </p:sp>
      <p:sp>
        <p:nvSpPr>
          <p:cNvPr id="30725"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smtClean="0"/>
            </a:lvl1pPr>
          </a:lstStyle>
          <a:p>
            <a:pPr>
              <a:defRPr/>
            </a:pPr>
            <a:endParaRPr lang="en-US"/>
          </a:p>
        </p:txBody>
      </p:sp>
      <p:sp>
        <p:nvSpPr>
          <p:cNvPr id="30726" name="Rectangle 6"/>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smtClean="0"/>
            </a:lvl1pPr>
          </a:lstStyle>
          <a:p>
            <a:pPr>
              <a:defRPr/>
            </a:pPr>
            <a:fld id="{067C747A-5DCD-4D6D-B446-B8A34BC8DA52}" type="slidenum">
              <a:rPr lang="en-US"/>
              <a:pPr>
                <a:defRPr/>
              </a:pPr>
              <a:t>‹#›</a:t>
            </a:fld>
            <a:endParaRPr lang="en-US"/>
          </a:p>
        </p:txBody>
      </p:sp>
      <p:sp>
        <p:nvSpPr>
          <p:cNvPr id="30727" name="Rectangle 7"/>
          <p:cNvSpPr>
            <a:spLocks noChangeArrowheads="1"/>
          </p:cNvSpPr>
          <p:nvPr/>
        </p:nvSpPr>
        <p:spPr bwMode="auto">
          <a:xfrm>
            <a:off x="0" y="0"/>
            <a:ext cx="228600" cy="2286000"/>
          </a:xfrm>
          <a:prstGeom prst="rect">
            <a:avLst/>
          </a:prstGeom>
          <a:solidFill>
            <a:schemeClr val="bg2"/>
          </a:solidFill>
          <a:ln w="9525">
            <a:noFill/>
            <a:miter lim="800000"/>
            <a:headEnd/>
            <a:tailEnd/>
          </a:ln>
          <a:effectLst/>
        </p:spPr>
        <p:txBody>
          <a:bodyPr wrap="none" anchor="ctr"/>
          <a:lstStyle/>
          <a:p>
            <a:pPr algn="ctr" eaLnBrk="1" hangingPunct="1">
              <a:defRPr/>
            </a:pPr>
            <a:endParaRPr lang="en-US" sz="2400">
              <a:latin typeface="Times New Roman" pitchFamily="18" charset="0"/>
            </a:endParaRPr>
          </a:p>
        </p:txBody>
      </p:sp>
      <p:sp>
        <p:nvSpPr>
          <p:cNvPr id="30729" name="Rectangle 9"/>
          <p:cNvSpPr>
            <a:spLocks noChangeArrowheads="1"/>
          </p:cNvSpPr>
          <p:nvPr/>
        </p:nvSpPr>
        <p:spPr bwMode="auto">
          <a:xfrm>
            <a:off x="0" y="2286000"/>
            <a:ext cx="228600" cy="2286000"/>
          </a:xfrm>
          <a:prstGeom prst="rect">
            <a:avLst/>
          </a:prstGeom>
          <a:solidFill>
            <a:schemeClr val="accent2"/>
          </a:solidFill>
          <a:ln w="9525">
            <a:noFill/>
            <a:miter lim="800000"/>
            <a:headEnd/>
            <a:tailEnd/>
          </a:ln>
          <a:effectLst/>
        </p:spPr>
        <p:txBody>
          <a:bodyPr wrap="none" anchor="ctr"/>
          <a:lstStyle/>
          <a:p>
            <a:pPr algn="ctr" eaLnBrk="1" hangingPunct="1">
              <a:defRPr/>
            </a:pPr>
            <a:endParaRPr lang="en-US" sz="2400">
              <a:latin typeface="Times New Roman" pitchFamily="18" charset="0"/>
            </a:endParaRPr>
          </a:p>
        </p:txBody>
      </p:sp>
      <p:sp>
        <p:nvSpPr>
          <p:cNvPr id="30730" name="Rectangle 10"/>
          <p:cNvSpPr>
            <a:spLocks noChangeArrowheads="1"/>
          </p:cNvSpPr>
          <p:nvPr/>
        </p:nvSpPr>
        <p:spPr bwMode="auto">
          <a:xfrm>
            <a:off x="0" y="4572000"/>
            <a:ext cx="228600" cy="2286000"/>
          </a:xfrm>
          <a:prstGeom prst="rect">
            <a:avLst/>
          </a:prstGeom>
          <a:solidFill>
            <a:schemeClr val="tx2"/>
          </a:solidFill>
          <a:ln w="9525">
            <a:noFill/>
            <a:miter lim="800000"/>
            <a:headEnd/>
            <a:tailEnd/>
          </a:ln>
          <a:effectLst/>
        </p:spPr>
        <p:txBody>
          <a:bodyPr wrap="none" anchor="ctr"/>
          <a:lstStyle/>
          <a:p>
            <a:pPr algn="ctr" eaLnBrk="1" hangingPunct="1">
              <a:defRPr/>
            </a:pPr>
            <a:endParaRPr lang="en-US" sz="2400">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692" r:id="rId1"/>
    <p:sldLayoutId id="2147483691" r:id="rId2"/>
    <p:sldLayoutId id="2147483690" r:id="rId3"/>
    <p:sldLayoutId id="2147483689" r:id="rId4"/>
    <p:sldLayoutId id="2147483688" r:id="rId5"/>
    <p:sldLayoutId id="2147483687" r:id="rId6"/>
    <p:sldLayoutId id="2147483686" r:id="rId7"/>
    <p:sldLayoutId id="2147483685" r:id="rId8"/>
    <p:sldLayoutId id="2147483684" r:id="rId9"/>
    <p:sldLayoutId id="2147483683" r:id="rId10"/>
    <p:sldLayoutId id="2147483682" r:id="rId11"/>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txStyles>
    <p:title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defRPr>
      </a:lvl2pPr>
      <a:lvl3pPr algn="l" rtl="0" eaLnBrk="1" fontAlgn="base" hangingPunct="1">
        <a:spcBef>
          <a:spcPct val="0"/>
        </a:spcBef>
        <a:spcAft>
          <a:spcPct val="0"/>
        </a:spcAft>
        <a:defRPr sz="4400">
          <a:solidFill>
            <a:schemeClr val="tx2"/>
          </a:solidFill>
          <a:latin typeface="Garamond" pitchFamily="18" charset="0"/>
        </a:defRPr>
      </a:lvl3pPr>
      <a:lvl4pPr algn="l" rtl="0" eaLnBrk="1" fontAlgn="base" hangingPunct="1">
        <a:spcBef>
          <a:spcPct val="0"/>
        </a:spcBef>
        <a:spcAft>
          <a:spcPct val="0"/>
        </a:spcAft>
        <a:defRPr sz="4400">
          <a:solidFill>
            <a:schemeClr val="tx2"/>
          </a:solidFill>
          <a:latin typeface="Garamond" pitchFamily="18" charset="0"/>
        </a:defRPr>
      </a:lvl4pPr>
      <a:lvl5pPr algn="l" rtl="0" eaLnBrk="1" fontAlgn="base" hangingPunct="1">
        <a:spcBef>
          <a:spcPct val="0"/>
        </a:spcBef>
        <a:spcAft>
          <a:spcPct val="0"/>
        </a:spcAft>
        <a:defRPr sz="4400">
          <a:solidFill>
            <a:schemeClr val="tx2"/>
          </a:solidFill>
          <a:latin typeface="Garamond" pitchFamily="18" charset="0"/>
        </a:defRPr>
      </a:lvl5pPr>
      <a:lvl6pPr marL="457200" algn="l" rtl="0" eaLnBrk="1" fontAlgn="base" hangingPunct="1">
        <a:spcBef>
          <a:spcPct val="0"/>
        </a:spcBef>
        <a:spcAft>
          <a:spcPct val="0"/>
        </a:spcAft>
        <a:defRPr sz="4400">
          <a:solidFill>
            <a:schemeClr val="tx2"/>
          </a:solidFill>
          <a:latin typeface="Garamond" pitchFamily="18" charset="0"/>
        </a:defRPr>
      </a:lvl6pPr>
      <a:lvl7pPr marL="914400" algn="l" rtl="0" eaLnBrk="1" fontAlgn="base" hangingPunct="1">
        <a:spcBef>
          <a:spcPct val="0"/>
        </a:spcBef>
        <a:spcAft>
          <a:spcPct val="0"/>
        </a:spcAft>
        <a:defRPr sz="4400">
          <a:solidFill>
            <a:schemeClr val="tx2"/>
          </a:solidFill>
          <a:latin typeface="Garamond" pitchFamily="18" charset="0"/>
        </a:defRPr>
      </a:lvl7pPr>
      <a:lvl8pPr marL="1371600" algn="l" rtl="0" eaLnBrk="1" fontAlgn="base" hangingPunct="1">
        <a:spcBef>
          <a:spcPct val="0"/>
        </a:spcBef>
        <a:spcAft>
          <a:spcPct val="0"/>
        </a:spcAft>
        <a:defRPr sz="4400">
          <a:solidFill>
            <a:schemeClr val="tx2"/>
          </a:solidFill>
          <a:latin typeface="Garamond" pitchFamily="18" charset="0"/>
        </a:defRPr>
      </a:lvl8pPr>
      <a:lvl9pPr marL="1828800" algn="l" rtl="0" eaLnBrk="1" fontAlgn="base" hangingPunct="1">
        <a:spcBef>
          <a:spcPct val="0"/>
        </a:spcBef>
        <a:spcAft>
          <a:spcPct val="0"/>
        </a:spcAft>
        <a:defRPr sz="4400">
          <a:solidFill>
            <a:schemeClr val="tx2"/>
          </a:solidFill>
          <a:latin typeface="Garamond" pitchFamily="18" charset="0"/>
        </a:defRPr>
      </a:lvl9pPr>
    </p:titleStyle>
    <p:bodyStyle>
      <a:lvl1pPr marL="342900" indent="-342900" algn="l" rtl="0" eaLnBrk="1" fontAlgn="base" hangingPunct="1">
        <a:spcBef>
          <a:spcPct val="20000"/>
        </a:spcBef>
        <a:spcAft>
          <a:spcPct val="0"/>
        </a:spcAft>
        <a:buClr>
          <a:schemeClr val="bg2"/>
        </a:buClr>
        <a:buSzPct val="75000"/>
        <a:buFont typeface="Wingdings"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itchFamily="2" charset="2"/>
        <a:buChar char="n"/>
        <a:defRPr sz="2400">
          <a:solidFill>
            <a:schemeClr val="tx1"/>
          </a:solidFill>
          <a:latin typeface="+mn-lt"/>
        </a:defRPr>
      </a:lvl2pPr>
      <a:lvl3pPr marL="1143000" indent="-228600" algn="l" rtl="0" eaLnBrk="1" fontAlgn="base" hangingPunct="1">
        <a:spcBef>
          <a:spcPct val="20000"/>
        </a:spcBef>
        <a:spcAft>
          <a:spcPct val="0"/>
        </a:spcAft>
        <a:buClr>
          <a:schemeClr val="accent1"/>
        </a:buClr>
        <a:buSzPct val="65000"/>
        <a:buFont typeface="Wingdings" pitchFamily="2" charset="2"/>
        <a:buChar char="p"/>
        <a:defRPr sz="2000">
          <a:solidFill>
            <a:schemeClr val="tx1"/>
          </a:solidFill>
          <a:latin typeface="+mn-lt"/>
        </a:defRPr>
      </a:lvl3pPr>
      <a:lvl4pPr marL="1600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4pPr>
      <a:lvl5pPr marL="2057400" indent="-228600" algn="l" rtl="0" eaLnBrk="1" fontAlgn="base" hangingPunct="1">
        <a:spcBef>
          <a:spcPct val="20000"/>
        </a:spcBef>
        <a:spcAft>
          <a:spcPct val="0"/>
        </a:spcAft>
        <a:buClr>
          <a:schemeClr val="tx2"/>
        </a:buClr>
        <a:buSzPct val="80000"/>
        <a:buFont typeface="Wingdings" pitchFamily="2" charset="2"/>
        <a:buChar char="§"/>
        <a:defRPr sz="2000">
          <a:solidFill>
            <a:schemeClr val="tx1"/>
          </a:solidFill>
          <a:latin typeface="+mn-lt"/>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HEALTH EDUCATION</a:t>
            </a:r>
            <a:endParaRPr lang="en-US" dirty="0"/>
          </a:p>
        </p:txBody>
      </p:sp>
      <p:sp>
        <p:nvSpPr>
          <p:cNvPr id="3" name="Subtitle 2"/>
          <p:cNvSpPr>
            <a:spLocks noGrp="1"/>
          </p:cNvSpPr>
          <p:nvPr>
            <p:ph type="subTitle" idx="1"/>
          </p:nvPr>
        </p:nvSpPr>
        <p:spPr>
          <a:xfrm>
            <a:off x="1371600" y="3270250"/>
            <a:ext cx="7086600" cy="2978150"/>
          </a:xfrm>
        </p:spPr>
        <p:txBody>
          <a:bodyPr/>
          <a:lstStyle/>
          <a:p>
            <a:endParaRPr lang="en-US" sz="2800" b="1" dirty="0" smtClean="0"/>
          </a:p>
          <a:p>
            <a:r>
              <a:rPr lang="en-US" sz="2800" b="1" dirty="0" smtClean="0"/>
              <a:t>INTRODUCTION</a:t>
            </a:r>
          </a:p>
          <a:p>
            <a:endParaRPr lang="en-US" sz="2800" b="1" dirty="0" smtClean="0"/>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58825"/>
          </a:xfrm>
        </p:spPr>
        <p:txBody>
          <a:bodyPr/>
          <a:lstStyle/>
          <a:p>
            <a:r>
              <a:rPr lang="en-GB" sz="3200" b="1" dirty="0" smtClean="0"/>
              <a:t>OBJECTIVES OF HEALTH EDUCATION</a:t>
            </a:r>
            <a:endParaRPr lang="en-GB" sz="3200" b="1" dirty="0"/>
          </a:p>
        </p:txBody>
      </p:sp>
      <p:sp>
        <p:nvSpPr>
          <p:cNvPr id="3" name="Content Placeholder 2"/>
          <p:cNvSpPr>
            <a:spLocks noGrp="1"/>
          </p:cNvSpPr>
          <p:nvPr>
            <p:ph idx="1"/>
          </p:nvPr>
        </p:nvSpPr>
        <p:spPr/>
        <p:txBody>
          <a:bodyPr/>
          <a:lstStyle/>
          <a:p>
            <a:r>
              <a:rPr lang="en-GB" sz="2700" dirty="0" smtClean="0"/>
              <a:t>Enable </a:t>
            </a:r>
            <a:r>
              <a:rPr lang="en-GB" sz="2700" dirty="0"/>
              <a:t>people to identify their </a:t>
            </a:r>
            <a:r>
              <a:rPr lang="en-GB" sz="2700" b="1" dirty="0"/>
              <a:t>health</a:t>
            </a:r>
            <a:r>
              <a:rPr lang="en-GB" sz="2700" dirty="0"/>
              <a:t> problems and needs. </a:t>
            </a:r>
            <a:r>
              <a:rPr lang="en-GB" sz="2700" dirty="0" smtClean="0"/>
              <a:t>Help </a:t>
            </a:r>
            <a:r>
              <a:rPr lang="en-GB" sz="2700" dirty="0"/>
              <a:t>people in solving their </a:t>
            </a:r>
            <a:r>
              <a:rPr lang="en-GB" sz="2700" b="1" dirty="0"/>
              <a:t>health</a:t>
            </a:r>
            <a:r>
              <a:rPr lang="en-GB" sz="2700" dirty="0"/>
              <a:t> problems using their potential. Build normal </a:t>
            </a:r>
            <a:r>
              <a:rPr lang="en-GB" sz="2700" b="1" dirty="0"/>
              <a:t>health</a:t>
            </a:r>
            <a:r>
              <a:rPr lang="en-GB" sz="2700" dirty="0"/>
              <a:t> trends. </a:t>
            </a:r>
            <a:r>
              <a:rPr lang="en-GB" sz="2700" dirty="0" smtClean="0"/>
              <a:t>Establish </a:t>
            </a:r>
            <a:r>
              <a:rPr lang="en-GB" sz="2700" dirty="0"/>
              <a:t>proper </a:t>
            </a:r>
            <a:r>
              <a:rPr lang="en-GB" sz="2700" b="1" dirty="0"/>
              <a:t>health</a:t>
            </a:r>
            <a:r>
              <a:rPr lang="en-GB" sz="2700" dirty="0"/>
              <a:t> </a:t>
            </a:r>
            <a:r>
              <a:rPr lang="en-GB" sz="2700" dirty="0" smtClean="0"/>
              <a:t>seeking </a:t>
            </a:r>
            <a:r>
              <a:rPr lang="en-GB" sz="2700" dirty="0" err="1" smtClean="0"/>
              <a:t>behaviors</a:t>
            </a:r>
            <a:r>
              <a:rPr lang="en-GB" sz="2700" dirty="0" smtClean="0"/>
              <a:t>.</a:t>
            </a:r>
          </a:p>
          <a:p>
            <a:endParaRPr lang="en-GB" sz="2700" dirty="0" smtClean="0"/>
          </a:p>
          <a:p>
            <a:r>
              <a:rPr lang="en-GB" sz="2700" dirty="0" smtClean="0"/>
              <a:t>Attain </a:t>
            </a:r>
            <a:r>
              <a:rPr lang="en-GB" sz="2700" dirty="0"/>
              <a:t>high-quality, longer lives free of preventable disease, disability, injury, and premature death. Achieve </a:t>
            </a:r>
            <a:r>
              <a:rPr lang="en-GB" sz="2700" b="1" dirty="0"/>
              <a:t>health</a:t>
            </a:r>
            <a:r>
              <a:rPr lang="en-GB" sz="2700" dirty="0"/>
              <a:t> equity, eliminate disparities, and improve the </a:t>
            </a:r>
            <a:r>
              <a:rPr lang="en-GB" sz="2700" b="1" dirty="0"/>
              <a:t>health</a:t>
            </a:r>
            <a:r>
              <a:rPr lang="en-GB" sz="2700" dirty="0"/>
              <a:t> of all groups. Create social and physical environments that promote good </a:t>
            </a:r>
            <a:r>
              <a:rPr lang="en-GB" sz="2700" b="1" dirty="0"/>
              <a:t>health</a:t>
            </a:r>
            <a:r>
              <a:rPr lang="en-GB" sz="2700" dirty="0"/>
              <a:t> for all.</a:t>
            </a:r>
          </a:p>
        </p:txBody>
      </p:sp>
    </p:spTree>
    <p:extLst>
      <p:ext uri="{BB962C8B-B14F-4D97-AF65-F5344CB8AC3E}">
        <p14:creationId xmlns:p14="http://schemas.microsoft.com/office/powerpoint/2010/main" val="110764831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58825"/>
          </a:xfrm>
        </p:spPr>
        <p:txBody>
          <a:bodyPr/>
          <a:lstStyle/>
          <a:p>
            <a:r>
              <a:rPr lang="en-GB" sz="3600" b="1" dirty="0" smtClean="0"/>
              <a:t>VALUE OF HEALTH EDUCATION I</a:t>
            </a:r>
            <a:endParaRPr lang="en-GB" sz="3600" dirty="0"/>
          </a:p>
        </p:txBody>
      </p:sp>
      <p:sp>
        <p:nvSpPr>
          <p:cNvPr id="3" name="Content Placeholder 2"/>
          <p:cNvSpPr>
            <a:spLocks noGrp="1"/>
          </p:cNvSpPr>
          <p:nvPr>
            <p:ph idx="1"/>
          </p:nvPr>
        </p:nvSpPr>
        <p:spPr/>
        <p:txBody>
          <a:bodyPr/>
          <a:lstStyle/>
          <a:p>
            <a:pPr lvl="0"/>
            <a:r>
              <a:rPr lang="en-GB" sz="2400" dirty="0"/>
              <a:t>Health education builds students' knowledge, skills, and positive attitudes about health. </a:t>
            </a:r>
            <a:endParaRPr lang="en-GB" sz="2400" dirty="0" smtClean="0"/>
          </a:p>
          <a:p>
            <a:pPr lvl="0"/>
            <a:endParaRPr lang="en-GB" sz="2400" dirty="0"/>
          </a:p>
          <a:p>
            <a:pPr lvl="0"/>
            <a:r>
              <a:rPr lang="en-GB" sz="2400" dirty="0"/>
              <a:t>Health education teaches about physical, mental, emotional and social health. </a:t>
            </a:r>
          </a:p>
          <a:p>
            <a:pPr lvl="0"/>
            <a:endParaRPr lang="en-GB" sz="2400" dirty="0" smtClean="0"/>
          </a:p>
          <a:p>
            <a:pPr lvl="0"/>
            <a:r>
              <a:rPr lang="en-GB" sz="2400" dirty="0" smtClean="0"/>
              <a:t>It </a:t>
            </a:r>
            <a:r>
              <a:rPr lang="en-GB" sz="2400" dirty="0"/>
              <a:t>motivates students to improve and maintain their health, prevent disease, and reduce risky </a:t>
            </a:r>
            <a:r>
              <a:rPr lang="en-GB" sz="2400" dirty="0" err="1"/>
              <a:t>behaviors</a:t>
            </a:r>
            <a:r>
              <a:rPr lang="en-GB" sz="2400" dirty="0"/>
              <a:t>.</a:t>
            </a:r>
          </a:p>
          <a:p>
            <a:pPr lvl="0"/>
            <a:endParaRPr lang="en-GB" sz="2400" dirty="0" smtClean="0"/>
          </a:p>
          <a:p>
            <a:pPr lvl="0"/>
            <a:r>
              <a:rPr lang="en-GB" sz="2400" dirty="0" smtClean="0"/>
              <a:t>Health </a:t>
            </a:r>
            <a:r>
              <a:rPr lang="en-GB" sz="2400" dirty="0"/>
              <a:t>education curricula and instruction help students learn skills they will use to make healthy choices throughout their lifetime. </a:t>
            </a:r>
          </a:p>
          <a:p>
            <a:endParaRPr lang="en-GB" sz="2400" dirty="0"/>
          </a:p>
        </p:txBody>
      </p:sp>
    </p:spTree>
    <p:extLst>
      <p:ext uri="{BB962C8B-B14F-4D97-AF65-F5344CB8AC3E}">
        <p14:creationId xmlns:p14="http://schemas.microsoft.com/office/powerpoint/2010/main" val="379414730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smtClean="0"/>
              <a:t>VALUE OF HEALTH EDUCATION II</a:t>
            </a:r>
            <a:endParaRPr lang="en-GB" sz="3600" dirty="0"/>
          </a:p>
        </p:txBody>
      </p:sp>
      <p:sp>
        <p:nvSpPr>
          <p:cNvPr id="3" name="Content Placeholder 2"/>
          <p:cNvSpPr>
            <a:spLocks noGrp="1"/>
          </p:cNvSpPr>
          <p:nvPr>
            <p:ph idx="1"/>
          </p:nvPr>
        </p:nvSpPr>
        <p:spPr/>
        <p:txBody>
          <a:bodyPr/>
          <a:lstStyle/>
          <a:p>
            <a:pPr lvl="0"/>
            <a:r>
              <a:rPr lang="en-GB" dirty="0"/>
              <a:t>Effective curricula </a:t>
            </a:r>
            <a:r>
              <a:rPr lang="en-GB" dirty="0" smtClean="0"/>
              <a:t>results </a:t>
            </a:r>
            <a:r>
              <a:rPr lang="en-GB" dirty="0"/>
              <a:t>in positive changes in </a:t>
            </a:r>
            <a:r>
              <a:rPr lang="en-GB" dirty="0" err="1"/>
              <a:t>behavior</a:t>
            </a:r>
            <a:r>
              <a:rPr lang="en-GB" dirty="0"/>
              <a:t> that lower student risks around</a:t>
            </a:r>
            <a:r>
              <a:rPr lang="en-GB" dirty="0" smtClean="0"/>
              <a:t>:</a:t>
            </a:r>
          </a:p>
          <a:p>
            <a:pPr lvl="0"/>
            <a:endParaRPr lang="en-GB" dirty="0"/>
          </a:p>
          <a:p>
            <a:pPr lvl="1"/>
            <a:r>
              <a:rPr lang="en-GB" dirty="0"/>
              <a:t>alcohol, tobacco, and other drugs, injury prevention, mental and emotional health, nutrition, physical activity, prevention of diseases and sexuality and family life.</a:t>
            </a:r>
          </a:p>
          <a:p>
            <a:pPr lvl="1"/>
            <a:r>
              <a:rPr lang="en-GB" dirty="0"/>
              <a:t>Health education promotes learning in other subjects</a:t>
            </a:r>
          </a:p>
          <a:p>
            <a:endParaRPr lang="en-GB" dirty="0"/>
          </a:p>
        </p:txBody>
      </p:sp>
    </p:spTree>
    <p:extLst>
      <p:ext uri="{BB962C8B-B14F-4D97-AF65-F5344CB8AC3E}">
        <p14:creationId xmlns:p14="http://schemas.microsoft.com/office/powerpoint/2010/main" val="57577423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b="1" dirty="0" smtClean="0"/>
              <a:t>VALUE OF HEALTH EDUCATION III</a:t>
            </a:r>
            <a:endParaRPr lang="en-GB" sz="3200" dirty="0"/>
          </a:p>
        </p:txBody>
      </p:sp>
      <p:sp>
        <p:nvSpPr>
          <p:cNvPr id="3" name="Content Placeholder 2"/>
          <p:cNvSpPr>
            <a:spLocks noGrp="1"/>
          </p:cNvSpPr>
          <p:nvPr>
            <p:ph idx="1"/>
          </p:nvPr>
        </p:nvSpPr>
        <p:spPr/>
        <p:txBody>
          <a:bodyPr/>
          <a:lstStyle/>
          <a:p>
            <a:pPr lvl="0"/>
            <a:r>
              <a:rPr lang="en-GB" dirty="0"/>
              <a:t>Research shows that performance of students who received comprehensive health education were significantly higher than those who did </a:t>
            </a:r>
            <a:r>
              <a:rPr lang="en-GB" dirty="0" smtClean="0"/>
              <a:t>not</a:t>
            </a:r>
            <a:endParaRPr lang="en-GB" dirty="0"/>
          </a:p>
          <a:p>
            <a:pPr lvl="0"/>
            <a:endParaRPr lang="en-GB" dirty="0"/>
          </a:p>
          <a:p>
            <a:pPr lvl="0"/>
            <a:r>
              <a:rPr lang="en-GB" dirty="0"/>
              <a:t>In general, healthy students learn better. Numerous studies have shown that healthier students tend to do perform better in attendance of lectures and improved performance</a:t>
            </a:r>
          </a:p>
          <a:p>
            <a:endParaRPr lang="en-GB" dirty="0"/>
          </a:p>
        </p:txBody>
      </p:sp>
    </p:spTree>
    <p:extLst>
      <p:ext uri="{BB962C8B-B14F-4D97-AF65-F5344CB8AC3E}">
        <p14:creationId xmlns:p14="http://schemas.microsoft.com/office/powerpoint/2010/main" val="381700846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266701"/>
            <a:ext cx="8229600" cy="647700"/>
          </a:xfrm>
        </p:spPr>
        <p:txBody>
          <a:bodyPr/>
          <a:lstStyle/>
          <a:p>
            <a:r>
              <a:rPr lang="en-GB" sz="2000" b="1" dirty="0" smtClean="0">
                <a:latin typeface="Times New Roman" panose="02020603050405020304" pitchFamily="18" charset="0"/>
                <a:cs typeface="Times New Roman" panose="02020603050405020304" pitchFamily="18" charset="0"/>
              </a:rPr>
              <a:t>WORLD HEALTH ORGANISATION: DETERMINANTS OF HEALTH</a:t>
            </a:r>
            <a:endParaRPr lang="en-GB" sz="2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143000"/>
            <a:ext cx="8229600" cy="4530725"/>
          </a:xfrm>
        </p:spPr>
        <p:txBody>
          <a:bodyPr/>
          <a:lstStyle/>
          <a:p>
            <a:pPr marL="0" indent="0">
              <a:buNone/>
            </a:pPr>
            <a:r>
              <a:rPr lang="en-GB" b="1" dirty="0"/>
              <a:t>Providing for Health in your profession:</a:t>
            </a:r>
            <a:endParaRPr lang="en-GB" dirty="0"/>
          </a:p>
          <a:p>
            <a:endParaRPr lang="en-GB" dirty="0" smtClean="0"/>
          </a:p>
          <a:p>
            <a:r>
              <a:rPr lang="en-GB" dirty="0" smtClean="0"/>
              <a:t>“</a:t>
            </a:r>
            <a:r>
              <a:rPr lang="en-GB" dirty="0"/>
              <a:t>Whether people are healthy or not, is determined by their circumstances and environment. To a large extent, factors such as where we live, the state of our environment, genetics, our income and education level, and our relationships with friends and family all have considerable impacts on health …”</a:t>
            </a:r>
          </a:p>
          <a:p>
            <a:endParaRPr lang="en-GB" dirty="0"/>
          </a:p>
        </p:txBody>
      </p:sp>
    </p:spTree>
    <p:extLst>
      <p:ext uri="{BB962C8B-B14F-4D97-AF65-F5344CB8AC3E}">
        <p14:creationId xmlns:p14="http://schemas.microsoft.com/office/powerpoint/2010/main" val="9449765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b="1" dirty="0"/>
              <a:t>DEFINING HEALTH AND </a:t>
            </a:r>
            <a:r>
              <a:rPr lang="en-GB" sz="3200" b="1" dirty="0" smtClean="0"/>
              <a:t>WELL-BEING</a:t>
            </a:r>
            <a:endParaRPr lang="en-GB" sz="3200" dirty="0"/>
          </a:p>
        </p:txBody>
      </p:sp>
      <p:sp>
        <p:nvSpPr>
          <p:cNvPr id="3" name="Content Placeholder 2"/>
          <p:cNvSpPr>
            <a:spLocks noGrp="1"/>
          </p:cNvSpPr>
          <p:nvPr>
            <p:ph idx="1"/>
          </p:nvPr>
        </p:nvSpPr>
        <p:spPr/>
        <p:txBody>
          <a:bodyPr/>
          <a:lstStyle/>
          <a:p>
            <a:r>
              <a:rPr lang="en-GB" dirty="0" smtClean="0"/>
              <a:t>The </a:t>
            </a:r>
            <a:r>
              <a:rPr lang="en-GB" dirty="0"/>
              <a:t>World Health Organisation now defines health not as the absence of ill-health but as “a state of complete physical, mental and social well-being”</a:t>
            </a:r>
            <a:r>
              <a:rPr lang="en-GB" baseline="30000" dirty="0"/>
              <a:t>3</a:t>
            </a:r>
            <a:r>
              <a:rPr lang="en-GB" dirty="0"/>
              <a:t>. </a:t>
            </a:r>
          </a:p>
          <a:p>
            <a:r>
              <a:rPr lang="en-GB" dirty="0"/>
              <a:t>The definition of health has been changing and now includes an awareness of the interrelationships between social and psychological, as well as </a:t>
            </a:r>
            <a:r>
              <a:rPr lang="en-GB" dirty="0" smtClean="0"/>
              <a:t>medical </a:t>
            </a:r>
            <a:r>
              <a:rPr lang="en-GB" dirty="0"/>
              <a:t>factors. </a:t>
            </a:r>
          </a:p>
          <a:p>
            <a:r>
              <a:rPr lang="en-GB" dirty="0"/>
              <a:t>The way in which an individual functions in society is seen as part of the definition of health, alongside biological and physiological symptoms. </a:t>
            </a:r>
          </a:p>
          <a:p>
            <a:endParaRPr lang="en-GB" dirty="0"/>
          </a:p>
        </p:txBody>
      </p:sp>
    </p:spTree>
    <p:extLst>
      <p:ext uri="{BB962C8B-B14F-4D97-AF65-F5344CB8AC3E}">
        <p14:creationId xmlns:p14="http://schemas.microsoft.com/office/powerpoint/2010/main" val="202723774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229600" cy="654769"/>
          </a:xfrm>
        </p:spPr>
        <p:txBody>
          <a:bodyPr/>
          <a:lstStyle/>
          <a:p>
            <a:r>
              <a:rPr lang="en-GB" sz="3200" b="1" dirty="0"/>
              <a:t>DEFINING HEALTH AND WELL-BEING</a:t>
            </a:r>
            <a:endParaRPr lang="en-GB" sz="3200" dirty="0"/>
          </a:p>
        </p:txBody>
      </p:sp>
      <p:sp>
        <p:nvSpPr>
          <p:cNvPr id="3" name="Content Placeholder 2"/>
          <p:cNvSpPr>
            <a:spLocks noGrp="1"/>
          </p:cNvSpPr>
          <p:nvPr>
            <p:ph idx="1"/>
          </p:nvPr>
        </p:nvSpPr>
        <p:spPr>
          <a:xfrm>
            <a:off x="457200" y="1184275"/>
            <a:ext cx="8229600" cy="5368925"/>
          </a:xfrm>
        </p:spPr>
        <p:txBody>
          <a:bodyPr/>
          <a:lstStyle/>
          <a:p>
            <a:pPr algn="just"/>
            <a:r>
              <a:rPr lang="en-GB" sz="2000" dirty="0"/>
              <a:t>Health is no longer simply a question of access to medical treatment but it is determined by a range of factors related to the quality of our built environment</a:t>
            </a:r>
            <a:r>
              <a:rPr lang="en-GB" sz="2000" baseline="30000" dirty="0"/>
              <a:t>4</a:t>
            </a:r>
            <a:r>
              <a:rPr lang="en-GB" sz="2000" dirty="0"/>
              <a:t>.</a:t>
            </a:r>
          </a:p>
          <a:p>
            <a:pPr algn="just"/>
            <a:r>
              <a:rPr lang="en-GB" sz="2000" dirty="0"/>
              <a:t>This wider definition of health comes at a time of increasing pressures on health services as a result of an ageing population, increasing obesity, rising mental health problems and higher expectations</a:t>
            </a:r>
            <a:r>
              <a:rPr lang="en-GB" sz="2000" baseline="30000" dirty="0"/>
              <a:t>5</a:t>
            </a:r>
            <a:r>
              <a:rPr lang="en-GB" sz="2000" dirty="0"/>
              <a:t>. </a:t>
            </a:r>
          </a:p>
          <a:p>
            <a:pPr algn="just"/>
            <a:r>
              <a:rPr lang="en-GB" sz="2000" dirty="0"/>
              <a:t>Thus, the narrow focus on individual symptoms and medical treatment is no longer sufficient or sustainable, and a more holistic appreciation of the spectrum of health-related considerations, including the prevention of ill-health, is timely. </a:t>
            </a:r>
          </a:p>
          <a:p>
            <a:pPr algn="just"/>
            <a:r>
              <a:rPr lang="en-GB" sz="2000" dirty="0"/>
              <a:t>This approach sees “health and well-being as interdependent; it holds ‘prevention’ as important as ‘cure’, and looks for long-term solutions rather than more immediately attainable treatments”</a:t>
            </a:r>
            <a:r>
              <a:rPr lang="en-GB" sz="2000" baseline="30000" dirty="0"/>
              <a:t>6</a:t>
            </a:r>
            <a:r>
              <a:rPr lang="en-GB" sz="2000" dirty="0"/>
              <a:t>. </a:t>
            </a:r>
          </a:p>
        </p:txBody>
      </p:sp>
    </p:spTree>
    <p:extLst>
      <p:ext uri="{BB962C8B-B14F-4D97-AF65-F5344CB8AC3E}">
        <p14:creationId xmlns:p14="http://schemas.microsoft.com/office/powerpoint/2010/main" val="194273219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b="1" dirty="0"/>
              <a:t>DEFINING HEALTH AND WELL-BEING</a:t>
            </a:r>
            <a:endParaRPr lang="en-GB" sz="3200" dirty="0"/>
          </a:p>
        </p:txBody>
      </p:sp>
      <p:sp>
        <p:nvSpPr>
          <p:cNvPr id="3" name="Content Placeholder 2"/>
          <p:cNvSpPr>
            <a:spLocks noGrp="1"/>
          </p:cNvSpPr>
          <p:nvPr>
            <p:ph idx="1"/>
          </p:nvPr>
        </p:nvSpPr>
        <p:spPr/>
        <p:txBody>
          <a:bodyPr/>
          <a:lstStyle/>
          <a:p>
            <a:r>
              <a:rPr lang="en-GB" dirty="0"/>
              <a:t>Staying healthy in your home and in your community is the way to limit the increasing pressure on health services, and thus designing the home, neighbourhood and work environment to improve health and well-being is an opportunity that presents itself.</a:t>
            </a:r>
          </a:p>
          <a:p>
            <a:endParaRPr lang="en-GB" dirty="0"/>
          </a:p>
        </p:txBody>
      </p:sp>
    </p:spTree>
    <p:extLst>
      <p:ext uri="{BB962C8B-B14F-4D97-AF65-F5344CB8AC3E}">
        <p14:creationId xmlns:p14="http://schemas.microsoft.com/office/powerpoint/2010/main" val="227004709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564735986"/>
              </p:ext>
            </p:extLst>
          </p:nvPr>
        </p:nvGraphicFramePr>
        <p:xfrm>
          <a:off x="609599" y="228600"/>
          <a:ext cx="8305801" cy="6571026"/>
        </p:xfrm>
        <a:graphic>
          <a:graphicData uri="http://schemas.openxmlformats.org/drawingml/2006/table">
            <a:tbl>
              <a:tblPr firstRow="1" firstCol="1" bandRow="1">
                <a:tableStyleId>{5C22544A-7EE6-4342-B048-85BDC9FD1C3A}</a:tableStyleId>
              </a:tblPr>
              <a:tblGrid>
                <a:gridCol w="8305801"/>
              </a:tblGrid>
              <a:tr h="1085549">
                <a:tc>
                  <a:txBody>
                    <a:bodyPr/>
                    <a:lstStyle/>
                    <a:p>
                      <a:pPr algn="ctr">
                        <a:lnSpc>
                          <a:spcPct val="115000"/>
                        </a:lnSpc>
                        <a:spcAft>
                          <a:spcPts val="0"/>
                        </a:spcAft>
                      </a:pPr>
                      <a:r>
                        <a:rPr lang="en-GB" sz="2800" dirty="0" smtClean="0">
                          <a:solidFill>
                            <a:schemeClr val="accent6"/>
                          </a:solidFill>
                          <a:effectLst/>
                        </a:rPr>
                        <a:t>TOP TEN LEADING CAUSES OF MORTALITY</a:t>
                      </a:r>
                      <a:endParaRPr lang="en-GB" sz="2800" dirty="0">
                        <a:solidFill>
                          <a:schemeClr val="accent6"/>
                        </a:solidFill>
                        <a:effectLst/>
                      </a:endParaRPr>
                    </a:p>
                    <a:p>
                      <a:pPr>
                        <a:lnSpc>
                          <a:spcPct val="115000"/>
                        </a:lnSpc>
                        <a:spcAft>
                          <a:spcPts val="0"/>
                        </a:spcAft>
                      </a:pPr>
                      <a:r>
                        <a:rPr lang="en-GB" sz="2000" dirty="0">
                          <a:solidFill>
                            <a:schemeClr val="accent6"/>
                          </a:solidFill>
                          <a:effectLst/>
                        </a:rPr>
                        <a:t>Source: Kenya </a:t>
                      </a:r>
                      <a:r>
                        <a:rPr lang="en-GB" sz="2000">
                          <a:solidFill>
                            <a:schemeClr val="accent6"/>
                          </a:solidFill>
                          <a:effectLst/>
                        </a:rPr>
                        <a:t>Demographics </a:t>
                      </a:r>
                      <a:r>
                        <a:rPr lang="en-GB" sz="2000" smtClean="0">
                          <a:solidFill>
                            <a:schemeClr val="accent6"/>
                          </a:solidFill>
                          <a:effectLst/>
                        </a:rPr>
                        <a:t>Heath</a:t>
                      </a:r>
                      <a:r>
                        <a:rPr lang="en-GB" sz="2000" baseline="0" smtClean="0">
                          <a:solidFill>
                            <a:schemeClr val="accent6"/>
                          </a:solidFill>
                          <a:effectLst/>
                        </a:rPr>
                        <a:t> </a:t>
                      </a:r>
                      <a:r>
                        <a:rPr lang="en-GB" sz="2000" smtClean="0">
                          <a:solidFill>
                            <a:schemeClr val="accent6"/>
                          </a:solidFill>
                          <a:effectLst/>
                        </a:rPr>
                        <a:t>Survey</a:t>
                      </a:r>
                      <a:r>
                        <a:rPr lang="en-GB" sz="2000" dirty="0">
                          <a:solidFill>
                            <a:schemeClr val="accent6"/>
                          </a:solidFill>
                          <a:effectLst/>
                        </a:rPr>
                        <a:t>, 2014.  </a:t>
                      </a:r>
                      <a:endParaRPr lang="en-GB" sz="2000" dirty="0">
                        <a:solidFill>
                          <a:schemeClr val="accent6"/>
                        </a:solidFill>
                        <a:effectLst/>
                        <a:latin typeface="Calibri"/>
                        <a:ea typeface="Calibri"/>
                        <a:cs typeface="Times New Roman"/>
                      </a:endParaRPr>
                    </a:p>
                  </a:txBody>
                  <a:tcPr marL="68580" marR="68580" marT="0" marB="0">
                    <a:noFill/>
                  </a:tcPr>
                </a:tc>
              </a:tr>
              <a:tr h="523905">
                <a:tc>
                  <a:txBody>
                    <a:bodyPr/>
                    <a:lstStyle/>
                    <a:p>
                      <a:pPr marL="457200" lvl="0" indent="-457200">
                        <a:lnSpc>
                          <a:spcPct val="150000"/>
                        </a:lnSpc>
                        <a:spcAft>
                          <a:spcPts val="0"/>
                        </a:spcAft>
                        <a:buFont typeface="+mj-lt"/>
                        <a:buAutoNum type="arabicPeriod"/>
                      </a:pPr>
                      <a:r>
                        <a:rPr lang="en-GB" sz="2000" dirty="0" smtClean="0">
                          <a:solidFill>
                            <a:schemeClr val="accent4">
                              <a:lumMod val="95000"/>
                              <a:lumOff val="5000"/>
                            </a:schemeClr>
                          </a:solidFill>
                          <a:effectLst/>
                        </a:rPr>
                        <a:t>Malaria</a:t>
                      </a:r>
                      <a:endParaRPr lang="en-GB" sz="2000" dirty="0">
                        <a:solidFill>
                          <a:schemeClr val="accent4">
                            <a:lumMod val="95000"/>
                            <a:lumOff val="5000"/>
                          </a:schemeClr>
                        </a:solidFill>
                        <a:effectLst/>
                        <a:latin typeface="Calibri"/>
                        <a:ea typeface="Calibri"/>
                        <a:cs typeface="Times New Roman"/>
                      </a:endParaRPr>
                    </a:p>
                  </a:txBody>
                  <a:tcPr marL="68580" marR="68580" marT="0" marB="0">
                    <a:noFill/>
                  </a:tcPr>
                </a:tc>
              </a:tr>
              <a:tr h="523905">
                <a:tc>
                  <a:txBody>
                    <a:bodyPr/>
                    <a:lstStyle/>
                    <a:p>
                      <a:pPr marL="457200" lvl="0" indent="-457200">
                        <a:lnSpc>
                          <a:spcPct val="150000"/>
                        </a:lnSpc>
                        <a:spcAft>
                          <a:spcPts val="0"/>
                        </a:spcAft>
                        <a:buFont typeface="+mj-lt"/>
                        <a:buAutoNum type="arabicPeriod" startAt="2"/>
                        <a:tabLst>
                          <a:tab pos="630238" algn="l"/>
                        </a:tabLst>
                      </a:pPr>
                      <a:r>
                        <a:rPr lang="en-GB" sz="2000" dirty="0" smtClean="0">
                          <a:solidFill>
                            <a:schemeClr val="accent4">
                              <a:lumMod val="95000"/>
                              <a:lumOff val="5000"/>
                            </a:schemeClr>
                          </a:solidFill>
                          <a:effectLst/>
                        </a:rPr>
                        <a:t>Pneumonia</a:t>
                      </a:r>
                      <a:endParaRPr lang="en-GB" sz="2000" dirty="0">
                        <a:solidFill>
                          <a:schemeClr val="accent4">
                            <a:lumMod val="95000"/>
                            <a:lumOff val="5000"/>
                          </a:schemeClr>
                        </a:solidFill>
                        <a:effectLst/>
                        <a:latin typeface="Calibri"/>
                        <a:ea typeface="Calibri"/>
                        <a:cs typeface="Times New Roman"/>
                      </a:endParaRPr>
                    </a:p>
                  </a:txBody>
                  <a:tcPr marL="68580" marR="68580" marT="0" marB="0">
                    <a:noFill/>
                  </a:tcPr>
                </a:tc>
              </a:tr>
              <a:tr h="523905">
                <a:tc>
                  <a:txBody>
                    <a:bodyPr/>
                    <a:lstStyle/>
                    <a:p>
                      <a:pPr marL="457200" lvl="0" indent="-457200">
                        <a:lnSpc>
                          <a:spcPct val="150000"/>
                        </a:lnSpc>
                        <a:spcAft>
                          <a:spcPts val="0"/>
                        </a:spcAft>
                        <a:buFont typeface="+mj-lt"/>
                        <a:buAutoNum type="arabicPeriod" startAt="3"/>
                      </a:pPr>
                      <a:r>
                        <a:rPr lang="en-GB" sz="2000" dirty="0" smtClean="0">
                          <a:solidFill>
                            <a:schemeClr val="accent4">
                              <a:lumMod val="95000"/>
                              <a:lumOff val="5000"/>
                            </a:schemeClr>
                          </a:solidFill>
                          <a:effectLst/>
                        </a:rPr>
                        <a:t>Cancer</a:t>
                      </a:r>
                      <a:endParaRPr lang="en-GB" sz="2000" dirty="0">
                        <a:solidFill>
                          <a:schemeClr val="accent4">
                            <a:lumMod val="95000"/>
                            <a:lumOff val="5000"/>
                          </a:schemeClr>
                        </a:solidFill>
                        <a:effectLst/>
                        <a:latin typeface="Calibri"/>
                        <a:ea typeface="Calibri"/>
                        <a:cs typeface="Times New Roman"/>
                      </a:endParaRPr>
                    </a:p>
                  </a:txBody>
                  <a:tcPr marL="68580" marR="68580" marT="0" marB="0">
                    <a:noFill/>
                  </a:tcPr>
                </a:tc>
              </a:tr>
              <a:tr h="523905">
                <a:tc>
                  <a:txBody>
                    <a:bodyPr/>
                    <a:lstStyle/>
                    <a:p>
                      <a:pPr marL="457200" lvl="0" indent="-457200">
                        <a:lnSpc>
                          <a:spcPct val="150000"/>
                        </a:lnSpc>
                        <a:spcAft>
                          <a:spcPts val="0"/>
                        </a:spcAft>
                        <a:buFont typeface="+mj-lt"/>
                        <a:buAutoNum type="arabicPeriod" startAt="4"/>
                      </a:pPr>
                      <a:r>
                        <a:rPr lang="en-GB" sz="2000" dirty="0" smtClean="0">
                          <a:solidFill>
                            <a:schemeClr val="accent4">
                              <a:lumMod val="95000"/>
                              <a:lumOff val="5000"/>
                            </a:schemeClr>
                          </a:solidFill>
                          <a:effectLst/>
                        </a:rPr>
                        <a:t>HIV / AIDS</a:t>
                      </a:r>
                      <a:endParaRPr lang="en-GB" sz="2000" dirty="0">
                        <a:solidFill>
                          <a:schemeClr val="accent4">
                            <a:lumMod val="95000"/>
                            <a:lumOff val="5000"/>
                          </a:schemeClr>
                        </a:solidFill>
                        <a:effectLst/>
                        <a:latin typeface="Calibri"/>
                        <a:ea typeface="Calibri"/>
                        <a:cs typeface="Times New Roman"/>
                      </a:endParaRPr>
                    </a:p>
                  </a:txBody>
                  <a:tcPr marL="68580" marR="68580" marT="0" marB="0">
                    <a:noFill/>
                  </a:tcPr>
                </a:tc>
              </a:tr>
              <a:tr h="523905">
                <a:tc>
                  <a:txBody>
                    <a:bodyPr/>
                    <a:lstStyle/>
                    <a:p>
                      <a:pPr marL="457200" lvl="0" indent="-457200">
                        <a:lnSpc>
                          <a:spcPct val="150000"/>
                        </a:lnSpc>
                        <a:spcAft>
                          <a:spcPts val="0"/>
                        </a:spcAft>
                        <a:buFont typeface="+mj-lt"/>
                        <a:buAutoNum type="arabicPeriod" startAt="5"/>
                      </a:pPr>
                      <a:r>
                        <a:rPr lang="en-GB" sz="2000" dirty="0" smtClean="0">
                          <a:solidFill>
                            <a:schemeClr val="accent4">
                              <a:lumMod val="95000"/>
                              <a:lumOff val="5000"/>
                            </a:schemeClr>
                          </a:solidFill>
                          <a:effectLst/>
                        </a:rPr>
                        <a:t>TB</a:t>
                      </a:r>
                      <a:endParaRPr lang="en-GB" sz="2000" dirty="0">
                        <a:solidFill>
                          <a:schemeClr val="accent4">
                            <a:lumMod val="95000"/>
                            <a:lumOff val="5000"/>
                          </a:schemeClr>
                        </a:solidFill>
                        <a:effectLst/>
                        <a:latin typeface="Calibri"/>
                        <a:ea typeface="Calibri"/>
                        <a:cs typeface="Times New Roman"/>
                      </a:endParaRPr>
                    </a:p>
                  </a:txBody>
                  <a:tcPr marL="68580" marR="68580" marT="0" marB="0">
                    <a:noFill/>
                  </a:tcPr>
                </a:tc>
              </a:tr>
              <a:tr h="523905">
                <a:tc>
                  <a:txBody>
                    <a:bodyPr/>
                    <a:lstStyle/>
                    <a:p>
                      <a:pPr marL="457200" lvl="0" indent="-457200">
                        <a:lnSpc>
                          <a:spcPct val="150000"/>
                        </a:lnSpc>
                        <a:spcAft>
                          <a:spcPts val="0"/>
                        </a:spcAft>
                        <a:buFont typeface="+mj-lt"/>
                        <a:buAutoNum type="arabicPeriod" startAt="6"/>
                      </a:pPr>
                      <a:r>
                        <a:rPr lang="en-GB" sz="2000" dirty="0" smtClean="0">
                          <a:solidFill>
                            <a:schemeClr val="accent4">
                              <a:lumMod val="95000"/>
                              <a:lumOff val="5000"/>
                            </a:schemeClr>
                          </a:solidFill>
                          <a:effectLst/>
                        </a:rPr>
                        <a:t>Anaemia</a:t>
                      </a:r>
                      <a:endParaRPr lang="en-GB" sz="2000" dirty="0">
                        <a:solidFill>
                          <a:schemeClr val="accent4">
                            <a:lumMod val="95000"/>
                            <a:lumOff val="5000"/>
                          </a:schemeClr>
                        </a:solidFill>
                        <a:effectLst/>
                        <a:latin typeface="Calibri"/>
                        <a:ea typeface="Calibri"/>
                        <a:cs typeface="Times New Roman"/>
                      </a:endParaRPr>
                    </a:p>
                  </a:txBody>
                  <a:tcPr marL="68580" marR="68580" marT="0" marB="0">
                    <a:noFill/>
                  </a:tcPr>
                </a:tc>
              </a:tr>
              <a:tr h="523905">
                <a:tc>
                  <a:txBody>
                    <a:bodyPr/>
                    <a:lstStyle/>
                    <a:p>
                      <a:pPr marL="0" lvl="0" indent="0">
                        <a:lnSpc>
                          <a:spcPct val="150000"/>
                        </a:lnSpc>
                        <a:spcAft>
                          <a:spcPts val="0"/>
                        </a:spcAft>
                        <a:buFont typeface="+mj-lt"/>
                        <a:buNone/>
                      </a:pPr>
                      <a:r>
                        <a:rPr lang="en-GB" sz="2000" dirty="0" smtClean="0">
                          <a:solidFill>
                            <a:schemeClr val="accent4">
                              <a:lumMod val="95000"/>
                              <a:lumOff val="5000"/>
                            </a:schemeClr>
                          </a:solidFill>
                          <a:effectLst/>
                        </a:rPr>
                        <a:t>7.   Traffic </a:t>
                      </a:r>
                      <a:r>
                        <a:rPr lang="en-GB" sz="2000" dirty="0">
                          <a:solidFill>
                            <a:schemeClr val="accent4">
                              <a:lumMod val="95000"/>
                              <a:lumOff val="5000"/>
                            </a:schemeClr>
                          </a:solidFill>
                          <a:effectLst/>
                        </a:rPr>
                        <a:t>Accidents</a:t>
                      </a:r>
                      <a:endParaRPr lang="en-GB" sz="2000" dirty="0">
                        <a:solidFill>
                          <a:schemeClr val="accent4">
                            <a:lumMod val="95000"/>
                            <a:lumOff val="5000"/>
                          </a:schemeClr>
                        </a:solidFill>
                        <a:effectLst/>
                        <a:latin typeface="Calibri"/>
                        <a:ea typeface="Calibri"/>
                        <a:cs typeface="Times New Roman"/>
                      </a:endParaRPr>
                    </a:p>
                  </a:txBody>
                  <a:tcPr marL="68580" marR="68580" marT="0" marB="0">
                    <a:noFill/>
                  </a:tcPr>
                </a:tc>
              </a:tr>
              <a:tr h="523905">
                <a:tc>
                  <a:txBody>
                    <a:bodyPr/>
                    <a:lstStyle/>
                    <a:p>
                      <a:pPr marL="0" lvl="0" indent="0">
                        <a:lnSpc>
                          <a:spcPct val="150000"/>
                        </a:lnSpc>
                        <a:spcAft>
                          <a:spcPts val="0"/>
                        </a:spcAft>
                        <a:buFont typeface="+mj-lt"/>
                        <a:buNone/>
                      </a:pPr>
                      <a:r>
                        <a:rPr lang="en-GB" sz="2000" dirty="0" smtClean="0">
                          <a:solidFill>
                            <a:schemeClr val="accent4">
                              <a:lumMod val="95000"/>
                              <a:lumOff val="5000"/>
                            </a:schemeClr>
                          </a:solidFill>
                          <a:effectLst/>
                        </a:rPr>
                        <a:t>8.   Other </a:t>
                      </a:r>
                      <a:r>
                        <a:rPr lang="en-GB" sz="2000" dirty="0">
                          <a:solidFill>
                            <a:schemeClr val="accent4">
                              <a:lumMod val="95000"/>
                              <a:lumOff val="5000"/>
                            </a:schemeClr>
                          </a:solidFill>
                          <a:effectLst/>
                        </a:rPr>
                        <a:t>accidents</a:t>
                      </a:r>
                      <a:endParaRPr lang="en-GB" sz="2000" dirty="0">
                        <a:solidFill>
                          <a:schemeClr val="accent4">
                            <a:lumMod val="95000"/>
                            <a:lumOff val="5000"/>
                          </a:schemeClr>
                        </a:solidFill>
                        <a:effectLst/>
                        <a:latin typeface="Calibri"/>
                        <a:ea typeface="Calibri"/>
                        <a:cs typeface="Times New Roman"/>
                      </a:endParaRPr>
                    </a:p>
                  </a:txBody>
                  <a:tcPr marL="68580" marR="68580" marT="0" marB="0">
                    <a:noFill/>
                  </a:tcPr>
                </a:tc>
              </a:tr>
              <a:tr h="523905">
                <a:tc>
                  <a:txBody>
                    <a:bodyPr/>
                    <a:lstStyle/>
                    <a:p>
                      <a:pPr marL="0" lvl="0" indent="0">
                        <a:lnSpc>
                          <a:spcPct val="150000"/>
                        </a:lnSpc>
                        <a:spcAft>
                          <a:spcPts val="0"/>
                        </a:spcAft>
                        <a:buFont typeface="+mj-lt"/>
                        <a:buNone/>
                      </a:pPr>
                      <a:r>
                        <a:rPr lang="en-GB" sz="2000" dirty="0" smtClean="0">
                          <a:solidFill>
                            <a:schemeClr val="accent4">
                              <a:lumMod val="95000"/>
                              <a:lumOff val="5000"/>
                            </a:schemeClr>
                          </a:solidFill>
                          <a:effectLst/>
                        </a:rPr>
                        <a:t>9.   Heart </a:t>
                      </a:r>
                      <a:r>
                        <a:rPr lang="en-GB" sz="2000" dirty="0">
                          <a:solidFill>
                            <a:schemeClr val="accent4">
                              <a:lumMod val="95000"/>
                              <a:lumOff val="5000"/>
                            </a:schemeClr>
                          </a:solidFill>
                          <a:effectLst/>
                        </a:rPr>
                        <a:t>Disease</a:t>
                      </a:r>
                      <a:endParaRPr lang="en-GB" sz="2000" dirty="0">
                        <a:solidFill>
                          <a:schemeClr val="accent4">
                            <a:lumMod val="95000"/>
                            <a:lumOff val="5000"/>
                          </a:schemeClr>
                        </a:solidFill>
                        <a:effectLst/>
                        <a:latin typeface="Calibri"/>
                        <a:ea typeface="Calibri"/>
                        <a:cs typeface="Times New Roman"/>
                      </a:endParaRPr>
                    </a:p>
                  </a:txBody>
                  <a:tcPr marL="68580" marR="68580" marT="0" marB="0">
                    <a:noFill/>
                  </a:tcPr>
                </a:tc>
              </a:tr>
              <a:tr h="523905">
                <a:tc>
                  <a:txBody>
                    <a:bodyPr/>
                    <a:lstStyle/>
                    <a:p>
                      <a:pPr marL="0" lvl="0" indent="0">
                        <a:lnSpc>
                          <a:spcPct val="150000"/>
                        </a:lnSpc>
                        <a:spcAft>
                          <a:spcPts val="0"/>
                        </a:spcAft>
                        <a:buFont typeface="+mj-lt"/>
                        <a:buNone/>
                      </a:pPr>
                      <a:r>
                        <a:rPr lang="en-GB" sz="2000" dirty="0" smtClean="0">
                          <a:solidFill>
                            <a:schemeClr val="accent4">
                              <a:lumMod val="95000"/>
                              <a:lumOff val="5000"/>
                            </a:schemeClr>
                          </a:solidFill>
                          <a:effectLst/>
                        </a:rPr>
                        <a:t>10.  Meningitis</a:t>
                      </a:r>
                      <a:endParaRPr lang="en-GB" sz="2000" dirty="0">
                        <a:solidFill>
                          <a:schemeClr val="accent4">
                            <a:lumMod val="95000"/>
                            <a:lumOff val="5000"/>
                          </a:schemeClr>
                        </a:solidFill>
                        <a:effectLst/>
                        <a:latin typeface="Calibri"/>
                        <a:ea typeface="Calibri"/>
                        <a:cs typeface="Times New Roman"/>
                      </a:endParaRPr>
                    </a:p>
                  </a:txBody>
                  <a:tcPr marL="68580" marR="68580" marT="0" marB="0">
                    <a:noFill/>
                  </a:tcPr>
                </a:tc>
              </a:tr>
            </a:tbl>
          </a:graphicData>
        </a:graphic>
      </p:graphicFrame>
    </p:spTree>
    <p:extLst>
      <p:ext uri="{BB962C8B-B14F-4D97-AF65-F5344CB8AC3E}">
        <p14:creationId xmlns:p14="http://schemas.microsoft.com/office/powerpoint/2010/main" val="111863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651" y="228600"/>
            <a:ext cx="8229600" cy="609601"/>
          </a:xfrm>
        </p:spPr>
        <p:txBody>
          <a:bodyPr/>
          <a:lstStyle/>
          <a:p>
            <a:r>
              <a:rPr lang="en-GB" sz="2800" dirty="0" smtClean="0"/>
              <a:t>CAUSAL &amp; PREVENTION FACTORS OF DISEASE</a:t>
            </a:r>
            <a:endParaRPr lang="en-GB" sz="2800" dirty="0"/>
          </a:p>
        </p:txBody>
      </p:sp>
      <p:sp>
        <p:nvSpPr>
          <p:cNvPr id="3" name="Content Placeholder 2"/>
          <p:cNvSpPr>
            <a:spLocks noGrp="1"/>
          </p:cNvSpPr>
          <p:nvPr>
            <p:ph idx="1"/>
          </p:nvPr>
        </p:nvSpPr>
        <p:spPr>
          <a:xfrm>
            <a:off x="452651" y="862085"/>
            <a:ext cx="8229600" cy="5691115"/>
          </a:xfrm>
        </p:spPr>
        <p:txBody>
          <a:bodyPr/>
          <a:lstStyle/>
          <a:p>
            <a:pPr marL="0" indent="0" algn="just">
              <a:buNone/>
            </a:pPr>
            <a:r>
              <a:rPr lang="en-GB" sz="2000" b="1" dirty="0" smtClean="0">
                <a:solidFill>
                  <a:srgbClr val="FF0000"/>
                </a:solidFill>
              </a:rPr>
              <a:t>MALARIA</a:t>
            </a:r>
          </a:p>
          <a:p>
            <a:pPr algn="just"/>
            <a:r>
              <a:rPr lang="en-GB" sz="2000" dirty="0"/>
              <a:t>Malaria is caused by Plasmodium </a:t>
            </a:r>
            <a:r>
              <a:rPr lang="en-GB" sz="2000" b="1" dirty="0"/>
              <a:t>parasites</a:t>
            </a:r>
            <a:r>
              <a:rPr lang="en-GB" sz="2000" dirty="0"/>
              <a:t>. The </a:t>
            </a:r>
            <a:r>
              <a:rPr lang="en-GB" sz="2000" b="1" dirty="0"/>
              <a:t>parasites</a:t>
            </a:r>
            <a:r>
              <a:rPr lang="en-GB" sz="2000" dirty="0"/>
              <a:t> are spread to people through the bites of infected female Anopheles mosquitoes, called "malaria vectors</a:t>
            </a:r>
            <a:r>
              <a:rPr lang="en-GB" sz="2000" dirty="0" smtClean="0"/>
              <a:t>.</a:t>
            </a:r>
          </a:p>
          <a:p>
            <a:pPr marL="0" indent="0" algn="just">
              <a:buNone/>
            </a:pPr>
            <a:r>
              <a:rPr lang="en-GB" sz="2000" b="1" dirty="0" smtClean="0"/>
              <a:t>ENVIRONMENTAL FACTORS</a:t>
            </a:r>
          </a:p>
          <a:p>
            <a:pPr algn="just"/>
            <a:r>
              <a:rPr lang="en-GB" sz="2000" dirty="0"/>
              <a:t>P</a:t>
            </a:r>
            <a:r>
              <a:rPr lang="en-GB" sz="2000" dirty="0" smtClean="0"/>
              <a:t>resence </a:t>
            </a:r>
            <a:r>
              <a:rPr lang="en-GB" sz="2000" dirty="0"/>
              <a:t>of bushes and </a:t>
            </a:r>
            <a:r>
              <a:rPr lang="en-GB" sz="2000" b="1" dirty="0"/>
              <a:t>stagnant water</a:t>
            </a:r>
            <a:r>
              <a:rPr lang="en-GB" sz="2000" dirty="0"/>
              <a:t> around homes, rainfall, low </a:t>
            </a:r>
            <a:r>
              <a:rPr lang="en-GB" sz="2000" b="1" dirty="0"/>
              <a:t>altitude</a:t>
            </a:r>
            <a:r>
              <a:rPr lang="en-GB" sz="2000" dirty="0"/>
              <a:t> and high </a:t>
            </a:r>
            <a:r>
              <a:rPr lang="en-GB" sz="2000" b="1" dirty="0"/>
              <a:t>temperatures</a:t>
            </a:r>
            <a:r>
              <a:rPr lang="en-GB" sz="2000" dirty="0"/>
              <a:t> </a:t>
            </a:r>
            <a:r>
              <a:rPr lang="en-GB" sz="2000" dirty="0" err="1"/>
              <a:t>favor</a:t>
            </a:r>
            <a:r>
              <a:rPr lang="en-GB" sz="2000" dirty="0"/>
              <a:t> the breeding of malaria vectors, as </a:t>
            </a:r>
            <a:r>
              <a:rPr lang="en-GB" sz="2000" dirty="0" smtClean="0"/>
              <a:t>well </a:t>
            </a:r>
            <a:r>
              <a:rPr lang="en-GB" sz="2000" dirty="0"/>
              <a:t>as </a:t>
            </a:r>
            <a:r>
              <a:rPr lang="en-GB" sz="2000" b="1" dirty="0"/>
              <a:t>parasite </a:t>
            </a:r>
            <a:r>
              <a:rPr lang="en-GB" sz="2000" dirty="0" smtClean="0"/>
              <a:t>reproduction </a:t>
            </a:r>
            <a:r>
              <a:rPr lang="en-GB" sz="2000" dirty="0"/>
              <a:t>within </a:t>
            </a:r>
            <a:r>
              <a:rPr lang="en-GB" sz="2000" dirty="0" smtClean="0"/>
              <a:t>them</a:t>
            </a:r>
          </a:p>
          <a:p>
            <a:pPr marL="0" indent="0" algn="just">
              <a:buNone/>
            </a:pPr>
            <a:r>
              <a:rPr lang="en-GB" sz="2000" b="1" dirty="0" smtClean="0"/>
              <a:t>PREVENTION AND CONTROL MEASURES</a:t>
            </a:r>
          </a:p>
          <a:p>
            <a:pPr algn="just"/>
            <a:r>
              <a:rPr lang="en-GB" sz="2000" dirty="0" smtClean="0"/>
              <a:t>Implement/improve drainage and sewerage services</a:t>
            </a:r>
          </a:p>
          <a:p>
            <a:pPr algn="just"/>
            <a:r>
              <a:rPr lang="en-GB" sz="2000" dirty="0" smtClean="0"/>
              <a:t>Trim grass and bushes around community homes</a:t>
            </a:r>
          </a:p>
          <a:p>
            <a:pPr algn="just"/>
            <a:r>
              <a:rPr lang="en-GB" sz="2000" dirty="0" smtClean="0"/>
              <a:t>Sleep under Insect Treated Nets</a:t>
            </a:r>
          </a:p>
          <a:p>
            <a:pPr algn="just"/>
            <a:r>
              <a:rPr lang="en-GB" sz="2000" dirty="0" smtClean="0"/>
              <a:t>Take Malaria prevention medicine prior to visiting a malaria prone area</a:t>
            </a:r>
          </a:p>
          <a:p>
            <a:pPr marL="0" indent="0" algn="just">
              <a:buNone/>
            </a:pPr>
            <a:endParaRPr lang="en-GB" sz="2000" dirty="0" smtClean="0"/>
          </a:p>
          <a:p>
            <a:pPr marL="0" indent="0" algn="just">
              <a:buNone/>
            </a:pPr>
            <a:endParaRPr lang="en-GB" sz="2000" dirty="0"/>
          </a:p>
        </p:txBody>
      </p:sp>
    </p:spTree>
    <p:extLst>
      <p:ext uri="{BB962C8B-B14F-4D97-AF65-F5344CB8AC3E}">
        <p14:creationId xmlns:p14="http://schemas.microsoft.com/office/powerpoint/2010/main" val="44613734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609"/>
            <a:ext cx="8229600" cy="606425"/>
          </a:xfrm>
        </p:spPr>
        <p:txBody>
          <a:bodyPr/>
          <a:lstStyle/>
          <a:p>
            <a:r>
              <a:rPr lang="en-GB" sz="2800" dirty="0"/>
              <a:t>CAUSAL &amp; PREVENTION FACTORS OF DISEASE</a:t>
            </a:r>
          </a:p>
        </p:txBody>
      </p:sp>
      <p:sp>
        <p:nvSpPr>
          <p:cNvPr id="3" name="Content Placeholder 2"/>
          <p:cNvSpPr>
            <a:spLocks noGrp="1"/>
          </p:cNvSpPr>
          <p:nvPr>
            <p:ph idx="1"/>
          </p:nvPr>
        </p:nvSpPr>
        <p:spPr>
          <a:xfrm>
            <a:off x="457200" y="628035"/>
            <a:ext cx="8229600" cy="5086966"/>
          </a:xfrm>
        </p:spPr>
        <p:txBody>
          <a:bodyPr/>
          <a:lstStyle/>
          <a:p>
            <a:pPr marL="0" indent="0" algn="just">
              <a:buNone/>
            </a:pPr>
            <a:r>
              <a:rPr lang="en-GB" sz="2000" b="1" dirty="0" smtClean="0">
                <a:solidFill>
                  <a:srgbClr val="C00000"/>
                </a:solidFill>
              </a:rPr>
              <a:t>PNEUMONIA</a:t>
            </a:r>
          </a:p>
          <a:p>
            <a:pPr algn="just"/>
            <a:r>
              <a:rPr lang="en-GB" sz="2000" dirty="0" smtClean="0"/>
              <a:t>Lung </a:t>
            </a:r>
            <a:r>
              <a:rPr lang="en-GB" sz="2000" dirty="0"/>
              <a:t>disease characterized by inflammation of the airspaces in the lungs, most commonly due to an infection</a:t>
            </a:r>
            <a:r>
              <a:rPr lang="en-GB" sz="2000" dirty="0" smtClean="0"/>
              <a:t>.</a:t>
            </a:r>
          </a:p>
          <a:p>
            <a:pPr marL="0" indent="0" algn="just">
              <a:buNone/>
            </a:pPr>
            <a:r>
              <a:rPr lang="en-GB" sz="2000" b="1" dirty="0" smtClean="0"/>
              <a:t>CAUSES</a:t>
            </a:r>
            <a:endParaRPr lang="en-GB" sz="2000" b="1" dirty="0"/>
          </a:p>
          <a:p>
            <a:pPr algn="just"/>
            <a:r>
              <a:rPr lang="en-GB" sz="2000" b="1" dirty="0" smtClean="0"/>
              <a:t>Caused</a:t>
            </a:r>
            <a:r>
              <a:rPr lang="en-GB" sz="2000" dirty="0"/>
              <a:t> by viral infections, bacterial infections, or fungi; less frequently by other </a:t>
            </a:r>
            <a:r>
              <a:rPr lang="en-GB" sz="2000" b="1" dirty="0"/>
              <a:t>causes</a:t>
            </a:r>
            <a:r>
              <a:rPr lang="en-GB" sz="2000" dirty="0"/>
              <a:t>. The most common bacterial type that </a:t>
            </a:r>
            <a:r>
              <a:rPr lang="en-GB" sz="2000" b="1" dirty="0"/>
              <a:t>causes pneumonia</a:t>
            </a:r>
            <a:r>
              <a:rPr lang="en-GB" sz="2000" dirty="0"/>
              <a:t> is Streptococcus pneumoniae</a:t>
            </a:r>
            <a:r>
              <a:rPr lang="en-GB" sz="2000" dirty="0" smtClean="0"/>
              <a:t>.</a:t>
            </a:r>
          </a:p>
          <a:p>
            <a:pPr marL="0" indent="0" algn="just">
              <a:buNone/>
            </a:pPr>
            <a:r>
              <a:rPr lang="en-GB" sz="2000" b="1" dirty="0" smtClean="0"/>
              <a:t>CONTROL AND PREVENTION MEASURES</a:t>
            </a:r>
          </a:p>
          <a:p>
            <a:pPr algn="just"/>
            <a:r>
              <a:rPr lang="en-GB" sz="2000" dirty="0" smtClean="0"/>
              <a:t>Wash </a:t>
            </a:r>
            <a:r>
              <a:rPr lang="en-GB" sz="2000" dirty="0"/>
              <a:t>your hands regularly, especially after you go to the bathroom and before you eat.</a:t>
            </a:r>
          </a:p>
          <a:p>
            <a:pPr algn="just"/>
            <a:r>
              <a:rPr lang="en-GB" sz="2000" dirty="0"/>
              <a:t>Eat right, with plenty of fruits and vegetables.</a:t>
            </a:r>
          </a:p>
          <a:p>
            <a:pPr algn="just"/>
            <a:r>
              <a:rPr lang="en-GB" sz="2000" dirty="0"/>
              <a:t>Exercise.</a:t>
            </a:r>
          </a:p>
          <a:p>
            <a:pPr algn="just"/>
            <a:r>
              <a:rPr lang="en-GB" sz="2000" dirty="0"/>
              <a:t>Get enough sleep.</a:t>
            </a:r>
          </a:p>
          <a:p>
            <a:pPr algn="just"/>
            <a:r>
              <a:rPr lang="en-GB" sz="2000" dirty="0"/>
              <a:t>Quit smoking.</a:t>
            </a:r>
          </a:p>
          <a:p>
            <a:pPr algn="just"/>
            <a:r>
              <a:rPr lang="en-GB" sz="2000" dirty="0"/>
              <a:t>Stay away from sick </a:t>
            </a:r>
            <a:r>
              <a:rPr lang="en-GB" sz="2000" dirty="0" smtClean="0"/>
              <a:t>people</a:t>
            </a:r>
            <a:endParaRPr lang="en-GB" sz="2000" dirty="0"/>
          </a:p>
          <a:p>
            <a:pPr algn="just"/>
            <a:endParaRPr lang="en-GB" sz="2000" dirty="0"/>
          </a:p>
        </p:txBody>
      </p:sp>
    </p:spTree>
    <p:extLst>
      <p:ext uri="{BB962C8B-B14F-4D97-AF65-F5344CB8AC3E}">
        <p14:creationId xmlns:p14="http://schemas.microsoft.com/office/powerpoint/2010/main" val="367531183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0806" y="228600"/>
            <a:ext cx="8229600" cy="530225"/>
          </a:xfrm>
        </p:spPr>
        <p:txBody>
          <a:bodyPr/>
          <a:lstStyle/>
          <a:p>
            <a:r>
              <a:rPr lang="en-GB" sz="2800" dirty="0"/>
              <a:t>CAUSAL &amp; PREVENTION FACTORS OF DISEASE</a:t>
            </a:r>
          </a:p>
        </p:txBody>
      </p:sp>
      <p:sp>
        <p:nvSpPr>
          <p:cNvPr id="3" name="Content Placeholder 2"/>
          <p:cNvSpPr>
            <a:spLocks noGrp="1"/>
          </p:cNvSpPr>
          <p:nvPr>
            <p:ph idx="1"/>
          </p:nvPr>
        </p:nvSpPr>
        <p:spPr>
          <a:xfrm>
            <a:off x="420806" y="758825"/>
            <a:ext cx="8229600" cy="5565775"/>
          </a:xfrm>
        </p:spPr>
        <p:txBody>
          <a:bodyPr/>
          <a:lstStyle/>
          <a:p>
            <a:pPr marL="0" indent="0" algn="just">
              <a:buNone/>
            </a:pPr>
            <a:r>
              <a:rPr lang="en-GB" sz="1800" b="1" dirty="0" smtClean="0">
                <a:solidFill>
                  <a:srgbClr val="C00000"/>
                </a:solidFill>
              </a:rPr>
              <a:t>CANCER</a:t>
            </a:r>
          </a:p>
          <a:p>
            <a:pPr algn="just"/>
            <a:r>
              <a:rPr lang="en-GB" sz="1800" b="1" dirty="0"/>
              <a:t>Cancer</a:t>
            </a:r>
            <a:r>
              <a:rPr lang="en-GB" sz="1800" dirty="0"/>
              <a:t> is a disease caused when cells divide uncontrollably and spread into surrounding tissues. </a:t>
            </a:r>
          </a:p>
          <a:p>
            <a:pPr marL="0" indent="0" algn="just">
              <a:buNone/>
            </a:pPr>
            <a:r>
              <a:rPr lang="en-GB" sz="1800" b="1" dirty="0" smtClean="0"/>
              <a:t>CAUSES</a:t>
            </a:r>
          </a:p>
          <a:p>
            <a:pPr algn="just"/>
            <a:r>
              <a:rPr lang="en-GB" sz="1800" b="1" dirty="0"/>
              <a:t>C</a:t>
            </a:r>
            <a:r>
              <a:rPr lang="en-GB" sz="1800" dirty="0" smtClean="0"/>
              <a:t>aused </a:t>
            </a:r>
            <a:r>
              <a:rPr lang="en-GB" sz="1800" dirty="0"/>
              <a:t>by changes to </a:t>
            </a:r>
            <a:r>
              <a:rPr lang="en-GB" sz="1800" dirty="0" smtClean="0"/>
              <a:t>DNA specifically in the genes</a:t>
            </a:r>
            <a:r>
              <a:rPr lang="en-GB" sz="1800" dirty="0"/>
              <a:t>. These changes are also called genetic changes.</a:t>
            </a:r>
            <a:endParaRPr lang="en-GB" sz="1800" dirty="0" smtClean="0"/>
          </a:p>
          <a:p>
            <a:pPr marL="0" indent="0" algn="just">
              <a:buNone/>
            </a:pPr>
            <a:r>
              <a:rPr lang="en-GB" sz="1800" b="1" dirty="0" smtClean="0"/>
              <a:t>DISEASE ASSOCIATED WITH </a:t>
            </a:r>
          </a:p>
          <a:p>
            <a:pPr algn="just"/>
            <a:r>
              <a:rPr lang="en-GB" sz="1800" b="1" dirty="0" smtClean="0"/>
              <a:t>Smoking</a:t>
            </a:r>
            <a:r>
              <a:rPr lang="en-GB" sz="1800" dirty="0"/>
              <a:t> and Tobacco.</a:t>
            </a:r>
          </a:p>
          <a:p>
            <a:pPr algn="just"/>
            <a:r>
              <a:rPr lang="en-GB" sz="1800" dirty="0"/>
              <a:t>Diet and Physical Activity.</a:t>
            </a:r>
          </a:p>
          <a:p>
            <a:pPr algn="just"/>
            <a:r>
              <a:rPr lang="en-GB" sz="1800" dirty="0"/>
              <a:t>Sun and Other Types of </a:t>
            </a:r>
            <a:r>
              <a:rPr lang="en-GB" sz="1800" b="1" dirty="0"/>
              <a:t>Radiation</a:t>
            </a:r>
            <a:r>
              <a:rPr lang="en-GB" sz="1800" dirty="0"/>
              <a:t>.</a:t>
            </a:r>
          </a:p>
          <a:p>
            <a:pPr algn="just"/>
            <a:r>
              <a:rPr lang="en-GB" sz="1800" dirty="0"/>
              <a:t>Viruses and Other Infections.</a:t>
            </a:r>
          </a:p>
          <a:p>
            <a:pPr marL="0" indent="0" algn="just">
              <a:buNone/>
            </a:pPr>
            <a:r>
              <a:rPr lang="en-GB" sz="1800" b="1" dirty="0" smtClean="0"/>
              <a:t>PREVENTION AND CONTROL</a:t>
            </a:r>
          </a:p>
          <a:p>
            <a:pPr algn="just"/>
            <a:r>
              <a:rPr lang="en-GB" sz="1800" dirty="0" smtClean="0"/>
              <a:t>Avoid </a:t>
            </a:r>
            <a:r>
              <a:rPr lang="en-GB" sz="1800" b="1" dirty="0" smtClean="0">
                <a:solidFill>
                  <a:srgbClr val="C00000"/>
                </a:solidFill>
              </a:rPr>
              <a:t>tobacco/cigarettes </a:t>
            </a:r>
            <a:r>
              <a:rPr lang="en-GB" sz="1800" dirty="0" smtClean="0"/>
              <a:t>and alcohol</a:t>
            </a:r>
            <a:endParaRPr lang="en-GB" sz="1800" dirty="0"/>
          </a:p>
          <a:p>
            <a:pPr algn="just"/>
            <a:r>
              <a:rPr lang="en-GB" sz="1800" dirty="0"/>
              <a:t>Eat a healthy </a:t>
            </a:r>
            <a:r>
              <a:rPr lang="en-GB" sz="1800" dirty="0" smtClean="0"/>
              <a:t>diet (avoid excessive </a:t>
            </a:r>
            <a:r>
              <a:rPr lang="en-GB" sz="1800" dirty="0" err="1" smtClean="0"/>
              <a:t>nyama</a:t>
            </a:r>
            <a:r>
              <a:rPr lang="en-GB" sz="1800" dirty="0" smtClean="0"/>
              <a:t> </a:t>
            </a:r>
            <a:r>
              <a:rPr lang="en-GB" sz="1800" dirty="0" err="1" smtClean="0"/>
              <a:t>choma</a:t>
            </a:r>
            <a:r>
              <a:rPr lang="en-GB" sz="1800" dirty="0" smtClean="0"/>
              <a:t>)</a:t>
            </a:r>
            <a:endParaRPr lang="en-GB" sz="1800" dirty="0"/>
          </a:p>
          <a:p>
            <a:pPr algn="just"/>
            <a:r>
              <a:rPr lang="en-GB" sz="1800" dirty="0"/>
              <a:t>Maintain a healthy weight and be physically active. ...</a:t>
            </a:r>
          </a:p>
          <a:p>
            <a:pPr algn="just"/>
            <a:r>
              <a:rPr lang="en-GB" sz="1800" dirty="0"/>
              <a:t>Protect yourself from the sun. ...</a:t>
            </a:r>
          </a:p>
          <a:p>
            <a:pPr algn="just"/>
            <a:r>
              <a:rPr lang="en-GB" sz="1800" dirty="0"/>
              <a:t>Get vaccinated. </a:t>
            </a:r>
            <a:r>
              <a:rPr lang="en-GB" sz="1800" dirty="0" smtClean="0"/>
              <a:t>...(cervical cancer)</a:t>
            </a:r>
            <a:endParaRPr lang="en-GB" sz="1800" dirty="0"/>
          </a:p>
          <a:p>
            <a:pPr algn="just"/>
            <a:r>
              <a:rPr lang="en-GB" sz="1800" dirty="0"/>
              <a:t>Avoid risky </a:t>
            </a:r>
            <a:r>
              <a:rPr lang="en-GB" sz="1800" dirty="0" err="1" smtClean="0"/>
              <a:t>behaviors</a:t>
            </a:r>
            <a:endParaRPr lang="en-GB" sz="1800" dirty="0"/>
          </a:p>
          <a:p>
            <a:pPr algn="just"/>
            <a:r>
              <a:rPr lang="en-GB" sz="1800" dirty="0"/>
              <a:t>Get regular medical </a:t>
            </a:r>
            <a:r>
              <a:rPr lang="en-GB" sz="1800" dirty="0" smtClean="0"/>
              <a:t>care</a:t>
            </a:r>
            <a:endParaRPr lang="en-GB" sz="1800" dirty="0"/>
          </a:p>
          <a:p>
            <a:pPr marL="0" indent="0" algn="just">
              <a:buNone/>
            </a:pPr>
            <a:endParaRPr lang="en-GB" sz="1800" dirty="0"/>
          </a:p>
        </p:txBody>
      </p:sp>
    </p:spTree>
    <p:extLst>
      <p:ext uri="{BB962C8B-B14F-4D97-AF65-F5344CB8AC3E}">
        <p14:creationId xmlns:p14="http://schemas.microsoft.com/office/powerpoint/2010/main" val="302032114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0225"/>
          </a:xfrm>
        </p:spPr>
        <p:txBody>
          <a:bodyPr/>
          <a:lstStyle/>
          <a:p>
            <a:r>
              <a:rPr lang="en-GB" sz="2800" dirty="0"/>
              <a:t>CAUSAL &amp; PREVENTION FACTORS OF DISEASE</a:t>
            </a:r>
          </a:p>
        </p:txBody>
      </p:sp>
      <p:sp>
        <p:nvSpPr>
          <p:cNvPr id="3" name="Content Placeholder 2"/>
          <p:cNvSpPr>
            <a:spLocks noGrp="1"/>
          </p:cNvSpPr>
          <p:nvPr>
            <p:ph idx="1"/>
          </p:nvPr>
        </p:nvSpPr>
        <p:spPr>
          <a:xfrm>
            <a:off x="442415" y="665565"/>
            <a:ext cx="8229600" cy="6040035"/>
          </a:xfrm>
        </p:spPr>
        <p:txBody>
          <a:bodyPr/>
          <a:lstStyle/>
          <a:p>
            <a:pPr marL="0" indent="0" algn="just">
              <a:buNone/>
            </a:pPr>
            <a:r>
              <a:rPr lang="en-GB" sz="1900" b="1" dirty="0" smtClean="0">
                <a:solidFill>
                  <a:srgbClr val="C00000"/>
                </a:solidFill>
              </a:rPr>
              <a:t>TRAFFIC ACCIDENTS</a:t>
            </a:r>
          </a:p>
          <a:p>
            <a:pPr marL="0" indent="0" algn="just">
              <a:buNone/>
            </a:pPr>
            <a:r>
              <a:rPr lang="en-GB" sz="1900" dirty="0"/>
              <a:t>A </a:t>
            </a:r>
            <a:r>
              <a:rPr lang="en-GB" sz="1900" b="1" dirty="0"/>
              <a:t>road traffic accident</a:t>
            </a:r>
            <a:r>
              <a:rPr lang="en-GB" sz="1900" dirty="0"/>
              <a:t> (RTA) is any injury due to </a:t>
            </a:r>
            <a:r>
              <a:rPr lang="en-GB" sz="1900" b="1" dirty="0"/>
              <a:t>crashes</a:t>
            </a:r>
            <a:r>
              <a:rPr lang="en-GB" sz="1900" dirty="0"/>
              <a:t> originating from, terminating with or involving a vehicle partially or fully on a public </a:t>
            </a:r>
            <a:r>
              <a:rPr lang="en-GB" sz="1900" b="1" dirty="0"/>
              <a:t>road</a:t>
            </a:r>
            <a:r>
              <a:rPr lang="en-GB" sz="1900" dirty="0"/>
              <a:t>. It is projected that </a:t>
            </a:r>
            <a:r>
              <a:rPr lang="en-GB" sz="1900" b="1" dirty="0"/>
              <a:t>road traffic</a:t>
            </a:r>
            <a:r>
              <a:rPr lang="en-GB" sz="1900" dirty="0"/>
              <a:t> injuries will move up to the third position by the year 2020 among leading causes of the global disease burden</a:t>
            </a:r>
            <a:endParaRPr lang="en-GB" sz="1900" dirty="0" smtClean="0"/>
          </a:p>
          <a:p>
            <a:pPr marL="0" indent="0" algn="just">
              <a:buNone/>
            </a:pPr>
            <a:r>
              <a:rPr lang="en-GB" sz="1900" b="1" dirty="0" smtClean="0"/>
              <a:t>MAIN CAUSES</a:t>
            </a:r>
          </a:p>
          <a:p>
            <a:pPr algn="just"/>
            <a:r>
              <a:rPr lang="en-GB" sz="1900" dirty="0" smtClean="0"/>
              <a:t>Equipment/vehicles failure – mechanical engineering</a:t>
            </a:r>
          </a:p>
          <a:p>
            <a:pPr algn="just"/>
            <a:r>
              <a:rPr lang="en-GB" sz="1900" dirty="0" smtClean="0"/>
              <a:t>Human error (fatigue, carelessness, policy)</a:t>
            </a:r>
          </a:p>
          <a:p>
            <a:pPr algn="just"/>
            <a:r>
              <a:rPr lang="en-GB" sz="1900" dirty="0" smtClean="0"/>
              <a:t>Poor road design – civil engineering, architectural, urban/rural design</a:t>
            </a:r>
          </a:p>
          <a:p>
            <a:pPr algn="just"/>
            <a:r>
              <a:rPr lang="en-GB" sz="1900" dirty="0" smtClean="0"/>
              <a:t>Environmental (weather, animals </a:t>
            </a:r>
            <a:r>
              <a:rPr lang="en-GB" sz="1900" dirty="0" err="1" smtClean="0"/>
              <a:t>etc</a:t>
            </a:r>
            <a:r>
              <a:rPr lang="en-GB" sz="1900" dirty="0" smtClean="0"/>
              <a:t>)</a:t>
            </a:r>
          </a:p>
          <a:p>
            <a:pPr marL="0" indent="0" algn="just">
              <a:buNone/>
            </a:pPr>
            <a:r>
              <a:rPr lang="en-GB" sz="1900" b="1" dirty="0" smtClean="0"/>
              <a:t>PREVENTION MEASURES</a:t>
            </a:r>
          </a:p>
          <a:p>
            <a:pPr algn="just"/>
            <a:r>
              <a:rPr lang="en-GB" sz="1900" dirty="0" smtClean="0"/>
              <a:t>Improved and services equipment</a:t>
            </a:r>
          </a:p>
          <a:p>
            <a:pPr algn="just"/>
            <a:r>
              <a:rPr lang="en-GB" sz="1900" dirty="0" smtClean="0"/>
              <a:t>Better human awareness and policing</a:t>
            </a:r>
          </a:p>
          <a:p>
            <a:pPr algn="just"/>
            <a:r>
              <a:rPr lang="en-GB" sz="1900" dirty="0" smtClean="0"/>
              <a:t>Improved road and environmental designs</a:t>
            </a:r>
          </a:p>
          <a:p>
            <a:pPr marL="0" indent="0" algn="just">
              <a:buNone/>
            </a:pPr>
            <a:endParaRPr lang="en-GB" sz="1900" dirty="0" smtClean="0"/>
          </a:p>
        </p:txBody>
      </p:sp>
    </p:spTree>
    <p:extLst>
      <p:ext uri="{BB962C8B-B14F-4D97-AF65-F5344CB8AC3E}">
        <p14:creationId xmlns:p14="http://schemas.microsoft.com/office/powerpoint/2010/main" val="282376842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82625"/>
          </a:xfrm>
        </p:spPr>
        <p:txBody>
          <a:bodyPr/>
          <a:lstStyle/>
          <a:p>
            <a:r>
              <a:rPr lang="en-GB" sz="2400" dirty="0" smtClean="0"/>
              <a:t>APPLICATION OF KNOWLEDGE FROM THIS COURSE</a:t>
            </a:r>
            <a:endParaRPr lang="en-GB" sz="2400" dirty="0"/>
          </a:p>
        </p:txBody>
      </p:sp>
      <p:sp>
        <p:nvSpPr>
          <p:cNvPr id="3" name="Content Placeholder 2"/>
          <p:cNvSpPr>
            <a:spLocks noGrp="1"/>
          </p:cNvSpPr>
          <p:nvPr>
            <p:ph idx="1"/>
          </p:nvPr>
        </p:nvSpPr>
        <p:spPr>
          <a:xfrm>
            <a:off x="457200" y="1184275"/>
            <a:ext cx="8229600" cy="5368925"/>
          </a:xfrm>
        </p:spPr>
        <p:txBody>
          <a:bodyPr/>
          <a:lstStyle/>
          <a:p>
            <a:pPr marL="0" indent="0">
              <a:buNone/>
            </a:pPr>
            <a:r>
              <a:rPr lang="en-GB" sz="2000" b="1" dirty="0" smtClean="0"/>
              <a:t>THIS PURPOSE OF THIS COURSE IS:</a:t>
            </a:r>
          </a:p>
          <a:p>
            <a:pPr marL="0" indent="0">
              <a:buNone/>
            </a:pPr>
            <a:endParaRPr lang="en-GB" sz="2000" b="1" dirty="0" smtClean="0"/>
          </a:p>
          <a:p>
            <a:r>
              <a:rPr lang="en-GB" sz="2000" dirty="0" smtClean="0"/>
              <a:t>TO MAKE YOU AWARE OF HEALTH AND RELATED FACTS FOR YOUR PERSONAL CARE</a:t>
            </a:r>
          </a:p>
          <a:p>
            <a:r>
              <a:rPr lang="en-GB" sz="2000" dirty="0" smtClean="0"/>
              <a:t>HEALTH IS NOT JUST ABOUT NOT BEING ILL OR OBTAINING TREATMENT BUT INCLUDES A STATE OF COMPLETE PHYSICAL, MENTAL AND SOCIAL WELL-BEING</a:t>
            </a:r>
          </a:p>
          <a:p>
            <a:r>
              <a:rPr lang="en-GB" sz="2000" dirty="0" smtClean="0"/>
              <a:t>WELL BEING GOES BEYOND THE INDIVIDUAL WELLBEING BUT INCORPORATES OUR LIFESTYLE &amp; EXPOSURE TO DISEASE RISK FACTORS; THE EFFECTS OF THE ENVIRONMENT, POLLUTIONS, </a:t>
            </a:r>
            <a:r>
              <a:rPr lang="en-GB" sz="2000" dirty="0"/>
              <a:t>INDUSTRY </a:t>
            </a:r>
            <a:r>
              <a:rPr lang="en-GB" sz="2000" dirty="0" smtClean="0"/>
              <a:t>&amp; PRODUCTS; FARMING &amp; FOOD PRODUCTS, BUSINESS &amp; ETHICS; SOCIETY &amp; SOCIAL INTERACTIONS; INFRASTRUCTURE &amp; THEIR DESIGN;  MATERIALS, CLOTHING &amp; DESIGN; THE WEATHER, EQUIPMENT, NOISE &amp; USES; ROADS AND THEIR DESIGN, ETC … ON POPULATIONS </a:t>
            </a:r>
          </a:p>
          <a:p>
            <a:endParaRPr lang="en-GB" sz="2000" dirty="0"/>
          </a:p>
        </p:txBody>
      </p:sp>
    </p:spTree>
    <p:extLst>
      <p:ext uri="{BB962C8B-B14F-4D97-AF65-F5344CB8AC3E}">
        <p14:creationId xmlns:p14="http://schemas.microsoft.com/office/powerpoint/2010/main" val="155409109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
            <a:ext cx="8229600" cy="609601"/>
          </a:xfrm>
        </p:spPr>
        <p:txBody>
          <a:bodyPr/>
          <a:lstStyle/>
          <a:p>
            <a:r>
              <a:rPr lang="en-GB" dirty="0" smtClean="0"/>
              <a:t>KENYA - CANCER STATISTICS</a:t>
            </a:r>
            <a:endParaRPr lang="en-GB"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0420" t="38938" r="9971" b="16163"/>
          <a:stretch/>
        </p:blipFill>
        <p:spPr bwMode="auto">
          <a:xfrm>
            <a:off x="228600" y="762000"/>
            <a:ext cx="9144000" cy="617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6544878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CANCER MORTALITY TRENDS</a:t>
            </a:r>
            <a:endParaRPr lang="en-GB" dirty="0"/>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0784" t="23436" r="10335" b="37715"/>
          <a:stretch/>
        </p:blipFill>
        <p:spPr bwMode="auto">
          <a:xfrm>
            <a:off x="228600" y="1219200"/>
            <a:ext cx="8760395" cy="563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8640986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58825"/>
          </a:xfrm>
        </p:spPr>
        <p:txBody>
          <a:bodyPr/>
          <a:lstStyle/>
          <a:p>
            <a:r>
              <a:rPr lang="en-GB" dirty="0" smtClean="0"/>
              <a:t>CANCER INCIDENCE</a:t>
            </a:r>
            <a:endParaRPr lang="en-GB" dirty="0"/>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1996" t="21121" r="9972" b="36638"/>
          <a:stretch/>
        </p:blipFill>
        <p:spPr bwMode="auto">
          <a:xfrm>
            <a:off x="304801" y="1219200"/>
            <a:ext cx="8686800" cy="541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1386736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dirty="0" smtClean="0"/>
          </a:p>
          <a:p>
            <a:endParaRPr lang="en-GB" dirty="0"/>
          </a:p>
          <a:p>
            <a:endParaRPr lang="en-GB" dirty="0" smtClean="0"/>
          </a:p>
          <a:p>
            <a:r>
              <a:rPr lang="en-GB" dirty="0" smtClean="0"/>
              <a:t>THE END</a:t>
            </a:r>
          </a:p>
          <a:p>
            <a:endParaRPr lang="en-GB" dirty="0"/>
          </a:p>
        </p:txBody>
      </p:sp>
    </p:spTree>
    <p:extLst>
      <p:ext uri="{BB962C8B-B14F-4D97-AF65-F5344CB8AC3E}">
        <p14:creationId xmlns:p14="http://schemas.microsoft.com/office/powerpoint/2010/main" val="109187258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
</file>

<file path=ppt/theme/theme1.xml><?xml version="1.0" encoding="utf-8"?>
<a:theme xmlns:a="http://schemas.openxmlformats.org/drawingml/2006/main" name="Default Theme">
  <a:themeElements>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fontScheme name="Level">
      <a:majorFont>
        <a:latin typeface="Garamond"/>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1424</TotalTime>
  <Words>829</Words>
  <Application>Microsoft Office PowerPoint</Application>
  <PresentationFormat>On-screen Show (4:3)</PresentationFormat>
  <Paragraphs>116</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Garamond</vt:lpstr>
      <vt:lpstr>Times New Roman</vt:lpstr>
      <vt:lpstr>Verdana</vt:lpstr>
      <vt:lpstr>Wingdings</vt:lpstr>
      <vt:lpstr>Default Theme</vt:lpstr>
      <vt:lpstr>HEALTH EDUCATION</vt:lpstr>
      <vt:lpstr>OBJECTIVES OF HEALTH EDUCATION</vt:lpstr>
      <vt:lpstr>VALUE OF HEALTH EDUCATION I</vt:lpstr>
      <vt:lpstr>VALUE OF HEALTH EDUCATION II</vt:lpstr>
      <vt:lpstr>VALUE OF HEALTH EDUCATION III</vt:lpstr>
      <vt:lpstr>WORLD HEALTH ORGANISATION: DETERMINANTS OF HEALTH</vt:lpstr>
      <vt:lpstr>DEFINING HEALTH AND WELL-BEING</vt:lpstr>
      <vt:lpstr>DEFINING HEALTH AND WELL-BEING</vt:lpstr>
      <vt:lpstr>DEFINING HEALTH AND WELL-BEING</vt:lpstr>
      <vt:lpstr>PowerPoint Presentation</vt:lpstr>
      <vt:lpstr>CAUSAL &amp; PREVENTION FACTORS OF DISEASE</vt:lpstr>
      <vt:lpstr>CAUSAL &amp; PREVENTION FACTORS OF DISEASE</vt:lpstr>
      <vt:lpstr>CAUSAL &amp; PREVENTION FACTORS OF DISEASE</vt:lpstr>
      <vt:lpstr>CAUSAL &amp; PREVENTION FACTORS OF DISEASE</vt:lpstr>
      <vt:lpstr>APPLICATION OF KNOWLEDGE FROM THIS COURSE</vt:lpstr>
      <vt:lpstr>KENYA - CANCER STATISTICS</vt:lpstr>
      <vt:lpstr>CANCER MORTALITY TRENDS</vt:lpstr>
      <vt:lpstr>CANCER INCIDENCE</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FOO2010</dc:creator>
  <cp:lastModifiedBy>Windows User</cp:lastModifiedBy>
  <cp:revision>42</cp:revision>
  <dcterms:created xsi:type="dcterms:W3CDTF">2017-05-03T16:43:43Z</dcterms:created>
  <dcterms:modified xsi:type="dcterms:W3CDTF">2021-04-18T13:37:32Z</dcterms:modified>
</cp:coreProperties>
</file>
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sldIdLst>
    <p:sldId id="256" r:id="rId4"/>
    <p:sldId id="257" r:id="rId5"/>
    <p:sldId id="258" r:id="rId6"/>
    <p:sldId id="259" r:id="rId7"/>
    <p:sldId id="260" r:id="rId8"/>
    <p:sldId id="305" r:id="rId9"/>
    <p:sldId id="306" r:id="rId10"/>
    <p:sldId id="261" r:id="rId11"/>
    <p:sldId id="262" r:id="rId12"/>
    <p:sldId id="263" r:id="rId13"/>
    <p:sldId id="294" r:id="rId14"/>
    <p:sldId id="295" r:id="rId15"/>
    <p:sldId id="296" r:id="rId16"/>
    <p:sldId id="297" r:id="rId17"/>
    <p:sldId id="298" r:id="rId18"/>
    <p:sldId id="299" r:id="rId19"/>
    <p:sldId id="300" r:id="rId20"/>
    <p:sldId id="301" r:id="rId21"/>
    <p:sldId id="288" r:id="rId22"/>
    <p:sldId id="303" r:id="rId23"/>
    <p:sldId id="304" r:id="rId24"/>
    <p:sldId id="307" r:id="rId25"/>
    <p:sldId id="308"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 id="328" r:id="rId46"/>
    <p:sldId id="329" r:id="rId47"/>
    <p:sldId id="330" r:id="rId48"/>
    <p:sldId id="332" r:id="rId49"/>
    <p:sldId id="265" r:id="rId50"/>
    <p:sldId id="266" r:id="rId51"/>
    <p:sldId id="333" r:id="rId52"/>
    <p:sldId id="267" r:id="rId53"/>
    <p:sldId id="268" r:id="rId54"/>
    <p:sldId id="269" r:id="rId55"/>
    <p:sldId id="334" r:id="rId56"/>
    <p:sldId id="335" r:id="rId57"/>
    <p:sldId id="270" r:id="rId58"/>
    <p:sldId id="271" r:id="rId59"/>
    <p:sldId id="272" r:id="rId60"/>
    <p:sldId id="273" r:id="rId61"/>
    <p:sldId id="336" r:id="rId62"/>
    <p:sldId id="337" r:id="rId63"/>
    <p:sldId id="275" r:id="rId64"/>
    <p:sldId id="276" r:id="rId65"/>
    <p:sldId id="277" r:id="rId66"/>
    <p:sldId id="338" r:id="rId67"/>
    <p:sldId id="278" r:id="rId68"/>
    <p:sldId id="339" r:id="rId69"/>
    <p:sldId id="279" r:id="rId70"/>
    <p:sldId id="274" r:id="rId71"/>
    <p:sldId id="340" r:id="rId72"/>
    <p:sldId id="341" r:id="rId73"/>
    <p:sldId id="342" r:id="rId74"/>
    <p:sldId id="343" r:id="rId75"/>
    <p:sldId id="344" r:id="rId76"/>
    <p:sldId id="345" r:id="rId77"/>
    <p:sldId id="346" r:id="rId78"/>
    <p:sldId id="347" r:id="rId79"/>
    <p:sldId id="348" r:id="rId80"/>
    <p:sldId id="349" r:id="rId81"/>
    <p:sldId id="350" r:id="rId82"/>
    <p:sldId id="351" r:id="rId83"/>
    <p:sldId id="352" r:id="rId84"/>
    <p:sldId id="353" r:id="rId85"/>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42" y="84"/>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tableStyles" Target="tableStyle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viewProps" Target="view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5A51-06BD-44F5-961B-AE14BB6FF1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KE"/>
          </a:p>
        </p:txBody>
      </p:sp>
      <p:sp>
        <p:nvSpPr>
          <p:cNvPr id="3" name="Subtitle 2">
            <a:extLst>
              <a:ext uri="{FF2B5EF4-FFF2-40B4-BE49-F238E27FC236}">
                <a16:creationId xmlns:a16="http://schemas.microsoft.com/office/drawing/2014/main" id="{157C3E39-720A-451B-B7D5-E38E599DD1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KE"/>
          </a:p>
        </p:txBody>
      </p:sp>
      <p:sp>
        <p:nvSpPr>
          <p:cNvPr id="4" name="Date Placeholder 3">
            <a:extLst>
              <a:ext uri="{FF2B5EF4-FFF2-40B4-BE49-F238E27FC236}">
                <a16:creationId xmlns:a16="http://schemas.microsoft.com/office/drawing/2014/main" id="{7768E5BE-1F83-4A12-8FF1-6C4D5AB605D9}"/>
              </a:ext>
            </a:extLst>
          </p:cNvPr>
          <p:cNvSpPr>
            <a:spLocks noGrp="1"/>
          </p:cNvSpPr>
          <p:nvPr>
            <p:ph type="dt" sz="half" idx="10"/>
          </p:nvPr>
        </p:nvSpPr>
        <p:spPr/>
        <p:txBody>
          <a:bodyPr/>
          <a:lstStyle/>
          <a:p>
            <a:fld id="{A3534F09-947D-4E7E-BC99-68C58BC19C54}" type="datetimeFigureOut">
              <a:rPr lang="en-KE" smtClean="0"/>
              <a:t>10/25/2024</a:t>
            </a:fld>
            <a:endParaRPr lang="en-KE"/>
          </a:p>
        </p:txBody>
      </p:sp>
      <p:sp>
        <p:nvSpPr>
          <p:cNvPr id="5" name="Footer Placeholder 4">
            <a:extLst>
              <a:ext uri="{FF2B5EF4-FFF2-40B4-BE49-F238E27FC236}">
                <a16:creationId xmlns:a16="http://schemas.microsoft.com/office/drawing/2014/main" id="{BB346D3A-D926-4412-B626-EFCAF65FC5B4}"/>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2F17BD9D-5D94-4567-AD35-B2CC10DEFE1E}"/>
              </a:ext>
            </a:extLst>
          </p:cNvPr>
          <p:cNvSpPr>
            <a:spLocks noGrp="1"/>
          </p:cNvSpPr>
          <p:nvPr>
            <p:ph type="sldNum" sz="quarter" idx="12"/>
          </p:nvPr>
        </p:nvSpPr>
        <p:spPr/>
        <p:txBody>
          <a:bodyPr/>
          <a:lstStyle/>
          <a:p>
            <a:fld id="{2FC23237-B5F1-48C5-B220-4A6422760201}" type="slidenum">
              <a:rPr lang="en-KE" smtClean="0"/>
              <a:t>‹#›</a:t>
            </a:fld>
            <a:endParaRPr lang="en-KE"/>
          </a:p>
        </p:txBody>
      </p:sp>
    </p:spTree>
    <p:extLst>
      <p:ext uri="{BB962C8B-B14F-4D97-AF65-F5344CB8AC3E}">
        <p14:creationId xmlns:p14="http://schemas.microsoft.com/office/powerpoint/2010/main" val="4196302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82C7A-B83C-4245-81C8-C8A0A94DFD80}"/>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F88F89D7-1E32-4FF7-986A-6B0F1A73BC7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EF4F4E06-B548-46A6-BA51-1BF104A5D235}"/>
              </a:ext>
            </a:extLst>
          </p:cNvPr>
          <p:cNvSpPr>
            <a:spLocks noGrp="1"/>
          </p:cNvSpPr>
          <p:nvPr>
            <p:ph type="dt" sz="half" idx="10"/>
          </p:nvPr>
        </p:nvSpPr>
        <p:spPr/>
        <p:txBody>
          <a:bodyPr/>
          <a:lstStyle/>
          <a:p>
            <a:fld id="{A3534F09-947D-4E7E-BC99-68C58BC19C54}" type="datetimeFigureOut">
              <a:rPr lang="en-KE" smtClean="0"/>
              <a:t>10/25/2024</a:t>
            </a:fld>
            <a:endParaRPr lang="en-KE"/>
          </a:p>
        </p:txBody>
      </p:sp>
      <p:sp>
        <p:nvSpPr>
          <p:cNvPr id="5" name="Footer Placeholder 4">
            <a:extLst>
              <a:ext uri="{FF2B5EF4-FFF2-40B4-BE49-F238E27FC236}">
                <a16:creationId xmlns:a16="http://schemas.microsoft.com/office/drawing/2014/main" id="{EAC5E9A5-CD8F-4F52-BCC1-B132B038E3AA}"/>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7C71AEA6-30E5-4A37-B62F-A1893C34A44A}"/>
              </a:ext>
            </a:extLst>
          </p:cNvPr>
          <p:cNvSpPr>
            <a:spLocks noGrp="1"/>
          </p:cNvSpPr>
          <p:nvPr>
            <p:ph type="sldNum" sz="quarter" idx="12"/>
          </p:nvPr>
        </p:nvSpPr>
        <p:spPr/>
        <p:txBody>
          <a:bodyPr/>
          <a:lstStyle/>
          <a:p>
            <a:fld id="{2FC23237-B5F1-48C5-B220-4A6422760201}" type="slidenum">
              <a:rPr lang="en-KE" smtClean="0"/>
              <a:t>‹#›</a:t>
            </a:fld>
            <a:endParaRPr lang="en-KE"/>
          </a:p>
        </p:txBody>
      </p:sp>
    </p:spTree>
    <p:extLst>
      <p:ext uri="{BB962C8B-B14F-4D97-AF65-F5344CB8AC3E}">
        <p14:creationId xmlns:p14="http://schemas.microsoft.com/office/powerpoint/2010/main" val="2215458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E999D-68B2-4A6C-B39B-E19E98462E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E"/>
          </a:p>
        </p:txBody>
      </p:sp>
      <p:sp>
        <p:nvSpPr>
          <p:cNvPr id="3" name="Text Placeholder 2">
            <a:extLst>
              <a:ext uri="{FF2B5EF4-FFF2-40B4-BE49-F238E27FC236}">
                <a16:creationId xmlns:a16="http://schemas.microsoft.com/office/drawing/2014/main" id="{AFDE6B0F-95AF-42F4-A1A2-7BE3BD29ED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0441715-D872-4651-ACDF-9DB85897910A}"/>
              </a:ext>
            </a:extLst>
          </p:cNvPr>
          <p:cNvSpPr>
            <a:spLocks noGrp="1"/>
          </p:cNvSpPr>
          <p:nvPr>
            <p:ph type="dt" sz="half" idx="10"/>
          </p:nvPr>
        </p:nvSpPr>
        <p:spPr/>
        <p:txBody>
          <a:bodyPr/>
          <a:lstStyle/>
          <a:p>
            <a:fld id="{A3534F09-947D-4E7E-BC99-68C58BC19C54}" type="datetimeFigureOut">
              <a:rPr lang="en-KE" smtClean="0"/>
              <a:t>10/25/2024</a:t>
            </a:fld>
            <a:endParaRPr lang="en-KE"/>
          </a:p>
        </p:txBody>
      </p:sp>
      <p:sp>
        <p:nvSpPr>
          <p:cNvPr id="5" name="Footer Placeholder 4">
            <a:extLst>
              <a:ext uri="{FF2B5EF4-FFF2-40B4-BE49-F238E27FC236}">
                <a16:creationId xmlns:a16="http://schemas.microsoft.com/office/drawing/2014/main" id="{277B108D-A00E-44CD-B090-CB6F2BA993D3}"/>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BD149A97-FA6F-4C3D-9E87-E836F079F940}"/>
              </a:ext>
            </a:extLst>
          </p:cNvPr>
          <p:cNvSpPr>
            <a:spLocks noGrp="1"/>
          </p:cNvSpPr>
          <p:nvPr>
            <p:ph type="sldNum" sz="quarter" idx="12"/>
          </p:nvPr>
        </p:nvSpPr>
        <p:spPr/>
        <p:txBody>
          <a:bodyPr/>
          <a:lstStyle/>
          <a:p>
            <a:fld id="{2FC23237-B5F1-48C5-B220-4A6422760201}" type="slidenum">
              <a:rPr lang="en-KE" smtClean="0"/>
              <a:t>‹#›</a:t>
            </a:fld>
            <a:endParaRPr lang="en-KE"/>
          </a:p>
        </p:txBody>
      </p:sp>
    </p:spTree>
    <p:extLst>
      <p:ext uri="{BB962C8B-B14F-4D97-AF65-F5344CB8AC3E}">
        <p14:creationId xmlns:p14="http://schemas.microsoft.com/office/powerpoint/2010/main" val="1203982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CAF14-E3DB-4858-9C7D-DFB1D5C96E33}"/>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D13EEBB1-4929-4351-92DE-16D75843AB2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Content Placeholder 3">
            <a:extLst>
              <a:ext uri="{FF2B5EF4-FFF2-40B4-BE49-F238E27FC236}">
                <a16:creationId xmlns:a16="http://schemas.microsoft.com/office/drawing/2014/main" id="{5B28E06E-58BE-4E37-BE03-4D36D231D5E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Date Placeholder 4">
            <a:extLst>
              <a:ext uri="{FF2B5EF4-FFF2-40B4-BE49-F238E27FC236}">
                <a16:creationId xmlns:a16="http://schemas.microsoft.com/office/drawing/2014/main" id="{A4455F37-4B20-4A42-B709-64733170DC56}"/>
              </a:ext>
            </a:extLst>
          </p:cNvPr>
          <p:cNvSpPr>
            <a:spLocks noGrp="1"/>
          </p:cNvSpPr>
          <p:nvPr>
            <p:ph type="dt" sz="half" idx="10"/>
          </p:nvPr>
        </p:nvSpPr>
        <p:spPr/>
        <p:txBody>
          <a:bodyPr/>
          <a:lstStyle/>
          <a:p>
            <a:fld id="{A3534F09-947D-4E7E-BC99-68C58BC19C54}" type="datetimeFigureOut">
              <a:rPr lang="en-KE" smtClean="0"/>
              <a:t>10/25/2024</a:t>
            </a:fld>
            <a:endParaRPr lang="en-KE"/>
          </a:p>
        </p:txBody>
      </p:sp>
      <p:sp>
        <p:nvSpPr>
          <p:cNvPr id="6" name="Footer Placeholder 5">
            <a:extLst>
              <a:ext uri="{FF2B5EF4-FFF2-40B4-BE49-F238E27FC236}">
                <a16:creationId xmlns:a16="http://schemas.microsoft.com/office/drawing/2014/main" id="{A5E09ED2-EA1C-4540-830F-954408EE62E1}"/>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CF70FE17-3CB5-4279-95A7-BD4B27ADBD97}"/>
              </a:ext>
            </a:extLst>
          </p:cNvPr>
          <p:cNvSpPr>
            <a:spLocks noGrp="1"/>
          </p:cNvSpPr>
          <p:nvPr>
            <p:ph type="sldNum" sz="quarter" idx="12"/>
          </p:nvPr>
        </p:nvSpPr>
        <p:spPr/>
        <p:txBody>
          <a:bodyPr/>
          <a:lstStyle/>
          <a:p>
            <a:fld id="{2FC23237-B5F1-48C5-B220-4A6422760201}" type="slidenum">
              <a:rPr lang="en-KE" smtClean="0"/>
              <a:t>‹#›</a:t>
            </a:fld>
            <a:endParaRPr lang="en-KE"/>
          </a:p>
        </p:txBody>
      </p:sp>
    </p:spTree>
    <p:extLst>
      <p:ext uri="{BB962C8B-B14F-4D97-AF65-F5344CB8AC3E}">
        <p14:creationId xmlns:p14="http://schemas.microsoft.com/office/powerpoint/2010/main" val="3361887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D85AD-41C5-40D4-B3CC-3CF4DA77C1B0}"/>
              </a:ext>
            </a:extLst>
          </p:cNvPr>
          <p:cNvSpPr>
            <a:spLocks noGrp="1"/>
          </p:cNvSpPr>
          <p:nvPr>
            <p:ph type="title"/>
          </p:nvPr>
        </p:nvSpPr>
        <p:spPr>
          <a:xfrm>
            <a:off x="839788" y="365125"/>
            <a:ext cx="10515600" cy="1325563"/>
          </a:xfrm>
        </p:spPr>
        <p:txBody>
          <a:bodyPr/>
          <a:lstStyle/>
          <a:p>
            <a:r>
              <a:rPr lang="en-US"/>
              <a:t>Click to edit Master title style</a:t>
            </a:r>
            <a:endParaRPr lang="en-KE"/>
          </a:p>
        </p:txBody>
      </p:sp>
      <p:sp>
        <p:nvSpPr>
          <p:cNvPr id="3" name="Text Placeholder 2">
            <a:extLst>
              <a:ext uri="{FF2B5EF4-FFF2-40B4-BE49-F238E27FC236}">
                <a16:creationId xmlns:a16="http://schemas.microsoft.com/office/drawing/2014/main" id="{61726CB5-BDD2-4AFA-B847-B8A0797AD0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8E864FE-1ABE-49BA-99CC-CA211EB8DFE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Text Placeholder 4">
            <a:extLst>
              <a:ext uri="{FF2B5EF4-FFF2-40B4-BE49-F238E27FC236}">
                <a16:creationId xmlns:a16="http://schemas.microsoft.com/office/drawing/2014/main" id="{6B354E6F-4D5F-400E-8BB7-48E787FC56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22339B3-4AF4-40DD-9E15-2AA9C51EF33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7" name="Date Placeholder 6">
            <a:extLst>
              <a:ext uri="{FF2B5EF4-FFF2-40B4-BE49-F238E27FC236}">
                <a16:creationId xmlns:a16="http://schemas.microsoft.com/office/drawing/2014/main" id="{6D8D1556-076E-4E2A-A030-FAC2E72E293B}"/>
              </a:ext>
            </a:extLst>
          </p:cNvPr>
          <p:cNvSpPr>
            <a:spLocks noGrp="1"/>
          </p:cNvSpPr>
          <p:nvPr>
            <p:ph type="dt" sz="half" idx="10"/>
          </p:nvPr>
        </p:nvSpPr>
        <p:spPr/>
        <p:txBody>
          <a:bodyPr/>
          <a:lstStyle/>
          <a:p>
            <a:fld id="{A3534F09-947D-4E7E-BC99-68C58BC19C54}" type="datetimeFigureOut">
              <a:rPr lang="en-KE" smtClean="0"/>
              <a:t>10/25/2024</a:t>
            </a:fld>
            <a:endParaRPr lang="en-KE"/>
          </a:p>
        </p:txBody>
      </p:sp>
      <p:sp>
        <p:nvSpPr>
          <p:cNvPr id="8" name="Footer Placeholder 7">
            <a:extLst>
              <a:ext uri="{FF2B5EF4-FFF2-40B4-BE49-F238E27FC236}">
                <a16:creationId xmlns:a16="http://schemas.microsoft.com/office/drawing/2014/main" id="{DD72F1FF-52C0-428C-ABC1-71F2B62B1355}"/>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88FB5B99-AB92-4D76-8F9A-B1927068779A}"/>
              </a:ext>
            </a:extLst>
          </p:cNvPr>
          <p:cNvSpPr>
            <a:spLocks noGrp="1"/>
          </p:cNvSpPr>
          <p:nvPr>
            <p:ph type="sldNum" sz="quarter" idx="12"/>
          </p:nvPr>
        </p:nvSpPr>
        <p:spPr/>
        <p:txBody>
          <a:bodyPr/>
          <a:lstStyle/>
          <a:p>
            <a:fld id="{2FC23237-B5F1-48C5-B220-4A6422760201}" type="slidenum">
              <a:rPr lang="en-KE" smtClean="0"/>
              <a:t>‹#›</a:t>
            </a:fld>
            <a:endParaRPr lang="en-KE"/>
          </a:p>
        </p:txBody>
      </p:sp>
    </p:spTree>
    <p:extLst>
      <p:ext uri="{BB962C8B-B14F-4D97-AF65-F5344CB8AC3E}">
        <p14:creationId xmlns:p14="http://schemas.microsoft.com/office/powerpoint/2010/main" val="3691205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02A75-A37A-431C-91A6-39B683012C9C}"/>
              </a:ext>
            </a:extLst>
          </p:cNvPr>
          <p:cNvSpPr>
            <a:spLocks noGrp="1"/>
          </p:cNvSpPr>
          <p:nvPr>
            <p:ph type="title"/>
          </p:nvPr>
        </p:nvSpPr>
        <p:spPr/>
        <p:txBody>
          <a:bodyPr/>
          <a:lstStyle/>
          <a:p>
            <a:r>
              <a:rPr lang="en-US"/>
              <a:t>Click to edit Master title style</a:t>
            </a:r>
            <a:endParaRPr lang="en-KE"/>
          </a:p>
        </p:txBody>
      </p:sp>
      <p:sp>
        <p:nvSpPr>
          <p:cNvPr id="3" name="Date Placeholder 2">
            <a:extLst>
              <a:ext uri="{FF2B5EF4-FFF2-40B4-BE49-F238E27FC236}">
                <a16:creationId xmlns:a16="http://schemas.microsoft.com/office/drawing/2014/main" id="{3D0E7BEF-762D-494B-BCD1-0D23D1668F90}"/>
              </a:ext>
            </a:extLst>
          </p:cNvPr>
          <p:cNvSpPr>
            <a:spLocks noGrp="1"/>
          </p:cNvSpPr>
          <p:nvPr>
            <p:ph type="dt" sz="half" idx="10"/>
          </p:nvPr>
        </p:nvSpPr>
        <p:spPr/>
        <p:txBody>
          <a:bodyPr/>
          <a:lstStyle/>
          <a:p>
            <a:fld id="{A3534F09-947D-4E7E-BC99-68C58BC19C54}" type="datetimeFigureOut">
              <a:rPr lang="en-KE" smtClean="0"/>
              <a:t>10/25/2024</a:t>
            </a:fld>
            <a:endParaRPr lang="en-KE"/>
          </a:p>
        </p:txBody>
      </p:sp>
      <p:sp>
        <p:nvSpPr>
          <p:cNvPr id="4" name="Footer Placeholder 3">
            <a:extLst>
              <a:ext uri="{FF2B5EF4-FFF2-40B4-BE49-F238E27FC236}">
                <a16:creationId xmlns:a16="http://schemas.microsoft.com/office/drawing/2014/main" id="{7888D08F-6ECA-4B33-B887-CE9A15A6C1A4}"/>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1C611AAB-09E3-4346-8C6A-9B91452660DF}"/>
              </a:ext>
            </a:extLst>
          </p:cNvPr>
          <p:cNvSpPr>
            <a:spLocks noGrp="1"/>
          </p:cNvSpPr>
          <p:nvPr>
            <p:ph type="sldNum" sz="quarter" idx="12"/>
          </p:nvPr>
        </p:nvSpPr>
        <p:spPr/>
        <p:txBody>
          <a:bodyPr/>
          <a:lstStyle/>
          <a:p>
            <a:fld id="{2FC23237-B5F1-48C5-B220-4A6422760201}" type="slidenum">
              <a:rPr lang="en-KE" smtClean="0"/>
              <a:t>‹#›</a:t>
            </a:fld>
            <a:endParaRPr lang="en-KE"/>
          </a:p>
        </p:txBody>
      </p:sp>
    </p:spTree>
    <p:extLst>
      <p:ext uri="{BB962C8B-B14F-4D97-AF65-F5344CB8AC3E}">
        <p14:creationId xmlns:p14="http://schemas.microsoft.com/office/powerpoint/2010/main" val="3746696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1E4676-6CA4-4B89-8C82-80920E38EA43}"/>
              </a:ext>
            </a:extLst>
          </p:cNvPr>
          <p:cNvSpPr>
            <a:spLocks noGrp="1"/>
          </p:cNvSpPr>
          <p:nvPr>
            <p:ph type="dt" sz="half" idx="10"/>
          </p:nvPr>
        </p:nvSpPr>
        <p:spPr/>
        <p:txBody>
          <a:bodyPr/>
          <a:lstStyle/>
          <a:p>
            <a:fld id="{A3534F09-947D-4E7E-BC99-68C58BC19C54}" type="datetimeFigureOut">
              <a:rPr lang="en-KE" smtClean="0"/>
              <a:t>10/25/2024</a:t>
            </a:fld>
            <a:endParaRPr lang="en-KE"/>
          </a:p>
        </p:txBody>
      </p:sp>
      <p:sp>
        <p:nvSpPr>
          <p:cNvPr id="3" name="Footer Placeholder 2">
            <a:extLst>
              <a:ext uri="{FF2B5EF4-FFF2-40B4-BE49-F238E27FC236}">
                <a16:creationId xmlns:a16="http://schemas.microsoft.com/office/drawing/2014/main" id="{EF77F26A-B57A-4CA7-9950-775115D9175F}"/>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B101B665-8B12-40AE-A40D-57BA66574873}"/>
              </a:ext>
            </a:extLst>
          </p:cNvPr>
          <p:cNvSpPr>
            <a:spLocks noGrp="1"/>
          </p:cNvSpPr>
          <p:nvPr>
            <p:ph type="sldNum" sz="quarter" idx="12"/>
          </p:nvPr>
        </p:nvSpPr>
        <p:spPr/>
        <p:txBody>
          <a:bodyPr/>
          <a:lstStyle/>
          <a:p>
            <a:fld id="{2FC23237-B5F1-48C5-B220-4A6422760201}" type="slidenum">
              <a:rPr lang="en-KE" smtClean="0"/>
              <a:t>‹#›</a:t>
            </a:fld>
            <a:endParaRPr lang="en-KE"/>
          </a:p>
        </p:txBody>
      </p:sp>
    </p:spTree>
    <p:extLst>
      <p:ext uri="{BB962C8B-B14F-4D97-AF65-F5344CB8AC3E}">
        <p14:creationId xmlns:p14="http://schemas.microsoft.com/office/powerpoint/2010/main" val="1217354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EAF11-FDC0-466B-8FFF-276C11BF10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Content Placeholder 2">
            <a:extLst>
              <a:ext uri="{FF2B5EF4-FFF2-40B4-BE49-F238E27FC236}">
                <a16:creationId xmlns:a16="http://schemas.microsoft.com/office/drawing/2014/main" id="{55DD52D2-60AB-4AFC-8195-0A50D56C05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Text Placeholder 3">
            <a:extLst>
              <a:ext uri="{FF2B5EF4-FFF2-40B4-BE49-F238E27FC236}">
                <a16:creationId xmlns:a16="http://schemas.microsoft.com/office/drawing/2014/main" id="{5F8BEBDA-99D4-4056-BD09-C63D6C280C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8667801-54A2-46B8-AA4A-6AB3A81E1914}"/>
              </a:ext>
            </a:extLst>
          </p:cNvPr>
          <p:cNvSpPr>
            <a:spLocks noGrp="1"/>
          </p:cNvSpPr>
          <p:nvPr>
            <p:ph type="dt" sz="half" idx="10"/>
          </p:nvPr>
        </p:nvSpPr>
        <p:spPr/>
        <p:txBody>
          <a:bodyPr/>
          <a:lstStyle/>
          <a:p>
            <a:fld id="{A3534F09-947D-4E7E-BC99-68C58BC19C54}" type="datetimeFigureOut">
              <a:rPr lang="en-KE" smtClean="0"/>
              <a:t>10/25/2024</a:t>
            </a:fld>
            <a:endParaRPr lang="en-KE"/>
          </a:p>
        </p:txBody>
      </p:sp>
      <p:sp>
        <p:nvSpPr>
          <p:cNvPr id="6" name="Footer Placeholder 5">
            <a:extLst>
              <a:ext uri="{FF2B5EF4-FFF2-40B4-BE49-F238E27FC236}">
                <a16:creationId xmlns:a16="http://schemas.microsoft.com/office/drawing/2014/main" id="{B4601432-17BE-4E3F-8B54-7D7A8AB9327F}"/>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81964B59-0F3F-4241-8C51-17AE60E4F55A}"/>
              </a:ext>
            </a:extLst>
          </p:cNvPr>
          <p:cNvSpPr>
            <a:spLocks noGrp="1"/>
          </p:cNvSpPr>
          <p:nvPr>
            <p:ph type="sldNum" sz="quarter" idx="12"/>
          </p:nvPr>
        </p:nvSpPr>
        <p:spPr/>
        <p:txBody>
          <a:bodyPr/>
          <a:lstStyle/>
          <a:p>
            <a:fld id="{2FC23237-B5F1-48C5-B220-4A6422760201}" type="slidenum">
              <a:rPr lang="en-KE" smtClean="0"/>
              <a:t>‹#›</a:t>
            </a:fld>
            <a:endParaRPr lang="en-KE"/>
          </a:p>
        </p:txBody>
      </p:sp>
    </p:spTree>
    <p:extLst>
      <p:ext uri="{BB962C8B-B14F-4D97-AF65-F5344CB8AC3E}">
        <p14:creationId xmlns:p14="http://schemas.microsoft.com/office/powerpoint/2010/main" val="4117695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7FF7A-9329-4C14-AF95-078B997861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Picture Placeholder 2">
            <a:extLst>
              <a:ext uri="{FF2B5EF4-FFF2-40B4-BE49-F238E27FC236}">
                <a16:creationId xmlns:a16="http://schemas.microsoft.com/office/drawing/2014/main" id="{CD154C14-3489-4B45-B2AC-C2B0CC6768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AE091642-A309-4CEA-854E-052C3470BA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20CD04-CCE5-4294-B8A4-506D74ADD3BB}"/>
              </a:ext>
            </a:extLst>
          </p:cNvPr>
          <p:cNvSpPr>
            <a:spLocks noGrp="1"/>
          </p:cNvSpPr>
          <p:nvPr>
            <p:ph type="dt" sz="half" idx="10"/>
          </p:nvPr>
        </p:nvSpPr>
        <p:spPr/>
        <p:txBody>
          <a:bodyPr/>
          <a:lstStyle/>
          <a:p>
            <a:fld id="{A3534F09-947D-4E7E-BC99-68C58BC19C54}" type="datetimeFigureOut">
              <a:rPr lang="en-KE" smtClean="0"/>
              <a:t>10/25/2024</a:t>
            </a:fld>
            <a:endParaRPr lang="en-KE"/>
          </a:p>
        </p:txBody>
      </p:sp>
      <p:sp>
        <p:nvSpPr>
          <p:cNvPr id="6" name="Footer Placeholder 5">
            <a:extLst>
              <a:ext uri="{FF2B5EF4-FFF2-40B4-BE49-F238E27FC236}">
                <a16:creationId xmlns:a16="http://schemas.microsoft.com/office/drawing/2014/main" id="{6EA8A94B-4682-4EA9-858F-696276BB7532}"/>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A5E09461-C0E4-43B0-8241-D39656B4A432}"/>
              </a:ext>
            </a:extLst>
          </p:cNvPr>
          <p:cNvSpPr>
            <a:spLocks noGrp="1"/>
          </p:cNvSpPr>
          <p:nvPr>
            <p:ph type="sldNum" sz="quarter" idx="12"/>
          </p:nvPr>
        </p:nvSpPr>
        <p:spPr/>
        <p:txBody>
          <a:bodyPr/>
          <a:lstStyle/>
          <a:p>
            <a:fld id="{2FC23237-B5F1-48C5-B220-4A6422760201}" type="slidenum">
              <a:rPr lang="en-KE" smtClean="0"/>
              <a:t>‹#›</a:t>
            </a:fld>
            <a:endParaRPr lang="en-KE"/>
          </a:p>
        </p:txBody>
      </p:sp>
    </p:spTree>
    <p:extLst>
      <p:ext uri="{BB962C8B-B14F-4D97-AF65-F5344CB8AC3E}">
        <p14:creationId xmlns:p14="http://schemas.microsoft.com/office/powerpoint/2010/main" val="1016046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8BD4B-F7C0-46AB-8309-CC503F64E5CF}"/>
              </a:ext>
            </a:extLst>
          </p:cNvPr>
          <p:cNvSpPr>
            <a:spLocks noGrp="1"/>
          </p:cNvSpPr>
          <p:nvPr>
            <p:ph type="title"/>
          </p:nvPr>
        </p:nvSpPr>
        <p:spPr/>
        <p:txBody>
          <a:bodyPr/>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A63C366A-E9BA-4BD6-BAB2-72E7278E387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CB1E3736-A480-4CF7-A2D9-3483322BDED6}"/>
              </a:ext>
            </a:extLst>
          </p:cNvPr>
          <p:cNvSpPr>
            <a:spLocks noGrp="1"/>
          </p:cNvSpPr>
          <p:nvPr>
            <p:ph type="dt" sz="half" idx="10"/>
          </p:nvPr>
        </p:nvSpPr>
        <p:spPr/>
        <p:txBody>
          <a:bodyPr/>
          <a:lstStyle/>
          <a:p>
            <a:fld id="{A3534F09-947D-4E7E-BC99-68C58BC19C54}" type="datetimeFigureOut">
              <a:rPr lang="en-KE" smtClean="0"/>
              <a:t>10/25/2024</a:t>
            </a:fld>
            <a:endParaRPr lang="en-KE"/>
          </a:p>
        </p:txBody>
      </p:sp>
      <p:sp>
        <p:nvSpPr>
          <p:cNvPr id="5" name="Footer Placeholder 4">
            <a:extLst>
              <a:ext uri="{FF2B5EF4-FFF2-40B4-BE49-F238E27FC236}">
                <a16:creationId xmlns:a16="http://schemas.microsoft.com/office/drawing/2014/main" id="{C8B3313A-D8DA-4A4E-8B98-DEA079AED4DC}"/>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BC5E62BB-64DE-47FD-8B95-0DA3DDE1D20F}"/>
              </a:ext>
            </a:extLst>
          </p:cNvPr>
          <p:cNvSpPr>
            <a:spLocks noGrp="1"/>
          </p:cNvSpPr>
          <p:nvPr>
            <p:ph type="sldNum" sz="quarter" idx="12"/>
          </p:nvPr>
        </p:nvSpPr>
        <p:spPr/>
        <p:txBody>
          <a:bodyPr/>
          <a:lstStyle/>
          <a:p>
            <a:fld id="{2FC23237-B5F1-48C5-B220-4A6422760201}" type="slidenum">
              <a:rPr lang="en-KE" smtClean="0"/>
              <a:t>‹#›</a:t>
            </a:fld>
            <a:endParaRPr lang="en-KE"/>
          </a:p>
        </p:txBody>
      </p:sp>
    </p:spTree>
    <p:extLst>
      <p:ext uri="{BB962C8B-B14F-4D97-AF65-F5344CB8AC3E}">
        <p14:creationId xmlns:p14="http://schemas.microsoft.com/office/powerpoint/2010/main" val="3777331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E65C71-5D2E-412D-A317-71BE3B75DA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4ECB5AEE-2BB8-4F33-921D-6FDAF6817AC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C8DCE9BE-AC51-4C30-A89B-333B32C0713C}"/>
              </a:ext>
            </a:extLst>
          </p:cNvPr>
          <p:cNvSpPr>
            <a:spLocks noGrp="1"/>
          </p:cNvSpPr>
          <p:nvPr>
            <p:ph type="dt" sz="half" idx="10"/>
          </p:nvPr>
        </p:nvSpPr>
        <p:spPr/>
        <p:txBody>
          <a:bodyPr/>
          <a:lstStyle/>
          <a:p>
            <a:fld id="{A3534F09-947D-4E7E-BC99-68C58BC19C54}" type="datetimeFigureOut">
              <a:rPr lang="en-KE" smtClean="0"/>
              <a:t>10/25/2024</a:t>
            </a:fld>
            <a:endParaRPr lang="en-KE"/>
          </a:p>
        </p:txBody>
      </p:sp>
      <p:sp>
        <p:nvSpPr>
          <p:cNvPr id="5" name="Footer Placeholder 4">
            <a:extLst>
              <a:ext uri="{FF2B5EF4-FFF2-40B4-BE49-F238E27FC236}">
                <a16:creationId xmlns:a16="http://schemas.microsoft.com/office/drawing/2014/main" id="{CBEF2254-CFC7-4D55-9C6D-8628C9523127}"/>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9B18955E-3753-49FB-93D5-27ABCD71778C}"/>
              </a:ext>
            </a:extLst>
          </p:cNvPr>
          <p:cNvSpPr>
            <a:spLocks noGrp="1"/>
          </p:cNvSpPr>
          <p:nvPr>
            <p:ph type="sldNum" sz="quarter" idx="12"/>
          </p:nvPr>
        </p:nvSpPr>
        <p:spPr/>
        <p:txBody>
          <a:bodyPr/>
          <a:lstStyle/>
          <a:p>
            <a:fld id="{2FC23237-B5F1-48C5-B220-4A6422760201}" type="slidenum">
              <a:rPr lang="en-KE" smtClean="0"/>
              <a:t>‹#›</a:t>
            </a:fld>
            <a:endParaRPr lang="en-KE"/>
          </a:p>
        </p:txBody>
      </p:sp>
    </p:spTree>
    <p:extLst>
      <p:ext uri="{BB962C8B-B14F-4D97-AF65-F5344CB8AC3E}">
        <p14:creationId xmlns:p14="http://schemas.microsoft.com/office/powerpoint/2010/main" val="13287693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4A58B13-0886-430E-95FE-AD424173DB99}" type="datetime1">
              <a:rPr lang="en-US" smtClean="0"/>
              <a:t>10/25/2024</a:t>
            </a:fld>
            <a:endParaRPr lang="en-US"/>
          </a:p>
        </p:txBody>
      </p:sp>
      <p:sp>
        <p:nvSpPr>
          <p:cNvPr id="5" name="Footer Placeholder 4"/>
          <p:cNvSpPr>
            <a:spLocks noGrp="1"/>
          </p:cNvSpPr>
          <p:nvPr>
            <p:ph type="ftr" sz="quarter" idx="11"/>
          </p:nvPr>
        </p:nvSpPr>
        <p:spPr/>
        <p:txBody>
          <a:bodyPr/>
          <a:lstStyle/>
          <a:p>
            <a:r>
              <a:rPr lang="en-US" dirty="0"/>
              <a:t>Dr. Mwaniki</a:t>
            </a:r>
          </a:p>
        </p:txBody>
      </p:sp>
      <p:sp>
        <p:nvSpPr>
          <p:cNvPr id="6" name="Slide Number Placeholder 5"/>
          <p:cNvSpPr>
            <a:spLocks noGrp="1"/>
          </p:cNvSpPr>
          <p:nvPr>
            <p:ph type="sldNum" sz="quarter" idx="12"/>
          </p:nvPr>
        </p:nvSpPr>
        <p:spPr/>
        <p:txBody>
          <a:bodyPr/>
          <a:lstStyle/>
          <a:p>
            <a:fld id="{B2578E98-33F1-40C2-AC75-4CA831970A4C}" type="slidenum">
              <a:rPr lang="en-US" smtClean="0"/>
              <a:t>‹#›</a:t>
            </a:fld>
            <a:endParaRPr lang="en-US"/>
          </a:p>
        </p:txBody>
      </p:sp>
    </p:spTree>
    <p:extLst>
      <p:ext uri="{BB962C8B-B14F-4D97-AF65-F5344CB8AC3E}">
        <p14:creationId xmlns:p14="http://schemas.microsoft.com/office/powerpoint/2010/main" val="1525468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4683A1-D0C2-4160-B4E5-276C7139E554}" type="datetime1">
              <a:rPr lang="en-US" smtClean="0"/>
              <a:t>10/25/2024</a:t>
            </a:fld>
            <a:endParaRPr lang="en-US"/>
          </a:p>
        </p:txBody>
      </p:sp>
      <p:sp>
        <p:nvSpPr>
          <p:cNvPr id="5" name="Footer Placeholder 4"/>
          <p:cNvSpPr>
            <a:spLocks noGrp="1"/>
          </p:cNvSpPr>
          <p:nvPr>
            <p:ph type="ftr" sz="quarter" idx="11"/>
          </p:nvPr>
        </p:nvSpPr>
        <p:spPr/>
        <p:txBody>
          <a:bodyPr/>
          <a:lstStyle/>
          <a:p>
            <a:r>
              <a:rPr lang="en-US" dirty="0"/>
              <a:t>Dr. Mwaniki</a:t>
            </a:r>
          </a:p>
        </p:txBody>
      </p:sp>
      <p:sp>
        <p:nvSpPr>
          <p:cNvPr id="6" name="Slide Number Placeholder 5"/>
          <p:cNvSpPr>
            <a:spLocks noGrp="1"/>
          </p:cNvSpPr>
          <p:nvPr>
            <p:ph type="sldNum" sz="quarter" idx="12"/>
          </p:nvPr>
        </p:nvSpPr>
        <p:spPr/>
        <p:txBody>
          <a:bodyPr/>
          <a:lstStyle/>
          <a:p>
            <a:fld id="{B2578E98-33F1-40C2-AC75-4CA831970A4C}" type="slidenum">
              <a:rPr lang="en-US" smtClean="0"/>
              <a:t>‹#›</a:t>
            </a:fld>
            <a:endParaRPr lang="en-US"/>
          </a:p>
        </p:txBody>
      </p:sp>
    </p:spTree>
    <p:extLst>
      <p:ext uri="{BB962C8B-B14F-4D97-AF65-F5344CB8AC3E}">
        <p14:creationId xmlns:p14="http://schemas.microsoft.com/office/powerpoint/2010/main" val="2058907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F33A95-849D-49B6-B977-1201D60411EB}" type="datetime1">
              <a:rPr lang="en-US" smtClean="0"/>
              <a:t>10/25/2024</a:t>
            </a:fld>
            <a:endParaRPr lang="en-US"/>
          </a:p>
        </p:txBody>
      </p:sp>
      <p:sp>
        <p:nvSpPr>
          <p:cNvPr id="5" name="Footer Placeholder 4"/>
          <p:cNvSpPr>
            <a:spLocks noGrp="1"/>
          </p:cNvSpPr>
          <p:nvPr>
            <p:ph type="ftr" sz="quarter" idx="11"/>
          </p:nvPr>
        </p:nvSpPr>
        <p:spPr/>
        <p:txBody>
          <a:bodyPr/>
          <a:lstStyle/>
          <a:p>
            <a:r>
              <a:rPr lang="en-US" dirty="0"/>
              <a:t>Dr. Mwaniki</a:t>
            </a:r>
          </a:p>
        </p:txBody>
      </p:sp>
      <p:sp>
        <p:nvSpPr>
          <p:cNvPr id="6" name="Slide Number Placeholder 5"/>
          <p:cNvSpPr>
            <a:spLocks noGrp="1"/>
          </p:cNvSpPr>
          <p:nvPr>
            <p:ph type="sldNum" sz="quarter" idx="12"/>
          </p:nvPr>
        </p:nvSpPr>
        <p:spPr/>
        <p:txBody>
          <a:bodyPr/>
          <a:lstStyle/>
          <a:p>
            <a:fld id="{B2578E98-33F1-40C2-AC75-4CA831970A4C}" type="slidenum">
              <a:rPr lang="en-US" smtClean="0"/>
              <a:t>‹#›</a:t>
            </a:fld>
            <a:endParaRPr lang="en-US"/>
          </a:p>
        </p:txBody>
      </p:sp>
    </p:spTree>
    <p:extLst>
      <p:ext uri="{BB962C8B-B14F-4D97-AF65-F5344CB8AC3E}">
        <p14:creationId xmlns:p14="http://schemas.microsoft.com/office/powerpoint/2010/main" val="17423448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E752D59-D459-4EA3-A797-FC3572F28377}" type="datetime1">
              <a:rPr lang="en-US" smtClean="0"/>
              <a:t>10/25/2024</a:t>
            </a:fld>
            <a:endParaRPr lang="en-US"/>
          </a:p>
        </p:txBody>
      </p:sp>
      <p:sp>
        <p:nvSpPr>
          <p:cNvPr id="6" name="Footer Placeholder 5"/>
          <p:cNvSpPr>
            <a:spLocks noGrp="1"/>
          </p:cNvSpPr>
          <p:nvPr>
            <p:ph type="ftr" sz="quarter" idx="11"/>
          </p:nvPr>
        </p:nvSpPr>
        <p:spPr/>
        <p:txBody>
          <a:bodyPr/>
          <a:lstStyle/>
          <a:p>
            <a:r>
              <a:rPr lang="en-US" dirty="0"/>
              <a:t>Dr. Mwaniki</a:t>
            </a:r>
          </a:p>
        </p:txBody>
      </p:sp>
      <p:sp>
        <p:nvSpPr>
          <p:cNvPr id="7" name="Slide Number Placeholder 6"/>
          <p:cNvSpPr>
            <a:spLocks noGrp="1"/>
          </p:cNvSpPr>
          <p:nvPr>
            <p:ph type="sldNum" sz="quarter" idx="12"/>
          </p:nvPr>
        </p:nvSpPr>
        <p:spPr/>
        <p:txBody>
          <a:bodyPr/>
          <a:lstStyle/>
          <a:p>
            <a:fld id="{B2578E98-33F1-40C2-AC75-4CA831970A4C}" type="slidenum">
              <a:rPr lang="en-US" smtClean="0"/>
              <a:t>‹#›</a:t>
            </a:fld>
            <a:endParaRPr lang="en-US"/>
          </a:p>
        </p:txBody>
      </p:sp>
    </p:spTree>
    <p:extLst>
      <p:ext uri="{BB962C8B-B14F-4D97-AF65-F5344CB8AC3E}">
        <p14:creationId xmlns:p14="http://schemas.microsoft.com/office/powerpoint/2010/main" val="39207885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BA19309-3B0B-44C6-AB4B-3F1B3F5C6117}" type="datetime1">
              <a:rPr lang="en-US" smtClean="0"/>
              <a:t>10/25/2024</a:t>
            </a:fld>
            <a:endParaRPr lang="en-US"/>
          </a:p>
        </p:txBody>
      </p:sp>
      <p:sp>
        <p:nvSpPr>
          <p:cNvPr id="8" name="Footer Placeholder 7"/>
          <p:cNvSpPr>
            <a:spLocks noGrp="1"/>
          </p:cNvSpPr>
          <p:nvPr>
            <p:ph type="ftr" sz="quarter" idx="11"/>
          </p:nvPr>
        </p:nvSpPr>
        <p:spPr/>
        <p:txBody>
          <a:bodyPr/>
          <a:lstStyle/>
          <a:p>
            <a:r>
              <a:rPr lang="en-US" dirty="0"/>
              <a:t>Dr. Mwaniki</a:t>
            </a:r>
          </a:p>
        </p:txBody>
      </p:sp>
      <p:sp>
        <p:nvSpPr>
          <p:cNvPr id="9" name="Slide Number Placeholder 8"/>
          <p:cNvSpPr>
            <a:spLocks noGrp="1"/>
          </p:cNvSpPr>
          <p:nvPr>
            <p:ph type="sldNum" sz="quarter" idx="12"/>
          </p:nvPr>
        </p:nvSpPr>
        <p:spPr/>
        <p:txBody>
          <a:bodyPr/>
          <a:lstStyle/>
          <a:p>
            <a:fld id="{B2578E98-33F1-40C2-AC75-4CA831970A4C}" type="slidenum">
              <a:rPr lang="en-US" smtClean="0"/>
              <a:t>‹#›</a:t>
            </a:fld>
            <a:endParaRPr lang="en-US"/>
          </a:p>
        </p:txBody>
      </p:sp>
    </p:spTree>
    <p:extLst>
      <p:ext uri="{BB962C8B-B14F-4D97-AF65-F5344CB8AC3E}">
        <p14:creationId xmlns:p14="http://schemas.microsoft.com/office/powerpoint/2010/main" val="19527150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C9EA80-2050-46C1-880F-71D324653B93}" type="datetime1">
              <a:rPr lang="en-US" smtClean="0"/>
              <a:t>10/25/2024</a:t>
            </a:fld>
            <a:endParaRPr lang="en-US"/>
          </a:p>
        </p:txBody>
      </p:sp>
      <p:sp>
        <p:nvSpPr>
          <p:cNvPr id="4" name="Footer Placeholder 3"/>
          <p:cNvSpPr>
            <a:spLocks noGrp="1"/>
          </p:cNvSpPr>
          <p:nvPr>
            <p:ph type="ftr" sz="quarter" idx="11"/>
          </p:nvPr>
        </p:nvSpPr>
        <p:spPr/>
        <p:txBody>
          <a:bodyPr/>
          <a:lstStyle/>
          <a:p>
            <a:r>
              <a:rPr lang="en-US" dirty="0"/>
              <a:t>Dr. Mwaniki</a:t>
            </a:r>
          </a:p>
        </p:txBody>
      </p:sp>
      <p:sp>
        <p:nvSpPr>
          <p:cNvPr id="5" name="Slide Number Placeholder 4"/>
          <p:cNvSpPr>
            <a:spLocks noGrp="1"/>
          </p:cNvSpPr>
          <p:nvPr>
            <p:ph type="sldNum" sz="quarter" idx="12"/>
          </p:nvPr>
        </p:nvSpPr>
        <p:spPr/>
        <p:txBody>
          <a:bodyPr/>
          <a:lstStyle/>
          <a:p>
            <a:fld id="{B2578E98-33F1-40C2-AC75-4CA831970A4C}" type="slidenum">
              <a:rPr lang="en-US" smtClean="0"/>
              <a:t>‹#›</a:t>
            </a:fld>
            <a:endParaRPr lang="en-US"/>
          </a:p>
        </p:txBody>
      </p:sp>
    </p:spTree>
    <p:extLst>
      <p:ext uri="{BB962C8B-B14F-4D97-AF65-F5344CB8AC3E}">
        <p14:creationId xmlns:p14="http://schemas.microsoft.com/office/powerpoint/2010/main" val="19335564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5F11A7-7C87-4802-8A92-716AA32B82D8}" type="datetime1">
              <a:rPr lang="en-US" smtClean="0"/>
              <a:t>10/25/2024</a:t>
            </a:fld>
            <a:endParaRPr lang="en-US"/>
          </a:p>
        </p:txBody>
      </p:sp>
      <p:sp>
        <p:nvSpPr>
          <p:cNvPr id="3" name="Footer Placeholder 2"/>
          <p:cNvSpPr>
            <a:spLocks noGrp="1"/>
          </p:cNvSpPr>
          <p:nvPr>
            <p:ph type="ftr" sz="quarter" idx="11"/>
          </p:nvPr>
        </p:nvSpPr>
        <p:spPr/>
        <p:txBody>
          <a:bodyPr/>
          <a:lstStyle/>
          <a:p>
            <a:r>
              <a:rPr lang="en-US" dirty="0"/>
              <a:t>Dr. Mwaniki</a:t>
            </a:r>
          </a:p>
        </p:txBody>
      </p:sp>
      <p:sp>
        <p:nvSpPr>
          <p:cNvPr id="4" name="Slide Number Placeholder 3"/>
          <p:cNvSpPr>
            <a:spLocks noGrp="1"/>
          </p:cNvSpPr>
          <p:nvPr>
            <p:ph type="sldNum" sz="quarter" idx="12"/>
          </p:nvPr>
        </p:nvSpPr>
        <p:spPr/>
        <p:txBody>
          <a:bodyPr/>
          <a:lstStyle/>
          <a:p>
            <a:fld id="{B2578E98-33F1-40C2-AC75-4CA831970A4C}" type="slidenum">
              <a:rPr lang="en-US" smtClean="0"/>
              <a:t>‹#›</a:t>
            </a:fld>
            <a:endParaRPr lang="en-US"/>
          </a:p>
        </p:txBody>
      </p:sp>
    </p:spTree>
    <p:extLst>
      <p:ext uri="{BB962C8B-B14F-4D97-AF65-F5344CB8AC3E}">
        <p14:creationId xmlns:p14="http://schemas.microsoft.com/office/powerpoint/2010/main" val="428050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356671-EC74-4E3B-824F-9EC93549100B}" type="datetime1">
              <a:rPr lang="en-US" smtClean="0"/>
              <a:t>10/25/2024</a:t>
            </a:fld>
            <a:endParaRPr lang="en-US"/>
          </a:p>
        </p:txBody>
      </p:sp>
      <p:sp>
        <p:nvSpPr>
          <p:cNvPr id="6" name="Footer Placeholder 5"/>
          <p:cNvSpPr>
            <a:spLocks noGrp="1"/>
          </p:cNvSpPr>
          <p:nvPr>
            <p:ph type="ftr" sz="quarter" idx="11"/>
          </p:nvPr>
        </p:nvSpPr>
        <p:spPr/>
        <p:txBody>
          <a:bodyPr/>
          <a:lstStyle/>
          <a:p>
            <a:r>
              <a:rPr lang="en-US" dirty="0"/>
              <a:t>Dr. Mwaniki</a:t>
            </a:r>
          </a:p>
        </p:txBody>
      </p:sp>
      <p:sp>
        <p:nvSpPr>
          <p:cNvPr id="7" name="Slide Number Placeholder 6"/>
          <p:cNvSpPr>
            <a:spLocks noGrp="1"/>
          </p:cNvSpPr>
          <p:nvPr>
            <p:ph type="sldNum" sz="quarter" idx="12"/>
          </p:nvPr>
        </p:nvSpPr>
        <p:spPr/>
        <p:txBody>
          <a:bodyPr/>
          <a:lstStyle/>
          <a:p>
            <a:fld id="{B2578E98-33F1-40C2-AC75-4CA831970A4C}" type="slidenum">
              <a:rPr lang="en-US" smtClean="0"/>
              <a:t>‹#›</a:t>
            </a:fld>
            <a:endParaRPr lang="en-US"/>
          </a:p>
        </p:txBody>
      </p:sp>
    </p:spTree>
    <p:extLst>
      <p:ext uri="{BB962C8B-B14F-4D97-AF65-F5344CB8AC3E}">
        <p14:creationId xmlns:p14="http://schemas.microsoft.com/office/powerpoint/2010/main" val="4588676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10DC5F-8618-42F3-A806-B435A93BFA37}" type="datetime1">
              <a:rPr lang="en-US" smtClean="0"/>
              <a:t>10/25/2024</a:t>
            </a:fld>
            <a:endParaRPr lang="en-US"/>
          </a:p>
        </p:txBody>
      </p:sp>
      <p:sp>
        <p:nvSpPr>
          <p:cNvPr id="6" name="Footer Placeholder 5"/>
          <p:cNvSpPr>
            <a:spLocks noGrp="1"/>
          </p:cNvSpPr>
          <p:nvPr>
            <p:ph type="ftr" sz="quarter" idx="11"/>
          </p:nvPr>
        </p:nvSpPr>
        <p:spPr/>
        <p:txBody>
          <a:bodyPr/>
          <a:lstStyle/>
          <a:p>
            <a:r>
              <a:rPr lang="en-US" dirty="0"/>
              <a:t>Dr. Mwaniki</a:t>
            </a:r>
          </a:p>
        </p:txBody>
      </p:sp>
      <p:sp>
        <p:nvSpPr>
          <p:cNvPr id="7" name="Slide Number Placeholder 6"/>
          <p:cNvSpPr>
            <a:spLocks noGrp="1"/>
          </p:cNvSpPr>
          <p:nvPr>
            <p:ph type="sldNum" sz="quarter" idx="12"/>
          </p:nvPr>
        </p:nvSpPr>
        <p:spPr/>
        <p:txBody>
          <a:bodyPr/>
          <a:lstStyle/>
          <a:p>
            <a:fld id="{B2578E98-33F1-40C2-AC75-4CA831970A4C}" type="slidenum">
              <a:rPr lang="en-US" smtClean="0"/>
              <a:t>‹#›</a:t>
            </a:fld>
            <a:endParaRPr lang="en-US"/>
          </a:p>
        </p:txBody>
      </p:sp>
    </p:spTree>
    <p:extLst>
      <p:ext uri="{BB962C8B-B14F-4D97-AF65-F5344CB8AC3E}">
        <p14:creationId xmlns:p14="http://schemas.microsoft.com/office/powerpoint/2010/main" val="1826962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606C5A-1543-4FFD-8E9A-572CDE21EC9A}" type="datetime1">
              <a:rPr lang="en-US" smtClean="0"/>
              <a:t>10/25/2024</a:t>
            </a:fld>
            <a:endParaRPr lang="en-US"/>
          </a:p>
        </p:txBody>
      </p:sp>
      <p:sp>
        <p:nvSpPr>
          <p:cNvPr id="5" name="Footer Placeholder 4"/>
          <p:cNvSpPr>
            <a:spLocks noGrp="1"/>
          </p:cNvSpPr>
          <p:nvPr>
            <p:ph type="ftr" sz="quarter" idx="11"/>
          </p:nvPr>
        </p:nvSpPr>
        <p:spPr/>
        <p:txBody>
          <a:bodyPr/>
          <a:lstStyle/>
          <a:p>
            <a:r>
              <a:rPr lang="en-US" dirty="0"/>
              <a:t>Dr. Mwaniki</a:t>
            </a:r>
          </a:p>
        </p:txBody>
      </p:sp>
      <p:sp>
        <p:nvSpPr>
          <p:cNvPr id="6" name="Slide Number Placeholder 5"/>
          <p:cNvSpPr>
            <a:spLocks noGrp="1"/>
          </p:cNvSpPr>
          <p:nvPr>
            <p:ph type="sldNum" sz="quarter" idx="12"/>
          </p:nvPr>
        </p:nvSpPr>
        <p:spPr/>
        <p:txBody>
          <a:bodyPr/>
          <a:lstStyle/>
          <a:p>
            <a:fld id="{B2578E98-33F1-40C2-AC75-4CA831970A4C}" type="slidenum">
              <a:rPr lang="en-US" smtClean="0"/>
              <a:t>‹#›</a:t>
            </a:fld>
            <a:endParaRPr lang="en-US"/>
          </a:p>
        </p:txBody>
      </p:sp>
    </p:spTree>
    <p:extLst>
      <p:ext uri="{BB962C8B-B14F-4D97-AF65-F5344CB8AC3E}">
        <p14:creationId xmlns:p14="http://schemas.microsoft.com/office/powerpoint/2010/main" val="28560757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08D6CE-217A-4640-A4CA-479EB6AB14FF}" type="datetime1">
              <a:rPr lang="en-US" smtClean="0"/>
              <a:t>10/25/2024</a:t>
            </a:fld>
            <a:endParaRPr lang="en-US"/>
          </a:p>
        </p:txBody>
      </p:sp>
      <p:sp>
        <p:nvSpPr>
          <p:cNvPr id="5" name="Footer Placeholder 4"/>
          <p:cNvSpPr>
            <a:spLocks noGrp="1"/>
          </p:cNvSpPr>
          <p:nvPr>
            <p:ph type="ftr" sz="quarter" idx="11"/>
          </p:nvPr>
        </p:nvSpPr>
        <p:spPr/>
        <p:txBody>
          <a:bodyPr/>
          <a:lstStyle/>
          <a:p>
            <a:r>
              <a:rPr lang="en-US" dirty="0"/>
              <a:t>Dr. Mwaniki</a:t>
            </a:r>
          </a:p>
        </p:txBody>
      </p:sp>
      <p:sp>
        <p:nvSpPr>
          <p:cNvPr id="6" name="Slide Number Placeholder 5"/>
          <p:cNvSpPr>
            <a:spLocks noGrp="1"/>
          </p:cNvSpPr>
          <p:nvPr>
            <p:ph type="sldNum" sz="quarter" idx="12"/>
          </p:nvPr>
        </p:nvSpPr>
        <p:spPr/>
        <p:txBody>
          <a:bodyPr/>
          <a:lstStyle/>
          <a:p>
            <a:fld id="{B2578E98-33F1-40C2-AC75-4CA831970A4C}" type="slidenum">
              <a:rPr lang="en-US" smtClean="0"/>
              <a:t>‹#›</a:t>
            </a:fld>
            <a:endParaRPr lang="en-US"/>
          </a:p>
        </p:txBody>
      </p:sp>
    </p:spTree>
    <p:extLst>
      <p:ext uri="{BB962C8B-B14F-4D97-AF65-F5344CB8AC3E}">
        <p14:creationId xmlns:p14="http://schemas.microsoft.com/office/powerpoint/2010/main" val="4115382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1A7903C-3E11-497F-850B-22EE3256CD89}" type="datetimeFigureOut">
              <a:rPr lang="en-US" smtClean="0"/>
              <a:pPr/>
              <a:t>10/25/2024</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0B5C76A5-D9FB-413C-BC8C-C21068CFCC0F}" type="slidenum">
              <a:rPr lang="en-US" smtClean="0"/>
              <a:pPr/>
              <a:t>‹#›</a:t>
            </a:fld>
            <a:endParaRPr lang="en-US"/>
          </a:p>
        </p:txBody>
      </p:sp>
    </p:spTree>
    <p:extLst>
      <p:ext uri="{BB962C8B-B14F-4D97-AF65-F5344CB8AC3E}">
        <p14:creationId xmlns:p14="http://schemas.microsoft.com/office/powerpoint/2010/main" val="25168493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1A7903C-3E11-497F-850B-22EE3256CD89}" type="datetimeFigureOut">
              <a:rPr lang="en-US" smtClean="0"/>
              <a:pPr/>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5C76A5-D9FB-413C-BC8C-C21068CFCC0F}"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216349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1A7903C-3E11-497F-850B-22EE3256CD89}" type="datetimeFigureOut">
              <a:rPr lang="en-US" smtClean="0"/>
              <a:pPr/>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5C76A5-D9FB-413C-BC8C-C21068CFCC0F}" type="slidenum">
              <a:rPr lang="en-US" smtClean="0"/>
              <a:pPr/>
              <a:t>‹#›</a:t>
            </a:fld>
            <a:endParaRPr lang="en-US"/>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Tree>
    <p:extLst>
      <p:ext uri="{BB962C8B-B14F-4D97-AF65-F5344CB8AC3E}">
        <p14:creationId xmlns:p14="http://schemas.microsoft.com/office/powerpoint/2010/main" val="2371322514"/>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1A7903C-3E11-497F-850B-22EE3256CD89}" type="datetimeFigureOut">
              <a:rPr lang="en-US" smtClean="0"/>
              <a:pPr/>
              <a:t>10/25/2024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5C76A5-D9FB-413C-BC8C-C21068CFCC0F}"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634915666"/>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1A7903C-3E11-497F-850B-22EE3256CD89}" type="datetimeFigureOut">
              <a:rPr lang="en-US" smtClean="0"/>
              <a:pPr/>
              <a:t>10/25/2024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5C76A5-D9FB-413C-BC8C-C21068CFCC0F}" type="slidenum">
              <a:rPr lang="en-US" smtClean="0"/>
              <a:pPr/>
              <a:t>‹#›</a:t>
            </a:fld>
            <a:endParaRPr lang="en-US"/>
          </a:p>
        </p:txBody>
      </p:sp>
    </p:spTree>
    <p:extLst>
      <p:ext uri="{BB962C8B-B14F-4D97-AF65-F5344CB8AC3E}">
        <p14:creationId xmlns:p14="http://schemas.microsoft.com/office/powerpoint/2010/main" val="3699852717"/>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1A7903C-3E11-497F-850B-22EE3256CD89}" type="datetimeFigureOut">
              <a:rPr lang="en-US" smtClean="0"/>
              <a:pPr/>
              <a:t>10/25/2024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5C76A5-D9FB-413C-BC8C-C21068CFCC0F}"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942733833"/>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A7903C-3E11-497F-850B-22EE3256CD89}" type="datetimeFigureOut">
              <a:rPr lang="en-US" smtClean="0"/>
              <a:pPr/>
              <a:t>10/25/2024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5C76A5-D9FB-413C-BC8C-C21068CFCC0F}" type="slidenum">
              <a:rPr lang="en-US" smtClean="0"/>
              <a:pPr/>
              <a:t>‹#›</a:t>
            </a:fld>
            <a:endParaRPr lang="en-US"/>
          </a:p>
        </p:txBody>
      </p:sp>
    </p:spTree>
    <p:extLst>
      <p:ext uri="{BB962C8B-B14F-4D97-AF65-F5344CB8AC3E}">
        <p14:creationId xmlns:p14="http://schemas.microsoft.com/office/powerpoint/2010/main" val="21288463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p>
            <a:fld id="{01A7903C-3E11-497F-850B-22EE3256CD89}" type="datetimeFigureOut">
              <a:rPr lang="en-US" smtClean="0"/>
              <a:pPr/>
              <a:t>10/25/2024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5C76A5-D9FB-413C-BC8C-C21068CFCC0F}" type="slidenum">
              <a:rPr lang="en-US" smtClean="0"/>
              <a:pPr/>
              <a:t>‹#›</a:t>
            </a:fld>
            <a:endParaRPr lang="en-US"/>
          </a:p>
        </p:txBody>
      </p:sp>
    </p:spTree>
    <p:extLst>
      <p:ext uri="{BB962C8B-B14F-4D97-AF65-F5344CB8AC3E}">
        <p14:creationId xmlns:p14="http://schemas.microsoft.com/office/powerpoint/2010/main" val="107547287"/>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01A7903C-3E11-497F-850B-22EE3256CD89}" type="datetimeFigureOut">
              <a:rPr lang="en-US" smtClean="0"/>
              <a:pPr/>
              <a:t>10/25/2024</a:t>
            </a:fld>
            <a:endParaRPr lang="en-US"/>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0B5C76A5-D9FB-413C-BC8C-C21068CFCC0F}" type="slidenum">
              <a:rPr lang="en-US" smtClean="0"/>
              <a:pPr/>
              <a:t>‹#›</a:t>
            </a:fld>
            <a:endParaRPr lang="en-US"/>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9" name="Freeform 8"/>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Right Triangle 9"/>
          <p:cNvSpPr>
            <a:spLocks/>
          </p:cNvSpPr>
          <p:nvPr/>
        </p:nvSpPr>
        <p:spPr bwMode="auto">
          <a:xfrm>
            <a:off x="-8056" y="5791253"/>
            <a:ext cx="4536419"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Tree>
    <p:extLst>
      <p:ext uri="{BB962C8B-B14F-4D97-AF65-F5344CB8AC3E}">
        <p14:creationId xmlns:p14="http://schemas.microsoft.com/office/powerpoint/2010/main" val="3007266663"/>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1A7903C-3E11-497F-850B-22EE3256CD89}" type="datetimeFigureOut">
              <a:rPr lang="en-US" smtClean="0"/>
              <a:pPr/>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5C76A5-D9FB-413C-BC8C-C21068CFCC0F}" type="slidenum">
              <a:rPr lang="en-US" smtClean="0"/>
              <a:pPr/>
              <a:t>‹#›</a:t>
            </a:fld>
            <a:endParaRPr lang="en-US"/>
          </a:p>
        </p:txBody>
      </p:sp>
    </p:spTree>
    <p:extLst>
      <p:ext uri="{BB962C8B-B14F-4D97-AF65-F5344CB8AC3E}">
        <p14:creationId xmlns:p14="http://schemas.microsoft.com/office/powerpoint/2010/main" val="375426023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1A7903C-3E11-497F-850B-22EE3256CD89}" type="datetimeFigureOut">
              <a:rPr lang="en-US" smtClean="0"/>
              <a:pPr/>
              <a:t>10/25/2024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5C76A5-D9FB-413C-BC8C-C21068CFCC0F}" type="slidenum">
              <a:rPr lang="en-US" smtClean="0"/>
              <a:pPr/>
              <a:t>‹#›</a:t>
            </a:fld>
            <a:endParaRPr lang="en-US"/>
          </a:p>
        </p:txBody>
      </p:sp>
    </p:spTree>
    <p:extLst>
      <p:ext uri="{BB962C8B-B14F-4D97-AF65-F5344CB8AC3E}">
        <p14:creationId xmlns:p14="http://schemas.microsoft.com/office/powerpoint/2010/main" val="1264496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FBF9D2-6F8B-4B8E-8726-3E102BFD71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KE"/>
          </a:p>
        </p:txBody>
      </p:sp>
      <p:sp>
        <p:nvSpPr>
          <p:cNvPr id="3" name="Text Placeholder 2">
            <a:extLst>
              <a:ext uri="{FF2B5EF4-FFF2-40B4-BE49-F238E27FC236}">
                <a16:creationId xmlns:a16="http://schemas.microsoft.com/office/drawing/2014/main" id="{4CA32FE5-8262-4ED6-9143-836AD26076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760D2185-387D-4CBF-A6D3-A393645A42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534F09-947D-4E7E-BC99-68C58BC19C54}" type="datetimeFigureOut">
              <a:rPr lang="en-KE" smtClean="0"/>
              <a:t>10/25/2024</a:t>
            </a:fld>
            <a:endParaRPr lang="en-KE"/>
          </a:p>
        </p:txBody>
      </p:sp>
      <p:sp>
        <p:nvSpPr>
          <p:cNvPr id="5" name="Footer Placeholder 4">
            <a:extLst>
              <a:ext uri="{FF2B5EF4-FFF2-40B4-BE49-F238E27FC236}">
                <a16:creationId xmlns:a16="http://schemas.microsoft.com/office/drawing/2014/main" id="{8C2C73AE-11D4-4A2C-8CA2-75A59764A6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KE"/>
          </a:p>
        </p:txBody>
      </p:sp>
      <p:sp>
        <p:nvSpPr>
          <p:cNvPr id="6" name="Slide Number Placeholder 5">
            <a:extLst>
              <a:ext uri="{FF2B5EF4-FFF2-40B4-BE49-F238E27FC236}">
                <a16:creationId xmlns:a16="http://schemas.microsoft.com/office/drawing/2014/main" id="{C942E74F-05E7-45C0-88A7-72D07F27B0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C23237-B5F1-48C5-B220-4A6422760201}" type="slidenum">
              <a:rPr lang="en-KE" smtClean="0"/>
              <a:t>‹#›</a:t>
            </a:fld>
            <a:endParaRPr lang="en-KE"/>
          </a:p>
        </p:txBody>
      </p:sp>
    </p:spTree>
    <p:extLst>
      <p:ext uri="{BB962C8B-B14F-4D97-AF65-F5344CB8AC3E}">
        <p14:creationId xmlns:p14="http://schemas.microsoft.com/office/powerpoint/2010/main" val="27995327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E9096E-B22D-4ED2-8C8B-2F2732420D58}" type="datetime1">
              <a:rPr lang="en-US" smtClean="0"/>
              <a:t>10/25/2024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Dr. Mwaniki</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578E98-33F1-40C2-AC75-4CA831970A4C}" type="slidenum">
              <a:rPr lang="en-US" smtClean="0"/>
              <a:t>‹#›</a:t>
            </a:fld>
            <a:endParaRPr lang="en-US"/>
          </a:p>
        </p:txBody>
      </p:sp>
    </p:spTree>
    <p:extLst>
      <p:ext uri="{BB962C8B-B14F-4D97-AF65-F5344CB8AC3E}">
        <p14:creationId xmlns:p14="http://schemas.microsoft.com/office/powerpoint/2010/main" val="21685051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2" name="Freeform 11"/>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4" name="Right Triangle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01A7903C-3E11-497F-850B-22EE3256CD89}" type="datetimeFigureOut">
              <a:rPr lang="en-US" smtClean="0"/>
              <a:pPr/>
              <a:t>10/25/2024</a:t>
            </a:fld>
            <a:endParaRPr lang="en-US"/>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0B5C76A5-D9FB-413C-BC8C-C21068CFCC0F}" type="slidenum">
              <a:rPr lang="en-US" smtClean="0"/>
              <a:pPr/>
              <a:t>‹#›</a:t>
            </a:fld>
            <a:endParaRPr lang="en-US"/>
          </a:p>
        </p:txBody>
      </p:sp>
    </p:spTree>
    <p:extLst>
      <p:ext uri="{BB962C8B-B14F-4D97-AF65-F5344CB8AC3E}">
        <p14:creationId xmlns:p14="http://schemas.microsoft.com/office/powerpoint/2010/main" val="351479241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6D15C-4DAA-4B43-931E-B02639699BDE}"/>
              </a:ext>
            </a:extLst>
          </p:cNvPr>
          <p:cNvSpPr>
            <a:spLocks noGrp="1"/>
          </p:cNvSpPr>
          <p:nvPr>
            <p:ph type="ctrTitle"/>
          </p:nvPr>
        </p:nvSpPr>
        <p:spPr/>
        <p:txBody>
          <a:bodyPr>
            <a:normAutofit/>
          </a:bodyPr>
          <a:lstStyle/>
          <a:p>
            <a:r>
              <a:rPr lang="en-US" sz="5400" dirty="0" smtClean="0"/>
              <a:t>HYGIENE,SANITATION&amp;SAFETY</a:t>
            </a:r>
            <a:endParaRPr lang="en-KE" sz="5400" dirty="0"/>
          </a:p>
        </p:txBody>
      </p:sp>
      <p:sp>
        <p:nvSpPr>
          <p:cNvPr id="3" name="Subtitle 2">
            <a:extLst>
              <a:ext uri="{FF2B5EF4-FFF2-40B4-BE49-F238E27FC236}">
                <a16:creationId xmlns:a16="http://schemas.microsoft.com/office/drawing/2014/main" id="{25861074-982A-4BF5-B873-765D59F0670A}"/>
              </a:ext>
            </a:extLst>
          </p:cNvPr>
          <p:cNvSpPr>
            <a:spLocks noGrp="1"/>
          </p:cNvSpPr>
          <p:nvPr>
            <p:ph type="subTitle" idx="1"/>
          </p:nvPr>
        </p:nvSpPr>
        <p:spPr/>
        <p:txBody>
          <a:bodyPr/>
          <a:lstStyle/>
          <a:p>
            <a:r>
              <a:rPr lang="en-US" dirty="0"/>
              <a:t>Dr. E Mwaniki </a:t>
            </a:r>
            <a:endParaRPr lang="en-KE" dirty="0"/>
          </a:p>
        </p:txBody>
      </p:sp>
    </p:spTree>
    <p:extLst>
      <p:ext uri="{BB962C8B-B14F-4D97-AF65-F5344CB8AC3E}">
        <p14:creationId xmlns:p14="http://schemas.microsoft.com/office/powerpoint/2010/main" val="2404023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7B659A-00AC-4E84-ADF9-ABA8DF2CE64E}"/>
              </a:ext>
            </a:extLst>
          </p:cNvPr>
          <p:cNvSpPr>
            <a:spLocks noGrp="1"/>
          </p:cNvSpPr>
          <p:nvPr>
            <p:ph idx="1"/>
          </p:nvPr>
        </p:nvSpPr>
        <p:spPr>
          <a:xfrm>
            <a:off x="640080" y="713232"/>
            <a:ext cx="10713720" cy="5463731"/>
          </a:xfrm>
        </p:spPr>
        <p:txBody>
          <a:bodyPr/>
          <a:lstStyle/>
          <a:p>
            <a:r>
              <a:rPr lang="en-US" dirty="0">
                <a:solidFill>
                  <a:srgbClr val="FF0000"/>
                </a:solidFill>
              </a:rPr>
              <a:t>DEFINITIONS</a:t>
            </a:r>
          </a:p>
          <a:p>
            <a:r>
              <a:rPr lang="en-US" dirty="0"/>
              <a:t>Hygiene</a:t>
            </a:r>
          </a:p>
          <a:p>
            <a:r>
              <a:rPr lang="en-US" dirty="0"/>
              <a:t>Hygiene refers to the </a:t>
            </a:r>
            <a:r>
              <a:rPr lang="en-US" dirty="0">
                <a:solidFill>
                  <a:schemeClr val="accent1"/>
                </a:solidFill>
              </a:rPr>
              <a:t>set of practices </a:t>
            </a:r>
            <a:r>
              <a:rPr lang="en-US" dirty="0"/>
              <a:t>associated with the preservation of health and healthy living.</a:t>
            </a:r>
          </a:p>
          <a:p>
            <a:endParaRPr lang="en-US" dirty="0"/>
          </a:p>
          <a:p>
            <a:r>
              <a:rPr lang="en-US" dirty="0"/>
              <a:t> Hygiene is a </a:t>
            </a:r>
            <a:r>
              <a:rPr lang="en-US" dirty="0">
                <a:solidFill>
                  <a:schemeClr val="accent1"/>
                </a:solidFill>
              </a:rPr>
              <a:t>concept</a:t>
            </a:r>
            <a:r>
              <a:rPr lang="en-US" dirty="0"/>
              <a:t> related to medicine, as well as to personal and professional care practices related to most aspects of living, although it is most often associated with cleanliness and preventive measures.</a:t>
            </a:r>
          </a:p>
          <a:p>
            <a:endParaRPr lang="en-US" dirty="0"/>
          </a:p>
          <a:p>
            <a:r>
              <a:rPr lang="en-US" dirty="0"/>
              <a:t> Hygiene is also the name of the </a:t>
            </a:r>
            <a:r>
              <a:rPr lang="en-US" dirty="0">
                <a:solidFill>
                  <a:schemeClr val="accent1"/>
                </a:solidFill>
              </a:rPr>
              <a:t>science that deals </a:t>
            </a:r>
            <a:r>
              <a:rPr lang="en-US" dirty="0"/>
              <a:t>with the promotion and preservation of health, also called Hygienics.</a:t>
            </a:r>
          </a:p>
          <a:p>
            <a:endParaRPr lang="en-KE" dirty="0"/>
          </a:p>
        </p:txBody>
      </p:sp>
    </p:spTree>
    <p:extLst>
      <p:ext uri="{BB962C8B-B14F-4D97-AF65-F5344CB8AC3E}">
        <p14:creationId xmlns:p14="http://schemas.microsoft.com/office/powerpoint/2010/main" val="2115631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C78E20-B892-4961-B9B5-67C61A09AE24}"/>
              </a:ext>
            </a:extLst>
          </p:cNvPr>
          <p:cNvSpPr>
            <a:spLocks noGrp="1"/>
          </p:cNvSpPr>
          <p:nvPr>
            <p:ph idx="1"/>
          </p:nvPr>
        </p:nvSpPr>
        <p:spPr>
          <a:xfrm>
            <a:off x="402336" y="548640"/>
            <a:ext cx="10951464" cy="5628323"/>
          </a:xfrm>
        </p:spPr>
        <p:txBody>
          <a:bodyPr/>
          <a:lstStyle/>
          <a:p>
            <a:r>
              <a:rPr lang="en-US" dirty="0">
                <a:solidFill>
                  <a:srgbClr val="FF0000"/>
                </a:solidFill>
              </a:rPr>
              <a:t>Other definitions:</a:t>
            </a:r>
          </a:p>
          <a:p>
            <a:r>
              <a:rPr lang="en-US" dirty="0"/>
              <a:t>        I.            Refers </a:t>
            </a:r>
            <a:r>
              <a:rPr lang="en-US" dirty="0">
                <a:solidFill>
                  <a:schemeClr val="accent1"/>
                </a:solidFill>
              </a:rPr>
              <a:t>to acts that can lead to good health </a:t>
            </a:r>
            <a:r>
              <a:rPr lang="en-US" dirty="0"/>
              <a:t>and cleanliness, such as frequent hand washing, face washing, and bathing with soap and clean water</a:t>
            </a:r>
          </a:p>
          <a:p>
            <a:pPr marL="0" indent="0">
              <a:buNone/>
            </a:pPr>
            <a:endParaRPr lang="en-US" dirty="0"/>
          </a:p>
          <a:p>
            <a:pPr marL="0" indent="0">
              <a:buNone/>
            </a:pPr>
            <a:endParaRPr lang="en-US" dirty="0"/>
          </a:p>
          <a:p>
            <a:r>
              <a:rPr lang="en-US" dirty="0"/>
              <a:t>     II.            </a:t>
            </a:r>
            <a:r>
              <a:rPr lang="en-US" dirty="0">
                <a:solidFill>
                  <a:schemeClr val="accent1"/>
                </a:solidFill>
              </a:rPr>
              <a:t>Conditions or practices </a:t>
            </a:r>
            <a:r>
              <a:rPr lang="en-US" dirty="0"/>
              <a:t>conducive to maintaining health and preventing disease, especially through cleanliness: good standards of both food and personal hygiene as well as environmental hygiene.</a:t>
            </a:r>
          </a:p>
          <a:p>
            <a:endParaRPr lang="en-US" dirty="0"/>
          </a:p>
          <a:p>
            <a:r>
              <a:rPr lang="en-US" dirty="0"/>
              <a:t>NB- Practicing personal hygiene in many parts of the world can be difficult due to lack of clean water and soap.</a:t>
            </a:r>
          </a:p>
          <a:p>
            <a:endParaRPr lang="en-KE" dirty="0"/>
          </a:p>
        </p:txBody>
      </p:sp>
    </p:spTree>
    <p:extLst>
      <p:ext uri="{BB962C8B-B14F-4D97-AF65-F5344CB8AC3E}">
        <p14:creationId xmlns:p14="http://schemas.microsoft.com/office/powerpoint/2010/main" val="2171940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5B798D-584F-4E22-A425-AAAE4973A1A5}"/>
              </a:ext>
            </a:extLst>
          </p:cNvPr>
          <p:cNvSpPr>
            <a:spLocks noGrp="1"/>
          </p:cNvSpPr>
          <p:nvPr>
            <p:ph idx="1"/>
          </p:nvPr>
        </p:nvSpPr>
        <p:spPr>
          <a:xfrm>
            <a:off x="585216" y="932688"/>
            <a:ext cx="10768584" cy="5244275"/>
          </a:xfrm>
        </p:spPr>
        <p:txBody>
          <a:bodyPr>
            <a:normAutofit lnSpcReduction="10000"/>
          </a:bodyPr>
          <a:lstStyle/>
          <a:p>
            <a:r>
              <a:rPr lang="en-US" dirty="0">
                <a:solidFill>
                  <a:srgbClr val="FF0000"/>
                </a:solidFill>
              </a:rPr>
              <a:t>Definition </a:t>
            </a:r>
            <a:r>
              <a:rPr lang="en-US" dirty="0" err="1">
                <a:solidFill>
                  <a:srgbClr val="FF0000"/>
                </a:solidFill>
              </a:rPr>
              <a:t>contd</a:t>
            </a:r>
            <a:r>
              <a:rPr lang="en-US" dirty="0">
                <a:solidFill>
                  <a:srgbClr val="FF0000"/>
                </a:solidFill>
              </a:rPr>
              <a:t>’</a:t>
            </a:r>
          </a:p>
          <a:p>
            <a:r>
              <a:rPr lang="en-US" dirty="0"/>
              <a:t>Sanitation- is a hygienic means of promoting health through prevention of human contact with the hazards of wastes. </a:t>
            </a:r>
          </a:p>
          <a:p>
            <a:endParaRPr lang="en-US" dirty="0"/>
          </a:p>
          <a:p>
            <a:r>
              <a:rPr lang="en-US" dirty="0"/>
              <a:t>Wastes that can cause health problems are human and animal </a:t>
            </a:r>
            <a:r>
              <a:rPr lang="en-US" dirty="0" err="1"/>
              <a:t>faeces</a:t>
            </a:r>
            <a:r>
              <a:rPr lang="en-US" dirty="0"/>
              <a:t> solid wastes, domestic wastewater (sewage grey water) industrial waste and agricultural wastes. </a:t>
            </a:r>
          </a:p>
          <a:p>
            <a:endParaRPr lang="en-US" dirty="0"/>
          </a:p>
          <a:p>
            <a:r>
              <a:rPr lang="en-US" dirty="0"/>
              <a:t>Hygienic means of prevention can be by using engineering solutions (e.g. sewerage and wastewater treatment) simple technologies (e.g. latrines septic tanks) or even by personal hygienic practices (e.g. simple hand washing with soap.)</a:t>
            </a:r>
            <a:endParaRPr lang="en-KE" dirty="0"/>
          </a:p>
        </p:txBody>
      </p:sp>
    </p:spTree>
    <p:extLst>
      <p:ext uri="{BB962C8B-B14F-4D97-AF65-F5344CB8AC3E}">
        <p14:creationId xmlns:p14="http://schemas.microsoft.com/office/powerpoint/2010/main" val="4159370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4B598F-96F6-42CC-830D-9D948AE22F34}"/>
              </a:ext>
            </a:extLst>
          </p:cNvPr>
          <p:cNvSpPr>
            <a:spLocks noGrp="1"/>
          </p:cNvSpPr>
          <p:nvPr>
            <p:ph idx="1"/>
          </p:nvPr>
        </p:nvSpPr>
        <p:spPr>
          <a:xfrm>
            <a:off x="914402" y="203200"/>
            <a:ext cx="10682514" cy="5393192"/>
          </a:xfrm>
        </p:spPr>
        <p:txBody>
          <a:bodyPr>
            <a:normAutofit/>
          </a:bodyPr>
          <a:lstStyle/>
          <a:p>
            <a:r>
              <a:rPr lang="en-US" dirty="0">
                <a:solidFill>
                  <a:srgbClr val="FF0000"/>
                </a:solidFill>
              </a:rPr>
              <a:t>Sanitation definition </a:t>
            </a:r>
            <a:r>
              <a:rPr lang="en-US" dirty="0" err="1">
                <a:solidFill>
                  <a:srgbClr val="FF0000"/>
                </a:solidFill>
              </a:rPr>
              <a:t>Contd</a:t>
            </a:r>
            <a:endParaRPr lang="en-US" dirty="0">
              <a:solidFill>
                <a:srgbClr val="FF0000"/>
              </a:solidFill>
            </a:endParaRPr>
          </a:p>
          <a:p>
            <a:r>
              <a:rPr lang="en-US" dirty="0"/>
              <a:t>It is also group of methods to collect human excreta and urine as well as community waste water in hygienic way, where human and community health is not altered, (WHO).</a:t>
            </a:r>
          </a:p>
          <a:p>
            <a:endParaRPr lang="en-US" dirty="0"/>
          </a:p>
          <a:p>
            <a:r>
              <a:rPr lang="en-US" dirty="0"/>
              <a:t>Sanitation methods aim to decrease spreading of diseases by adequate water, excreta and other waste treatment, proper handling of water, food and by restricting the occurrence and causes of diseases.</a:t>
            </a:r>
          </a:p>
          <a:p>
            <a:endParaRPr lang="en-US" dirty="0"/>
          </a:p>
          <a:p>
            <a:pPr marL="0" indent="0">
              <a:buNone/>
            </a:pPr>
            <a:endParaRPr lang="en-US" dirty="0"/>
          </a:p>
          <a:p>
            <a:endParaRPr lang="en-KE" dirty="0"/>
          </a:p>
        </p:txBody>
      </p:sp>
    </p:spTree>
    <p:extLst>
      <p:ext uri="{BB962C8B-B14F-4D97-AF65-F5344CB8AC3E}">
        <p14:creationId xmlns:p14="http://schemas.microsoft.com/office/powerpoint/2010/main" val="268621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Basic Sanitation – The management of Human </a:t>
            </a:r>
            <a:r>
              <a:rPr lang="en-US" dirty="0" err="1"/>
              <a:t>faeces</a:t>
            </a:r>
            <a:r>
              <a:rPr lang="en-US" dirty="0"/>
              <a:t> at the household level</a:t>
            </a:r>
          </a:p>
          <a:p>
            <a:r>
              <a:rPr lang="en-US" dirty="0"/>
              <a:t>On-site Sanitation – Collection and treatment of waste is done where it is deposited </a:t>
            </a:r>
            <a:r>
              <a:rPr lang="en-US" dirty="0" err="1"/>
              <a:t>e.g</a:t>
            </a:r>
            <a:r>
              <a:rPr lang="en-US" dirty="0"/>
              <a:t> pit latrines, septic tanks.</a:t>
            </a:r>
          </a:p>
          <a:p>
            <a:r>
              <a:rPr lang="en-US" dirty="0"/>
              <a:t>Food Sanitation – Measures for ensuring food safety.</a:t>
            </a:r>
          </a:p>
          <a:p>
            <a:r>
              <a:rPr lang="en-US" dirty="0"/>
              <a:t>Environmental Sanitation – Control of environmental factors that form links in disease transmission e.g. solid wastes water and waste water, industrial waste, noise, various other types of pollution.</a:t>
            </a:r>
          </a:p>
          <a:p>
            <a:endParaRPr lang="en-US" dirty="0"/>
          </a:p>
        </p:txBody>
      </p:sp>
      <p:sp>
        <p:nvSpPr>
          <p:cNvPr id="3" name="Title 2"/>
          <p:cNvSpPr>
            <a:spLocks noGrp="1"/>
          </p:cNvSpPr>
          <p:nvPr>
            <p:ph type="title"/>
          </p:nvPr>
        </p:nvSpPr>
        <p:spPr/>
        <p:txBody>
          <a:bodyPr/>
          <a:lstStyle/>
          <a:p>
            <a:r>
              <a:rPr lang="en-US" dirty="0"/>
              <a:t>Types of Sanitation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Ecological Sanitation – A move that tries to imitate nature through recycling of nutrients and water from human and animal wastes in a hygienically safe manner.</a:t>
            </a:r>
          </a:p>
        </p:txBody>
      </p:sp>
      <p:sp>
        <p:nvSpPr>
          <p:cNvPr id="3" name="Title 2"/>
          <p:cNvSpPr>
            <a:spLocks noGrp="1"/>
          </p:cNvSpPr>
          <p:nvPr>
            <p:ph type="title"/>
          </p:nvPr>
        </p:nvSpPr>
        <p:spPr/>
        <p:txBody>
          <a:bodyPr/>
          <a:lstStyle/>
          <a:p>
            <a:r>
              <a:rPr lang="en-US" dirty="0"/>
              <a:t>Types of Sanitation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FD0851-4B8C-484A-9633-0E772AB66245}"/>
              </a:ext>
            </a:extLst>
          </p:cNvPr>
          <p:cNvSpPr>
            <a:spLocks noGrp="1"/>
          </p:cNvSpPr>
          <p:nvPr>
            <p:ph idx="1"/>
          </p:nvPr>
        </p:nvSpPr>
        <p:spPr>
          <a:xfrm>
            <a:off x="243115" y="461281"/>
            <a:ext cx="10515600" cy="5860006"/>
          </a:xfrm>
        </p:spPr>
        <p:txBody>
          <a:bodyPr/>
          <a:lstStyle/>
          <a:p>
            <a:r>
              <a:rPr lang="en-US" dirty="0"/>
              <a:t> </a:t>
            </a:r>
            <a:r>
              <a:rPr lang="en-US" dirty="0">
                <a:solidFill>
                  <a:srgbClr val="FF0000"/>
                </a:solidFill>
              </a:rPr>
              <a:t>Epidemiology: -</a:t>
            </a:r>
          </a:p>
          <a:p>
            <a:r>
              <a:rPr lang="en-US" dirty="0"/>
              <a:t> The frequency and </a:t>
            </a:r>
            <a:r>
              <a:rPr lang="en-US" dirty="0">
                <a:solidFill>
                  <a:srgbClr val="FF0000"/>
                </a:solidFill>
              </a:rPr>
              <a:t>distribution</a:t>
            </a:r>
            <a:r>
              <a:rPr lang="en-US" dirty="0"/>
              <a:t> of diseases and the</a:t>
            </a:r>
            <a:r>
              <a:rPr lang="en-US" dirty="0">
                <a:solidFill>
                  <a:srgbClr val="FF0000"/>
                </a:solidFill>
              </a:rPr>
              <a:t> factors </a:t>
            </a:r>
            <a:r>
              <a:rPr lang="en-US" dirty="0"/>
              <a:t>that </a:t>
            </a:r>
            <a:r>
              <a:rPr lang="en-US" dirty="0">
                <a:solidFill>
                  <a:srgbClr val="FF0000"/>
                </a:solidFill>
              </a:rPr>
              <a:t>contributes (determinants or risk factors)</a:t>
            </a:r>
            <a:r>
              <a:rPr lang="en-US" dirty="0"/>
              <a:t> to the spread of diseases.</a:t>
            </a:r>
          </a:p>
          <a:p>
            <a:r>
              <a:rPr lang="en-US" dirty="0"/>
              <a:t>The factors include:</a:t>
            </a:r>
          </a:p>
          <a:p>
            <a:r>
              <a:rPr lang="en-US" dirty="0"/>
              <a:t>        Virulence of the pathogen.</a:t>
            </a:r>
          </a:p>
          <a:p>
            <a:r>
              <a:rPr lang="en-US" dirty="0"/>
              <a:t>        Susceptibility of the population.</a:t>
            </a:r>
          </a:p>
          <a:p>
            <a:r>
              <a:rPr lang="en-US" dirty="0"/>
              <a:t>       Mode of transmission.</a:t>
            </a:r>
          </a:p>
          <a:p>
            <a:endParaRPr lang="en-KE" dirty="0"/>
          </a:p>
        </p:txBody>
      </p:sp>
    </p:spTree>
    <p:extLst>
      <p:ext uri="{BB962C8B-B14F-4D97-AF65-F5344CB8AC3E}">
        <p14:creationId xmlns:p14="http://schemas.microsoft.com/office/powerpoint/2010/main" val="340655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D8DA15-1860-4946-8B9E-388EC6E96670}"/>
              </a:ext>
            </a:extLst>
          </p:cNvPr>
          <p:cNvSpPr>
            <a:spLocks noGrp="1"/>
          </p:cNvSpPr>
          <p:nvPr>
            <p:ph idx="1"/>
          </p:nvPr>
        </p:nvSpPr>
        <p:spPr>
          <a:xfrm>
            <a:off x="512064" y="585216"/>
            <a:ext cx="11173968" cy="5961888"/>
          </a:xfrm>
        </p:spPr>
        <p:txBody>
          <a:bodyPr>
            <a:normAutofit lnSpcReduction="10000"/>
          </a:bodyPr>
          <a:lstStyle/>
          <a:p>
            <a:r>
              <a:rPr lang="en-US" dirty="0"/>
              <a:t>There are four epidemiological terms used to describe pattern of diseases distribution in the population:</a:t>
            </a:r>
          </a:p>
          <a:p>
            <a:r>
              <a:rPr lang="en-US" dirty="0"/>
              <a:t>Endemic, Epidemic, Pandemic and Sporadic.</a:t>
            </a:r>
          </a:p>
          <a:p>
            <a:endParaRPr lang="en-US" dirty="0"/>
          </a:p>
          <a:p>
            <a:r>
              <a:rPr lang="en-US" dirty="0"/>
              <a:t>Of the four, epidemics causes serious damage to population in cases where hygiene is not observed.</a:t>
            </a:r>
          </a:p>
          <a:p>
            <a:endParaRPr lang="en-US" dirty="0"/>
          </a:p>
          <a:p>
            <a:r>
              <a:rPr lang="en-US" dirty="0">
                <a:solidFill>
                  <a:schemeClr val="accent1"/>
                </a:solidFill>
              </a:rPr>
              <a:t>EPIDEMIC:  refers to </a:t>
            </a:r>
            <a:r>
              <a:rPr lang="en-US" dirty="0"/>
              <a:t>more than the normal number of cases of a disease in a community or an area within a particular period.</a:t>
            </a:r>
          </a:p>
          <a:p>
            <a:pPr marL="0" indent="0">
              <a:buNone/>
            </a:pPr>
            <a:endParaRPr lang="en-US" dirty="0"/>
          </a:p>
          <a:p>
            <a:r>
              <a:rPr lang="en-US" dirty="0"/>
              <a:t>It involves diseases with short incubation period and mode of transmission is not complicated in that it can be distributed easily, e.g. through contaminated drinking water</a:t>
            </a:r>
          </a:p>
          <a:p>
            <a:endParaRPr lang="en-KE" dirty="0"/>
          </a:p>
        </p:txBody>
      </p:sp>
    </p:spTree>
    <p:extLst>
      <p:ext uri="{BB962C8B-B14F-4D97-AF65-F5344CB8AC3E}">
        <p14:creationId xmlns:p14="http://schemas.microsoft.com/office/powerpoint/2010/main" val="1310967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BD844F-44E7-429B-9CF3-F88FBB5B85B2}"/>
              </a:ext>
            </a:extLst>
          </p:cNvPr>
          <p:cNvSpPr>
            <a:spLocks noGrp="1"/>
          </p:cNvSpPr>
          <p:nvPr>
            <p:ph idx="1"/>
          </p:nvPr>
        </p:nvSpPr>
        <p:spPr>
          <a:xfrm>
            <a:off x="347472" y="201168"/>
            <a:ext cx="11006328" cy="5975795"/>
          </a:xfrm>
        </p:spPr>
        <p:txBody>
          <a:bodyPr/>
          <a:lstStyle/>
          <a:p>
            <a:r>
              <a:rPr lang="en-US" dirty="0">
                <a:solidFill>
                  <a:schemeClr val="accent1"/>
                </a:solidFill>
              </a:rPr>
              <a:t>A PANDEMIC :</a:t>
            </a:r>
            <a:r>
              <a:rPr lang="en-US" dirty="0"/>
              <a:t> refers to an epidemic that has spread over several countries or continents, usually affecting a large number of people. </a:t>
            </a:r>
            <a:r>
              <a:rPr lang="en-US" dirty="0" err="1"/>
              <a:t>e.g</a:t>
            </a:r>
            <a:r>
              <a:rPr lang="en-US" dirty="0"/>
              <a:t> HIV/Aids</a:t>
            </a:r>
          </a:p>
          <a:p>
            <a:endParaRPr lang="en-US" dirty="0"/>
          </a:p>
          <a:p>
            <a:r>
              <a:rPr lang="en-US" dirty="0">
                <a:solidFill>
                  <a:schemeClr val="accent1"/>
                </a:solidFill>
              </a:rPr>
              <a:t>ENDEMIC: </a:t>
            </a:r>
            <a:r>
              <a:rPr lang="en-US" dirty="0"/>
              <a:t>Endemic refers to the constant presence and/or usual prevalence of a disease or infectious agent in a population within a geographic area</a:t>
            </a:r>
          </a:p>
          <a:p>
            <a:endParaRPr lang="en-US" dirty="0"/>
          </a:p>
          <a:p>
            <a:endParaRPr lang="en-US" dirty="0"/>
          </a:p>
          <a:p>
            <a:r>
              <a:rPr lang="en-US" dirty="0"/>
              <a:t> </a:t>
            </a:r>
            <a:r>
              <a:rPr lang="en-US" dirty="0">
                <a:solidFill>
                  <a:schemeClr val="accent1"/>
                </a:solidFill>
              </a:rPr>
              <a:t>SPORADIC: </a:t>
            </a:r>
            <a:r>
              <a:rPr lang="en-US" dirty="0"/>
              <a:t>refers to a disease that occurs infrequently and irregularly</a:t>
            </a:r>
            <a:endParaRPr lang="en-KE" dirty="0"/>
          </a:p>
        </p:txBody>
      </p:sp>
    </p:spTree>
    <p:extLst>
      <p:ext uri="{BB962C8B-B14F-4D97-AF65-F5344CB8AC3E}">
        <p14:creationId xmlns:p14="http://schemas.microsoft.com/office/powerpoint/2010/main" val="4006768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Transmission of diseases</a:t>
            </a:r>
          </a:p>
        </p:txBody>
      </p:sp>
      <p:sp>
        <p:nvSpPr>
          <p:cNvPr id="3" name="Content Placeholder 2"/>
          <p:cNvSpPr>
            <a:spLocks noGrp="1"/>
          </p:cNvSpPr>
          <p:nvPr>
            <p:ph idx="1"/>
          </p:nvPr>
        </p:nvSpPr>
        <p:spPr>
          <a:xfrm>
            <a:off x="1981200" y="1600200"/>
            <a:ext cx="8458200" cy="5105400"/>
          </a:xfrm>
        </p:spPr>
        <p:txBody>
          <a:bodyPr/>
          <a:lstStyle/>
          <a:p>
            <a:r>
              <a:rPr lang="en-US" b="1" dirty="0">
                <a:effectLst>
                  <a:outerShdw blurRad="38100" dist="38100" dir="2700000" algn="tl">
                    <a:srgbClr val="000000">
                      <a:alpha val="43137"/>
                    </a:srgbClr>
                  </a:outerShdw>
                </a:effectLst>
              </a:rPr>
              <a:t>Transmission\spread</a:t>
            </a:r>
          </a:p>
          <a:p>
            <a:pPr marL="0" indent="0">
              <a:buNone/>
            </a:pPr>
            <a:r>
              <a:rPr lang="en-US" dirty="0">
                <a:effectLst>
                  <a:outerShdw blurRad="38100" dist="38100" dir="2700000" algn="tl">
                    <a:srgbClr val="000000">
                      <a:alpha val="43137"/>
                    </a:srgbClr>
                  </a:outerShdw>
                </a:effectLst>
              </a:rPr>
              <a:t>The process of the pathogen(</a:t>
            </a:r>
            <a:r>
              <a:rPr lang="en-US" dirty="0" err="1">
                <a:effectLst>
                  <a:outerShdw blurRad="38100" dist="38100" dir="2700000" algn="tl">
                    <a:srgbClr val="000000">
                      <a:alpha val="43137"/>
                    </a:srgbClr>
                  </a:outerShdw>
                </a:effectLst>
              </a:rPr>
              <a:t>dses</a:t>
            </a:r>
            <a:r>
              <a:rPr lang="en-US" dirty="0">
                <a:effectLst>
                  <a:outerShdw blurRad="38100" dist="38100" dir="2700000" algn="tl">
                    <a:srgbClr val="000000">
                      <a:alpha val="43137"/>
                    </a:srgbClr>
                  </a:outerShdw>
                </a:effectLst>
              </a:rPr>
              <a:t> causing organism) leaving one host and infecting a new host.</a:t>
            </a:r>
          </a:p>
          <a:p>
            <a:pPr marL="0" indent="0">
              <a:buNone/>
            </a:pPr>
            <a:r>
              <a:rPr lang="en-US" dirty="0">
                <a:effectLst>
                  <a:outerShdw blurRad="38100" dist="38100" dir="2700000" algn="tl">
                    <a:srgbClr val="000000">
                      <a:alpha val="43137"/>
                    </a:srgbClr>
                  </a:outerShdw>
                </a:effectLst>
              </a:rPr>
              <a:t>For transmission to be complete two factors are crucial:-</a:t>
            </a:r>
          </a:p>
          <a:p>
            <a:r>
              <a:rPr lang="en-US" dirty="0">
                <a:effectLst>
                  <a:outerShdw blurRad="38100" dist="38100" dir="2700000" algn="tl">
                    <a:srgbClr val="000000">
                      <a:alpha val="43137"/>
                    </a:srgbClr>
                  </a:outerShdw>
                </a:effectLst>
              </a:rPr>
              <a:t>Source of disease</a:t>
            </a:r>
          </a:p>
          <a:p>
            <a:r>
              <a:rPr lang="en-US" dirty="0">
                <a:effectLst>
                  <a:outerShdw blurRad="38100" dist="38100" dir="2700000" algn="tl">
                    <a:srgbClr val="000000">
                      <a:alpha val="43137"/>
                    </a:srgbClr>
                  </a:outerShdw>
                </a:effectLst>
              </a:rPr>
              <a:t>Target population</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11</a:t>
            </a:fld>
            <a:endParaRPr lang="en-US">
              <a:solidFill>
                <a:prstClr val="black">
                  <a:tint val="75000"/>
                </a:prstClr>
              </a:solidFill>
              <a:latin typeface="Calibri"/>
            </a:endParaRPr>
          </a:p>
        </p:txBody>
      </p:sp>
    </p:spTree>
    <p:extLst>
      <p:ext uri="{BB962C8B-B14F-4D97-AF65-F5344CB8AC3E}">
        <p14:creationId xmlns:p14="http://schemas.microsoft.com/office/powerpoint/2010/main" val="561501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C000"/>
                </a:solidFill>
                <a:effectLst>
                  <a:outerShdw blurRad="38100" dist="38100" dir="2700000" algn="tl">
                    <a:srgbClr val="000000">
                      <a:alpha val="43137"/>
                    </a:srgbClr>
                  </a:outerShdw>
                </a:effectLst>
              </a:rPr>
              <a:t>Diseases causing  agents</a:t>
            </a:r>
          </a:p>
        </p:txBody>
      </p:sp>
      <p:sp>
        <p:nvSpPr>
          <p:cNvPr id="3" name="Content Placeholder 2"/>
          <p:cNvSpPr>
            <a:spLocks noGrp="1"/>
          </p:cNvSpPr>
          <p:nvPr>
            <p:ph idx="1"/>
          </p:nvPr>
        </p:nvSpPr>
        <p:spPr/>
        <p:txBody>
          <a:bodyPr>
            <a:normAutofit/>
          </a:bodyPr>
          <a:lstStyle/>
          <a:p>
            <a:r>
              <a:rPr lang="en-US" dirty="0">
                <a:effectLst>
                  <a:outerShdw blurRad="38100" dist="38100" dir="2700000" algn="tl">
                    <a:srgbClr val="000000">
                      <a:alpha val="43137"/>
                    </a:srgbClr>
                  </a:outerShdw>
                </a:effectLst>
              </a:rPr>
              <a:t>The following are the major disease causing agents:-</a:t>
            </a:r>
          </a:p>
          <a:p>
            <a:r>
              <a:rPr lang="en-US" dirty="0">
                <a:effectLst>
                  <a:outerShdw blurRad="38100" dist="38100" dir="2700000" algn="tl">
                    <a:srgbClr val="000000">
                      <a:alpha val="43137"/>
                    </a:srgbClr>
                  </a:outerShdw>
                </a:effectLst>
              </a:rPr>
              <a:t>Bacteria</a:t>
            </a:r>
          </a:p>
          <a:p>
            <a:r>
              <a:rPr lang="en-US" dirty="0">
                <a:effectLst>
                  <a:outerShdw blurRad="38100" dist="38100" dir="2700000" algn="tl">
                    <a:srgbClr val="000000">
                      <a:alpha val="43137"/>
                    </a:srgbClr>
                  </a:outerShdw>
                </a:effectLst>
              </a:rPr>
              <a:t>Parasites</a:t>
            </a:r>
          </a:p>
          <a:p>
            <a:r>
              <a:rPr lang="en-US" dirty="0">
                <a:effectLst>
                  <a:outerShdw blurRad="38100" dist="38100" dir="2700000" algn="tl">
                    <a:srgbClr val="000000">
                      <a:alpha val="43137"/>
                    </a:srgbClr>
                  </a:outerShdw>
                </a:effectLst>
              </a:rPr>
              <a:t>Viruses</a:t>
            </a:r>
          </a:p>
          <a:p>
            <a:r>
              <a:rPr lang="en-US" dirty="0">
                <a:effectLst>
                  <a:outerShdw blurRad="38100" dist="38100" dir="2700000" algn="tl">
                    <a:srgbClr val="000000">
                      <a:alpha val="43137"/>
                    </a:srgbClr>
                  </a:outerShdw>
                </a:effectLst>
              </a:rPr>
              <a:t>Fungi</a:t>
            </a:r>
          </a:p>
          <a:p>
            <a:r>
              <a:rPr lang="en-US" dirty="0">
                <a:effectLst>
                  <a:outerShdw blurRad="38100" dist="38100" dir="2700000" algn="tl">
                    <a:srgbClr val="000000">
                      <a:alpha val="43137"/>
                    </a:srgbClr>
                  </a:outerShdw>
                </a:effectLst>
              </a:rPr>
              <a:t>Chlamydia</a:t>
            </a:r>
          </a:p>
          <a:p>
            <a:r>
              <a:rPr lang="en-US" dirty="0">
                <a:effectLst>
                  <a:outerShdw blurRad="38100" dist="38100" dir="2700000" algn="tl">
                    <a:srgbClr val="000000">
                      <a:alpha val="43137"/>
                    </a:srgbClr>
                  </a:outerShdw>
                </a:effectLst>
              </a:rPr>
              <a:t>Rickettsia</a:t>
            </a:r>
          </a:p>
          <a:p>
            <a:endParaRPr lang="en-US" dirty="0"/>
          </a:p>
          <a:p>
            <a:endParaRPr lang="en-US" dirty="0"/>
          </a:p>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1" y="2743201"/>
            <a:ext cx="942975"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7300" y="3720672"/>
            <a:ext cx="504624" cy="47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12</a:t>
            </a:fld>
            <a:endParaRPr lang="en-US">
              <a:solidFill>
                <a:prstClr val="black">
                  <a:tint val="75000"/>
                </a:prstClr>
              </a:solidFill>
              <a:latin typeface="Calibri"/>
            </a:endParaRPr>
          </a:p>
        </p:txBody>
      </p:sp>
    </p:spTree>
    <p:extLst>
      <p:ext uri="{BB962C8B-B14F-4D97-AF65-F5344CB8AC3E}">
        <p14:creationId xmlns:p14="http://schemas.microsoft.com/office/powerpoint/2010/main" val="2914643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effectLst>
                  <a:outerShdw blurRad="38100" dist="38100" dir="2700000" algn="tl">
                    <a:srgbClr val="000000">
                      <a:alpha val="43137"/>
                    </a:srgbClr>
                  </a:outerShdw>
                </a:effectLst>
              </a:rPr>
              <a:t>Modes of disease transmission</a:t>
            </a:r>
          </a:p>
        </p:txBody>
      </p:sp>
      <p:sp>
        <p:nvSpPr>
          <p:cNvPr id="3" name="Content Placeholder 2"/>
          <p:cNvSpPr>
            <a:spLocks noGrp="1"/>
          </p:cNvSpPr>
          <p:nvPr>
            <p:ph idx="1"/>
          </p:nvPr>
        </p:nvSpPr>
        <p:spPr>
          <a:xfrm>
            <a:off x="1981200" y="1600200"/>
            <a:ext cx="8382000" cy="5029200"/>
          </a:xfrm>
        </p:spPr>
        <p:txBody>
          <a:bodyPr/>
          <a:lstStyle/>
          <a:p>
            <a:r>
              <a:rPr lang="en-US" dirty="0">
                <a:effectLst>
                  <a:outerShdw blurRad="38100" dist="38100" dir="2700000" algn="tl">
                    <a:srgbClr val="000000">
                      <a:alpha val="43137"/>
                    </a:srgbClr>
                  </a:outerShdw>
                </a:effectLst>
              </a:rPr>
              <a:t>Ingestion (through the oral route)</a:t>
            </a:r>
          </a:p>
          <a:p>
            <a:r>
              <a:rPr lang="en-US" dirty="0">
                <a:effectLst>
                  <a:outerShdw blurRad="38100" dist="38100" dir="2700000" algn="tl">
                    <a:srgbClr val="000000">
                      <a:alpha val="43137"/>
                    </a:srgbClr>
                  </a:outerShdw>
                </a:effectLst>
              </a:rPr>
              <a:t>Penetration (due to bleach of the skin or mucosal linings)</a:t>
            </a:r>
          </a:p>
          <a:p>
            <a:r>
              <a:rPr lang="en-US" dirty="0">
                <a:effectLst>
                  <a:outerShdw blurRad="38100" dist="38100" dir="2700000" algn="tl">
                    <a:srgbClr val="000000">
                      <a:alpha val="43137"/>
                    </a:srgbClr>
                  </a:outerShdw>
                </a:effectLst>
              </a:rPr>
              <a:t>Inhalation (through respiratory route)</a:t>
            </a:r>
          </a:p>
          <a:p>
            <a:r>
              <a:rPr lang="en-US" dirty="0">
                <a:effectLst>
                  <a:outerShdw blurRad="38100" dist="38100" dir="2700000" algn="tl">
                    <a:srgbClr val="000000">
                      <a:alpha val="43137"/>
                    </a:srgbClr>
                  </a:outerShdw>
                </a:effectLst>
              </a:rPr>
              <a:t>Conjunctiva (through the eye)</a:t>
            </a:r>
          </a:p>
          <a:p>
            <a:r>
              <a:rPr lang="en-US" dirty="0" err="1">
                <a:effectLst>
                  <a:outerShdw blurRad="38100" dist="38100" dir="2700000" algn="tl">
                    <a:srgbClr val="000000">
                      <a:alpha val="43137"/>
                    </a:srgbClr>
                  </a:outerShdw>
                </a:effectLst>
              </a:rPr>
              <a:t>Urinogenital</a:t>
            </a:r>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Vector borne (aided by vectors)</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13</a:t>
            </a:fld>
            <a:endParaRPr lang="en-US">
              <a:solidFill>
                <a:prstClr val="black">
                  <a:tint val="75000"/>
                </a:prstClr>
              </a:solidFill>
              <a:latin typeface="Calibri"/>
            </a:endParaRPr>
          </a:p>
        </p:txBody>
      </p:sp>
    </p:spTree>
    <p:extLst>
      <p:ext uri="{BB962C8B-B14F-4D97-AF65-F5344CB8AC3E}">
        <p14:creationId xmlns:p14="http://schemas.microsoft.com/office/powerpoint/2010/main" val="3227629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Ingestion</a:t>
            </a:r>
          </a:p>
        </p:txBody>
      </p:sp>
      <p:sp>
        <p:nvSpPr>
          <p:cNvPr id="3" name="Content Placeholder 2"/>
          <p:cNvSpPr>
            <a:spLocks noGrp="1"/>
          </p:cNvSpPr>
          <p:nvPr>
            <p:ph idx="1"/>
          </p:nvPr>
        </p:nvSpPr>
        <p:spPr>
          <a:xfrm>
            <a:off x="1981200" y="1600200"/>
            <a:ext cx="8458200" cy="5105400"/>
          </a:xfrm>
        </p:spPr>
        <p:txBody>
          <a:bodyPr>
            <a:normAutofit/>
          </a:bodyPr>
          <a:lstStyle/>
          <a:p>
            <a:r>
              <a:rPr lang="en-US" dirty="0">
                <a:effectLst>
                  <a:outerShdw blurRad="38100" dist="38100" dir="2700000" algn="tl">
                    <a:srgbClr val="000000">
                      <a:alpha val="43137"/>
                    </a:srgbClr>
                  </a:outerShdw>
                </a:effectLst>
              </a:rPr>
              <a:t>In communities where facilities for safe disposal of </a:t>
            </a:r>
            <a:r>
              <a:rPr lang="en-US" dirty="0" err="1">
                <a:effectLst>
                  <a:outerShdw blurRad="38100" dist="38100" dir="2700000" algn="tl">
                    <a:srgbClr val="000000">
                      <a:alpha val="43137"/>
                    </a:srgbClr>
                  </a:outerShdw>
                </a:effectLst>
              </a:rPr>
              <a:t>faeces</a:t>
            </a:r>
            <a:r>
              <a:rPr lang="en-US" dirty="0">
                <a:effectLst>
                  <a:outerShdw blurRad="38100" dist="38100" dir="2700000" algn="tl">
                    <a:srgbClr val="000000">
                      <a:alpha val="43137"/>
                    </a:srgbClr>
                  </a:outerShdw>
                </a:effectLst>
              </a:rPr>
              <a:t> are inadequate, the major part of the diarrhea diseases burden originates from infected </a:t>
            </a:r>
            <a:r>
              <a:rPr lang="en-US" dirty="0" err="1">
                <a:effectLst>
                  <a:outerShdw blurRad="38100" dist="38100" dir="2700000" algn="tl">
                    <a:srgbClr val="000000">
                      <a:alpha val="43137"/>
                    </a:srgbClr>
                  </a:outerShdw>
                </a:effectLst>
              </a:rPr>
              <a:t>faeces</a:t>
            </a:r>
            <a:r>
              <a:rPr lang="en-US" dirty="0">
                <a:effectLst>
                  <a:outerShdw blurRad="38100" dist="38100" dir="2700000" algn="tl">
                    <a:srgbClr val="000000">
                      <a:alpha val="43137"/>
                    </a:srgbClr>
                  </a:outerShdw>
                </a:effectLst>
              </a:rPr>
              <a:t>.</a:t>
            </a:r>
          </a:p>
          <a:p>
            <a:r>
              <a:rPr lang="en-US" dirty="0">
                <a:effectLst>
                  <a:outerShdw blurRad="38100" dist="38100" dir="2700000" algn="tl">
                    <a:srgbClr val="000000">
                      <a:alpha val="43137"/>
                    </a:srgbClr>
                  </a:outerShdw>
                </a:effectLst>
              </a:rPr>
              <a:t>Infectious agents are transmitted from </a:t>
            </a:r>
            <a:r>
              <a:rPr lang="en-US" dirty="0" err="1">
                <a:effectLst>
                  <a:outerShdw blurRad="38100" dist="38100" dir="2700000" algn="tl">
                    <a:srgbClr val="000000">
                      <a:alpha val="43137"/>
                    </a:srgbClr>
                  </a:outerShdw>
                </a:effectLst>
              </a:rPr>
              <a:t>faeces</a:t>
            </a:r>
            <a:r>
              <a:rPr lang="en-US" dirty="0">
                <a:effectLst>
                  <a:outerShdw blurRad="38100" dist="38100" dir="2700000" algn="tl">
                    <a:srgbClr val="000000">
                      <a:alpha val="43137"/>
                    </a:srgbClr>
                  </a:outerShdw>
                </a:effectLst>
              </a:rPr>
              <a:t> to hands to mouth (which can occur directly or indirectly via other surfaces e.g. toilet surfaces), or by consumption of food or water which has become contaminated with </a:t>
            </a:r>
            <a:r>
              <a:rPr lang="en-US" dirty="0" err="1">
                <a:effectLst>
                  <a:outerShdw blurRad="38100" dist="38100" dir="2700000" algn="tl">
                    <a:srgbClr val="000000">
                      <a:alpha val="43137"/>
                    </a:srgbClr>
                  </a:outerShdw>
                </a:effectLst>
              </a:rPr>
              <a:t>faecal</a:t>
            </a:r>
            <a:r>
              <a:rPr lang="en-US" dirty="0">
                <a:effectLst>
                  <a:outerShdw blurRad="38100" dist="38100" dir="2700000" algn="tl">
                    <a:srgbClr val="000000">
                      <a:alpha val="43137"/>
                    </a:srgbClr>
                  </a:outerShdw>
                </a:effectLst>
              </a:rPr>
              <a:t> organisms.</a:t>
            </a:r>
          </a:p>
          <a:p>
            <a:pPr marL="0" indent="0">
              <a:buNone/>
            </a:pPr>
            <a:endParaRPr lang="en-US" dirty="0"/>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14</a:t>
            </a:fld>
            <a:endParaRPr lang="en-US">
              <a:solidFill>
                <a:prstClr val="black">
                  <a:tint val="75000"/>
                </a:prstClr>
              </a:solidFill>
              <a:latin typeface="Calibri"/>
            </a:endParaRPr>
          </a:p>
        </p:txBody>
      </p:sp>
    </p:spTree>
    <p:extLst>
      <p:ext uri="{BB962C8B-B14F-4D97-AF65-F5344CB8AC3E}">
        <p14:creationId xmlns:p14="http://schemas.microsoft.com/office/powerpoint/2010/main" val="3905487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52400"/>
            <a:ext cx="8229600" cy="685800"/>
          </a:xfrm>
        </p:spPr>
        <p:txBody>
          <a:bodyPr>
            <a:normAutofit fontScale="90000"/>
          </a:bodyPr>
          <a:lstStyle/>
          <a:p>
            <a:r>
              <a:rPr lang="en-US" dirty="0">
                <a:solidFill>
                  <a:srgbClr val="FFC000"/>
                </a:solidFill>
                <a:effectLst>
                  <a:outerShdw blurRad="38100" dist="38100" dir="2700000" algn="tl">
                    <a:srgbClr val="000000">
                      <a:alpha val="43137"/>
                    </a:srgbClr>
                  </a:outerShdw>
                </a:effectLst>
              </a:rPr>
              <a:t>Food and waterborne Disease</a:t>
            </a:r>
          </a:p>
        </p:txBody>
      </p:sp>
      <p:sp>
        <p:nvSpPr>
          <p:cNvPr id="3" name="Content Placeholder 2"/>
          <p:cNvSpPr>
            <a:spLocks noGrp="1"/>
          </p:cNvSpPr>
          <p:nvPr>
            <p:ph idx="1"/>
          </p:nvPr>
        </p:nvSpPr>
        <p:spPr>
          <a:xfrm>
            <a:off x="1600200" y="838200"/>
            <a:ext cx="8991600" cy="5943600"/>
          </a:xfrm>
        </p:spPr>
        <p:txBody>
          <a:bodyPr>
            <a:normAutofit fontScale="92500" lnSpcReduction="10000"/>
          </a:bodyPr>
          <a:lstStyle/>
          <a:p>
            <a:pPr marL="0" indent="0">
              <a:buNone/>
            </a:pPr>
            <a:r>
              <a:rPr lang="en-US" dirty="0">
                <a:effectLst>
                  <a:outerShdw blurRad="38100" dist="38100" dir="2700000" algn="tl">
                    <a:srgbClr val="000000">
                      <a:alpha val="43137"/>
                    </a:srgbClr>
                  </a:outerShdw>
                </a:effectLst>
              </a:rPr>
              <a:t>What is </a:t>
            </a:r>
            <a:r>
              <a:rPr lang="en-US" b="1" dirty="0">
                <a:effectLst>
                  <a:outerShdw blurRad="38100" dist="38100" dir="2700000" algn="tl">
                    <a:srgbClr val="000000">
                      <a:alpha val="43137"/>
                    </a:srgbClr>
                  </a:outerShdw>
                </a:effectLst>
              </a:rPr>
              <a:t>Food and waterborne Disease?</a:t>
            </a:r>
          </a:p>
          <a:p>
            <a:r>
              <a:rPr lang="en-US" b="1" dirty="0">
                <a:solidFill>
                  <a:srgbClr val="FF0000"/>
                </a:solidFill>
                <a:effectLst>
                  <a:outerShdw blurRad="38100" dist="38100" dir="2700000" algn="tl">
                    <a:srgbClr val="000000">
                      <a:alpha val="43137"/>
                    </a:srgbClr>
                  </a:outerShdw>
                </a:effectLst>
              </a:rPr>
              <a:t>Food and waterborne Disease</a:t>
            </a:r>
            <a:r>
              <a:rPr lang="en-US" b="1" dirty="0">
                <a:effectLst>
                  <a:outerShdw blurRad="38100" dist="38100" dir="2700000" algn="tl">
                    <a:srgbClr val="000000">
                      <a:alpha val="43137"/>
                    </a:srgbClr>
                  </a:outerShdw>
                </a:effectLst>
              </a:rPr>
              <a:t> </a:t>
            </a:r>
            <a:r>
              <a:rPr lang="en-US" dirty="0">
                <a:effectLst>
                  <a:outerShdw blurRad="38100" dist="38100" dir="2700000" algn="tl">
                    <a:srgbClr val="000000">
                      <a:alpha val="43137"/>
                    </a:srgbClr>
                  </a:outerShdw>
                </a:effectLst>
              </a:rPr>
              <a:t>is caused by eating contaminated food or impure water.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There are more than 250 kinds of food and waterborne diseases.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Most of these diseases are infections and are caused by bacteria, viruses, or parasites.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Other food and waterborne diseases are caused by toxic chemicals and other harmful substances.</a:t>
            </a:r>
          </a:p>
          <a:p>
            <a:endParaRPr lang="en-US" b="1" dirty="0"/>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15</a:t>
            </a:fld>
            <a:endParaRPr lang="en-US">
              <a:solidFill>
                <a:prstClr val="black">
                  <a:tint val="75000"/>
                </a:prstClr>
              </a:solidFill>
              <a:latin typeface="Calibri"/>
            </a:endParaRPr>
          </a:p>
        </p:txBody>
      </p:sp>
    </p:spTree>
    <p:extLst>
      <p:ext uri="{BB962C8B-B14F-4D97-AF65-F5344CB8AC3E}">
        <p14:creationId xmlns:p14="http://schemas.microsoft.com/office/powerpoint/2010/main" val="1408251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228600"/>
            <a:ext cx="8839200" cy="6477000"/>
          </a:xfrm>
        </p:spPr>
        <p:txBody>
          <a:bodyPr/>
          <a:lstStyle/>
          <a:p>
            <a:r>
              <a:rPr lang="en-US" dirty="0">
                <a:effectLst>
                  <a:outerShdw blurRad="38100" dist="38100" dir="2700000" algn="tl">
                    <a:srgbClr val="000000">
                      <a:alpha val="43137"/>
                    </a:srgbClr>
                  </a:outerShdw>
                </a:effectLst>
              </a:rPr>
              <a:t>Food and water borne diseases have a number of different symptoms. </a:t>
            </a:r>
          </a:p>
          <a:p>
            <a:endParaRPr lang="en-US" dirty="0">
              <a:effectLst>
                <a:outerShdw blurRad="38100" dist="38100" dir="2700000" algn="tl">
                  <a:srgbClr val="000000">
                    <a:alpha val="43137"/>
                  </a:srgbClr>
                </a:outerShdw>
              </a:effectLst>
            </a:endParaRP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However, because the microbe or toxin usually enters the body through the gastrointestinal tract, the first symptoms of disease are commonly nausea, vomiting, abdominal cramps, and diarrhea</a:t>
            </a:r>
          </a:p>
          <a:p>
            <a:endParaRPr lang="en-US" dirty="0"/>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16</a:t>
            </a:fld>
            <a:endParaRPr lang="en-US">
              <a:solidFill>
                <a:prstClr val="black">
                  <a:tint val="75000"/>
                </a:prstClr>
              </a:solidFill>
              <a:latin typeface="Calibri"/>
            </a:endParaRPr>
          </a:p>
        </p:txBody>
      </p:sp>
    </p:spTree>
    <p:extLst>
      <p:ext uri="{BB962C8B-B14F-4D97-AF65-F5344CB8AC3E}">
        <p14:creationId xmlns:p14="http://schemas.microsoft.com/office/powerpoint/2010/main" val="3190228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152400"/>
            <a:ext cx="8229600" cy="838200"/>
          </a:xfrm>
        </p:spPr>
        <p:txBody>
          <a:bodyPr/>
          <a:lstStyle/>
          <a:p>
            <a:r>
              <a:rPr lang="en-US" dirty="0">
                <a:effectLst>
                  <a:outerShdw blurRad="38100" dist="38100" dir="2700000" algn="tl">
                    <a:srgbClr val="000000">
                      <a:alpha val="43137"/>
                    </a:srgbClr>
                  </a:outerShdw>
                </a:effectLst>
              </a:rPr>
              <a:t>Inhalation</a:t>
            </a:r>
          </a:p>
        </p:txBody>
      </p:sp>
      <p:sp>
        <p:nvSpPr>
          <p:cNvPr id="3" name="Content Placeholder 2"/>
          <p:cNvSpPr>
            <a:spLocks noGrp="1"/>
          </p:cNvSpPr>
          <p:nvPr>
            <p:ph idx="1"/>
          </p:nvPr>
        </p:nvSpPr>
        <p:spPr>
          <a:xfrm>
            <a:off x="1676400" y="1143000"/>
            <a:ext cx="8839200" cy="5486400"/>
          </a:xfrm>
        </p:spPr>
        <p:txBody>
          <a:bodyPr>
            <a:normAutofit/>
          </a:bodyPr>
          <a:lstStyle/>
          <a:p>
            <a:r>
              <a:rPr lang="en-US" dirty="0">
                <a:effectLst>
                  <a:outerShdw blurRad="38100" dist="38100" dir="2700000" algn="tl">
                    <a:srgbClr val="000000">
                      <a:alpha val="43137"/>
                    </a:srgbClr>
                  </a:outerShdw>
                </a:effectLst>
              </a:rPr>
              <a:t>Respiratory tract infections such as colds and flu, result either from inhalation of infected mucous droplets, </a:t>
            </a:r>
          </a:p>
          <a:p>
            <a:endParaRPr lang="en-US" dirty="0"/>
          </a:p>
          <a:p>
            <a:r>
              <a:rPr lang="en-US" dirty="0">
                <a:effectLst>
                  <a:outerShdw blurRad="38100" dist="38100" dir="2700000" algn="tl">
                    <a:srgbClr val="000000">
                      <a:alpha val="43137"/>
                    </a:srgbClr>
                  </a:outerShdw>
                </a:effectLst>
              </a:rPr>
              <a:t>or by rubbing the nasal mucosa or the eye with mucous contaminated hands.</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Data now shows that good respiratory hygiene (safe disposal of nasal mucous and hand washing) can reduce the risk of respiratory infections.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6842" y="2133600"/>
            <a:ext cx="2590800" cy="1179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17</a:t>
            </a:fld>
            <a:endParaRPr lang="en-US">
              <a:solidFill>
                <a:prstClr val="black">
                  <a:tint val="75000"/>
                </a:prstClr>
              </a:solidFill>
              <a:latin typeface="Calibri"/>
            </a:endParaRPr>
          </a:p>
        </p:txBody>
      </p:sp>
    </p:spTree>
    <p:extLst>
      <p:ext uri="{BB962C8B-B14F-4D97-AF65-F5344CB8AC3E}">
        <p14:creationId xmlns:p14="http://schemas.microsoft.com/office/powerpoint/2010/main" val="4123811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76200"/>
            <a:ext cx="8229600" cy="838200"/>
          </a:xfrm>
        </p:spPr>
        <p:txBody>
          <a:bodyPr/>
          <a:lstStyle/>
          <a:p>
            <a:r>
              <a:rPr lang="en-US" dirty="0">
                <a:effectLst>
                  <a:outerShdw blurRad="38100" dist="38100" dir="2700000" algn="tl">
                    <a:srgbClr val="000000">
                      <a:alpha val="43137"/>
                    </a:srgbClr>
                  </a:outerShdw>
                </a:effectLst>
              </a:rPr>
              <a:t>Transmission of diseases</a:t>
            </a:r>
          </a:p>
        </p:txBody>
      </p:sp>
      <p:sp>
        <p:nvSpPr>
          <p:cNvPr id="3" name="Content Placeholder 2"/>
          <p:cNvSpPr>
            <a:spLocks noGrp="1"/>
          </p:cNvSpPr>
          <p:nvPr>
            <p:ph idx="1"/>
          </p:nvPr>
        </p:nvSpPr>
        <p:spPr>
          <a:xfrm>
            <a:off x="1524000" y="914400"/>
            <a:ext cx="8991600" cy="5791200"/>
          </a:xfrm>
        </p:spPr>
        <p:txBody>
          <a:bodyPr>
            <a:normAutofit/>
          </a:bodyPr>
          <a:lstStyle/>
          <a:p>
            <a:r>
              <a:rPr lang="en-US" dirty="0">
                <a:effectLst>
                  <a:outerShdw blurRad="38100" dist="38100" dir="2700000" algn="tl">
                    <a:srgbClr val="000000">
                      <a:alpha val="43137"/>
                    </a:srgbClr>
                  </a:outerShdw>
                </a:effectLst>
              </a:rPr>
              <a:t>For intestinal </a:t>
            </a:r>
            <a:r>
              <a:rPr lang="en-US" dirty="0" err="1">
                <a:effectLst>
                  <a:outerShdw blurRad="38100" dist="38100" dir="2700000" algn="tl">
                    <a:srgbClr val="000000">
                      <a:alpha val="43137"/>
                    </a:srgbClr>
                  </a:outerShdw>
                </a:effectLst>
              </a:rPr>
              <a:t>helminths</a:t>
            </a:r>
            <a:r>
              <a:rPr lang="en-US" dirty="0">
                <a:effectLst>
                  <a:outerShdw blurRad="38100" dist="38100" dir="2700000" algn="tl">
                    <a:srgbClr val="000000">
                      <a:alpha val="43137"/>
                    </a:srgbClr>
                  </a:outerShdw>
                </a:effectLst>
              </a:rPr>
              <a:t>, the hands, along with human </a:t>
            </a:r>
            <a:r>
              <a:rPr lang="en-US" dirty="0" err="1">
                <a:effectLst>
                  <a:outerShdw blurRad="38100" dist="38100" dir="2700000" algn="tl">
                    <a:srgbClr val="000000">
                      <a:alpha val="43137"/>
                    </a:srgbClr>
                  </a:outerShdw>
                </a:effectLst>
              </a:rPr>
              <a:t>faeces</a:t>
            </a:r>
            <a:r>
              <a:rPr lang="en-US" dirty="0">
                <a:effectLst>
                  <a:outerShdw blurRad="38100" dist="38100" dir="2700000" algn="tl">
                    <a:srgbClr val="000000">
                      <a:alpha val="43137"/>
                    </a:srgbClr>
                  </a:outerShdw>
                </a:effectLst>
              </a:rPr>
              <a:t>, are the major route for spreading a variety of intestinal </a:t>
            </a:r>
            <a:r>
              <a:rPr lang="en-US" dirty="0" err="1">
                <a:effectLst>
                  <a:outerShdw blurRad="38100" dist="38100" dir="2700000" algn="tl">
                    <a:srgbClr val="000000">
                      <a:alpha val="43137"/>
                    </a:srgbClr>
                  </a:outerShdw>
                </a:effectLst>
              </a:rPr>
              <a:t>helminths</a:t>
            </a:r>
            <a:r>
              <a:rPr lang="en-US" dirty="0">
                <a:effectLst>
                  <a:outerShdw blurRad="38100" dist="38100" dir="2700000" algn="tl">
                    <a:srgbClr val="000000">
                      <a:alpha val="43137"/>
                    </a:srgbClr>
                  </a:outerShdw>
                </a:effectLst>
              </a:rPr>
              <a:t>, which, while they do not necessarily contribute to mortality do contribute significantly to morbidity in children under 15 years of age</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e.g</a:t>
            </a:r>
            <a:r>
              <a:rPr lang="en-US" dirty="0">
                <a:effectLst>
                  <a:outerShdw blurRad="38100" dist="38100" dir="2700000" algn="tl">
                    <a:srgbClr val="000000">
                      <a:alpha val="43137"/>
                    </a:srgbClr>
                  </a:outerShdw>
                </a:effectLst>
              </a:rPr>
              <a:t> of </a:t>
            </a:r>
            <a:r>
              <a:rPr lang="en-US" dirty="0" err="1">
                <a:effectLst>
                  <a:outerShdw blurRad="38100" dist="38100" dir="2700000" algn="tl">
                    <a:srgbClr val="000000">
                      <a:alpha val="43137"/>
                    </a:srgbClr>
                  </a:outerShdw>
                </a:effectLst>
              </a:rPr>
              <a:t>helminths</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Ascaris</a:t>
            </a:r>
            <a:r>
              <a:rPr lang="en-US" dirty="0">
                <a:effectLst>
                  <a:outerShdw blurRad="38100" dist="38100" dir="2700000" algn="tl">
                    <a:srgbClr val="000000">
                      <a:alpha val="43137"/>
                    </a:srgbClr>
                  </a:outerShdw>
                </a:effectLst>
              </a:rPr>
              <a:t> and hookworm)</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8758" y="5181600"/>
            <a:ext cx="287655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18</a:t>
            </a:fld>
            <a:endParaRPr lang="en-US">
              <a:solidFill>
                <a:prstClr val="black">
                  <a:tint val="75000"/>
                </a:prstClr>
              </a:solidFill>
              <a:latin typeface="Calibri"/>
            </a:endParaRPr>
          </a:p>
        </p:txBody>
      </p:sp>
    </p:spTree>
    <p:extLst>
      <p:ext uri="{BB962C8B-B14F-4D97-AF65-F5344CB8AC3E}">
        <p14:creationId xmlns:p14="http://schemas.microsoft.com/office/powerpoint/2010/main" val="3096294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www.infonet-biovision.org/res/res/files/3899.700x600.png"/>
          <p:cNvPicPr>
            <a:picLocks noGrp="1"/>
          </p:cNvPicPr>
          <p:nvPr>
            <p:ph idx="1"/>
          </p:nvPr>
        </p:nvPicPr>
        <p:blipFill>
          <a:blip r:embed="rId2"/>
          <a:srcRect/>
          <a:stretch>
            <a:fillRect/>
          </a:stretch>
        </p:blipFill>
        <p:spPr bwMode="auto">
          <a:xfrm>
            <a:off x="2438400" y="1752600"/>
            <a:ext cx="6934200" cy="44958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Transmission of diseases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0"/>
            <a:ext cx="8229600" cy="1143000"/>
          </a:xfrm>
        </p:spPr>
        <p:txBody>
          <a:bodyPr/>
          <a:lstStyle/>
          <a:p>
            <a:r>
              <a:rPr lang="en-US" dirty="0">
                <a:effectLst>
                  <a:outerShdw blurRad="38100" dist="38100" dir="2700000" algn="tl">
                    <a:srgbClr val="000000">
                      <a:alpha val="43137"/>
                    </a:srgbClr>
                  </a:outerShdw>
                </a:effectLst>
              </a:rPr>
              <a:t>Others</a:t>
            </a:r>
          </a:p>
        </p:txBody>
      </p:sp>
      <p:sp>
        <p:nvSpPr>
          <p:cNvPr id="3" name="Content Placeholder 2"/>
          <p:cNvSpPr>
            <a:spLocks noGrp="1"/>
          </p:cNvSpPr>
          <p:nvPr>
            <p:ph idx="1"/>
          </p:nvPr>
        </p:nvSpPr>
        <p:spPr>
          <a:xfrm>
            <a:off x="1676400" y="1066800"/>
            <a:ext cx="8839200" cy="5562600"/>
          </a:xfrm>
        </p:spPr>
        <p:txBody>
          <a:bodyPr/>
          <a:lstStyle/>
          <a:p>
            <a:r>
              <a:rPr lang="en-US" dirty="0">
                <a:effectLst>
                  <a:outerShdw blurRad="38100" dist="38100" dir="2700000" algn="tl">
                    <a:srgbClr val="000000">
                      <a:alpha val="43137"/>
                    </a:srgbClr>
                  </a:outerShdw>
                </a:effectLst>
              </a:rPr>
              <a:t>For skin and eye infections, the hands are probably the major route of the spread of infection.</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Vectors such as flies also transmit the </a:t>
            </a:r>
            <a:r>
              <a:rPr lang="en-US" dirty="0" err="1">
                <a:effectLst>
                  <a:outerShdw blurRad="38100" dist="38100" dir="2700000" algn="tl">
                    <a:srgbClr val="000000">
                      <a:alpha val="43137"/>
                    </a:srgbClr>
                  </a:outerShdw>
                </a:effectLst>
              </a:rPr>
              <a:t>dses</a:t>
            </a:r>
            <a:r>
              <a:rPr lang="en-US" dirty="0">
                <a:effectLst>
                  <a:outerShdw blurRad="38100" dist="38100" dir="2700000" algn="tl">
                    <a:srgbClr val="000000">
                      <a:alpha val="43137"/>
                    </a:srgbClr>
                  </a:outerShdw>
                </a:effectLst>
              </a:rPr>
              <a:t> causing organisms.</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Trachoma is largely preventable through hygiene (face washing breaks the infection cycle).</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20</a:t>
            </a:fld>
            <a:endParaRPr lang="en-US">
              <a:solidFill>
                <a:prstClr val="black">
                  <a:tint val="75000"/>
                </a:prstClr>
              </a:solidFill>
              <a:latin typeface="Calibri"/>
            </a:endParaRPr>
          </a:p>
        </p:txBody>
      </p:sp>
    </p:spTree>
    <p:extLst>
      <p:ext uri="{BB962C8B-B14F-4D97-AF65-F5344CB8AC3E}">
        <p14:creationId xmlns:p14="http://schemas.microsoft.com/office/powerpoint/2010/main" val="4202239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Transmission of diseases</a:t>
            </a:r>
          </a:p>
        </p:txBody>
      </p:sp>
      <p:sp>
        <p:nvSpPr>
          <p:cNvPr id="3" name="Content Placeholder 2"/>
          <p:cNvSpPr>
            <a:spLocks noGrp="1"/>
          </p:cNvSpPr>
          <p:nvPr>
            <p:ph idx="1"/>
          </p:nvPr>
        </p:nvSpPr>
        <p:spPr/>
        <p:txBody>
          <a:bodyPr>
            <a:normAutofit/>
          </a:bodyPr>
          <a:lstStyle/>
          <a:p>
            <a:r>
              <a:rPr lang="en-US" dirty="0">
                <a:effectLst>
                  <a:outerShdw blurRad="38100" dist="38100" dir="2700000" algn="tl">
                    <a:srgbClr val="000000">
                      <a:alpha val="43137"/>
                    </a:srgbClr>
                  </a:outerShdw>
                </a:effectLst>
              </a:rPr>
              <a:t>Waterborne diseases are caused by pathogenic microbes that can be directly  spread through contaminated water.</a:t>
            </a:r>
          </a:p>
          <a:p>
            <a:r>
              <a:rPr lang="en-US" dirty="0">
                <a:effectLst>
                  <a:outerShdw blurRad="38100" dist="38100" dir="2700000" algn="tl">
                    <a:srgbClr val="000000">
                      <a:alpha val="43137"/>
                    </a:srgbClr>
                  </a:outerShdw>
                </a:effectLst>
              </a:rPr>
              <a:t> Most waterborne diseases cause diarrhea illness.</a:t>
            </a:r>
          </a:p>
          <a:p>
            <a:r>
              <a:rPr lang="en-US" dirty="0">
                <a:effectLst>
                  <a:outerShdw blurRad="38100" dist="38100" dir="2700000" algn="tl">
                    <a:srgbClr val="000000">
                      <a:alpha val="43137"/>
                    </a:srgbClr>
                  </a:outerShdw>
                </a:effectLst>
              </a:rPr>
              <a:t>[Note </a:t>
            </a:r>
            <a:r>
              <a:rPr lang="en-US" b="1" dirty="0">
                <a:effectLst>
                  <a:outerShdw blurRad="38100" dist="38100" dir="2700000" algn="tl">
                    <a:srgbClr val="000000">
                      <a:alpha val="43137"/>
                    </a:srgbClr>
                  </a:outerShdw>
                </a:effectLst>
              </a:rPr>
              <a:t>not all </a:t>
            </a:r>
            <a:r>
              <a:rPr lang="en-US" dirty="0">
                <a:effectLst>
                  <a:outerShdw blurRad="38100" dist="38100" dir="2700000" algn="tl">
                    <a:srgbClr val="000000">
                      <a:alpha val="43137"/>
                    </a:srgbClr>
                  </a:outerShdw>
                </a:effectLst>
              </a:rPr>
              <a:t>diseases listed below cause diarrhea].</a:t>
            </a:r>
          </a:p>
          <a:p>
            <a:r>
              <a:rPr lang="en-US" dirty="0">
                <a:effectLst>
                  <a:outerShdw blurRad="38100" dist="38100" dir="2700000" algn="tl">
                    <a:srgbClr val="000000">
                      <a:alpha val="43137"/>
                    </a:srgbClr>
                  </a:outerShdw>
                </a:effectLst>
              </a:rPr>
              <a:t>Eighty- eight percent of diarrhea causes worldwide are linked to unsafe water, inadequate sanitation or insufficient hygiene.</a:t>
            </a:r>
          </a:p>
          <a:p>
            <a:endParaRPr lang="en-US" dirty="0"/>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21</a:t>
            </a:fld>
            <a:endParaRPr lang="en-US">
              <a:solidFill>
                <a:prstClr val="black">
                  <a:tint val="75000"/>
                </a:prstClr>
              </a:solidFill>
              <a:latin typeface="Calibri"/>
            </a:endParaRPr>
          </a:p>
        </p:txBody>
      </p:sp>
    </p:spTree>
    <p:extLst>
      <p:ext uri="{BB962C8B-B14F-4D97-AF65-F5344CB8AC3E}">
        <p14:creationId xmlns:p14="http://schemas.microsoft.com/office/powerpoint/2010/main" val="3790717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a:xfrm>
            <a:off x="1981200" y="1600200"/>
            <a:ext cx="8229600" cy="4953000"/>
          </a:xfrm>
        </p:spPr>
        <p:txBody>
          <a:bodyPr>
            <a:normAutofit fontScale="92500" lnSpcReduction="20000"/>
          </a:bodyPr>
          <a:lstStyle/>
          <a:p>
            <a:r>
              <a:rPr lang="en-US" dirty="0">
                <a:effectLst>
                  <a:outerShdw blurRad="38100" dist="38100" dir="2700000" algn="tl">
                    <a:srgbClr val="000000">
                      <a:alpha val="43137"/>
                    </a:srgbClr>
                  </a:outerShdw>
                </a:effectLst>
              </a:rPr>
              <a:t>These cases result in 15 million deaths each year, mostly in youth children. The usual cause of death is dehydration.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Most cases of diarrhea illness and death occur in developing countries because of unsafe water, poor sanitation and insufficient hygiene.</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Other waterborne disease do not cause diarrhea, instead these disease can cause malnutrition, skin infections and organ damage. </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22</a:t>
            </a:fld>
            <a:endParaRPr lang="en-US">
              <a:solidFill>
                <a:prstClr val="black">
                  <a:tint val="75000"/>
                </a:prstClr>
              </a:solidFill>
              <a:latin typeface="Calibri"/>
            </a:endParaRPr>
          </a:p>
        </p:txBody>
      </p:sp>
    </p:spTree>
    <p:extLst>
      <p:ext uri="{BB962C8B-B14F-4D97-AF65-F5344CB8AC3E}">
        <p14:creationId xmlns:p14="http://schemas.microsoft.com/office/powerpoint/2010/main" val="2236272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effectLst>
                  <a:outerShdw blurRad="38100" dist="38100" dir="2700000" algn="tl">
                    <a:srgbClr val="000000">
                      <a:alpha val="43137"/>
                    </a:srgbClr>
                  </a:outerShdw>
                </a:effectLst>
              </a:rPr>
              <a:t>Diseases related to poor hygiene</a:t>
            </a:r>
          </a:p>
        </p:txBody>
      </p:sp>
      <p:sp>
        <p:nvSpPr>
          <p:cNvPr id="4" name="Content Placeholder 3"/>
          <p:cNvSpPr>
            <a:spLocks noGrp="1"/>
          </p:cNvSpPr>
          <p:nvPr>
            <p:ph sz="half" idx="2"/>
          </p:nvPr>
        </p:nvSpPr>
        <p:spPr/>
        <p:txBody>
          <a:bodyPr/>
          <a:lstStyle/>
          <a:p>
            <a:r>
              <a:rPr lang="en-US" dirty="0" err="1">
                <a:effectLst>
                  <a:outerShdw blurRad="38100" dist="38100" dir="2700000" algn="tl">
                    <a:srgbClr val="000000">
                      <a:alpha val="43137"/>
                    </a:srgbClr>
                  </a:outerShdw>
                </a:effectLst>
              </a:rPr>
              <a:t>Amebiasis</a:t>
            </a:r>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Campylobacter</a:t>
            </a:r>
          </a:p>
          <a:p>
            <a:r>
              <a:rPr lang="en-US" dirty="0">
                <a:effectLst>
                  <a:outerShdw blurRad="38100" dist="38100" dir="2700000" algn="tl">
                    <a:srgbClr val="000000">
                      <a:alpha val="43137"/>
                    </a:srgbClr>
                  </a:outerShdw>
                </a:effectLst>
              </a:rPr>
              <a:t>Cholera</a:t>
            </a:r>
          </a:p>
          <a:p>
            <a:r>
              <a:rPr lang="en-US" dirty="0">
                <a:effectLst>
                  <a:outerShdw blurRad="38100" dist="38100" dir="2700000" algn="tl">
                    <a:srgbClr val="000000">
                      <a:alpha val="43137"/>
                    </a:srgbClr>
                  </a:outerShdw>
                </a:effectLst>
              </a:rPr>
              <a:t>Cryptosporidiosis</a:t>
            </a:r>
          </a:p>
          <a:p>
            <a:r>
              <a:rPr lang="en-US" dirty="0" err="1">
                <a:effectLst>
                  <a:outerShdw blurRad="38100" dist="38100" dir="2700000" algn="tl">
                    <a:srgbClr val="000000">
                      <a:alpha val="43137"/>
                    </a:srgbClr>
                  </a:outerShdw>
                </a:effectLst>
              </a:rPr>
              <a:t>Cyclosporiasis</a:t>
            </a:r>
            <a:endParaRPr lang="en-US" dirty="0">
              <a:effectLst>
                <a:outerShdw blurRad="38100" dist="38100" dir="2700000" algn="tl">
                  <a:srgbClr val="000000">
                    <a:alpha val="43137"/>
                  </a:srgbClr>
                </a:outerShdw>
              </a:effectLst>
            </a:endParaRPr>
          </a:p>
          <a:p>
            <a:r>
              <a:rPr lang="en-US" dirty="0" err="1">
                <a:effectLst>
                  <a:outerShdw blurRad="38100" dist="38100" dir="2700000" algn="tl">
                    <a:srgbClr val="000000">
                      <a:alpha val="43137"/>
                    </a:srgbClr>
                  </a:outerShdw>
                </a:effectLst>
              </a:rPr>
              <a:t>Dracunculiasis</a:t>
            </a:r>
            <a:r>
              <a:rPr lang="en-US" dirty="0">
                <a:effectLst>
                  <a:outerShdw blurRad="38100" dist="38100" dir="2700000" algn="tl">
                    <a:srgbClr val="000000">
                      <a:alpha val="43137"/>
                    </a:srgbClr>
                  </a:outerShdw>
                </a:effectLst>
              </a:rPr>
              <a:t> (guinea-worm disease)</a:t>
            </a:r>
          </a:p>
          <a:p>
            <a:r>
              <a:rPr lang="en-US" dirty="0">
                <a:effectLst>
                  <a:outerShdw blurRad="38100" dist="38100" dir="2700000" algn="tl">
                    <a:srgbClr val="000000">
                      <a:alpha val="43137"/>
                    </a:srgbClr>
                  </a:outerShdw>
                </a:effectLst>
              </a:rPr>
              <a:t>Escherichia coli</a:t>
            </a:r>
          </a:p>
          <a:p>
            <a:r>
              <a:rPr lang="en-US" dirty="0">
                <a:effectLst>
                  <a:outerShdw blurRad="38100" dist="38100" dir="2700000" algn="tl">
                    <a:srgbClr val="000000">
                      <a:alpha val="43137"/>
                    </a:srgbClr>
                  </a:outerShdw>
                </a:effectLst>
              </a:rPr>
              <a:t>Fascioliasis</a:t>
            </a:r>
          </a:p>
          <a:p>
            <a:endParaRPr lang="en-US" dirty="0"/>
          </a:p>
        </p:txBody>
      </p:sp>
      <p:sp>
        <p:nvSpPr>
          <p:cNvPr id="6" name="Content Placeholder 5"/>
          <p:cNvSpPr>
            <a:spLocks noGrp="1"/>
          </p:cNvSpPr>
          <p:nvPr>
            <p:ph sz="quarter" idx="4"/>
          </p:nvPr>
        </p:nvSpPr>
        <p:spPr/>
        <p:txBody>
          <a:bodyPr/>
          <a:lstStyle/>
          <a:p>
            <a:r>
              <a:rPr lang="en-US" dirty="0">
                <a:effectLst>
                  <a:outerShdw blurRad="38100" dist="38100" dir="2700000" algn="tl">
                    <a:srgbClr val="000000">
                      <a:alpha val="43137"/>
                    </a:srgbClr>
                  </a:outerShdw>
                </a:effectLst>
              </a:rPr>
              <a:t>Giardiasis</a:t>
            </a:r>
          </a:p>
          <a:p>
            <a:r>
              <a:rPr lang="en-US" dirty="0">
                <a:effectLst>
                  <a:outerShdw blurRad="38100" dist="38100" dir="2700000" algn="tl">
                    <a:srgbClr val="000000">
                      <a:alpha val="43137"/>
                    </a:srgbClr>
                  </a:outerShdw>
                </a:effectLst>
              </a:rPr>
              <a:t>Hepatitis</a:t>
            </a:r>
          </a:p>
          <a:p>
            <a:r>
              <a:rPr lang="en-US" dirty="0">
                <a:effectLst>
                  <a:outerShdw blurRad="38100" dist="38100" dir="2700000" algn="tl">
                    <a:srgbClr val="000000">
                      <a:alpha val="43137"/>
                    </a:srgbClr>
                  </a:outerShdw>
                </a:effectLst>
              </a:rPr>
              <a:t>Leptospirosis</a:t>
            </a:r>
          </a:p>
          <a:p>
            <a:r>
              <a:rPr lang="en-US" dirty="0">
                <a:effectLst>
                  <a:outerShdw blurRad="38100" dist="38100" dir="2700000" algn="tl">
                    <a:srgbClr val="000000">
                      <a:alpha val="43137"/>
                    </a:srgbClr>
                  </a:outerShdw>
                </a:effectLst>
              </a:rPr>
              <a:t>Rotavirus</a:t>
            </a:r>
          </a:p>
          <a:p>
            <a:r>
              <a:rPr lang="en-US" dirty="0">
                <a:effectLst>
                  <a:outerShdw blurRad="38100" dist="38100" dir="2700000" algn="tl">
                    <a:srgbClr val="000000">
                      <a:alpha val="43137"/>
                    </a:srgbClr>
                  </a:outerShdw>
                </a:effectLst>
              </a:rPr>
              <a:t>Salmonella</a:t>
            </a:r>
          </a:p>
          <a:p>
            <a:r>
              <a:rPr lang="en-US" dirty="0">
                <a:effectLst>
                  <a:outerShdw blurRad="38100" dist="38100" dir="2700000" algn="tl">
                    <a:srgbClr val="000000">
                      <a:alpha val="43137"/>
                    </a:srgbClr>
                  </a:outerShdw>
                </a:effectLst>
              </a:rPr>
              <a:t>Schistosomiasis</a:t>
            </a:r>
          </a:p>
          <a:p>
            <a:r>
              <a:rPr lang="en-US" dirty="0">
                <a:effectLst>
                  <a:outerShdw blurRad="38100" dist="38100" dir="2700000" algn="tl">
                    <a:srgbClr val="000000">
                      <a:alpha val="43137"/>
                    </a:srgbClr>
                  </a:outerShdw>
                </a:effectLst>
              </a:rPr>
              <a:t>Shigellosis</a:t>
            </a:r>
          </a:p>
          <a:p>
            <a:r>
              <a:rPr lang="en-US" dirty="0">
                <a:effectLst>
                  <a:outerShdw blurRad="38100" dist="38100" dir="2700000" algn="tl">
                    <a:srgbClr val="000000">
                      <a:alpha val="43137"/>
                    </a:srgbClr>
                  </a:outerShdw>
                </a:effectLst>
              </a:rPr>
              <a:t>Typhoid Fever</a:t>
            </a:r>
          </a:p>
          <a:p>
            <a:endParaRPr lang="en-US" dirty="0">
              <a:effectLst>
                <a:outerShdw blurRad="38100" dist="38100" dir="2700000" algn="tl">
                  <a:srgbClr val="000000">
                    <a:alpha val="43137"/>
                  </a:srgbClr>
                </a:outerShdw>
              </a:effectLst>
            </a:endParaRPr>
          </a:p>
        </p:txBody>
      </p:sp>
      <p:sp>
        <p:nvSpPr>
          <p:cNvPr id="3" name="Footer Placeholder 2"/>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23</a:t>
            </a:fld>
            <a:endParaRPr lang="en-US">
              <a:solidFill>
                <a:prstClr val="black">
                  <a:tint val="75000"/>
                </a:prstClr>
              </a:solidFill>
              <a:latin typeface="Calibri"/>
            </a:endParaRPr>
          </a:p>
        </p:txBody>
      </p:sp>
    </p:spTree>
    <p:extLst>
      <p:ext uri="{BB962C8B-B14F-4D97-AF65-F5344CB8AC3E}">
        <p14:creationId xmlns:p14="http://schemas.microsoft.com/office/powerpoint/2010/main" val="34673016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effectLst>
                  <a:outerShdw blurRad="38100" dist="38100" dir="2700000" algn="tl">
                    <a:srgbClr val="000000">
                      <a:alpha val="43137"/>
                    </a:srgbClr>
                  </a:outerShdw>
                </a:effectLst>
              </a:rPr>
              <a:t>Prevention and control of diseases</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effectLst>
                  <a:outerShdw blurRad="38100" dist="38100" dir="2700000" algn="tl">
                    <a:srgbClr val="000000">
                      <a:alpha val="43137"/>
                    </a:srgbClr>
                  </a:outerShdw>
                </a:effectLst>
              </a:rPr>
              <a:t>This needs understanding of how infectious diseases are transmitted, and prioritizing practices which carry the greatest risk.</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Breaking the chain of </a:t>
            </a:r>
            <a:r>
              <a:rPr lang="en-US" dirty="0" err="1">
                <a:effectLst>
                  <a:outerShdw blurRad="38100" dist="38100" dir="2700000" algn="tl">
                    <a:srgbClr val="000000">
                      <a:alpha val="43137"/>
                    </a:srgbClr>
                  </a:outerShdw>
                </a:effectLst>
              </a:rPr>
              <a:t>faecal</a:t>
            </a:r>
            <a:r>
              <a:rPr lang="en-US" dirty="0">
                <a:effectLst>
                  <a:outerShdw blurRad="38100" dist="38100" dir="2700000" algn="tl">
                    <a:srgbClr val="000000">
                      <a:alpha val="43137"/>
                    </a:srgbClr>
                  </a:outerShdw>
                </a:effectLst>
              </a:rPr>
              <a:t>-oral transmission is achieved by a combination of improved sanitation and good hygiene practices.</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24</a:t>
            </a:fld>
            <a:endParaRPr lang="en-US">
              <a:solidFill>
                <a:prstClr val="black">
                  <a:tint val="75000"/>
                </a:prstClr>
              </a:solidFill>
              <a:latin typeface="Calibri"/>
            </a:endParaRPr>
          </a:p>
        </p:txBody>
      </p:sp>
    </p:spTree>
    <p:extLst>
      <p:ext uri="{BB962C8B-B14F-4D97-AF65-F5344CB8AC3E}">
        <p14:creationId xmlns:p14="http://schemas.microsoft.com/office/powerpoint/2010/main" val="696156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152400"/>
            <a:ext cx="8229600" cy="868362"/>
          </a:xfrm>
        </p:spPr>
        <p:txBody>
          <a:bodyPr/>
          <a:lstStyle/>
          <a:p>
            <a:r>
              <a:rPr lang="en-US" dirty="0">
                <a:solidFill>
                  <a:srgbClr val="7030A0"/>
                </a:solidFill>
                <a:effectLst>
                  <a:outerShdw blurRad="38100" dist="38100" dir="2700000" algn="tl">
                    <a:srgbClr val="000000">
                      <a:alpha val="43137"/>
                    </a:srgbClr>
                  </a:outerShdw>
                </a:effectLst>
              </a:rPr>
              <a:t>Medical hygiene practices</a:t>
            </a:r>
          </a:p>
        </p:txBody>
      </p:sp>
      <p:sp>
        <p:nvSpPr>
          <p:cNvPr id="3" name="Content Placeholder 2"/>
          <p:cNvSpPr>
            <a:spLocks noGrp="1"/>
          </p:cNvSpPr>
          <p:nvPr>
            <p:ph idx="1"/>
          </p:nvPr>
        </p:nvSpPr>
        <p:spPr>
          <a:xfrm>
            <a:off x="1676400" y="1066800"/>
            <a:ext cx="8763000" cy="5638800"/>
          </a:xfrm>
        </p:spPr>
        <p:txBody>
          <a:bodyPr>
            <a:normAutofit fontScale="92500" lnSpcReduction="20000"/>
          </a:bodyPr>
          <a:lstStyle/>
          <a:p>
            <a:pPr marL="0" indent="0">
              <a:buNone/>
            </a:pPr>
            <a:r>
              <a:rPr lang="en-US" dirty="0">
                <a:effectLst>
                  <a:outerShdw blurRad="38100" dist="38100" dir="2700000" algn="tl">
                    <a:srgbClr val="000000">
                      <a:alpha val="43137"/>
                    </a:srgbClr>
                  </a:outerShdw>
                </a:effectLst>
              </a:rPr>
              <a:t>Include:</a:t>
            </a:r>
          </a:p>
          <a:p>
            <a:r>
              <a:rPr lang="en-US" dirty="0">
                <a:effectLst>
                  <a:outerShdw blurRad="38100" dist="38100" dir="2700000" algn="tl">
                    <a:srgbClr val="000000">
                      <a:alpha val="43137"/>
                    </a:srgbClr>
                  </a:outerShdw>
                </a:effectLst>
              </a:rPr>
              <a:t>Insolation or quarantine of infectious persons or materials to prevent spread of infection.</a:t>
            </a:r>
          </a:p>
          <a:p>
            <a:r>
              <a:rPr lang="en-US" dirty="0">
                <a:effectLst>
                  <a:outerShdw blurRad="38100" dist="38100" dir="2700000" algn="tl">
                    <a:srgbClr val="000000">
                      <a:alpha val="43137"/>
                    </a:srgbClr>
                  </a:outerShdw>
                </a:effectLst>
              </a:rPr>
              <a:t>Sterilization of instruments used in surgical procedures.</a:t>
            </a:r>
          </a:p>
          <a:p>
            <a:r>
              <a:rPr lang="en-US" dirty="0">
                <a:effectLst>
                  <a:outerShdw blurRad="38100" dist="38100" dir="2700000" algn="tl">
                    <a:srgbClr val="000000">
                      <a:alpha val="43137"/>
                    </a:srgbClr>
                  </a:outerShdw>
                </a:effectLst>
              </a:rPr>
              <a:t>Use of protective clothing and barriers, such as mask, gowns, caps, eyewear and gloves.</a:t>
            </a:r>
          </a:p>
          <a:p>
            <a:r>
              <a:rPr lang="en-US" dirty="0">
                <a:effectLst>
                  <a:outerShdw blurRad="38100" dist="38100" dir="2700000" algn="tl">
                    <a:srgbClr val="000000">
                      <a:alpha val="43137"/>
                    </a:srgbClr>
                  </a:outerShdw>
                </a:effectLst>
              </a:rPr>
              <a:t>Proper bandaging and dressing of injuries.</a:t>
            </a:r>
          </a:p>
          <a:p>
            <a:r>
              <a:rPr lang="en-US" dirty="0">
                <a:effectLst>
                  <a:outerShdw blurRad="38100" dist="38100" dir="2700000" algn="tl">
                    <a:srgbClr val="000000">
                      <a:alpha val="43137"/>
                    </a:srgbClr>
                  </a:outerShdw>
                </a:effectLst>
              </a:rPr>
              <a:t>Safe disposal of medical waste.</a:t>
            </a:r>
          </a:p>
          <a:p>
            <a:r>
              <a:rPr lang="en-US" dirty="0">
                <a:effectLst>
                  <a:outerShdw blurRad="38100" dist="38100" dir="2700000" algn="tl">
                    <a:srgbClr val="000000">
                      <a:alpha val="43137"/>
                    </a:srgbClr>
                  </a:outerShdw>
                </a:effectLst>
              </a:rPr>
              <a:t>Disinfection of reusable (i.e. linen, pads, uniforms)</a:t>
            </a:r>
          </a:p>
          <a:p>
            <a:r>
              <a:rPr lang="en-US" dirty="0">
                <a:effectLst>
                  <a:outerShdw blurRad="38100" dist="38100" dir="2700000" algn="tl">
                    <a:srgbClr val="000000">
                      <a:alpha val="43137"/>
                    </a:srgbClr>
                  </a:outerShdw>
                </a:effectLst>
              </a:rPr>
              <a:t>Scrubbing up, hand-washing, especially in an operating room, but in more general health-care settings as well, where diseases can be transmitted</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25</a:t>
            </a:fld>
            <a:endParaRPr lang="en-US">
              <a:solidFill>
                <a:prstClr val="black">
                  <a:tint val="75000"/>
                </a:prstClr>
              </a:solidFill>
              <a:latin typeface="Calibri"/>
            </a:endParaRPr>
          </a:p>
        </p:txBody>
      </p:sp>
    </p:spTree>
    <p:extLst>
      <p:ext uri="{BB962C8B-B14F-4D97-AF65-F5344CB8AC3E}">
        <p14:creationId xmlns:p14="http://schemas.microsoft.com/office/powerpoint/2010/main" val="1137320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Respiratory hygiene</a:t>
            </a:r>
          </a:p>
        </p:txBody>
      </p:sp>
      <p:sp>
        <p:nvSpPr>
          <p:cNvPr id="3" name="Content Placeholder 2"/>
          <p:cNvSpPr>
            <a:spLocks noGrp="1"/>
          </p:cNvSpPr>
          <p:nvPr>
            <p:ph idx="1"/>
          </p:nvPr>
        </p:nvSpPr>
        <p:spPr>
          <a:xfrm>
            <a:off x="1676400" y="1447800"/>
            <a:ext cx="8839200" cy="5257800"/>
          </a:xfrm>
        </p:spPr>
        <p:txBody>
          <a:bodyPr>
            <a:normAutofit fontScale="92500" lnSpcReduction="10000"/>
          </a:bodyPr>
          <a:lstStyle/>
          <a:p>
            <a:pPr marL="0" indent="0">
              <a:buNone/>
            </a:pPr>
            <a:r>
              <a:rPr lang="en-US" dirty="0">
                <a:effectLst>
                  <a:outerShdw blurRad="38100" dist="38100" dir="2700000" algn="tl">
                    <a:srgbClr val="000000">
                      <a:alpha val="43137"/>
                    </a:srgbClr>
                  </a:outerShdw>
                </a:effectLst>
              </a:rPr>
              <a:t>Correct respiratory and hand hygiene when coughing and sneezing reduces the spread of germs particularly during the cold and flu season.</a:t>
            </a:r>
          </a:p>
          <a:p>
            <a:pPr marL="0" indent="0">
              <a:buNone/>
            </a:pPr>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Carry tissues and use them to catch coughs and sneezes</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Disposal of tissues as soon as possible</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Clean your hands by hand washing or using an alcohol hand sanitizer</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26</a:t>
            </a:fld>
            <a:endParaRPr lang="en-US">
              <a:solidFill>
                <a:prstClr val="black">
                  <a:tint val="75000"/>
                </a:prstClr>
              </a:solidFill>
              <a:latin typeface="Calibri"/>
            </a:endParaRPr>
          </a:p>
        </p:txBody>
      </p:sp>
    </p:spTree>
    <p:extLst>
      <p:ext uri="{BB962C8B-B14F-4D97-AF65-F5344CB8AC3E}">
        <p14:creationId xmlns:p14="http://schemas.microsoft.com/office/powerpoint/2010/main" val="5575131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792162"/>
          </a:xfrm>
        </p:spPr>
        <p:txBody>
          <a:bodyPr/>
          <a:lstStyle/>
          <a:p>
            <a:r>
              <a:rPr lang="en-US" dirty="0">
                <a:solidFill>
                  <a:srgbClr val="FFC000"/>
                </a:solidFill>
                <a:effectLst>
                  <a:outerShdw blurRad="38100" dist="38100" dir="2700000" algn="tl">
                    <a:srgbClr val="000000">
                      <a:alpha val="43137"/>
                    </a:srgbClr>
                  </a:outerShdw>
                </a:effectLst>
              </a:rPr>
              <a:t>Food hygiene at home </a:t>
            </a:r>
          </a:p>
        </p:txBody>
      </p:sp>
      <p:sp>
        <p:nvSpPr>
          <p:cNvPr id="3" name="Content Placeholder 2"/>
          <p:cNvSpPr>
            <a:spLocks noGrp="1"/>
          </p:cNvSpPr>
          <p:nvPr>
            <p:ph idx="1"/>
          </p:nvPr>
        </p:nvSpPr>
        <p:spPr>
          <a:xfrm>
            <a:off x="1676400" y="838200"/>
            <a:ext cx="8839200" cy="5867400"/>
          </a:xfrm>
        </p:spPr>
        <p:txBody>
          <a:bodyPr>
            <a:normAutofit fontScale="92500" lnSpcReduction="10000"/>
          </a:bodyPr>
          <a:lstStyle/>
          <a:p>
            <a:r>
              <a:rPr lang="en-US" dirty="0">
                <a:effectLst>
                  <a:outerShdw blurRad="38100" dist="38100" dir="2700000" algn="tl">
                    <a:srgbClr val="000000">
                      <a:alpha val="43137"/>
                    </a:srgbClr>
                  </a:outerShdw>
                </a:effectLst>
              </a:rPr>
              <a:t>Food hygiene is concerned with the hygiene practices that prevent food poisoning.  </a:t>
            </a:r>
          </a:p>
          <a:p>
            <a:r>
              <a:rPr lang="en-US" dirty="0">
                <a:effectLst>
                  <a:outerShdw blurRad="38100" dist="38100" dir="2700000" algn="tl">
                    <a:srgbClr val="000000">
                      <a:alpha val="43137"/>
                    </a:srgbClr>
                  </a:outerShdw>
                </a:effectLst>
              </a:rPr>
              <a:t>The five key principles of food hygiene according to WHO are.</a:t>
            </a:r>
          </a:p>
          <a:p>
            <a:r>
              <a:rPr lang="en-US" dirty="0">
                <a:effectLst>
                  <a:outerShdw blurRad="38100" dist="38100" dir="2700000" algn="tl">
                    <a:srgbClr val="000000">
                      <a:alpha val="43137"/>
                    </a:srgbClr>
                  </a:outerShdw>
                </a:effectLst>
              </a:rPr>
              <a:t>Prevent contaminating food with pathogen spreading from people, pets and pests.</a:t>
            </a:r>
          </a:p>
          <a:p>
            <a:r>
              <a:rPr lang="en-US" dirty="0">
                <a:effectLst>
                  <a:outerShdw blurRad="38100" dist="38100" dir="2700000" algn="tl">
                    <a:srgbClr val="000000">
                      <a:alpha val="43137"/>
                    </a:srgbClr>
                  </a:outerShdw>
                </a:effectLst>
              </a:rPr>
              <a:t>Separate raw and cooked foods to prevent contaminating the cooked foods.</a:t>
            </a:r>
          </a:p>
          <a:p>
            <a:r>
              <a:rPr lang="en-US" dirty="0">
                <a:effectLst>
                  <a:outerShdw blurRad="38100" dist="38100" dir="2700000" algn="tl">
                    <a:srgbClr val="000000">
                      <a:alpha val="43137"/>
                    </a:srgbClr>
                  </a:outerShdw>
                </a:effectLst>
              </a:rPr>
              <a:t>Cook foods for the appropriate length of time and at the appropriate temperature to kill  pathogens.</a:t>
            </a:r>
          </a:p>
          <a:p>
            <a:r>
              <a:rPr lang="en-US" dirty="0">
                <a:effectLst>
                  <a:outerShdw blurRad="38100" dist="38100" dir="2700000" algn="tl">
                    <a:srgbClr val="000000">
                      <a:alpha val="43137"/>
                    </a:srgbClr>
                  </a:outerShdw>
                </a:effectLst>
              </a:rPr>
              <a:t>Store foods at the proper temperature.</a:t>
            </a:r>
          </a:p>
          <a:p>
            <a:r>
              <a:rPr lang="en-US" dirty="0">
                <a:effectLst>
                  <a:outerShdw blurRad="38100" dist="38100" dir="2700000" algn="tl">
                    <a:srgbClr val="000000">
                      <a:alpha val="43137"/>
                    </a:srgbClr>
                  </a:outerShdw>
                </a:effectLst>
              </a:rPr>
              <a:t>Use safe and raw materials.</a:t>
            </a:r>
          </a:p>
          <a:p>
            <a:pPr marL="0" indent="0">
              <a:buNone/>
            </a:pPr>
            <a:endParaRPr lang="en-US" dirty="0"/>
          </a:p>
          <a:p>
            <a:endParaRPr lang="en-US" dirty="0"/>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27</a:t>
            </a:fld>
            <a:endParaRPr lang="en-US">
              <a:solidFill>
                <a:prstClr val="black">
                  <a:tint val="75000"/>
                </a:prstClr>
              </a:solidFill>
              <a:latin typeface="Calibri"/>
            </a:endParaRPr>
          </a:p>
        </p:txBody>
      </p:sp>
    </p:spTree>
    <p:extLst>
      <p:ext uri="{BB962C8B-B14F-4D97-AF65-F5344CB8AC3E}">
        <p14:creationId xmlns:p14="http://schemas.microsoft.com/office/powerpoint/2010/main" val="15894564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4707" y="0"/>
            <a:ext cx="8610600" cy="838200"/>
          </a:xfrm>
        </p:spPr>
        <p:txBody>
          <a:bodyPr>
            <a:normAutofit/>
          </a:bodyPr>
          <a:lstStyle/>
          <a:p>
            <a:r>
              <a:rPr lang="en-US" sz="2800" dirty="0">
                <a:solidFill>
                  <a:srgbClr val="FFC000"/>
                </a:solidFill>
                <a:effectLst>
                  <a:outerShdw blurRad="38100" dist="38100" dir="2700000" algn="tl">
                    <a:srgbClr val="000000">
                      <a:alpha val="43137"/>
                    </a:srgbClr>
                  </a:outerShdw>
                </a:effectLst>
              </a:rPr>
              <a:t>Household water treatment and safe storage</a:t>
            </a:r>
          </a:p>
        </p:txBody>
      </p:sp>
      <p:sp>
        <p:nvSpPr>
          <p:cNvPr id="3" name="Content Placeholder 2"/>
          <p:cNvSpPr>
            <a:spLocks noGrp="1"/>
          </p:cNvSpPr>
          <p:nvPr>
            <p:ph idx="1"/>
          </p:nvPr>
        </p:nvSpPr>
        <p:spPr>
          <a:xfrm>
            <a:off x="1676400" y="838200"/>
            <a:ext cx="8839200" cy="5867400"/>
          </a:xfrm>
        </p:spPr>
        <p:txBody>
          <a:bodyPr>
            <a:normAutofit/>
          </a:bodyPr>
          <a:lstStyle/>
          <a:p>
            <a:r>
              <a:rPr lang="en-US" dirty="0">
                <a:effectLst>
                  <a:outerShdw blurRad="38100" dist="38100" dir="2700000" algn="tl">
                    <a:srgbClr val="000000">
                      <a:alpha val="43137"/>
                    </a:srgbClr>
                  </a:outerShdw>
                </a:effectLst>
              </a:rPr>
              <a:t>Household water treatment and safe storage ensure drinking water is safe for consumption.</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Drinking water quality remains a significant problem not only in developing countries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but also in developed countries even in the European region it is estimated that 120 million people do not have access to safe drinking water</a:t>
            </a:r>
            <a:r>
              <a:rPr lang="en-US" dirty="0"/>
              <a:t>.</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28</a:t>
            </a:fld>
            <a:endParaRPr lang="en-US">
              <a:solidFill>
                <a:prstClr val="black">
                  <a:tint val="75000"/>
                </a:prstClr>
              </a:solidFill>
              <a:latin typeface="Calibri"/>
            </a:endParaRPr>
          </a:p>
        </p:txBody>
      </p:sp>
    </p:spTree>
    <p:extLst>
      <p:ext uri="{BB962C8B-B14F-4D97-AF65-F5344CB8AC3E}">
        <p14:creationId xmlns:p14="http://schemas.microsoft.com/office/powerpoint/2010/main" val="12980607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5000" y="457200"/>
            <a:ext cx="8610600" cy="6248400"/>
          </a:xfrm>
        </p:spPr>
        <p:txBody>
          <a:bodyPr>
            <a:normAutofit lnSpcReduction="10000"/>
          </a:bodyPr>
          <a:lstStyle/>
          <a:p>
            <a:r>
              <a:rPr lang="en-US" dirty="0">
                <a:effectLst>
                  <a:outerShdw blurRad="38100" dist="38100" dir="2700000" algn="tl">
                    <a:srgbClr val="000000">
                      <a:alpha val="43137"/>
                    </a:srgbClr>
                  </a:outerShdw>
                </a:effectLst>
              </a:rPr>
              <a:t>Point-of-use water quality interventions can reduce diarrhea disease in communities where water quality is poor or in emergency situations where there is a breakdown in water supply.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Since water can become contaminated during storage at home (e.g. by contact with contaminated hands or using dirty storage vessels).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Safe storage of water in the home is also important.</a:t>
            </a:r>
          </a:p>
          <a:p>
            <a:endParaRPr lang="en-US" dirty="0"/>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29</a:t>
            </a:fld>
            <a:endParaRPr lang="en-US">
              <a:solidFill>
                <a:prstClr val="black">
                  <a:tint val="75000"/>
                </a:prstClr>
              </a:solidFill>
              <a:latin typeface="Calibri"/>
            </a:endParaRPr>
          </a:p>
        </p:txBody>
      </p:sp>
    </p:spTree>
    <p:extLst>
      <p:ext uri="{BB962C8B-B14F-4D97-AF65-F5344CB8AC3E}">
        <p14:creationId xmlns:p14="http://schemas.microsoft.com/office/powerpoint/2010/main" val="40861265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11162"/>
          </a:xfrm>
        </p:spPr>
        <p:txBody>
          <a:bodyPr>
            <a:normAutofit fontScale="90000"/>
          </a:bodyPr>
          <a:lstStyle/>
          <a:p>
            <a:r>
              <a:rPr lang="en-US" dirty="0" err="1">
                <a:effectLst>
                  <a:outerShdw blurRad="38100" dist="38100" dir="2700000" algn="tl">
                    <a:srgbClr val="000000">
                      <a:alpha val="43137"/>
                    </a:srgbClr>
                  </a:outerShdw>
                </a:effectLst>
              </a:rPr>
              <a:t>Cont</a:t>
            </a:r>
            <a:r>
              <a:rPr lang="en-US" dirty="0">
                <a:effectLst>
                  <a:outerShdw blurRad="38100" dist="38100" dir="2700000" algn="tl">
                    <a:srgbClr val="000000">
                      <a:alpha val="43137"/>
                    </a:srgbClr>
                  </a:outerShdw>
                </a:effectLst>
              </a:rPr>
              <a:t>…</a:t>
            </a:r>
          </a:p>
        </p:txBody>
      </p:sp>
      <p:sp>
        <p:nvSpPr>
          <p:cNvPr id="3" name="Content Placeholder 2"/>
          <p:cNvSpPr>
            <a:spLocks noGrp="1"/>
          </p:cNvSpPr>
          <p:nvPr>
            <p:ph idx="1"/>
          </p:nvPr>
        </p:nvSpPr>
        <p:spPr>
          <a:xfrm>
            <a:off x="1752600" y="838200"/>
            <a:ext cx="8686800" cy="5791200"/>
          </a:xfrm>
        </p:spPr>
        <p:txBody>
          <a:bodyPr>
            <a:normAutofit lnSpcReduction="10000"/>
          </a:bodyPr>
          <a:lstStyle/>
          <a:p>
            <a:pPr marL="0" indent="0">
              <a:buNone/>
            </a:pPr>
            <a:r>
              <a:rPr lang="en-US" dirty="0">
                <a:effectLst>
                  <a:outerShdw blurRad="38100" dist="38100" dir="2700000" algn="tl">
                    <a:srgbClr val="000000">
                      <a:alpha val="43137"/>
                    </a:srgbClr>
                  </a:outerShdw>
                </a:effectLst>
              </a:rPr>
              <a:t>Methods for treatment of drinking water, include:</a:t>
            </a:r>
          </a:p>
          <a:p>
            <a:r>
              <a:rPr lang="en-US" dirty="0">
                <a:effectLst>
                  <a:outerShdw blurRad="38100" dist="38100" dir="2700000" algn="tl">
                    <a:srgbClr val="000000">
                      <a:alpha val="43137"/>
                    </a:srgbClr>
                  </a:outerShdw>
                </a:effectLst>
              </a:rPr>
              <a:t>Chemical disinfection using chlorine or iodine.</a:t>
            </a:r>
          </a:p>
          <a:p>
            <a:r>
              <a:rPr lang="en-US" dirty="0">
                <a:effectLst>
                  <a:outerShdw blurRad="38100" dist="38100" dir="2700000" algn="tl">
                    <a:srgbClr val="000000">
                      <a:alpha val="43137"/>
                    </a:srgbClr>
                  </a:outerShdw>
                </a:effectLst>
              </a:rPr>
              <a:t>Boiling </a:t>
            </a:r>
          </a:p>
          <a:p>
            <a:r>
              <a:rPr lang="en-US" dirty="0">
                <a:effectLst>
                  <a:outerShdw blurRad="38100" dist="38100" dir="2700000" algn="tl">
                    <a:srgbClr val="000000">
                      <a:alpha val="43137"/>
                    </a:srgbClr>
                  </a:outerShdw>
                </a:effectLst>
              </a:rPr>
              <a:t>Filtration using ceramics filters</a:t>
            </a:r>
          </a:p>
          <a:p>
            <a:r>
              <a:rPr lang="en-US" dirty="0">
                <a:effectLst>
                  <a:outerShdw blurRad="38100" dist="38100" dir="2700000" algn="tl">
                    <a:srgbClr val="000000">
                      <a:alpha val="43137"/>
                    </a:srgbClr>
                  </a:outerShdw>
                </a:effectLst>
              </a:rPr>
              <a:t>Solar disinfection-solar disinfection is an effective method, especially when no chemical disinfectants are available.</a:t>
            </a:r>
          </a:p>
          <a:p>
            <a:r>
              <a:rPr lang="en-US" dirty="0">
                <a:effectLst>
                  <a:outerShdw blurRad="38100" dist="38100" dir="2700000" algn="tl">
                    <a:srgbClr val="000000">
                      <a:alpha val="43137"/>
                    </a:srgbClr>
                  </a:outerShdw>
                </a:effectLst>
              </a:rPr>
              <a:t>UV irradiation-community or household UV systems may be batch or flow-though. The lamps can be suspended above the water channel or submerged in the water flow.</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30</a:t>
            </a:fld>
            <a:endParaRPr lang="en-US">
              <a:solidFill>
                <a:prstClr val="black">
                  <a:tint val="75000"/>
                </a:prstClr>
              </a:solidFill>
              <a:latin typeface="Calibri"/>
            </a:endParaRPr>
          </a:p>
        </p:txBody>
      </p:sp>
    </p:spTree>
    <p:extLst>
      <p:ext uri="{BB962C8B-B14F-4D97-AF65-F5344CB8AC3E}">
        <p14:creationId xmlns:p14="http://schemas.microsoft.com/office/powerpoint/2010/main" val="29947498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077200" cy="990600"/>
          </a:xfrm>
        </p:spPr>
        <p:txBody>
          <a:bodyPr/>
          <a:lstStyle/>
          <a:p>
            <a:r>
              <a:rPr lang="en-US" dirty="0" err="1">
                <a:effectLst>
                  <a:outerShdw blurRad="38100" dist="38100" dir="2700000" algn="tl">
                    <a:srgbClr val="000000">
                      <a:alpha val="43137"/>
                    </a:srgbClr>
                  </a:outerShdw>
                </a:effectLst>
              </a:rPr>
              <a:t>Cont</a:t>
            </a:r>
            <a:r>
              <a:rPr lang="en-US" dirty="0">
                <a:effectLst>
                  <a:outerShdw blurRad="38100" dist="38100" dir="2700000" algn="tl">
                    <a:srgbClr val="000000">
                      <a:alpha val="43137"/>
                    </a:srgbClr>
                  </a:outerShdw>
                </a:effectLst>
              </a:rPr>
              <a:t>…</a:t>
            </a:r>
          </a:p>
        </p:txBody>
      </p:sp>
      <p:sp>
        <p:nvSpPr>
          <p:cNvPr id="3" name="Content Placeholder 2"/>
          <p:cNvSpPr>
            <a:spLocks noGrp="1"/>
          </p:cNvSpPr>
          <p:nvPr>
            <p:ph idx="1"/>
          </p:nvPr>
        </p:nvSpPr>
        <p:spPr>
          <a:xfrm>
            <a:off x="1905000" y="1143000"/>
            <a:ext cx="8534400" cy="5486400"/>
          </a:xfrm>
        </p:spPr>
        <p:txBody>
          <a:bodyPr/>
          <a:lstStyle/>
          <a:p>
            <a:r>
              <a:rPr lang="en-US" dirty="0">
                <a:effectLst>
                  <a:outerShdw blurRad="38100" dist="38100" dir="2700000" algn="tl">
                    <a:srgbClr val="000000">
                      <a:alpha val="43137"/>
                    </a:srgbClr>
                  </a:outerShdw>
                </a:effectLst>
              </a:rPr>
              <a:t>Combined flocculation/disinfection systems-available as sachets of powder that act by coagulating and flocculating sediments in water followed by release of chlorine</a:t>
            </a:r>
          </a:p>
          <a:p>
            <a:endParaRPr lang="en-US" dirty="0">
              <a:effectLst>
                <a:outerShdw blurRad="38100" dist="38100" dir="2700000" algn="tl">
                  <a:srgbClr val="000000">
                    <a:alpha val="43137"/>
                  </a:srgbClr>
                </a:outerShdw>
              </a:effectLst>
            </a:endParaRPr>
          </a:p>
          <a:p>
            <a:r>
              <a:rPr lang="en-US" dirty="0" err="1">
                <a:effectLst>
                  <a:outerShdw blurRad="38100" dist="38100" dir="2700000" algn="tl">
                    <a:srgbClr val="000000">
                      <a:alpha val="43137"/>
                    </a:srgbClr>
                  </a:outerShdw>
                </a:effectLst>
              </a:rPr>
              <a:t>Multibarrier</a:t>
            </a:r>
            <a:r>
              <a:rPr lang="en-US" dirty="0">
                <a:effectLst>
                  <a:outerShdw blurRad="38100" dist="38100" dir="2700000" algn="tl">
                    <a:srgbClr val="000000">
                      <a:alpha val="43137"/>
                    </a:srgbClr>
                  </a:outerShdw>
                </a:effectLst>
              </a:rPr>
              <a:t> methods- some systems use two or more of the above treatments in combination or in succession to optimize efficacy</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31</a:t>
            </a:fld>
            <a:endParaRPr lang="en-US">
              <a:solidFill>
                <a:prstClr val="black">
                  <a:tint val="75000"/>
                </a:prstClr>
              </a:solidFill>
              <a:latin typeface="Calibri"/>
            </a:endParaRPr>
          </a:p>
        </p:txBody>
      </p:sp>
    </p:spTree>
    <p:extLst>
      <p:ext uri="{BB962C8B-B14F-4D97-AF65-F5344CB8AC3E}">
        <p14:creationId xmlns:p14="http://schemas.microsoft.com/office/powerpoint/2010/main" val="2078998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Hand washing</a:t>
            </a:r>
          </a:p>
        </p:txBody>
      </p:sp>
      <p:sp>
        <p:nvSpPr>
          <p:cNvPr id="3" name="Content Placeholder 2"/>
          <p:cNvSpPr>
            <a:spLocks noGrp="1"/>
          </p:cNvSpPr>
          <p:nvPr>
            <p:ph idx="1"/>
          </p:nvPr>
        </p:nvSpPr>
        <p:spPr>
          <a:xfrm>
            <a:off x="1981200" y="1600200"/>
            <a:ext cx="8458200" cy="5029200"/>
          </a:xfrm>
        </p:spPr>
        <p:txBody>
          <a:bodyPr>
            <a:normAutofit fontScale="92500" lnSpcReduction="10000"/>
          </a:bodyPr>
          <a:lstStyle/>
          <a:p>
            <a:r>
              <a:rPr lang="en-US" dirty="0">
                <a:effectLst>
                  <a:outerShdw blurRad="38100" dist="38100" dir="2700000" algn="tl">
                    <a:srgbClr val="000000">
                      <a:alpha val="43137"/>
                    </a:srgbClr>
                  </a:outerShdw>
                </a:effectLst>
              </a:rPr>
              <a:t>Simple hygiene measures like hand washing with soap should be emphasized</a:t>
            </a:r>
          </a:p>
          <a:p>
            <a:r>
              <a:rPr lang="en-US" dirty="0">
                <a:effectLst>
                  <a:outerShdw blurRad="38100" dist="38100" dir="2700000" algn="tl">
                    <a:srgbClr val="000000">
                      <a:alpha val="43137"/>
                    </a:srgbClr>
                  </a:outerShdw>
                </a:effectLst>
              </a:rPr>
              <a:t>Before preparing food</a:t>
            </a:r>
          </a:p>
          <a:p>
            <a:r>
              <a:rPr lang="en-US" dirty="0">
                <a:effectLst>
                  <a:outerShdw blurRad="38100" dist="38100" dir="2700000" algn="tl">
                    <a:srgbClr val="000000">
                      <a:alpha val="43137"/>
                    </a:srgbClr>
                  </a:outerShdw>
                </a:effectLst>
              </a:rPr>
              <a:t>Before eating</a:t>
            </a:r>
          </a:p>
          <a:p>
            <a:r>
              <a:rPr lang="en-US" dirty="0">
                <a:effectLst>
                  <a:outerShdw blurRad="38100" dist="38100" dir="2700000" algn="tl">
                    <a:srgbClr val="000000">
                      <a:alpha val="43137"/>
                    </a:srgbClr>
                  </a:outerShdw>
                </a:effectLst>
              </a:rPr>
              <a:t>Before feeding a child, after defecation</a:t>
            </a:r>
          </a:p>
          <a:p>
            <a:r>
              <a:rPr lang="en-US" dirty="0">
                <a:effectLst>
                  <a:outerShdw blurRad="38100" dist="38100" dir="2700000" algn="tl">
                    <a:srgbClr val="000000">
                      <a:alpha val="43137"/>
                    </a:srgbClr>
                  </a:outerShdw>
                </a:effectLst>
              </a:rPr>
              <a:t>After cleaning a child who has defecated and</a:t>
            </a:r>
          </a:p>
          <a:p>
            <a:r>
              <a:rPr lang="en-US" dirty="0">
                <a:effectLst>
                  <a:outerShdw blurRad="38100" dist="38100" dir="2700000" algn="tl">
                    <a:srgbClr val="000000">
                      <a:alpha val="43137"/>
                    </a:srgbClr>
                  </a:outerShdw>
                </a:effectLst>
              </a:rPr>
              <a:t>After disposing of a child’s stool should be promoted</a:t>
            </a:r>
          </a:p>
          <a:p>
            <a:r>
              <a:rPr lang="en-US" dirty="0">
                <a:effectLst>
                  <a:outerShdw blurRad="38100" dist="38100" dir="2700000" algn="tl">
                    <a:srgbClr val="000000">
                      <a:alpha val="43137"/>
                    </a:srgbClr>
                  </a:outerShdw>
                </a:effectLst>
              </a:rPr>
              <a:t>All families should have a clean and functioning latrine</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32</a:t>
            </a:fld>
            <a:endParaRPr lang="en-US">
              <a:solidFill>
                <a:prstClr val="black">
                  <a:tint val="75000"/>
                </a:prstClr>
              </a:solidFill>
              <a:latin typeface="Calibri"/>
            </a:endParaRPr>
          </a:p>
        </p:txBody>
      </p:sp>
    </p:spTree>
    <p:extLst>
      <p:ext uri="{BB962C8B-B14F-4D97-AF65-F5344CB8AC3E}">
        <p14:creationId xmlns:p14="http://schemas.microsoft.com/office/powerpoint/2010/main" val="4177873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Personal hygiene/Clean body</a:t>
            </a:r>
          </a:p>
        </p:txBody>
      </p:sp>
      <p:sp>
        <p:nvSpPr>
          <p:cNvPr id="3" name="Content Placeholder 2"/>
          <p:cNvSpPr>
            <a:spLocks noGrp="1"/>
          </p:cNvSpPr>
          <p:nvPr>
            <p:ph idx="1"/>
          </p:nvPr>
        </p:nvSpPr>
        <p:spPr>
          <a:xfrm>
            <a:off x="1752600" y="1219200"/>
            <a:ext cx="8763000" cy="5486400"/>
          </a:xfrm>
        </p:spPr>
        <p:txBody>
          <a:bodyPr>
            <a:normAutofit fontScale="92500"/>
          </a:bodyPr>
          <a:lstStyle/>
          <a:p>
            <a:r>
              <a:rPr lang="en-US" dirty="0">
                <a:effectLst>
                  <a:outerShdw blurRad="38100" dist="38100" dir="2700000" algn="tl">
                    <a:srgbClr val="000000">
                      <a:alpha val="43137"/>
                    </a:srgbClr>
                  </a:outerShdw>
                </a:effectLst>
              </a:rPr>
              <a:t>This is also known as personal hygiene which include:</a:t>
            </a:r>
          </a:p>
          <a:p>
            <a:pPr marL="0" indent="0">
              <a:buNone/>
            </a:pPr>
            <a:r>
              <a:rPr lang="en-US" dirty="0">
                <a:effectLst>
                  <a:outerShdw blurRad="38100" dist="38100" dir="2700000" algn="tl">
                    <a:srgbClr val="000000">
                      <a:alpha val="43137"/>
                    </a:srgbClr>
                  </a:outerShdw>
                </a:effectLst>
              </a:rPr>
              <a:t>Always keeping your body clean by taking a bath</a:t>
            </a:r>
          </a:p>
          <a:p>
            <a:pPr marL="0" indent="0">
              <a:buNone/>
            </a:pPr>
            <a:r>
              <a:rPr lang="en-US" dirty="0">
                <a:effectLst>
                  <a:outerShdw blurRad="38100" dist="38100" dir="2700000" algn="tl">
                    <a:srgbClr val="000000">
                      <a:alpha val="43137"/>
                    </a:srgbClr>
                  </a:outerShdw>
                </a:effectLst>
              </a:rPr>
              <a:t>Change your under wear and socks</a:t>
            </a:r>
          </a:p>
          <a:p>
            <a:pPr marL="0" indent="0">
              <a:buNone/>
            </a:pPr>
            <a:r>
              <a:rPr lang="en-US" dirty="0">
                <a:effectLst>
                  <a:outerShdw blurRad="38100" dist="38100" dir="2700000" algn="tl">
                    <a:srgbClr val="000000">
                      <a:alpha val="43137"/>
                    </a:srgbClr>
                  </a:outerShdw>
                </a:effectLst>
              </a:rPr>
              <a:t>Change clothes after bathing</a:t>
            </a:r>
          </a:p>
          <a:p>
            <a:pPr marL="0" indent="0">
              <a:buNone/>
            </a:pPr>
            <a:r>
              <a:rPr lang="en-US" dirty="0">
                <a:effectLst>
                  <a:outerShdw blurRad="38100" dist="38100" dir="2700000" algn="tl">
                    <a:srgbClr val="000000">
                      <a:alpha val="43137"/>
                    </a:srgbClr>
                  </a:outerShdw>
                </a:effectLst>
              </a:rPr>
              <a:t>Keep dry</a:t>
            </a:r>
          </a:p>
          <a:p>
            <a:pPr marL="0" indent="0">
              <a:buNone/>
            </a:pPr>
            <a:r>
              <a:rPr lang="en-US" dirty="0">
                <a:effectLst>
                  <a:outerShdw blurRad="38100" dist="38100" dir="2700000" algn="tl">
                    <a:srgbClr val="000000">
                      <a:alpha val="43137"/>
                    </a:srgbClr>
                  </a:outerShdw>
                </a:effectLst>
              </a:rPr>
              <a:t>Brush your teeth at least twice daily </a:t>
            </a:r>
          </a:p>
          <a:p>
            <a:pPr marL="0" indent="0">
              <a:buNone/>
            </a:pPr>
            <a:r>
              <a:rPr lang="en-US" dirty="0">
                <a:effectLst>
                  <a:outerShdw blurRad="38100" dist="38100" dir="2700000" algn="tl">
                    <a:srgbClr val="000000">
                      <a:alpha val="43137"/>
                    </a:srgbClr>
                  </a:outerShdw>
                </a:effectLst>
              </a:rPr>
              <a:t>Keeping finger nail short</a:t>
            </a:r>
          </a:p>
          <a:p>
            <a:pPr marL="0" indent="0">
              <a:buNone/>
            </a:pPr>
            <a:r>
              <a:rPr lang="en-US" dirty="0">
                <a:effectLst>
                  <a:outerShdw blurRad="38100" dist="38100" dir="2700000" algn="tl">
                    <a:srgbClr val="000000">
                      <a:alpha val="43137"/>
                    </a:srgbClr>
                  </a:outerShdw>
                </a:effectLst>
              </a:rPr>
              <a:t>Shaving</a:t>
            </a:r>
          </a:p>
          <a:p>
            <a:pPr marL="0" indent="0">
              <a:buNone/>
            </a:pPr>
            <a:r>
              <a:rPr lang="en-US" dirty="0">
                <a:effectLst>
                  <a:outerShdw blurRad="38100" dist="38100" dir="2700000" algn="tl">
                    <a:srgbClr val="000000">
                      <a:alpha val="43137"/>
                    </a:srgbClr>
                  </a:outerShdw>
                </a:effectLst>
              </a:rPr>
              <a:t>For women use of sanitary pads</a:t>
            </a:r>
          </a:p>
          <a:p>
            <a:pPr marL="0" indent="0">
              <a:buNone/>
            </a:pPr>
            <a:r>
              <a:rPr lang="en-US" dirty="0">
                <a:effectLst>
                  <a:outerShdw blurRad="38100" dist="38100" dir="2700000" algn="tl">
                    <a:srgbClr val="000000">
                      <a:alpha val="43137"/>
                    </a:srgbClr>
                  </a:outerShdw>
                </a:effectLst>
              </a:rPr>
              <a:t>NB: look good and you will feel good</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33</a:t>
            </a:fld>
            <a:endParaRPr lang="en-US">
              <a:solidFill>
                <a:prstClr val="black">
                  <a:tint val="75000"/>
                </a:prstClr>
              </a:solidFill>
              <a:latin typeface="Calibri"/>
            </a:endParaRPr>
          </a:p>
        </p:txBody>
      </p:sp>
    </p:spTree>
    <p:extLst>
      <p:ext uri="{BB962C8B-B14F-4D97-AF65-F5344CB8AC3E}">
        <p14:creationId xmlns:p14="http://schemas.microsoft.com/office/powerpoint/2010/main" val="3753991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ffectLst>
                  <a:outerShdw blurRad="38100" dist="38100" dir="2700000" algn="tl">
                    <a:srgbClr val="000000">
                      <a:alpha val="43137"/>
                    </a:srgbClr>
                  </a:outerShdw>
                </a:effectLst>
              </a:rPr>
              <a:t>Vector control</a:t>
            </a:r>
          </a:p>
        </p:txBody>
      </p:sp>
      <p:sp>
        <p:nvSpPr>
          <p:cNvPr id="3" name="Content Placeholder 2"/>
          <p:cNvSpPr>
            <a:spLocks noGrp="1"/>
          </p:cNvSpPr>
          <p:nvPr>
            <p:ph idx="1"/>
          </p:nvPr>
        </p:nvSpPr>
        <p:spPr>
          <a:xfrm>
            <a:off x="1981200" y="1600200"/>
            <a:ext cx="8382000" cy="5105400"/>
          </a:xfrm>
        </p:spPr>
        <p:txBody>
          <a:bodyPr/>
          <a:lstStyle/>
          <a:p>
            <a:r>
              <a:rPr lang="en-US" dirty="0">
                <a:effectLst>
                  <a:outerShdw blurRad="38100" dist="38100" dir="2700000" algn="tl">
                    <a:srgbClr val="000000">
                      <a:alpha val="43137"/>
                    </a:srgbClr>
                  </a:outerShdw>
                </a:effectLst>
              </a:rPr>
              <a:t>Measures should be taken to get rid of vectors which poses danger of disease transmission</a:t>
            </a:r>
          </a:p>
          <a:p>
            <a:r>
              <a:rPr lang="en-US" dirty="0">
                <a:effectLst>
                  <a:outerShdw blurRad="38100" dist="38100" dir="2700000" algn="tl">
                    <a:srgbClr val="000000">
                      <a:alpha val="43137"/>
                    </a:srgbClr>
                  </a:outerShdw>
                </a:effectLst>
              </a:rPr>
              <a:t>Destroying their breeding sites</a:t>
            </a:r>
          </a:p>
          <a:p>
            <a:r>
              <a:rPr lang="en-US" dirty="0">
                <a:effectLst>
                  <a:outerShdw blurRad="38100" dist="38100" dir="2700000" algn="tl">
                    <a:srgbClr val="000000">
                      <a:alpha val="43137"/>
                    </a:srgbClr>
                  </a:outerShdw>
                </a:effectLst>
              </a:rPr>
              <a:t>Biological predators</a:t>
            </a:r>
          </a:p>
          <a:p>
            <a:r>
              <a:rPr lang="en-US" dirty="0">
                <a:effectLst>
                  <a:outerShdw blurRad="38100" dist="38100" dir="2700000" algn="tl">
                    <a:srgbClr val="000000">
                      <a:alpha val="43137"/>
                    </a:srgbClr>
                  </a:outerShdw>
                </a:effectLst>
              </a:rPr>
              <a:t>Chemical sprays</a:t>
            </a:r>
          </a:p>
          <a:p>
            <a:r>
              <a:rPr lang="en-US" dirty="0">
                <a:effectLst>
                  <a:outerShdw blurRad="38100" dist="38100" dir="2700000" algn="tl">
                    <a:srgbClr val="000000">
                      <a:alpha val="43137"/>
                    </a:srgbClr>
                  </a:outerShdw>
                </a:effectLst>
              </a:rPr>
              <a:t>Mechanical killing</a:t>
            </a:r>
          </a:p>
          <a:p>
            <a:r>
              <a:rPr lang="en-US" dirty="0">
                <a:effectLst>
                  <a:outerShdw blurRad="38100" dist="38100" dir="2700000" algn="tl">
                    <a:srgbClr val="000000">
                      <a:alpha val="43137"/>
                    </a:srgbClr>
                  </a:outerShdw>
                </a:effectLst>
              </a:rPr>
              <a:t>Personal and general hygiene</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34</a:t>
            </a:fld>
            <a:endParaRPr lang="en-US">
              <a:solidFill>
                <a:prstClr val="black">
                  <a:tint val="75000"/>
                </a:prstClr>
              </a:solidFill>
              <a:latin typeface="Calibri"/>
            </a:endParaRPr>
          </a:p>
        </p:txBody>
      </p:sp>
    </p:spTree>
    <p:extLst>
      <p:ext uri="{BB962C8B-B14F-4D97-AF65-F5344CB8AC3E}">
        <p14:creationId xmlns:p14="http://schemas.microsoft.com/office/powerpoint/2010/main" val="13986385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868362"/>
          </a:xfrm>
        </p:spPr>
        <p:txBody>
          <a:bodyPr/>
          <a:lstStyle/>
          <a:p>
            <a:r>
              <a:rPr lang="en-US" dirty="0">
                <a:effectLst>
                  <a:outerShdw blurRad="38100" dist="38100" dir="2700000" algn="tl">
                    <a:srgbClr val="000000">
                      <a:alpha val="43137"/>
                    </a:srgbClr>
                  </a:outerShdw>
                </a:effectLst>
              </a:rPr>
              <a:t>Sewage treatment</a:t>
            </a:r>
          </a:p>
        </p:txBody>
      </p:sp>
      <p:sp>
        <p:nvSpPr>
          <p:cNvPr id="3" name="Content Placeholder 2"/>
          <p:cNvSpPr>
            <a:spLocks noGrp="1"/>
          </p:cNvSpPr>
          <p:nvPr>
            <p:ph idx="1"/>
          </p:nvPr>
        </p:nvSpPr>
        <p:spPr>
          <a:xfrm>
            <a:off x="1600200" y="1143000"/>
            <a:ext cx="8915400" cy="5562600"/>
          </a:xfrm>
        </p:spPr>
        <p:txBody>
          <a:bodyPr>
            <a:normAutofit fontScale="85000" lnSpcReduction="10000"/>
          </a:bodyPr>
          <a:lstStyle/>
          <a:p>
            <a:r>
              <a:rPr lang="en-US" dirty="0">
                <a:effectLst>
                  <a:outerShdw blurRad="38100" dist="38100" dir="2700000" algn="tl">
                    <a:srgbClr val="000000">
                      <a:alpha val="43137"/>
                    </a:srgbClr>
                  </a:outerShdw>
                </a:effectLst>
              </a:rPr>
              <a:t>Is the process of removing contaminants from wastewater and household sewage both runoff(effluents) and domestic.</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Includes physical, chemical and biological contaminants</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Its objective is to produce an environmentally safe fluid waste stream(or treated effluent) and a solid waste ( or treated sludge) suitable for disposal or reuse(usually as farm fertilizer)</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Using advanced technology it is now possible to re-use sewage effluent for drinking water</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35</a:t>
            </a:fld>
            <a:endParaRPr lang="en-US">
              <a:solidFill>
                <a:prstClr val="black">
                  <a:tint val="75000"/>
                </a:prstClr>
              </a:solidFill>
              <a:latin typeface="Calibri"/>
            </a:endParaRPr>
          </a:p>
        </p:txBody>
      </p:sp>
    </p:spTree>
    <p:extLst>
      <p:ext uri="{BB962C8B-B14F-4D97-AF65-F5344CB8AC3E}">
        <p14:creationId xmlns:p14="http://schemas.microsoft.com/office/powerpoint/2010/main" val="7922945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868362"/>
          </a:xfrm>
        </p:spPr>
        <p:txBody>
          <a:bodyPr/>
          <a:lstStyle/>
          <a:p>
            <a:r>
              <a:rPr lang="en-US" dirty="0" err="1">
                <a:effectLst>
                  <a:outerShdw blurRad="38100" dist="38100" dir="2700000" algn="tl">
                    <a:srgbClr val="000000">
                      <a:alpha val="43137"/>
                    </a:srgbClr>
                  </a:outerShdw>
                </a:effectLst>
              </a:rPr>
              <a:t>Cont</a:t>
            </a:r>
            <a:r>
              <a:rPr lang="en-US" dirty="0">
                <a:effectLst>
                  <a:outerShdw blurRad="38100" dist="38100" dir="2700000" algn="tl">
                    <a:srgbClr val="000000">
                      <a:alpha val="43137"/>
                    </a:srgbClr>
                  </a:outerShdw>
                </a:effectLst>
              </a:rPr>
              <a:t>…</a:t>
            </a:r>
          </a:p>
        </p:txBody>
      </p:sp>
      <p:sp>
        <p:nvSpPr>
          <p:cNvPr id="3" name="Content Placeholder 2"/>
          <p:cNvSpPr>
            <a:spLocks noGrp="1"/>
          </p:cNvSpPr>
          <p:nvPr>
            <p:ph idx="1"/>
          </p:nvPr>
        </p:nvSpPr>
        <p:spPr>
          <a:xfrm>
            <a:off x="1752600" y="1143000"/>
            <a:ext cx="8686800" cy="5486400"/>
          </a:xfrm>
        </p:spPr>
        <p:txBody>
          <a:bodyPr>
            <a:normAutofit fontScale="92500" lnSpcReduction="10000"/>
          </a:bodyPr>
          <a:lstStyle/>
          <a:p>
            <a:r>
              <a:rPr lang="en-US" dirty="0">
                <a:effectLst>
                  <a:outerShdw blurRad="38100" dist="38100" dir="2700000" algn="tl">
                    <a:srgbClr val="000000">
                      <a:alpha val="43137"/>
                    </a:srgbClr>
                  </a:outerShdw>
                </a:effectLst>
              </a:rPr>
              <a:t>In areas where there is no public sewer the following sanitation methods can be adopted: considered developed:</a:t>
            </a:r>
          </a:p>
          <a:p>
            <a:r>
              <a:rPr lang="en-US" dirty="0">
                <a:effectLst>
                  <a:outerShdw blurRad="38100" dist="38100" dir="2700000" algn="tl">
                    <a:srgbClr val="000000">
                      <a:alpha val="43137"/>
                    </a:srgbClr>
                  </a:outerShdw>
                </a:effectLst>
              </a:rPr>
              <a:t>Septic tank</a:t>
            </a:r>
          </a:p>
          <a:p>
            <a:r>
              <a:rPr lang="en-US" dirty="0">
                <a:effectLst>
                  <a:outerShdw blurRad="38100" dist="38100" dir="2700000" algn="tl">
                    <a:srgbClr val="000000">
                      <a:alpha val="43137"/>
                    </a:srgbClr>
                  </a:outerShdw>
                </a:effectLst>
              </a:rPr>
              <a:t>Pour flush latrine</a:t>
            </a:r>
          </a:p>
          <a:p>
            <a:r>
              <a:rPr lang="en-US" dirty="0">
                <a:effectLst>
                  <a:outerShdw blurRad="38100" dist="38100" dir="2700000" algn="tl">
                    <a:srgbClr val="000000">
                      <a:alpha val="43137"/>
                    </a:srgbClr>
                  </a:outerShdw>
                </a:effectLst>
              </a:rPr>
              <a:t>Ventilated improved pit(VIP)</a:t>
            </a:r>
          </a:p>
          <a:p>
            <a:pPr marL="0" indent="0">
              <a:buNone/>
            </a:pPr>
            <a:r>
              <a:rPr lang="en-US" dirty="0">
                <a:effectLst>
                  <a:outerShdw blurRad="38100" dist="38100" dir="2700000" algn="tl">
                    <a:srgbClr val="000000">
                      <a:alpha val="43137"/>
                    </a:srgbClr>
                  </a:outerShdw>
                </a:effectLst>
              </a:rPr>
              <a:t>The following methods should be discouraged:</a:t>
            </a:r>
          </a:p>
          <a:p>
            <a:r>
              <a:rPr lang="en-US" dirty="0">
                <a:effectLst>
                  <a:outerShdw blurRad="38100" dist="38100" dir="2700000" algn="tl">
                    <a:srgbClr val="000000">
                      <a:alpha val="43137"/>
                    </a:srgbClr>
                  </a:outerShdw>
                </a:effectLst>
              </a:rPr>
              <a:t>Service or bucket latrines</a:t>
            </a:r>
          </a:p>
          <a:p>
            <a:r>
              <a:rPr lang="en-US" dirty="0">
                <a:effectLst>
                  <a:outerShdw blurRad="38100" dist="38100" dir="2700000" algn="tl">
                    <a:srgbClr val="000000">
                      <a:alpha val="43137"/>
                    </a:srgbClr>
                  </a:outerShdw>
                </a:effectLst>
              </a:rPr>
              <a:t>Public latrines</a:t>
            </a:r>
          </a:p>
          <a:p>
            <a:r>
              <a:rPr lang="en-US" dirty="0">
                <a:effectLst>
                  <a:outerShdw blurRad="38100" dist="38100" dir="2700000" algn="tl">
                    <a:srgbClr val="000000">
                      <a:alpha val="43137"/>
                    </a:srgbClr>
                  </a:outerShdw>
                </a:effectLst>
              </a:rPr>
              <a:t>Open latrines</a:t>
            </a:r>
          </a:p>
          <a:p>
            <a:r>
              <a:rPr lang="en-US" dirty="0">
                <a:effectLst>
                  <a:outerShdw blurRad="38100" dist="38100" dir="2700000" algn="tl">
                    <a:srgbClr val="000000">
                      <a:alpha val="43137"/>
                    </a:srgbClr>
                  </a:outerShdw>
                </a:effectLst>
              </a:rPr>
              <a:t>Excretion to the environment</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36</a:t>
            </a:fld>
            <a:endParaRPr lang="en-US">
              <a:solidFill>
                <a:prstClr val="black">
                  <a:tint val="75000"/>
                </a:prstClr>
              </a:solidFill>
              <a:latin typeface="Calibri"/>
            </a:endParaRPr>
          </a:p>
        </p:txBody>
      </p:sp>
    </p:spTree>
    <p:extLst>
      <p:ext uri="{BB962C8B-B14F-4D97-AF65-F5344CB8AC3E}">
        <p14:creationId xmlns:p14="http://schemas.microsoft.com/office/powerpoint/2010/main" val="42445384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0"/>
            <a:ext cx="8229600" cy="1143000"/>
          </a:xfrm>
        </p:spPr>
        <p:txBody>
          <a:bodyPr>
            <a:normAutofit/>
          </a:bodyPr>
          <a:lstStyle/>
          <a:p>
            <a:r>
              <a:rPr lang="en-US" dirty="0">
                <a:effectLst>
                  <a:outerShdw blurRad="38100" dist="38100" dir="2700000" algn="tl">
                    <a:srgbClr val="000000">
                      <a:alpha val="43137"/>
                    </a:srgbClr>
                  </a:outerShdw>
                </a:effectLst>
              </a:rPr>
              <a:t>Health Education</a:t>
            </a:r>
          </a:p>
        </p:txBody>
      </p:sp>
      <p:sp>
        <p:nvSpPr>
          <p:cNvPr id="3" name="Content Placeholder 2"/>
          <p:cNvSpPr>
            <a:spLocks noGrp="1"/>
          </p:cNvSpPr>
          <p:nvPr>
            <p:ph idx="1"/>
          </p:nvPr>
        </p:nvSpPr>
        <p:spPr/>
        <p:txBody>
          <a:bodyPr/>
          <a:lstStyle/>
          <a:p>
            <a:r>
              <a:rPr lang="en-US" dirty="0">
                <a:effectLst>
                  <a:outerShdw blurRad="38100" dist="38100" dir="2700000" algn="tl">
                    <a:srgbClr val="000000">
                      <a:alpha val="43137"/>
                    </a:srgbClr>
                  </a:outerShdw>
                </a:effectLst>
              </a:rPr>
              <a:t>Health education activities to be carried out for convincing and helping community members to adopt and maintain certain preventive practices such</a:t>
            </a:r>
          </a:p>
          <a:p>
            <a:r>
              <a:rPr lang="en-US" dirty="0">
                <a:effectLst>
                  <a:outerShdw blurRad="38100" dist="38100" dir="2700000" algn="tl">
                    <a:srgbClr val="000000">
                      <a:alpha val="43137"/>
                    </a:srgbClr>
                  </a:outerShdw>
                </a:effectLst>
              </a:rPr>
              <a:t> as breast feeding, improved weaning, clean drinking water use of plenty water for hygiene, </a:t>
            </a:r>
          </a:p>
          <a:p>
            <a:r>
              <a:rPr lang="en-US" dirty="0">
                <a:effectLst>
                  <a:outerShdw blurRad="38100" dist="38100" dir="2700000" algn="tl">
                    <a:srgbClr val="000000">
                      <a:alpha val="43137"/>
                    </a:srgbClr>
                  </a:outerShdw>
                </a:effectLst>
              </a:rPr>
              <a:t>use of latrine sanitary disposal of excreta</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37</a:t>
            </a:fld>
            <a:endParaRPr lang="en-US">
              <a:solidFill>
                <a:prstClr val="black">
                  <a:tint val="75000"/>
                </a:prstClr>
              </a:solidFill>
              <a:latin typeface="Calibri"/>
            </a:endParaRPr>
          </a:p>
        </p:txBody>
      </p:sp>
    </p:spTree>
    <p:extLst>
      <p:ext uri="{BB962C8B-B14F-4D97-AF65-F5344CB8AC3E}">
        <p14:creationId xmlns:p14="http://schemas.microsoft.com/office/powerpoint/2010/main" val="42415454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C000"/>
                </a:solidFill>
                <a:effectLst>
                  <a:outerShdw blurRad="38100" dist="38100" dir="2700000" algn="tl">
                    <a:srgbClr val="000000">
                      <a:alpha val="43137"/>
                    </a:srgbClr>
                  </a:outerShdw>
                </a:effectLst>
              </a:rPr>
              <a:t>Improving hygiene and Sanitation</a:t>
            </a:r>
          </a:p>
        </p:txBody>
      </p:sp>
      <p:sp>
        <p:nvSpPr>
          <p:cNvPr id="3" name="Content Placeholder 2"/>
          <p:cNvSpPr>
            <a:spLocks noGrp="1"/>
          </p:cNvSpPr>
          <p:nvPr>
            <p:ph idx="1"/>
          </p:nvPr>
        </p:nvSpPr>
        <p:spPr>
          <a:xfrm>
            <a:off x="1981200" y="1600200"/>
            <a:ext cx="8382000" cy="5029200"/>
          </a:xfrm>
        </p:spPr>
        <p:txBody>
          <a:bodyPr>
            <a:normAutofit/>
          </a:bodyPr>
          <a:lstStyle/>
          <a:p>
            <a:r>
              <a:rPr lang="en-US" dirty="0">
                <a:effectLst>
                  <a:outerShdw blurRad="38100" dist="38100" dir="2700000" algn="tl">
                    <a:srgbClr val="000000">
                      <a:alpha val="43137"/>
                    </a:srgbClr>
                  </a:outerShdw>
                </a:effectLst>
              </a:rPr>
              <a:t>Improving the efficiency, sustainability and integration of hygiene and sanitation interventions into communities and institutions such as schools.</a:t>
            </a:r>
          </a:p>
          <a:p>
            <a:r>
              <a:rPr lang="en-US" dirty="0">
                <a:effectLst>
                  <a:outerShdw blurRad="38100" dist="38100" dir="2700000" algn="tl">
                    <a:srgbClr val="000000">
                      <a:alpha val="43137"/>
                    </a:srgbClr>
                  </a:outerShdw>
                </a:effectLst>
              </a:rPr>
              <a:t>Community hygiene </a:t>
            </a:r>
          </a:p>
          <a:p>
            <a:r>
              <a:rPr lang="en-US" dirty="0">
                <a:effectLst>
                  <a:outerShdw blurRad="38100" dist="38100" dir="2700000" algn="tl">
                    <a:srgbClr val="000000">
                      <a:alpha val="43137"/>
                    </a:srgbClr>
                  </a:outerShdw>
                </a:effectLst>
              </a:rPr>
              <a:t>Sustainability research</a:t>
            </a:r>
          </a:p>
          <a:p>
            <a:r>
              <a:rPr lang="en-US" dirty="0">
                <a:effectLst>
                  <a:outerShdw blurRad="38100" dist="38100" dir="2700000" algn="tl">
                    <a:srgbClr val="000000">
                      <a:alpha val="43137"/>
                    </a:srgbClr>
                  </a:outerShdw>
                </a:effectLst>
              </a:rPr>
              <a:t>Improving environment health practice in communities</a:t>
            </a:r>
          </a:p>
          <a:p>
            <a:r>
              <a:rPr lang="en-US" dirty="0">
                <a:effectLst>
                  <a:outerShdw blurRad="38100" dist="38100" dir="2700000" algn="tl">
                    <a:srgbClr val="000000">
                      <a:alpha val="43137"/>
                    </a:srgbClr>
                  </a:outerShdw>
                </a:effectLst>
              </a:rPr>
              <a:t>Restoring safe water and sanitation</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38</a:t>
            </a:fld>
            <a:endParaRPr lang="en-US">
              <a:solidFill>
                <a:prstClr val="black">
                  <a:tint val="75000"/>
                </a:prstClr>
              </a:solidFill>
              <a:latin typeface="Calibri"/>
            </a:endParaRPr>
          </a:p>
        </p:txBody>
      </p:sp>
    </p:spTree>
    <p:extLst>
      <p:ext uri="{BB962C8B-B14F-4D97-AF65-F5344CB8AC3E}">
        <p14:creationId xmlns:p14="http://schemas.microsoft.com/office/powerpoint/2010/main" val="7204245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Summary </a:t>
            </a:r>
          </a:p>
        </p:txBody>
      </p:sp>
      <p:sp>
        <p:nvSpPr>
          <p:cNvPr id="3" name="Content Placeholder 2"/>
          <p:cNvSpPr>
            <a:spLocks noGrp="1"/>
          </p:cNvSpPr>
          <p:nvPr>
            <p:ph idx="1"/>
          </p:nvPr>
        </p:nvSpPr>
        <p:spPr>
          <a:xfrm>
            <a:off x="1981200" y="1600200"/>
            <a:ext cx="8458200" cy="5029200"/>
          </a:xfrm>
        </p:spPr>
        <p:txBody>
          <a:bodyPr/>
          <a:lstStyle/>
          <a:p>
            <a:pPr marL="0" indent="0">
              <a:buNone/>
            </a:pPr>
            <a:r>
              <a:rPr lang="en-US" dirty="0">
                <a:effectLst>
                  <a:outerShdw blurRad="38100" dist="38100" dir="2700000" algn="tl">
                    <a:srgbClr val="000000">
                      <a:alpha val="43137"/>
                    </a:srgbClr>
                  </a:outerShdw>
                </a:effectLst>
              </a:rPr>
              <a:t>In reality, all of the following contribute in some measure to reducing the burden of infectious diseases circulating in the community</a:t>
            </a:r>
          </a:p>
          <a:p>
            <a:r>
              <a:rPr lang="en-US" dirty="0">
                <a:effectLst>
                  <a:outerShdw blurRad="38100" dist="38100" dir="2700000" algn="tl">
                    <a:srgbClr val="000000">
                      <a:alpha val="43137"/>
                    </a:srgbClr>
                  </a:outerShdw>
                </a:effectLst>
              </a:rPr>
              <a:t>Hand hygiene and personal hygiene</a:t>
            </a:r>
          </a:p>
          <a:p>
            <a:r>
              <a:rPr lang="en-US" dirty="0">
                <a:effectLst>
                  <a:outerShdw blurRad="38100" dist="38100" dir="2700000" algn="tl">
                    <a:srgbClr val="000000">
                      <a:alpha val="43137"/>
                    </a:srgbClr>
                  </a:outerShdw>
                </a:effectLst>
              </a:rPr>
              <a:t>Food hygiene(cooking, storing, preventing cross contamination)</a:t>
            </a:r>
          </a:p>
          <a:p>
            <a:r>
              <a:rPr lang="en-US" dirty="0">
                <a:effectLst>
                  <a:outerShdw blurRad="38100" dist="38100" dir="2700000" algn="tl">
                    <a:srgbClr val="000000">
                      <a:alpha val="43137"/>
                    </a:srgbClr>
                  </a:outerShdw>
                </a:effectLst>
              </a:rPr>
              <a:t>Control of vectors like house flies</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39</a:t>
            </a:fld>
            <a:endParaRPr lang="en-US">
              <a:solidFill>
                <a:prstClr val="black">
                  <a:tint val="75000"/>
                </a:prstClr>
              </a:solidFill>
              <a:latin typeface="Calibri"/>
            </a:endParaRPr>
          </a:p>
        </p:txBody>
      </p:sp>
    </p:spTree>
    <p:extLst>
      <p:ext uri="{BB962C8B-B14F-4D97-AF65-F5344CB8AC3E}">
        <p14:creationId xmlns:p14="http://schemas.microsoft.com/office/powerpoint/2010/main" val="15529920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effectLst>
                  <a:outerShdw blurRad="38100" dist="38100" dir="2700000" algn="tl">
                    <a:srgbClr val="000000">
                      <a:alpha val="43137"/>
                    </a:srgbClr>
                  </a:outerShdw>
                </a:effectLst>
              </a:rPr>
              <a:t>Cont</a:t>
            </a:r>
            <a:r>
              <a:rPr lang="en-US" dirty="0">
                <a:effectLst>
                  <a:outerShdw blurRad="38100" dist="38100" dir="2700000" algn="tl">
                    <a:srgbClr val="000000">
                      <a:alpha val="43137"/>
                    </a:srgbClr>
                  </a:outerShdw>
                </a:effectLst>
              </a:rPr>
              <a:t>…</a:t>
            </a:r>
          </a:p>
        </p:txBody>
      </p:sp>
      <p:sp>
        <p:nvSpPr>
          <p:cNvPr id="3" name="Content Placeholder 2"/>
          <p:cNvSpPr>
            <a:spLocks noGrp="1"/>
          </p:cNvSpPr>
          <p:nvPr>
            <p:ph idx="1"/>
          </p:nvPr>
        </p:nvSpPr>
        <p:spPr>
          <a:xfrm>
            <a:off x="1828800" y="1219200"/>
            <a:ext cx="8610600" cy="5562600"/>
          </a:xfrm>
        </p:spPr>
        <p:txBody>
          <a:bodyPr>
            <a:normAutofit/>
          </a:bodyPr>
          <a:lstStyle/>
          <a:p>
            <a:r>
              <a:rPr lang="en-US" dirty="0">
                <a:effectLst>
                  <a:outerShdw blurRad="38100" dist="38100" dir="2700000" algn="tl">
                    <a:srgbClr val="000000">
                      <a:alpha val="43137"/>
                    </a:srgbClr>
                  </a:outerShdw>
                </a:effectLst>
              </a:rPr>
              <a:t>Ensuring safe water at point of use</a:t>
            </a:r>
          </a:p>
          <a:p>
            <a:r>
              <a:rPr lang="en-US" dirty="0">
                <a:effectLst>
                  <a:outerShdw blurRad="38100" dist="38100" dir="2700000" algn="tl">
                    <a:srgbClr val="000000">
                      <a:alpha val="43137"/>
                    </a:srgbClr>
                  </a:outerShdw>
                </a:effectLst>
              </a:rPr>
              <a:t>Respiratory hygiene </a:t>
            </a:r>
          </a:p>
          <a:p>
            <a:r>
              <a:rPr lang="en-US" dirty="0">
                <a:effectLst>
                  <a:outerShdw blurRad="38100" dist="38100" dir="2700000" algn="tl">
                    <a:srgbClr val="000000">
                      <a:alpha val="43137"/>
                    </a:srgbClr>
                  </a:outerShdw>
                </a:effectLst>
              </a:rPr>
              <a:t>Safe disposal of </a:t>
            </a:r>
            <a:r>
              <a:rPr lang="en-US" dirty="0" err="1">
                <a:effectLst>
                  <a:outerShdw blurRad="38100" dist="38100" dir="2700000" algn="tl">
                    <a:srgbClr val="000000">
                      <a:alpha val="43137"/>
                    </a:srgbClr>
                  </a:outerShdw>
                </a:effectLst>
              </a:rPr>
              <a:t>faeces</a:t>
            </a:r>
            <a:r>
              <a:rPr lang="en-US" dirty="0">
                <a:effectLst>
                  <a:outerShdw blurRad="38100" dist="38100" dir="2700000" algn="tl">
                    <a:srgbClr val="000000">
                      <a:alpha val="43137"/>
                    </a:srgbClr>
                  </a:outerShdw>
                </a:effectLst>
              </a:rPr>
              <a:t> (both human and animal)</a:t>
            </a:r>
          </a:p>
          <a:p>
            <a:r>
              <a:rPr lang="en-US" dirty="0">
                <a:effectLst>
                  <a:outerShdw blurRad="38100" dist="38100" dir="2700000" algn="tl">
                    <a:srgbClr val="000000">
                      <a:alpha val="43137"/>
                    </a:srgbClr>
                  </a:outerShdw>
                </a:effectLst>
              </a:rPr>
              <a:t>General hygiene(laundry, surfaces, toilets, baths, sinks)</a:t>
            </a:r>
          </a:p>
          <a:p>
            <a:r>
              <a:rPr lang="en-US" dirty="0">
                <a:effectLst>
                  <a:outerShdw blurRad="38100" dist="38100" dir="2700000" algn="tl">
                    <a:srgbClr val="000000">
                      <a:alpha val="43137"/>
                    </a:srgbClr>
                  </a:outerShdw>
                </a:effectLst>
              </a:rPr>
              <a:t>Disposal of solid waste, control of wastewater and rainwater</a:t>
            </a:r>
          </a:p>
          <a:p>
            <a:r>
              <a:rPr lang="en-US" dirty="0">
                <a:effectLst>
                  <a:outerShdw blurRad="38100" dist="38100" dir="2700000" algn="tl">
                    <a:srgbClr val="000000">
                      <a:alpha val="43137"/>
                    </a:srgbClr>
                  </a:outerShdw>
                </a:effectLst>
              </a:rPr>
              <a:t>Health education</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40</a:t>
            </a:fld>
            <a:endParaRPr lang="en-US">
              <a:solidFill>
                <a:prstClr val="black">
                  <a:tint val="75000"/>
                </a:prstClr>
              </a:solidFill>
              <a:latin typeface="Calibri"/>
            </a:endParaRPr>
          </a:p>
        </p:txBody>
      </p:sp>
    </p:spTree>
    <p:extLst>
      <p:ext uri="{BB962C8B-B14F-4D97-AF65-F5344CB8AC3E}">
        <p14:creationId xmlns:p14="http://schemas.microsoft.com/office/powerpoint/2010/main" val="36980733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effectLst>
                  <a:outerShdw blurRad="38100" dist="38100" dir="2700000" algn="tl">
                    <a:srgbClr val="000000">
                      <a:alpha val="43137"/>
                    </a:srgbClr>
                  </a:outerShdw>
                </a:effectLst>
              </a:rPr>
              <a:t>HYGIENE</a:t>
            </a:r>
          </a:p>
        </p:txBody>
      </p:sp>
      <p:sp>
        <p:nvSpPr>
          <p:cNvPr id="3" name="Content Placeholder 2"/>
          <p:cNvSpPr>
            <a:spLocks noGrp="1"/>
          </p:cNvSpPr>
          <p:nvPr>
            <p:ph idx="1"/>
          </p:nvPr>
        </p:nvSpPr>
        <p:spPr>
          <a:xfrm>
            <a:off x="1981200" y="1600200"/>
            <a:ext cx="8458200" cy="5105400"/>
          </a:xfrm>
        </p:spPr>
        <p:txBody>
          <a:bodyPr>
            <a:normAutofit lnSpcReduction="10000"/>
          </a:bodyPr>
          <a:lstStyle/>
          <a:p>
            <a:r>
              <a:rPr lang="en-US" sz="2800" dirty="0">
                <a:effectLst>
                  <a:outerShdw blurRad="38100" dist="38100" dir="2700000" algn="tl">
                    <a:srgbClr val="000000">
                      <a:alpha val="43137"/>
                    </a:srgbClr>
                  </a:outerShdw>
                </a:effectLst>
              </a:rPr>
              <a:t>Hygiene refers to the set of practices associated with the preservation of health and healthy living.</a:t>
            </a:r>
          </a:p>
          <a:p>
            <a:endParaRPr lang="en-US" sz="2800" dirty="0">
              <a:effectLst>
                <a:outerShdw blurRad="38100" dist="38100" dir="2700000" algn="tl">
                  <a:srgbClr val="000000">
                    <a:alpha val="43137"/>
                  </a:srgbClr>
                </a:outerShdw>
              </a:effectLst>
            </a:endParaRPr>
          </a:p>
          <a:p>
            <a:r>
              <a:rPr lang="en-US" sz="2800" dirty="0">
                <a:effectLst>
                  <a:outerShdw blurRad="38100" dist="38100" dir="2700000" algn="tl">
                    <a:srgbClr val="000000">
                      <a:alpha val="43137"/>
                    </a:srgbClr>
                  </a:outerShdw>
                </a:effectLst>
              </a:rPr>
              <a:t>Hygiene is a concept related to medicine, as well as to personal and professional care practices related to most aspects of living, although it is most often associated with cleanliness and preventive measures. </a:t>
            </a:r>
          </a:p>
          <a:p>
            <a:endParaRPr lang="en-US" sz="2800" dirty="0">
              <a:effectLst>
                <a:outerShdw blurRad="38100" dist="38100" dir="2700000" algn="tl">
                  <a:srgbClr val="000000">
                    <a:alpha val="43137"/>
                  </a:srgbClr>
                </a:outerShdw>
              </a:effectLst>
            </a:endParaRPr>
          </a:p>
          <a:p>
            <a:r>
              <a:rPr lang="en-US" sz="2800" dirty="0">
                <a:effectLst>
                  <a:outerShdw blurRad="38100" dist="38100" dir="2700000" algn="tl">
                    <a:srgbClr val="000000">
                      <a:alpha val="43137"/>
                    </a:srgbClr>
                  </a:outerShdw>
                </a:effectLst>
              </a:rPr>
              <a:t>Hygiene is also the name of the science that deals with the promotion and preservation of health, also called </a:t>
            </a:r>
            <a:r>
              <a:rPr lang="en-US" sz="2800" dirty="0" err="1">
                <a:effectLst>
                  <a:outerShdw blurRad="38100" dist="38100" dir="2700000" algn="tl">
                    <a:srgbClr val="000000">
                      <a:alpha val="43137"/>
                    </a:srgbClr>
                  </a:outerShdw>
                </a:effectLst>
              </a:rPr>
              <a:t>hygienics</a:t>
            </a:r>
            <a:r>
              <a:rPr lang="en-US" sz="2800" dirty="0">
                <a:effectLst>
                  <a:outerShdw blurRad="38100" dist="38100" dir="2700000" algn="tl">
                    <a:srgbClr val="000000">
                      <a:alpha val="43137"/>
                    </a:srgbClr>
                  </a:outerShdw>
                </a:effectLst>
              </a:rPr>
              <a:t>.</a:t>
            </a: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41</a:t>
            </a:fld>
            <a:endParaRPr lang="en-US">
              <a:solidFill>
                <a:prstClr val="black">
                  <a:tint val="75000"/>
                </a:prstClr>
              </a:solidFill>
              <a:latin typeface="Calibri"/>
            </a:endParaRPr>
          </a:p>
        </p:txBody>
      </p:sp>
    </p:spTree>
    <p:extLst>
      <p:ext uri="{BB962C8B-B14F-4D97-AF65-F5344CB8AC3E}">
        <p14:creationId xmlns:p14="http://schemas.microsoft.com/office/powerpoint/2010/main" val="23214996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152400"/>
            <a:ext cx="8763000" cy="6553200"/>
          </a:xfrm>
        </p:spPr>
        <p:txBody>
          <a:bodyPr>
            <a:normAutofit fontScale="92500" lnSpcReduction="20000"/>
          </a:bodyPr>
          <a:lstStyle/>
          <a:p>
            <a:r>
              <a:rPr lang="en-US" sz="2800" dirty="0">
                <a:effectLst>
                  <a:outerShdw blurRad="38100" dist="38100" dir="2700000" algn="tl">
                    <a:srgbClr val="000000">
                      <a:alpha val="43137"/>
                    </a:srgbClr>
                  </a:outerShdw>
                </a:effectLst>
              </a:rPr>
              <a:t>Sanitation is the hygienic means of promoting health through prevention of human contact with the hazard wastes.</a:t>
            </a:r>
          </a:p>
          <a:p>
            <a:endParaRPr lang="en-US" sz="2800" dirty="0">
              <a:effectLst>
                <a:outerShdw blurRad="38100" dist="38100" dir="2700000" algn="tl">
                  <a:srgbClr val="000000">
                    <a:alpha val="43137"/>
                  </a:srgbClr>
                </a:outerShdw>
              </a:effectLst>
            </a:endParaRPr>
          </a:p>
          <a:p>
            <a:r>
              <a:rPr lang="en-US" sz="2800" dirty="0">
                <a:effectLst>
                  <a:outerShdw blurRad="38100" dist="38100" dir="2700000" algn="tl">
                    <a:srgbClr val="000000">
                      <a:alpha val="43137"/>
                    </a:srgbClr>
                  </a:outerShdw>
                </a:effectLst>
              </a:rPr>
              <a:t>Wastes that can cause health problems are human and animal feaces, solid wastes, domestic waste water (sewage, grey water), industrial wastes and agricultural wastes.</a:t>
            </a:r>
          </a:p>
          <a:p>
            <a:endParaRPr lang="en-US" sz="2800" dirty="0">
              <a:effectLst>
                <a:outerShdw blurRad="38100" dist="38100" dir="2700000" algn="tl">
                  <a:srgbClr val="000000">
                    <a:alpha val="43137"/>
                  </a:srgbClr>
                </a:outerShdw>
              </a:effectLst>
            </a:endParaRPr>
          </a:p>
          <a:p>
            <a:r>
              <a:rPr lang="en-US" sz="2800" dirty="0">
                <a:effectLst>
                  <a:outerShdw blurRad="38100" dist="38100" dir="2700000" algn="tl">
                    <a:srgbClr val="000000">
                      <a:alpha val="43137"/>
                    </a:srgbClr>
                  </a:outerShdw>
                </a:effectLst>
              </a:rPr>
              <a:t>Hygienic means of prevention can be by using ;</a:t>
            </a:r>
          </a:p>
          <a:p>
            <a:endParaRPr lang="en-US" sz="2800" dirty="0">
              <a:effectLst>
                <a:outerShdw blurRad="38100" dist="38100" dir="2700000" algn="tl">
                  <a:srgbClr val="000000">
                    <a:alpha val="43137"/>
                  </a:srgbClr>
                </a:outerShdw>
              </a:effectLst>
            </a:endParaRPr>
          </a:p>
          <a:p>
            <a:r>
              <a:rPr lang="en-US" sz="2800" dirty="0">
                <a:effectLst>
                  <a:outerShdw blurRad="38100" dist="38100" dir="2700000" algn="tl">
                    <a:srgbClr val="000000">
                      <a:alpha val="43137"/>
                    </a:srgbClr>
                  </a:outerShdw>
                </a:effectLst>
              </a:rPr>
              <a:t>Engineering solutions ( </a:t>
            </a:r>
            <a:r>
              <a:rPr lang="en-US" sz="2800" dirty="0" err="1">
                <a:effectLst>
                  <a:outerShdw blurRad="38100" dist="38100" dir="2700000" algn="tl">
                    <a:srgbClr val="000000">
                      <a:alpha val="43137"/>
                    </a:srgbClr>
                  </a:outerShdw>
                </a:effectLst>
              </a:rPr>
              <a:t>e.g</a:t>
            </a:r>
            <a:r>
              <a:rPr lang="en-US" sz="2800" dirty="0">
                <a:effectLst>
                  <a:outerShdw blurRad="38100" dist="38100" dir="2700000" algn="tl">
                    <a:srgbClr val="000000">
                      <a:alpha val="43137"/>
                    </a:srgbClr>
                  </a:outerShdw>
                </a:effectLst>
              </a:rPr>
              <a:t> sewerage and waste water treatment), </a:t>
            </a:r>
          </a:p>
          <a:p>
            <a:endParaRPr lang="en-US" sz="2800" dirty="0">
              <a:effectLst>
                <a:outerShdw blurRad="38100" dist="38100" dir="2700000" algn="tl">
                  <a:srgbClr val="000000">
                    <a:alpha val="43137"/>
                  </a:srgbClr>
                </a:outerShdw>
              </a:effectLst>
            </a:endParaRPr>
          </a:p>
          <a:p>
            <a:r>
              <a:rPr lang="en-US" sz="2800" dirty="0">
                <a:effectLst>
                  <a:outerShdw blurRad="38100" dist="38100" dir="2700000" algn="tl">
                    <a:srgbClr val="000000">
                      <a:alpha val="43137"/>
                    </a:srgbClr>
                  </a:outerShdw>
                </a:effectLst>
              </a:rPr>
              <a:t>Simple technologies (</a:t>
            </a:r>
            <a:r>
              <a:rPr lang="en-US" sz="2800" dirty="0" err="1">
                <a:effectLst>
                  <a:outerShdw blurRad="38100" dist="38100" dir="2700000" algn="tl">
                    <a:srgbClr val="000000">
                      <a:alpha val="43137"/>
                    </a:srgbClr>
                  </a:outerShdw>
                </a:effectLst>
              </a:rPr>
              <a:t>e,g</a:t>
            </a:r>
            <a:r>
              <a:rPr lang="en-US" sz="2800" dirty="0">
                <a:effectLst>
                  <a:outerShdw blurRad="38100" dist="38100" dir="2700000" algn="tl">
                    <a:srgbClr val="000000">
                      <a:alpha val="43137"/>
                    </a:srgbClr>
                  </a:outerShdw>
                </a:effectLst>
              </a:rPr>
              <a:t>, latrines, septic tanks),or even by</a:t>
            </a:r>
          </a:p>
          <a:p>
            <a:endParaRPr lang="en-US" sz="2800" dirty="0">
              <a:effectLst>
                <a:outerShdw blurRad="38100" dist="38100" dir="2700000" algn="tl">
                  <a:srgbClr val="000000">
                    <a:alpha val="43137"/>
                  </a:srgbClr>
                </a:outerShdw>
              </a:effectLst>
            </a:endParaRPr>
          </a:p>
          <a:p>
            <a:r>
              <a:rPr lang="en-US" sz="2800" dirty="0">
                <a:effectLst>
                  <a:outerShdw blurRad="38100" dist="38100" dir="2700000" algn="tl">
                    <a:srgbClr val="000000">
                      <a:alpha val="43137"/>
                    </a:srgbClr>
                  </a:outerShdw>
                </a:effectLst>
              </a:rPr>
              <a:t>Personal hygiene practices( </a:t>
            </a:r>
            <a:r>
              <a:rPr lang="en-US" sz="2800" dirty="0" err="1">
                <a:effectLst>
                  <a:outerShdw blurRad="38100" dist="38100" dir="2700000" algn="tl">
                    <a:srgbClr val="000000">
                      <a:alpha val="43137"/>
                    </a:srgbClr>
                  </a:outerShdw>
                </a:effectLst>
              </a:rPr>
              <a:t>e.g</a:t>
            </a:r>
            <a:r>
              <a:rPr lang="en-US" sz="2800" dirty="0">
                <a:effectLst>
                  <a:outerShdw blurRad="38100" dist="38100" dir="2700000" algn="tl">
                    <a:srgbClr val="000000">
                      <a:alpha val="43137"/>
                    </a:srgbClr>
                  </a:outerShdw>
                </a:effectLst>
              </a:rPr>
              <a:t> simple hand washing with soap)</a:t>
            </a:r>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42</a:t>
            </a:fld>
            <a:endParaRPr lang="en-US">
              <a:solidFill>
                <a:prstClr val="black">
                  <a:tint val="75000"/>
                </a:prstClr>
              </a:solidFill>
              <a:latin typeface="Calibri"/>
            </a:endParaRPr>
          </a:p>
        </p:txBody>
      </p:sp>
    </p:spTree>
    <p:extLst>
      <p:ext uri="{BB962C8B-B14F-4D97-AF65-F5344CB8AC3E}">
        <p14:creationId xmlns:p14="http://schemas.microsoft.com/office/powerpoint/2010/main" val="27779998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228600"/>
            <a:ext cx="8763000" cy="6477000"/>
          </a:xfrm>
        </p:spPr>
        <p:txBody>
          <a:bodyPr>
            <a:normAutofit fontScale="92500" lnSpcReduction="20000"/>
          </a:bodyPr>
          <a:lstStyle/>
          <a:p>
            <a:r>
              <a:rPr lang="en-US" dirty="0">
                <a:solidFill>
                  <a:srgbClr val="FF0000"/>
                </a:solidFill>
                <a:effectLst>
                  <a:outerShdw blurRad="38100" dist="38100" dir="2700000" algn="tl">
                    <a:srgbClr val="000000">
                      <a:alpha val="43137"/>
                    </a:srgbClr>
                  </a:outerShdw>
                </a:effectLst>
              </a:rPr>
              <a:t>INFECTIONS</a:t>
            </a:r>
          </a:p>
          <a:p>
            <a:r>
              <a:rPr lang="en-US" dirty="0">
                <a:effectLst>
                  <a:outerShdw blurRad="38100" dist="38100" dir="2700000" algn="tl">
                    <a:srgbClr val="000000">
                      <a:alpha val="43137"/>
                    </a:srgbClr>
                  </a:outerShdw>
                </a:effectLst>
              </a:rPr>
              <a:t>An infection is the detrimental colonization of a host organism by a foreign species.</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In an infection, the infecting organism seeks to utilize the host’s resources to multiply, usually at the expense of the host</a:t>
            </a:r>
          </a:p>
          <a:p>
            <a:r>
              <a:rPr lang="en-US" dirty="0">
                <a:solidFill>
                  <a:srgbClr val="00B0F0"/>
                </a:solidFill>
                <a:effectLst>
                  <a:outerShdw blurRad="38100" dist="38100" dir="2700000" algn="tl">
                    <a:srgbClr val="000000">
                      <a:alpha val="43137"/>
                    </a:srgbClr>
                  </a:outerShdw>
                </a:effectLst>
              </a:rPr>
              <a:t>REASONS FOR PERSONAL HYGIENE</a:t>
            </a:r>
          </a:p>
          <a:p>
            <a:r>
              <a:rPr lang="en-US" dirty="0">
                <a:solidFill>
                  <a:srgbClr val="00B0F0"/>
                </a:solidFill>
                <a:effectLst>
                  <a:outerShdw blurRad="38100" dist="38100" dir="2700000" algn="tl">
                    <a:srgbClr val="000000">
                      <a:alpha val="43137"/>
                    </a:srgbClr>
                  </a:outerShdw>
                </a:effectLst>
              </a:rPr>
              <a:t>To improve health.</a:t>
            </a:r>
          </a:p>
          <a:p>
            <a:r>
              <a:rPr lang="en-US" dirty="0">
                <a:effectLst>
                  <a:outerShdw blurRad="38100" dist="38100" dir="2700000" algn="tl">
                    <a:srgbClr val="000000">
                      <a:alpha val="43137"/>
                    </a:srgbClr>
                  </a:outerShdw>
                </a:effectLst>
              </a:rPr>
              <a:t>Good personal hygiene can make you a healthy person.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Regular bathing and frequent hand washing will prevent many illnesses by killing the unseen germs found on our bodies</a:t>
            </a:r>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43</a:t>
            </a:fld>
            <a:endParaRPr lang="en-US">
              <a:solidFill>
                <a:prstClr val="black">
                  <a:tint val="75000"/>
                </a:prstClr>
              </a:solidFill>
              <a:latin typeface="Calibri"/>
            </a:endParaRPr>
          </a:p>
        </p:txBody>
      </p:sp>
    </p:spTree>
    <p:extLst>
      <p:ext uri="{BB962C8B-B14F-4D97-AF65-F5344CB8AC3E}">
        <p14:creationId xmlns:p14="http://schemas.microsoft.com/office/powerpoint/2010/main" val="8299060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52400"/>
            <a:ext cx="8839200" cy="6629400"/>
          </a:xfrm>
        </p:spPr>
        <p:txBody>
          <a:bodyPr>
            <a:normAutofit fontScale="92500" lnSpcReduction="10000"/>
          </a:bodyPr>
          <a:lstStyle/>
          <a:p>
            <a:r>
              <a:rPr lang="en-US" dirty="0">
                <a:solidFill>
                  <a:srgbClr val="00B0F0"/>
                </a:solidFill>
                <a:effectLst>
                  <a:outerShdw blurRad="38100" dist="38100" dir="2700000" algn="tl">
                    <a:srgbClr val="000000">
                      <a:alpha val="43137"/>
                    </a:srgbClr>
                  </a:outerShdw>
                </a:effectLst>
              </a:rPr>
              <a:t>To prevent body </a:t>
            </a:r>
            <a:r>
              <a:rPr lang="en-US" dirty="0" err="1">
                <a:solidFill>
                  <a:srgbClr val="00B0F0"/>
                </a:solidFill>
                <a:effectLst>
                  <a:outerShdw blurRad="38100" dist="38100" dir="2700000" algn="tl">
                    <a:srgbClr val="000000">
                      <a:alpha val="43137"/>
                    </a:srgbClr>
                  </a:outerShdw>
                </a:effectLst>
              </a:rPr>
              <a:t>odour</a:t>
            </a:r>
            <a:r>
              <a:rPr lang="en-US" dirty="0">
                <a:solidFill>
                  <a:srgbClr val="00B0F0"/>
                </a:solidFill>
                <a:effectLst>
                  <a:outerShdw blurRad="38100" dist="38100" dir="2700000" algn="tl">
                    <a:srgbClr val="000000">
                      <a:alpha val="43137"/>
                    </a:srgbClr>
                  </a:outerShdw>
                </a:effectLst>
              </a:rPr>
              <a:t>.</a:t>
            </a:r>
          </a:p>
          <a:p>
            <a:r>
              <a:rPr lang="en-US" dirty="0">
                <a:effectLst>
                  <a:outerShdw blurRad="38100" dist="38100" dir="2700000" algn="tl">
                    <a:srgbClr val="000000">
                      <a:alpha val="43137"/>
                    </a:srgbClr>
                  </a:outerShdw>
                </a:effectLst>
              </a:rPr>
              <a:t>Bathing every day and using a good antiperspirant or deodorant will remove the body chemicals that cause </a:t>
            </a:r>
            <a:r>
              <a:rPr lang="en-US" dirty="0" err="1">
                <a:effectLst>
                  <a:outerShdw blurRad="38100" dist="38100" dir="2700000" algn="tl">
                    <a:srgbClr val="000000">
                      <a:alpha val="43137"/>
                    </a:srgbClr>
                  </a:outerShdw>
                </a:effectLst>
              </a:rPr>
              <a:t>odour</a:t>
            </a:r>
            <a:r>
              <a:rPr lang="en-US" dirty="0">
                <a:effectLst>
                  <a:outerShdw blurRad="38100" dist="38100" dir="2700000" algn="tl">
                    <a:srgbClr val="000000">
                      <a:alpha val="43137"/>
                    </a:srgbClr>
                  </a:outerShdw>
                </a:effectLst>
              </a:rPr>
              <a:t>.</a:t>
            </a:r>
          </a:p>
          <a:p>
            <a:pPr marL="0" indent="0">
              <a:buNone/>
            </a:pPr>
            <a:endParaRPr lang="en-US" dirty="0">
              <a:effectLst>
                <a:outerShdw blurRad="38100" dist="38100" dir="2700000" algn="tl">
                  <a:srgbClr val="000000">
                    <a:alpha val="43137"/>
                  </a:srgbClr>
                </a:outerShdw>
              </a:effectLst>
            </a:endParaRPr>
          </a:p>
          <a:p>
            <a:r>
              <a:rPr lang="en-US" dirty="0">
                <a:solidFill>
                  <a:srgbClr val="00B0F0"/>
                </a:solidFill>
                <a:effectLst>
                  <a:outerShdw blurRad="38100" dist="38100" dir="2700000" algn="tl">
                    <a:srgbClr val="000000">
                      <a:alpha val="43137"/>
                    </a:srgbClr>
                  </a:outerShdw>
                </a:effectLst>
              </a:rPr>
              <a:t>To improve self esteem</a:t>
            </a:r>
          </a:p>
          <a:p>
            <a:r>
              <a:rPr lang="en-US" dirty="0">
                <a:effectLst>
                  <a:outerShdw blurRad="38100" dist="38100" dir="2700000" algn="tl">
                    <a:srgbClr val="000000">
                      <a:alpha val="43137"/>
                    </a:srgbClr>
                  </a:outerShdw>
                </a:effectLst>
              </a:rPr>
              <a:t>Go about your day in confidence</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Good personal hygiene also improves self esteem and confidence</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If you know you are clean, you can go about your daily activities without worrying that the body </a:t>
            </a:r>
            <a:r>
              <a:rPr lang="en-US" dirty="0" err="1">
                <a:effectLst>
                  <a:outerShdw blurRad="38100" dist="38100" dir="2700000" algn="tl">
                    <a:srgbClr val="000000">
                      <a:alpha val="43137"/>
                    </a:srgbClr>
                  </a:outerShdw>
                </a:effectLst>
              </a:rPr>
              <a:t>odours</a:t>
            </a:r>
            <a:r>
              <a:rPr lang="en-US" dirty="0">
                <a:effectLst>
                  <a:outerShdw blurRad="38100" dist="38100" dir="2700000" algn="tl">
                    <a:srgbClr val="000000">
                      <a:alpha val="43137"/>
                    </a:srgbClr>
                  </a:outerShdw>
                </a:effectLst>
              </a:rPr>
              <a:t> may be offending others</a:t>
            </a:r>
          </a:p>
          <a:p>
            <a:endParaRPr lang="en-US" dirty="0"/>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44</a:t>
            </a:fld>
            <a:endParaRPr lang="en-US">
              <a:solidFill>
                <a:prstClr val="black">
                  <a:tint val="75000"/>
                </a:prstClr>
              </a:solidFill>
              <a:latin typeface="Calibri"/>
            </a:endParaRPr>
          </a:p>
        </p:txBody>
      </p:sp>
    </p:spTree>
    <p:extLst>
      <p:ext uri="{BB962C8B-B14F-4D97-AF65-F5344CB8AC3E}">
        <p14:creationId xmlns:p14="http://schemas.microsoft.com/office/powerpoint/2010/main" val="1287006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52400"/>
            <a:ext cx="8839200" cy="6553200"/>
          </a:xfrm>
        </p:spPr>
        <p:txBody>
          <a:bodyPr>
            <a:normAutofit lnSpcReduction="10000"/>
          </a:bodyPr>
          <a:lstStyle/>
          <a:p>
            <a:r>
              <a:rPr lang="en-US" dirty="0">
                <a:solidFill>
                  <a:srgbClr val="00B0F0"/>
                </a:solidFill>
                <a:effectLst>
                  <a:outerShdw blurRad="38100" dist="38100" dir="2700000" algn="tl">
                    <a:srgbClr val="000000">
                      <a:alpha val="43137"/>
                    </a:srgbClr>
                  </a:outerShdw>
                </a:effectLst>
              </a:rPr>
              <a:t>To improve skin problems</a:t>
            </a:r>
          </a:p>
          <a:p>
            <a:r>
              <a:rPr lang="en-US" dirty="0">
                <a:effectLst>
                  <a:outerShdw blurRad="38100" dist="38100" dir="2700000" algn="tl">
                    <a:srgbClr val="000000">
                      <a:alpha val="43137"/>
                    </a:srgbClr>
                  </a:outerShdw>
                </a:effectLst>
              </a:rPr>
              <a:t>Good personal hygiene may prevent athlete’s foot and other conditions that are caused by lack of washing, •	Unwashed skin can result in skin diseases like scabies, eczema and ring worm</a:t>
            </a:r>
          </a:p>
          <a:p>
            <a:r>
              <a:rPr lang="en-US" dirty="0">
                <a:solidFill>
                  <a:srgbClr val="00B0F0"/>
                </a:solidFill>
                <a:effectLst>
                  <a:outerShdw blurRad="38100" dist="38100" dir="2700000" algn="tl">
                    <a:srgbClr val="000000">
                      <a:alpha val="43137"/>
                    </a:srgbClr>
                  </a:outerShdw>
                </a:effectLst>
              </a:rPr>
              <a:t>To prevent Dental problems</a:t>
            </a:r>
          </a:p>
          <a:p>
            <a:r>
              <a:rPr lang="en-US" dirty="0">
                <a:effectLst>
                  <a:outerShdw blurRad="38100" dist="38100" dir="2700000" algn="tl">
                    <a:srgbClr val="000000">
                      <a:alpha val="43137"/>
                    </a:srgbClr>
                  </a:outerShdw>
                </a:effectLst>
              </a:rPr>
              <a:t>Brush your teeth 2-3 times a day.</a:t>
            </a:r>
          </a:p>
          <a:p>
            <a:pPr marL="0" indent="0">
              <a:buNone/>
            </a:pPr>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Good personal hygiene will prevent bad breath and tooth decay.</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 Brushing and flossing your teeth three times a day will keep your breath smelling clean.</a:t>
            </a:r>
          </a:p>
          <a:p>
            <a:endParaRPr lang="en-US" dirty="0"/>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45</a:t>
            </a:fld>
            <a:endParaRPr lang="en-US">
              <a:solidFill>
                <a:prstClr val="black">
                  <a:tint val="75000"/>
                </a:prstClr>
              </a:solidFill>
              <a:latin typeface="Calibri"/>
            </a:endParaRPr>
          </a:p>
        </p:txBody>
      </p:sp>
    </p:spTree>
    <p:extLst>
      <p:ext uri="{BB962C8B-B14F-4D97-AF65-F5344CB8AC3E}">
        <p14:creationId xmlns:p14="http://schemas.microsoft.com/office/powerpoint/2010/main" val="35779457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228600"/>
            <a:ext cx="8686800" cy="6477000"/>
          </a:xfrm>
        </p:spPr>
        <p:txBody>
          <a:bodyPr>
            <a:normAutofit fontScale="92500" lnSpcReduction="20000"/>
          </a:bodyPr>
          <a:lstStyle/>
          <a:p>
            <a:r>
              <a:rPr lang="en-US" dirty="0">
                <a:solidFill>
                  <a:srgbClr val="00B0F0"/>
                </a:solidFill>
                <a:effectLst>
                  <a:outerShdw blurRad="38100" dist="38100" dir="2700000" algn="tl">
                    <a:srgbClr val="000000">
                      <a:alpha val="43137"/>
                    </a:srgbClr>
                  </a:outerShdw>
                </a:effectLst>
              </a:rPr>
              <a:t>HOW TO PRACTICE GOOD PERSONAL HYGIENE</a:t>
            </a:r>
          </a:p>
          <a:p>
            <a:r>
              <a:rPr lang="en-US" sz="2800" dirty="0">
                <a:solidFill>
                  <a:schemeClr val="accent6"/>
                </a:solidFill>
                <a:effectLst>
                  <a:outerShdw blurRad="38100" dist="38100" dir="2700000" algn="tl">
                    <a:srgbClr val="000000">
                      <a:alpha val="43137"/>
                    </a:srgbClr>
                  </a:outerShdw>
                </a:effectLst>
              </a:rPr>
              <a:t>1. Wash your hands after coming into contact with germs</a:t>
            </a:r>
            <a:r>
              <a:rPr lang="en-US" sz="2800" dirty="0">
                <a:effectLst>
                  <a:outerShdw blurRad="38100" dist="38100" dir="2700000" algn="tl">
                    <a:srgbClr val="000000">
                      <a:alpha val="43137"/>
                    </a:srgbClr>
                  </a:outerShdw>
                </a:effectLst>
              </a:rPr>
              <a:t>, which can be found almost every where.</a:t>
            </a:r>
          </a:p>
          <a:p>
            <a:endParaRPr lang="en-US" sz="2800" dirty="0">
              <a:effectLst>
                <a:outerShdw blurRad="38100" dist="38100" dir="2700000" algn="tl">
                  <a:srgbClr val="000000">
                    <a:alpha val="43137"/>
                  </a:srgbClr>
                </a:outerShdw>
              </a:effectLst>
            </a:endParaRPr>
          </a:p>
          <a:p>
            <a:r>
              <a:rPr lang="en-US" sz="2800" dirty="0">
                <a:effectLst>
                  <a:outerShdw blurRad="38100" dist="38100" dir="2700000" algn="tl">
                    <a:srgbClr val="000000">
                      <a:alpha val="43137"/>
                    </a:srgbClr>
                  </a:outerShdw>
                </a:effectLst>
              </a:rPr>
              <a:t>When you are preparing uncooked meet or have gone to the toilet, or done anything that brings your body into contact with germs, it’s important to wash your hands</a:t>
            </a:r>
          </a:p>
          <a:p>
            <a:endParaRPr lang="en-US" sz="2800" dirty="0">
              <a:effectLst>
                <a:outerShdw blurRad="38100" dist="38100" dir="2700000" algn="tl">
                  <a:srgbClr val="000000">
                    <a:alpha val="43137"/>
                  </a:srgbClr>
                </a:outerShdw>
              </a:effectLst>
            </a:endParaRPr>
          </a:p>
          <a:p>
            <a:r>
              <a:rPr lang="en-US" sz="2800" dirty="0">
                <a:effectLst>
                  <a:outerShdw blurRad="38100" dist="38100" dir="2700000" algn="tl">
                    <a:srgbClr val="000000">
                      <a:alpha val="43137"/>
                    </a:srgbClr>
                  </a:outerShdw>
                </a:effectLst>
              </a:rPr>
              <a:t>E. coli, Hepatitis , flu, colds and other infectious diseases are transmitted if you bring contaminated hands into contact with someone’s face or body.</a:t>
            </a:r>
          </a:p>
          <a:p>
            <a:r>
              <a:rPr lang="en-US" sz="2800" dirty="0">
                <a:effectLst>
                  <a:outerShdw blurRad="38100" dist="38100" dir="2700000" algn="tl">
                    <a:srgbClr val="000000">
                      <a:alpha val="43137"/>
                    </a:srgbClr>
                  </a:outerShdw>
                </a:effectLst>
              </a:rPr>
              <a:t> GERMS are living  micro organisms that can cause disease</a:t>
            </a:r>
          </a:p>
          <a:p>
            <a:endParaRPr lang="en-US" sz="2800" dirty="0">
              <a:effectLst>
                <a:outerShdw blurRad="38100" dist="38100" dir="2700000" algn="tl">
                  <a:srgbClr val="000000">
                    <a:alpha val="43137"/>
                  </a:srgbClr>
                </a:outerShdw>
              </a:effectLst>
            </a:endParaRPr>
          </a:p>
          <a:p>
            <a:r>
              <a:rPr lang="en-US" sz="2800" dirty="0">
                <a:effectLst>
                  <a:outerShdw blurRad="38100" dist="38100" dir="2700000" algn="tl">
                    <a:srgbClr val="000000">
                      <a:alpha val="43137"/>
                    </a:srgbClr>
                  </a:outerShdw>
                </a:effectLst>
              </a:rPr>
              <a:t>It is recommended that you use an antibacterial soap when washing hands to ensure that you kill all the germs that could be present on hands and for arms.</a:t>
            </a:r>
          </a:p>
          <a:p>
            <a:endParaRPr lang="en-US" dirty="0"/>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46</a:t>
            </a:fld>
            <a:endParaRPr lang="en-US">
              <a:solidFill>
                <a:prstClr val="black">
                  <a:tint val="75000"/>
                </a:prstClr>
              </a:solidFill>
              <a:latin typeface="Calibri"/>
            </a:endParaRPr>
          </a:p>
        </p:txBody>
      </p:sp>
    </p:spTree>
    <p:extLst>
      <p:ext uri="{BB962C8B-B14F-4D97-AF65-F5344CB8AC3E}">
        <p14:creationId xmlns:p14="http://schemas.microsoft.com/office/powerpoint/2010/main" val="23473674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76200"/>
            <a:ext cx="8915400" cy="6781800"/>
          </a:xfrm>
        </p:spPr>
        <p:txBody>
          <a:bodyPr>
            <a:normAutofit fontScale="85000" lnSpcReduction="20000"/>
          </a:bodyPr>
          <a:lstStyle/>
          <a:p>
            <a:r>
              <a:rPr lang="en-US" dirty="0">
                <a:solidFill>
                  <a:schemeClr val="accent2">
                    <a:lumMod val="40000"/>
                    <a:lumOff val="60000"/>
                  </a:schemeClr>
                </a:solidFill>
                <a:effectLst>
                  <a:outerShdw blurRad="38100" dist="38100" dir="2700000" algn="tl">
                    <a:srgbClr val="000000">
                      <a:alpha val="43137"/>
                    </a:srgbClr>
                  </a:outerShdw>
                </a:effectLst>
              </a:rPr>
              <a:t>Why is hand washing important?</a:t>
            </a:r>
          </a:p>
          <a:p>
            <a:r>
              <a:rPr lang="en-US" dirty="0">
                <a:effectLst>
                  <a:outerShdw blurRad="38100" dist="38100" dir="2700000" algn="tl">
                    <a:srgbClr val="000000">
                      <a:alpha val="43137"/>
                    </a:srgbClr>
                  </a:outerShdw>
                </a:effectLst>
              </a:rPr>
              <a:t>To  protect oneself from getting infected by a number of dangerous ailments.</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People who are careless about washing hands are at higher risk of contracting a cold or flu.</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Not washing hands has also the ability to cause gastrointestinal illnesses and also diarrhea which can spread to the whole family.</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Improper or not washing hands can cause pneumonia in elderly people and in people who are diagnosed with chronic diseases.</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Not washing hands can affect the health of the entire family, learning the proper way to hand wash is therefore essential to stay healthy</a:t>
            </a:r>
          </a:p>
          <a:p>
            <a:endParaRPr lang="en-US" dirty="0"/>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47</a:t>
            </a:fld>
            <a:endParaRPr lang="en-US">
              <a:solidFill>
                <a:prstClr val="black">
                  <a:tint val="75000"/>
                </a:prstClr>
              </a:solidFill>
              <a:latin typeface="Calibri"/>
            </a:endParaRPr>
          </a:p>
        </p:txBody>
      </p:sp>
    </p:spTree>
    <p:extLst>
      <p:ext uri="{BB962C8B-B14F-4D97-AF65-F5344CB8AC3E}">
        <p14:creationId xmlns:p14="http://schemas.microsoft.com/office/powerpoint/2010/main" val="34695432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1" y="27296"/>
            <a:ext cx="8966579" cy="6705600"/>
          </a:xfrm>
        </p:spPr>
        <p:txBody>
          <a:bodyPr>
            <a:normAutofit/>
          </a:bodyPr>
          <a:lstStyle/>
          <a:p>
            <a:r>
              <a:rPr lang="en-US" dirty="0">
                <a:effectLst>
                  <a:outerShdw blurRad="38100" dist="38100" dir="2700000" algn="tl">
                    <a:srgbClr val="000000">
                      <a:alpha val="43137"/>
                    </a:srgbClr>
                  </a:outerShdw>
                </a:effectLst>
              </a:rPr>
              <a:t>Some illnesses we can get when other people’s dirty hands touch the food we eat.</a:t>
            </a:r>
          </a:p>
          <a:p>
            <a:r>
              <a:rPr lang="en-US" dirty="0">
                <a:effectLst>
                  <a:outerShdw blurRad="38100" dist="38100" dir="2700000" algn="tl">
                    <a:srgbClr val="000000">
                      <a:alpha val="43137"/>
                    </a:srgbClr>
                  </a:outerShdw>
                </a:effectLst>
              </a:rPr>
              <a:t>So it is important to keep hands as clean as possible, particularly when around food</a:t>
            </a:r>
          </a:p>
          <a:p>
            <a:endParaRPr lang="en-US" dirty="0">
              <a:effectLst>
                <a:outerShdw blurRad="38100" dist="38100" dir="2700000" algn="tl">
                  <a:srgbClr val="000000">
                    <a:alpha val="43137"/>
                  </a:srgbClr>
                </a:outerShdw>
              </a:effectLst>
            </a:endParaRPr>
          </a:p>
          <a:p>
            <a:pPr>
              <a:lnSpc>
                <a:spcPct val="107000"/>
              </a:lnSpc>
              <a:spcAft>
                <a:spcPts val="800"/>
              </a:spcAft>
            </a:pPr>
            <a:r>
              <a:rPr lang="en-GB"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Hand washing techniques</a:t>
            </a:r>
            <a:endParaRPr lang="en-KE" sz="2800" dirty="0">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buFont typeface="Symbol" panose="05050102010706020507" pitchFamily="18" charset="2"/>
              <a:buChar char=""/>
              <a:tabLst>
                <a:tab pos="457200" algn="l"/>
              </a:tabLs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Hand washing with wipes</a:t>
            </a:r>
            <a:endParaRPr lang="en-KE" sz="28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buFont typeface="Symbol" panose="05050102010706020507" pitchFamily="18" charset="2"/>
              <a:buChar char=""/>
              <a:tabLst>
                <a:tab pos="457200" algn="l"/>
              </a:tabLs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Soap and water</a:t>
            </a:r>
            <a:endParaRPr lang="en-KE" sz="28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buFont typeface="Symbol" panose="05050102010706020507" pitchFamily="18" charset="2"/>
              <a:buChar char=""/>
              <a:tabLst>
                <a:tab pos="457200" algn="l"/>
              </a:tabLs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Hand antiseptic sanitiser</a:t>
            </a:r>
            <a:endParaRPr lang="en-KE" sz="28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buFont typeface="Symbol" panose="05050102010706020507" pitchFamily="18" charset="2"/>
              <a:buChar char=""/>
              <a:tabLst>
                <a:tab pos="457200" algn="l"/>
              </a:tabLs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Drying</a:t>
            </a:r>
            <a:endParaRPr lang="en-KE" sz="28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effectLst>
                <a:outerShdw blurRad="38100" dist="38100" dir="2700000" algn="tl">
                  <a:srgbClr val="000000">
                    <a:alpha val="43137"/>
                  </a:srgbClr>
                </a:outerShdw>
              </a:effectLst>
            </a:endParaRPr>
          </a:p>
          <a:p>
            <a:endParaRPr lang="en-US" dirty="0">
              <a:effectLst>
                <a:outerShdw blurRad="38100" dist="38100" dir="2700000" algn="tl">
                  <a:srgbClr val="000000">
                    <a:alpha val="43137"/>
                  </a:srgbClr>
                </a:outerShdw>
              </a:effectLst>
            </a:endParaRPr>
          </a:p>
          <a:p>
            <a:endParaRPr lang="en-US" dirty="0"/>
          </a:p>
          <a:p>
            <a:endParaRPr lang="en-US" dirty="0"/>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48</a:t>
            </a:fld>
            <a:endParaRPr lang="en-US">
              <a:solidFill>
                <a:prstClr val="black">
                  <a:tint val="75000"/>
                </a:prstClr>
              </a:solidFill>
              <a:latin typeface="Calibri"/>
            </a:endParaRPr>
          </a:p>
        </p:txBody>
      </p:sp>
    </p:spTree>
    <p:extLst>
      <p:ext uri="{BB962C8B-B14F-4D97-AF65-F5344CB8AC3E}">
        <p14:creationId xmlns:p14="http://schemas.microsoft.com/office/powerpoint/2010/main" val="1122022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228600"/>
            <a:ext cx="8915400" cy="6096000"/>
          </a:xfrm>
        </p:spPr>
        <p:txBody>
          <a:bodyPr/>
          <a:lstStyle/>
          <a:p>
            <a:pPr marL="0" indent="0">
              <a:buNone/>
            </a:pPr>
            <a:r>
              <a:rPr lang="en-US" dirty="0">
                <a:effectLst>
                  <a:outerShdw blurRad="38100" dist="38100" dir="2700000" algn="tl">
                    <a:srgbClr val="000000">
                      <a:alpha val="43137"/>
                    </a:srgbClr>
                  </a:outerShdw>
                </a:effectLst>
              </a:rPr>
              <a:t>Hand washing</a:t>
            </a:r>
          </a:p>
          <a:p>
            <a:r>
              <a:rPr lang="en-US" dirty="0">
                <a:solidFill>
                  <a:schemeClr val="accent6">
                    <a:lumMod val="20000"/>
                    <a:lumOff val="80000"/>
                  </a:schemeClr>
                </a:solidFill>
                <a:effectLst>
                  <a:outerShdw blurRad="38100" dist="38100" dir="2700000" algn="tl">
                    <a:srgbClr val="000000">
                      <a:alpha val="43137"/>
                    </a:srgbClr>
                  </a:outerShdw>
                </a:effectLst>
              </a:rPr>
              <a:t>When should we wash our hands?</a:t>
            </a:r>
          </a:p>
          <a:p>
            <a:pPr marL="0" indent="0">
              <a:buNone/>
            </a:pPr>
            <a:r>
              <a:rPr lang="en-US" dirty="0">
                <a:effectLst>
                  <a:outerShdw blurRad="38100" dist="38100" dir="2700000" algn="tl">
                    <a:srgbClr val="000000">
                      <a:alpha val="43137"/>
                    </a:srgbClr>
                  </a:outerShdw>
                </a:effectLst>
              </a:rPr>
              <a:t>•	Before touching the eyes, nose and mouth</a:t>
            </a:r>
          </a:p>
          <a:p>
            <a:pPr marL="0" indent="0">
              <a:buNone/>
            </a:pPr>
            <a:r>
              <a:rPr lang="en-US" dirty="0">
                <a:effectLst>
                  <a:outerShdw blurRad="38100" dist="38100" dir="2700000" algn="tl">
                    <a:srgbClr val="000000">
                      <a:alpha val="43137"/>
                    </a:srgbClr>
                  </a:outerShdw>
                </a:effectLst>
              </a:rPr>
              <a:t>•	Before eating or handling food</a:t>
            </a:r>
          </a:p>
          <a:p>
            <a:pPr marL="0" indent="0">
              <a:buNone/>
            </a:pPr>
            <a:r>
              <a:rPr lang="en-US" dirty="0">
                <a:effectLst>
                  <a:outerShdw blurRad="38100" dist="38100" dir="2700000" algn="tl">
                    <a:srgbClr val="000000">
                      <a:alpha val="43137"/>
                    </a:srgbClr>
                  </a:outerShdw>
                </a:effectLst>
              </a:rPr>
              <a:t>•	After using the toilet</a:t>
            </a:r>
          </a:p>
          <a:p>
            <a:pPr marL="0" indent="0">
              <a:buNone/>
            </a:pPr>
            <a:r>
              <a:rPr lang="en-US" dirty="0">
                <a:effectLst>
                  <a:outerShdw blurRad="38100" dist="38100" dir="2700000" algn="tl">
                    <a:srgbClr val="000000">
                      <a:alpha val="43137"/>
                    </a:srgbClr>
                  </a:outerShdw>
                </a:effectLst>
              </a:rPr>
              <a:t>•	When hands are contaminated by respiratory secretions e.g. after coughing or sneezing</a:t>
            </a:r>
          </a:p>
          <a:p>
            <a:pPr marL="0" indent="0">
              <a:buNone/>
            </a:pPr>
            <a:r>
              <a:rPr lang="en-US" dirty="0">
                <a:effectLst>
                  <a:outerShdw blurRad="38100" dist="38100" dir="2700000" algn="tl">
                    <a:srgbClr val="000000">
                      <a:alpha val="43137"/>
                    </a:srgbClr>
                  </a:outerShdw>
                </a:effectLst>
              </a:rPr>
              <a:t>•	After changing diapers or handling soiled articles when looking after young children or the sick</a:t>
            </a:r>
          </a:p>
          <a:p>
            <a:endParaRPr lang="en-US" dirty="0"/>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3E592ACB-1425-4F75-BD96-BA2FB195C49D}" type="slidenum">
              <a:rPr lang="en-US">
                <a:solidFill>
                  <a:prstClr val="black">
                    <a:tint val="75000"/>
                  </a:prstClr>
                </a:solidFill>
                <a:latin typeface="Calibri"/>
              </a:rPr>
              <a:pPr/>
              <a:t>49</a:t>
            </a:fld>
            <a:endParaRPr lang="en-US">
              <a:solidFill>
                <a:prstClr val="black">
                  <a:tint val="75000"/>
                </a:prstClr>
              </a:solidFill>
              <a:latin typeface="Calibri"/>
            </a:endParaRPr>
          </a:p>
        </p:txBody>
      </p:sp>
    </p:spTree>
    <p:extLst>
      <p:ext uri="{BB962C8B-B14F-4D97-AF65-F5344CB8AC3E}">
        <p14:creationId xmlns:p14="http://schemas.microsoft.com/office/powerpoint/2010/main" val="1335410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228600"/>
            <a:ext cx="8839200" cy="6477000"/>
          </a:xfrm>
        </p:spPr>
        <p:txBody>
          <a:bodyPr>
            <a:normAutofit fontScale="77500" lnSpcReduction="20000"/>
          </a:bodyPr>
          <a:lstStyle/>
          <a:p>
            <a:r>
              <a:rPr lang="en-US" dirty="0">
                <a:effectLst>
                  <a:outerShdw blurRad="38100" dist="38100" dir="2700000" algn="tl">
                    <a:srgbClr val="000000">
                      <a:alpha val="43137"/>
                    </a:srgbClr>
                  </a:outerShdw>
                </a:effectLst>
              </a:rPr>
              <a:t>Washing Hands</a:t>
            </a:r>
          </a:p>
          <a:p>
            <a:r>
              <a:rPr lang="en-US" dirty="0">
                <a:effectLst>
                  <a:outerShdw blurRad="38100" dist="38100" dir="2700000" algn="tl">
                    <a:srgbClr val="000000">
                      <a:alpha val="43137"/>
                    </a:srgbClr>
                  </a:outerShdw>
                </a:effectLst>
              </a:rPr>
              <a:t>Use clean water and antiseptic soap over your hands and wrist</a:t>
            </a:r>
          </a:p>
          <a:p>
            <a:r>
              <a:rPr lang="en-US" dirty="0">
                <a:effectLst>
                  <a:outerShdw blurRad="38100" dist="38100" dir="2700000" algn="tl">
                    <a:srgbClr val="000000">
                      <a:alpha val="43137"/>
                    </a:srgbClr>
                  </a:outerShdw>
                </a:effectLst>
              </a:rPr>
              <a:t>To wash hands long enough, sing a song to wash and wash and wash the hands,  </a:t>
            </a:r>
            <a:r>
              <a:rPr lang="en-US" dirty="0" err="1">
                <a:effectLst>
                  <a:outerShdw blurRad="38100" dist="38100" dir="2700000" algn="tl">
                    <a:srgbClr val="000000">
                      <a:alpha val="43137"/>
                    </a:srgbClr>
                  </a:outerShdw>
                </a:effectLst>
              </a:rPr>
              <a:t>inorder</a:t>
            </a:r>
            <a:r>
              <a:rPr lang="en-US" dirty="0">
                <a:effectLst>
                  <a:outerShdw blurRad="38100" dist="38100" dir="2700000" algn="tl">
                    <a:srgbClr val="000000">
                      <a:alpha val="43137"/>
                    </a:srgbClr>
                  </a:outerShdw>
                </a:effectLst>
              </a:rPr>
              <a:t> to get rid of  the germs away</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Use something  clean to dry the hands, such as a paper towel or hot air drier</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Basic hand washing and skin care can prevent work exposures and diseases.</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Good washing and scrubbing with water and soap helps remove germs, contaminants, and chemicals.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It can prevent exposures by ingestion and cross contamination of the surfaces and objects that we touch</a:t>
            </a:r>
          </a:p>
          <a:p>
            <a:endParaRPr lang="en-US" dirty="0"/>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50</a:t>
            </a:fld>
            <a:endParaRPr lang="en-US">
              <a:solidFill>
                <a:prstClr val="black">
                  <a:tint val="75000"/>
                </a:prstClr>
              </a:solidFill>
              <a:latin typeface="Calibri"/>
            </a:endParaRPr>
          </a:p>
        </p:txBody>
      </p:sp>
    </p:spTree>
    <p:extLst>
      <p:ext uri="{BB962C8B-B14F-4D97-AF65-F5344CB8AC3E}">
        <p14:creationId xmlns:p14="http://schemas.microsoft.com/office/powerpoint/2010/main" val="30225863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152400"/>
            <a:ext cx="8686800" cy="6477000"/>
          </a:xfrm>
        </p:spPr>
        <p:txBody>
          <a:bodyPr>
            <a:normAutofit fontScale="85000" lnSpcReduction="20000"/>
          </a:bodyPr>
          <a:lstStyle/>
          <a:p>
            <a:r>
              <a:rPr lang="en-US" dirty="0">
                <a:effectLst>
                  <a:outerShdw blurRad="38100" dist="38100" dir="2700000" algn="tl">
                    <a:srgbClr val="000000">
                      <a:alpha val="43137"/>
                    </a:srgbClr>
                  </a:outerShdw>
                </a:effectLst>
              </a:rPr>
              <a:t>People should periodically wash their hands during the day. </a:t>
            </a:r>
          </a:p>
          <a:p>
            <a:pPr marL="0" indent="0">
              <a:buNone/>
            </a:pPr>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In some occupations, regular hand washing is required by law.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Hand washing is important before after using the rest room and before or after certain activities.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People should wash their hands before, during and after preparing food and before they take breaks at work to eat or drink.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To control the spread of germs that cause the flu or common cold, people should wash their hands whenever they cough, sneeze, or blow their noses, and whenever they are around someone who is sick</a:t>
            </a:r>
          </a:p>
          <a:p>
            <a:endParaRPr lang="en-US" dirty="0"/>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51</a:t>
            </a:fld>
            <a:endParaRPr lang="en-US">
              <a:solidFill>
                <a:prstClr val="black">
                  <a:tint val="75000"/>
                </a:prstClr>
              </a:solidFill>
              <a:latin typeface="Calibri"/>
            </a:endParaRPr>
          </a:p>
        </p:txBody>
      </p:sp>
    </p:spTree>
    <p:extLst>
      <p:ext uri="{BB962C8B-B14F-4D97-AF65-F5344CB8AC3E}">
        <p14:creationId xmlns:p14="http://schemas.microsoft.com/office/powerpoint/2010/main" val="2328668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00200" y="152400"/>
            <a:ext cx="8991600" cy="6629400"/>
          </a:xfrm>
        </p:spPr>
        <p:txBody>
          <a:bodyPr>
            <a:normAutofit fontScale="70000" lnSpcReduction="20000"/>
          </a:bodyPr>
          <a:lstStyle/>
          <a:p>
            <a:r>
              <a:rPr lang="en-US" dirty="0">
                <a:effectLst>
                  <a:outerShdw blurRad="38100" dist="38100" dir="2700000" algn="tl">
                    <a:srgbClr val="000000">
                      <a:alpha val="43137"/>
                    </a:srgbClr>
                  </a:outerShdw>
                </a:effectLst>
              </a:rPr>
              <a:t>Hand washing involves more than a quick rinse under  a faucet/tap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To wash hands properly, people should first wet them under the faucet and then use liquid or bar soap.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Hands should be held out of the water until all skin surfaces are scrubbed and lathered for at least twenty seconds. </a:t>
            </a:r>
          </a:p>
          <a:p>
            <a:r>
              <a:rPr lang="en-US" dirty="0">
                <a:effectLst>
                  <a:outerShdw blurRad="38100" dist="38100" dir="2700000" algn="tl">
                    <a:srgbClr val="000000">
                      <a:alpha val="43137"/>
                    </a:srgbClr>
                  </a:outerShdw>
                </a:effectLst>
              </a:rPr>
              <a:t>Then rinse with clean water and dry the hands with disposable towel.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To wash hands with a hand sanitizer  one should apply the appropriate amount of sanitizer into the palm of the hand, and then rub hands together  until they are dry, being careful to cover all surfaces of the hands. </a:t>
            </a:r>
          </a:p>
          <a:p>
            <a:r>
              <a:rPr lang="en-US" dirty="0">
                <a:effectLst>
                  <a:outerShdw blurRad="38100" dist="38100" dir="2700000" algn="tl">
                    <a:srgbClr val="000000">
                      <a:alpha val="43137"/>
                    </a:srgbClr>
                  </a:outerShdw>
                </a:effectLst>
              </a:rPr>
              <a:t>For some job activities, hand sanitizers are not an acceptable means of hand cleaning.</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 Showering and face-washing after work  is also a good idea. Proper personal hygiene and hand protection can help keep people productive and on the job.</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77200" y="5715000"/>
            <a:ext cx="1600200" cy="1150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52</a:t>
            </a:fld>
            <a:endParaRPr lang="en-US">
              <a:solidFill>
                <a:prstClr val="black">
                  <a:tint val="75000"/>
                </a:prstClr>
              </a:solidFill>
              <a:latin typeface="Calibri"/>
            </a:endParaRPr>
          </a:p>
        </p:txBody>
      </p:sp>
    </p:spTree>
    <p:extLst>
      <p:ext uri="{BB962C8B-B14F-4D97-AF65-F5344CB8AC3E}">
        <p14:creationId xmlns:p14="http://schemas.microsoft.com/office/powerpoint/2010/main" val="15464429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304800"/>
            <a:ext cx="8839200" cy="6096000"/>
          </a:xfrm>
        </p:spPr>
        <p:txBody>
          <a:bodyPr>
            <a:normAutofit fontScale="70000" lnSpcReduction="20000"/>
          </a:bodyPr>
          <a:lstStyle/>
          <a:p>
            <a:r>
              <a:rPr lang="en-US" i="1" dirty="0">
                <a:solidFill>
                  <a:schemeClr val="accent6">
                    <a:lumMod val="20000"/>
                    <a:lumOff val="80000"/>
                  </a:schemeClr>
                </a:solidFill>
                <a:effectLst>
                  <a:outerShdw blurRad="38100" dist="38100" dir="2700000" algn="tl">
                    <a:srgbClr val="000000">
                      <a:alpha val="43137"/>
                    </a:srgbClr>
                  </a:outerShdw>
                </a:effectLst>
              </a:rPr>
              <a:t>Steps for good hand washing</a:t>
            </a:r>
          </a:p>
          <a:p>
            <a:pPr marL="0" indent="0">
              <a:buNone/>
            </a:pPr>
            <a:r>
              <a:rPr lang="en-US" dirty="0"/>
              <a:t>•	</a:t>
            </a:r>
            <a:r>
              <a:rPr lang="en-US" dirty="0">
                <a:effectLst>
                  <a:outerShdw blurRad="38100" dist="38100" dir="2700000" algn="tl">
                    <a:srgbClr val="000000">
                      <a:alpha val="43137"/>
                    </a:srgbClr>
                  </a:outerShdw>
                </a:effectLst>
              </a:rPr>
              <a:t>Wet hands under running water</a:t>
            </a:r>
          </a:p>
          <a:p>
            <a:pPr marL="0" indent="0">
              <a:buNone/>
            </a:pPr>
            <a:endParaRPr lang="en-US" dirty="0">
              <a:effectLst>
                <a:outerShdw blurRad="38100" dist="38100" dir="2700000" algn="tl">
                  <a:srgbClr val="000000">
                    <a:alpha val="43137"/>
                  </a:srgbClr>
                </a:outerShdw>
              </a:effectLst>
            </a:endParaRPr>
          </a:p>
          <a:p>
            <a:pPr marL="0" indent="0">
              <a:buNone/>
            </a:pPr>
            <a:r>
              <a:rPr lang="en-US" dirty="0">
                <a:effectLst>
                  <a:outerShdw blurRad="38100" dist="38100" dir="2700000" algn="tl">
                    <a:srgbClr val="000000">
                      <a:alpha val="43137"/>
                    </a:srgbClr>
                  </a:outerShdw>
                </a:effectLst>
              </a:rPr>
              <a:t>•	Apply soap and rub hands together to make a soapy lather</a:t>
            </a:r>
          </a:p>
          <a:p>
            <a:pPr marL="0" indent="0">
              <a:buNone/>
            </a:pPr>
            <a:endParaRPr lang="en-US" dirty="0">
              <a:effectLst>
                <a:outerShdw blurRad="38100" dist="38100" dir="2700000" algn="tl">
                  <a:srgbClr val="000000">
                    <a:alpha val="43137"/>
                  </a:srgbClr>
                </a:outerShdw>
              </a:effectLst>
            </a:endParaRPr>
          </a:p>
          <a:p>
            <a:pPr marL="0" indent="0">
              <a:buNone/>
            </a:pPr>
            <a:r>
              <a:rPr lang="en-US" dirty="0">
                <a:effectLst>
                  <a:outerShdw blurRad="38100" dist="38100" dir="2700000" algn="tl">
                    <a:srgbClr val="000000">
                      <a:alpha val="43137"/>
                    </a:srgbClr>
                  </a:outerShdw>
                </a:effectLst>
              </a:rPr>
              <a:t>•	Away from the running water, rub the palms, back of hands, between fingers, back of fingers, thumbs, finger tips and wrists, do this for at least 20 seconds</a:t>
            </a:r>
          </a:p>
          <a:p>
            <a:pPr marL="0" indent="0">
              <a:buNone/>
            </a:pPr>
            <a:endParaRPr lang="en-US" dirty="0">
              <a:effectLst>
                <a:outerShdw blurRad="38100" dist="38100" dir="2700000" algn="tl">
                  <a:srgbClr val="000000">
                    <a:alpha val="43137"/>
                  </a:srgbClr>
                </a:outerShdw>
              </a:effectLst>
            </a:endParaRPr>
          </a:p>
          <a:p>
            <a:pPr marL="0" indent="0">
              <a:buNone/>
            </a:pPr>
            <a:r>
              <a:rPr lang="en-US" dirty="0">
                <a:effectLst>
                  <a:outerShdw blurRad="38100" dist="38100" dir="2700000" algn="tl">
                    <a:srgbClr val="000000">
                      <a:alpha val="43137"/>
                    </a:srgbClr>
                  </a:outerShdw>
                </a:effectLst>
              </a:rPr>
              <a:t>•	Rinse hands thoroughly under running water</a:t>
            </a:r>
          </a:p>
          <a:p>
            <a:pPr marL="0" indent="0">
              <a:buNone/>
            </a:pPr>
            <a:endParaRPr lang="en-US" dirty="0">
              <a:effectLst>
                <a:outerShdw blurRad="38100" dist="38100" dir="2700000" algn="tl">
                  <a:srgbClr val="000000">
                    <a:alpha val="43137"/>
                  </a:srgbClr>
                </a:outerShdw>
              </a:effectLst>
            </a:endParaRPr>
          </a:p>
          <a:p>
            <a:pPr marL="0" indent="0">
              <a:buNone/>
            </a:pPr>
            <a:r>
              <a:rPr lang="en-US" dirty="0">
                <a:effectLst>
                  <a:outerShdw blurRad="38100" dist="38100" dir="2700000" algn="tl">
                    <a:srgbClr val="000000">
                      <a:alpha val="43137"/>
                    </a:srgbClr>
                  </a:outerShdw>
                </a:effectLst>
              </a:rPr>
              <a:t>•	Dry hands thoroughly with clean cotton towel</a:t>
            </a:r>
          </a:p>
          <a:p>
            <a:pPr marL="0" indent="0">
              <a:buNone/>
            </a:pPr>
            <a:endParaRPr lang="en-US" dirty="0">
              <a:effectLst>
                <a:outerShdw blurRad="38100" dist="38100" dir="2700000" algn="tl">
                  <a:srgbClr val="000000">
                    <a:alpha val="43137"/>
                  </a:srgbClr>
                </a:outerShdw>
              </a:effectLst>
            </a:endParaRPr>
          </a:p>
          <a:p>
            <a:pPr marL="0" indent="0">
              <a:buNone/>
            </a:pPr>
            <a:r>
              <a:rPr lang="en-US" dirty="0">
                <a:effectLst>
                  <a:outerShdw blurRad="38100" dist="38100" dir="2700000" algn="tl">
                    <a:srgbClr val="000000">
                      <a:alpha val="43137"/>
                    </a:srgbClr>
                  </a:outerShdw>
                </a:effectLst>
              </a:rPr>
              <a:t>•	Washing hands with water alone is not enough! Soap and rubbing helps remove germs.</a:t>
            </a:r>
          </a:p>
          <a:p>
            <a:pPr marL="0" indent="0">
              <a:buNone/>
            </a:pPr>
            <a:endParaRPr lang="en-US" dirty="0">
              <a:effectLst>
                <a:outerShdw blurRad="38100" dist="38100" dir="2700000" algn="tl">
                  <a:srgbClr val="000000">
                    <a:alpha val="43137"/>
                  </a:srgbClr>
                </a:outerShdw>
              </a:effectLst>
            </a:endParaRPr>
          </a:p>
          <a:p>
            <a:pPr marL="0" indent="0">
              <a:buNone/>
            </a:pPr>
            <a:r>
              <a:rPr lang="en-US" dirty="0">
                <a:effectLst>
                  <a:outerShdw blurRad="38100" dist="38100" dir="2700000" algn="tl">
                    <a:srgbClr val="000000">
                      <a:alpha val="43137"/>
                    </a:srgbClr>
                  </a:outerShdw>
                </a:effectLst>
              </a:rPr>
              <a:t>•	Ash or other cleaning materials can replace soap, if soap is not available</a:t>
            </a:r>
          </a:p>
          <a:p>
            <a:pPr marL="0" indent="0">
              <a:buNone/>
            </a:pPr>
            <a:endParaRPr lang="en-US" dirty="0">
              <a:effectLst>
                <a:outerShdw blurRad="38100" dist="38100" dir="2700000" algn="tl">
                  <a:srgbClr val="000000">
                    <a:alpha val="43137"/>
                  </a:srgbClr>
                </a:outerShdw>
              </a:effectLst>
            </a:endParaRPr>
          </a:p>
          <a:p>
            <a:pPr marL="0" indent="0">
              <a:buNone/>
            </a:pPr>
            <a:endParaRPr lang="en-US" dirty="0"/>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3E592ACB-1425-4F75-BD96-BA2FB195C49D}" type="slidenum">
              <a:rPr lang="en-US">
                <a:solidFill>
                  <a:prstClr val="black">
                    <a:tint val="75000"/>
                  </a:prstClr>
                </a:solidFill>
                <a:latin typeface="Calibri"/>
              </a:rPr>
              <a:pPr/>
              <a:t>53</a:t>
            </a:fld>
            <a:endParaRPr lang="en-US">
              <a:solidFill>
                <a:prstClr val="black">
                  <a:tint val="75000"/>
                </a:prstClr>
              </a:solidFill>
              <a:latin typeface="Calibri"/>
            </a:endParaRPr>
          </a:p>
        </p:txBody>
      </p:sp>
    </p:spTree>
    <p:extLst>
      <p:ext uri="{BB962C8B-B14F-4D97-AF65-F5344CB8AC3E}">
        <p14:creationId xmlns:p14="http://schemas.microsoft.com/office/powerpoint/2010/main" val="33974449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381001"/>
            <a:ext cx="8458200" cy="5745163"/>
          </a:xfrm>
        </p:spPr>
        <p:txBody>
          <a:bodyPr>
            <a:normAutofit fontScale="85000" lnSpcReduction="20000"/>
          </a:bodyPr>
          <a:lstStyle/>
          <a:p>
            <a:r>
              <a:rPr lang="en-US" dirty="0">
                <a:effectLst>
                  <a:outerShdw blurRad="38100" dist="38100" dir="2700000" algn="tl">
                    <a:srgbClr val="000000">
                      <a:alpha val="43137"/>
                    </a:srgbClr>
                  </a:outerShdw>
                </a:effectLst>
              </a:rPr>
              <a:t>In  areas where water is scarce it is still possible to practice washing hands with</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 soap using tippy taps-plastic bottles with holes in the cap and string attached to the top and</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 bottom that can hang over a piece of wood or a nail and be tipped to pour water over hands and tipped back to stop the flow. </a:t>
            </a:r>
          </a:p>
          <a:p>
            <a:endParaRPr lang="en-US" dirty="0">
              <a:effectLst>
                <a:outerShdw blurRad="38100" dist="38100" dir="2700000" algn="tl">
                  <a:srgbClr val="000000">
                    <a:alpha val="43137"/>
                  </a:srgbClr>
                </a:outerShdw>
              </a:effectLst>
            </a:endParaRPr>
          </a:p>
          <a:p>
            <a:pPr marL="0" indent="0">
              <a:buNone/>
            </a:pPr>
            <a:r>
              <a:rPr lang="en-US" dirty="0">
                <a:effectLst>
                  <a:outerShdw blurRad="38100" dist="38100" dir="2700000" algn="tl">
                    <a:srgbClr val="000000">
                      <a:alpha val="43137"/>
                    </a:srgbClr>
                  </a:outerShdw>
                </a:effectLst>
              </a:rPr>
              <a:t>•	Space in between the nail and finger can be good hiding places for germs which spread infections</a:t>
            </a:r>
          </a:p>
          <a:p>
            <a:endParaRPr lang="en-US" dirty="0">
              <a:effectLst>
                <a:outerShdw blurRad="38100" dist="38100" dir="2700000" algn="tl">
                  <a:srgbClr val="000000">
                    <a:alpha val="43137"/>
                  </a:srgbClr>
                </a:outerShdw>
              </a:effectLst>
            </a:endParaRPr>
          </a:p>
          <a:p>
            <a:pPr marL="0" indent="0">
              <a:buNone/>
            </a:pPr>
            <a:r>
              <a:rPr lang="en-US" dirty="0">
                <a:effectLst>
                  <a:outerShdw blurRad="38100" dist="38100" dir="2700000" algn="tl">
                    <a:srgbClr val="000000">
                      <a:alpha val="43137"/>
                    </a:srgbClr>
                  </a:outerShdw>
                </a:effectLst>
              </a:rPr>
              <a:t>•	Fingernails must be clipped regularly to keep them short</a:t>
            </a:r>
          </a:p>
          <a:p>
            <a:endParaRPr lang="en-US" dirty="0"/>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54</a:t>
            </a:fld>
            <a:endParaRPr lang="en-US">
              <a:solidFill>
                <a:prstClr val="black">
                  <a:tint val="75000"/>
                </a:prstClr>
              </a:solidFill>
              <a:latin typeface="Calibri"/>
            </a:endParaRPr>
          </a:p>
        </p:txBody>
      </p:sp>
    </p:spTree>
    <p:extLst>
      <p:ext uri="{BB962C8B-B14F-4D97-AF65-F5344CB8AC3E}">
        <p14:creationId xmlns:p14="http://schemas.microsoft.com/office/powerpoint/2010/main" val="39541778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52400"/>
            <a:ext cx="8839200" cy="6553200"/>
          </a:xfrm>
        </p:spPr>
        <p:txBody>
          <a:bodyPr>
            <a:normAutofit fontScale="77500" lnSpcReduction="20000"/>
          </a:bodyPr>
          <a:lstStyle/>
          <a:p>
            <a:r>
              <a:rPr lang="en-US" dirty="0"/>
              <a:t>2. </a:t>
            </a:r>
            <a:r>
              <a:rPr lang="en-US" dirty="0">
                <a:solidFill>
                  <a:schemeClr val="accent2">
                    <a:lumMod val="40000"/>
                    <a:lumOff val="60000"/>
                  </a:schemeClr>
                </a:solidFill>
                <a:effectLst>
                  <a:outerShdw blurRad="38100" dist="38100" dir="2700000" algn="tl">
                    <a:srgbClr val="000000">
                      <a:alpha val="43137"/>
                    </a:srgbClr>
                  </a:outerShdw>
                </a:effectLst>
              </a:rPr>
              <a:t>Brush your teeth 2-3 times a day</a:t>
            </a:r>
          </a:p>
          <a:p>
            <a:r>
              <a:rPr lang="en-US" dirty="0">
                <a:effectLst>
                  <a:outerShdw blurRad="38100" dist="38100" dir="2700000" algn="tl">
                    <a:srgbClr val="000000">
                      <a:alpha val="43137"/>
                    </a:srgbClr>
                  </a:outerShdw>
                </a:effectLst>
              </a:rPr>
              <a:t>Brushing your teeth as recommended  results in a good personal appearance and oral health.</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 If you don’t brush as recommended, you can face an array of dental problems including tooth decay, gingivitis bad breath and so on.</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 The bacteria that form in your mouth between brushing or overnight causes these dental problems.</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 You are advised to brush your teeth and rinse with antiseptic mouth wash each day at least 2-3 times per day to fight off these bacterium.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Brush in a circular fashion ensuring that food particles stuck between the teeth and in the crevices of the molars are removed effectively</a:t>
            </a:r>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55</a:t>
            </a:fld>
            <a:endParaRPr lang="en-US" dirty="0">
              <a:solidFill>
                <a:prstClr val="black">
                  <a:tint val="75000"/>
                </a:prstClr>
              </a:solidFill>
              <a:latin typeface="Calibri"/>
            </a:endParaRPr>
          </a:p>
        </p:txBody>
      </p:sp>
    </p:spTree>
    <p:extLst>
      <p:ext uri="{BB962C8B-B14F-4D97-AF65-F5344CB8AC3E}">
        <p14:creationId xmlns:p14="http://schemas.microsoft.com/office/powerpoint/2010/main" val="30475147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76200"/>
            <a:ext cx="8839200" cy="6629400"/>
          </a:xfrm>
        </p:spPr>
        <p:txBody>
          <a:bodyPr>
            <a:normAutofit/>
          </a:bodyPr>
          <a:lstStyle/>
          <a:p>
            <a:r>
              <a:rPr lang="en-US" dirty="0">
                <a:effectLst>
                  <a:outerShdw blurRad="38100" dist="38100" dir="2700000" algn="tl">
                    <a:srgbClr val="000000">
                      <a:alpha val="43137"/>
                    </a:srgbClr>
                  </a:outerShdw>
                </a:effectLst>
              </a:rPr>
              <a:t>Causes of bad breath</a:t>
            </a:r>
          </a:p>
          <a:p>
            <a:r>
              <a:rPr lang="en-US" dirty="0">
                <a:effectLst>
                  <a:outerShdw blurRad="38100" dist="38100" dir="2700000" algn="tl">
                    <a:srgbClr val="000000">
                      <a:alpha val="43137"/>
                    </a:srgbClr>
                  </a:outerShdw>
                </a:effectLst>
              </a:rPr>
              <a:t>1. food trapped in cavities after eating</a:t>
            </a:r>
          </a:p>
          <a:p>
            <a:r>
              <a:rPr lang="en-US" dirty="0">
                <a:effectLst>
                  <a:outerShdw blurRad="38100" dist="38100" dir="2700000" algn="tl">
                    <a:srgbClr val="000000">
                      <a:alpha val="43137"/>
                    </a:srgbClr>
                  </a:outerShdw>
                </a:effectLst>
              </a:rPr>
              <a:t>2. the food we eat ( Garlic and onions)</a:t>
            </a:r>
          </a:p>
          <a:p>
            <a:r>
              <a:rPr lang="en-US" dirty="0">
                <a:effectLst>
                  <a:outerShdw blurRad="38100" dist="38100" dir="2700000" algn="tl">
                    <a:srgbClr val="000000">
                      <a:alpha val="43137"/>
                    </a:srgbClr>
                  </a:outerShdw>
                </a:effectLst>
              </a:rPr>
              <a:t>3. Tobacco and beer</a:t>
            </a:r>
          </a:p>
          <a:p>
            <a:r>
              <a:rPr lang="en-US" dirty="0">
                <a:effectLst>
                  <a:outerShdw blurRad="38100" dist="38100" dir="2700000" algn="tl">
                    <a:srgbClr val="000000">
                      <a:alpha val="43137"/>
                    </a:srgbClr>
                  </a:outerShdw>
                </a:effectLst>
              </a:rPr>
              <a:t>4. Plaque deposits</a:t>
            </a:r>
          </a:p>
          <a:p>
            <a:r>
              <a:rPr lang="en-US" dirty="0">
                <a:effectLst>
                  <a:outerShdw blurRad="38100" dist="38100" dir="2700000" algn="tl">
                    <a:srgbClr val="000000">
                      <a:alpha val="43137"/>
                    </a:srgbClr>
                  </a:outerShdw>
                </a:effectLst>
              </a:rPr>
              <a:t>5. Gum disease</a:t>
            </a:r>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56</a:t>
            </a:fld>
            <a:endParaRPr lang="en-US">
              <a:solidFill>
                <a:prstClr val="black">
                  <a:tint val="75000"/>
                </a:prstClr>
              </a:solidFill>
              <a:latin typeface="Calibri"/>
            </a:endParaRPr>
          </a:p>
        </p:txBody>
      </p:sp>
    </p:spTree>
    <p:extLst>
      <p:ext uri="{BB962C8B-B14F-4D97-AF65-F5344CB8AC3E}">
        <p14:creationId xmlns:p14="http://schemas.microsoft.com/office/powerpoint/2010/main" val="39213454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00200" y="0"/>
            <a:ext cx="8915400" cy="6781800"/>
          </a:xfrm>
        </p:spPr>
        <p:txBody>
          <a:bodyPr>
            <a:normAutofit fontScale="77500" lnSpcReduction="20000"/>
          </a:bodyPr>
          <a:lstStyle/>
          <a:p>
            <a:r>
              <a:rPr lang="en-US" dirty="0">
                <a:effectLst>
                  <a:outerShdw blurRad="38100" dist="38100" dir="2700000" algn="tl">
                    <a:srgbClr val="000000">
                      <a:alpha val="43137"/>
                    </a:srgbClr>
                  </a:outerShdw>
                </a:effectLst>
              </a:rPr>
              <a:t>How to maintain fresh breath all day</a:t>
            </a:r>
          </a:p>
          <a:p>
            <a:r>
              <a:rPr lang="en-US" dirty="0">
                <a:effectLst>
                  <a:outerShdw blurRad="38100" dist="38100" dir="2700000" algn="tl">
                    <a:srgbClr val="000000">
                      <a:alpha val="43137"/>
                    </a:srgbClr>
                  </a:outerShdw>
                </a:effectLst>
              </a:rPr>
              <a:t>1.Brush your teeth at least three times a day especially after eating and before going to sleep.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Use toothpaste with green tea extract because the properties in green tea will help prevent bacterial enzyme from turning sugar into a sticky substances that allows plaque to stick to the teeth.</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2. floss to remove food that gets stuck in between your teeth and decay. No matter how much you brush, you will not remove everything</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3. gargle or rinse with water when it is inconvenient to brush after meals or use mouth wash</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4. clean your tongue. Bacteria accumulate on the tongue and contribute to the foul smell when you breathe or open your mouth.</a:t>
            </a:r>
          </a:p>
          <a:p>
            <a:endParaRPr lang="en-US" dirty="0">
              <a:effectLst>
                <a:outerShdw blurRad="38100" dist="38100" dir="2700000" algn="tl">
                  <a:srgbClr val="000000">
                    <a:alpha val="43137"/>
                  </a:srgbClr>
                </a:outerShdw>
              </a:effectLst>
            </a:endParaRPr>
          </a:p>
          <a:p>
            <a:endParaRPr lang="en-US" dirty="0"/>
          </a:p>
          <a:p>
            <a:endParaRPr lang="en-US" dirty="0"/>
          </a:p>
          <a:p>
            <a:endParaRPr lang="en-US" dirty="0"/>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57</a:t>
            </a:fld>
            <a:endParaRPr lang="en-US">
              <a:solidFill>
                <a:prstClr val="black">
                  <a:tint val="75000"/>
                </a:prstClr>
              </a:solidFill>
              <a:latin typeface="Calibri"/>
            </a:endParaRPr>
          </a:p>
        </p:txBody>
      </p:sp>
    </p:spTree>
    <p:extLst>
      <p:ext uri="{BB962C8B-B14F-4D97-AF65-F5344CB8AC3E}">
        <p14:creationId xmlns:p14="http://schemas.microsoft.com/office/powerpoint/2010/main" val="29655751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00200" y="152400"/>
            <a:ext cx="8991600" cy="6629400"/>
          </a:xfrm>
        </p:spPr>
        <p:txBody>
          <a:bodyPr/>
          <a:lstStyle/>
          <a:p>
            <a:r>
              <a:rPr lang="en-US" dirty="0">
                <a:effectLst>
                  <a:outerShdw blurRad="38100" dist="38100" dir="2700000" algn="tl">
                    <a:srgbClr val="000000">
                      <a:alpha val="43137"/>
                    </a:srgbClr>
                  </a:outerShdw>
                </a:effectLst>
              </a:rPr>
              <a:t>5. Chew sugarless gum or suck sugarless mint to stimulate saliva production from dry mouth</a:t>
            </a:r>
          </a:p>
          <a:p>
            <a:r>
              <a:rPr lang="en-US" dirty="0">
                <a:effectLst>
                  <a:outerShdw blurRad="38100" dist="38100" dir="2700000" algn="tl">
                    <a:srgbClr val="000000">
                      <a:alpha val="43137"/>
                    </a:srgbClr>
                  </a:outerShdw>
                </a:effectLst>
              </a:rPr>
              <a:t>6. Avoid tobacco and beer</a:t>
            </a:r>
          </a:p>
          <a:p>
            <a:r>
              <a:rPr lang="en-US" dirty="0">
                <a:effectLst>
                  <a:outerShdw blurRad="38100" dist="38100" dir="2700000" algn="tl">
                    <a:srgbClr val="000000">
                      <a:alpha val="43137"/>
                    </a:srgbClr>
                  </a:outerShdw>
                </a:effectLst>
              </a:rPr>
              <a:t>7. Avoid strong </a:t>
            </a:r>
            <a:r>
              <a:rPr lang="en-US" dirty="0" err="1">
                <a:effectLst>
                  <a:outerShdw blurRad="38100" dist="38100" dir="2700000" algn="tl">
                    <a:srgbClr val="000000">
                      <a:alpha val="43137"/>
                    </a:srgbClr>
                  </a:outerShdw>
                </a:effectLst>
              </a:rPr>
              <a:t>odours</a:t>
            </a:r>
            <a:r>
              <a:rPr lang="en-US" dirty="0">
                <a:effectLst>
                  <a:outerShdw blurRad="38100" dist="38100" dir="2700000" algn="tl">
                    <a:srgbClr val="000000">
                      <a:alpha val="43137"/>
                    </a:srgbClr>
                  </a:outerShdw>
                </a:effectLst>
              </a:rPr>
              <a:t> of food like garlic and onions</a:t>
            </a:r>
          </a:p>
          <a:p>
            <a:r>
              <a:rPr lang="en-US" dirty="0">
                <a:effectLst>
                  <a:outerShdw blurRad="38100" dist="38100" dir="2700000" algn="tl">
                    <a:srgbClr val="000000">
                      <a:alpha val="43137"/>
                    </a:srgbClr>
                  </a:outerShdw>
                </a:effectLst>
              </a:rPr>
              <a:t>8. Visit the dentist regularly</a:t>
            </a:r>
          </a:p>
          <a:p>
            <a:endParaRPr lang="en-US" dirty="0">
              <a:effectLst>
                <a:outerShdw blurRad="38100" dist="38100" dir="2700000" algn="tl">
                  <a:srgbClr val="000000">
                    <a:alpha val="43137"/>
                  </a:srgbClr>
                </a:outerShdw>
              </a:effectLst>
            </a:endParaRPr>
          </a:p>
          <a:p>
            <a:r>
              <a:rPr lang="en-US" dirty="0">
                <a:solidFill>
                  <a:srgbClr val="0070C0"/>
                </a:solidFill>
                <a:effectLst>
                  <a:outerShdw blurRad="38100" dist="38100" dir="2700000" algn="tl">
                    <a:srgbClr val="000000">
                      <a:alpha val="43137"/>
                    </a:srgbClr>
                  </a:outerShdw>
                </a:effectLst>
              </a:rPr>
              <a:t>How to detect you have bad breath</a:t>
            </a:r>
          </a:p>
          <a:p>
            <a:r>
              <a:rPr lang="en-US" dirty="0">
                <a:effectLst>
                  <a:outerShdw blurRad="38100" dist="38100" dir="2700000" algn="tl">
                    <a:srgbClr val="000000">
                      <a:alpha val="43137"/>
                    </a:srgbClr>
                  </a:outerShdw>
                </a:effectLst>
              </a:rPr>
              <a:t>1. Breathe out using the mouth into a handkerchief</a:t>
            </a:r>
          </a:p>
          <a:p>
            <a:r>
              <a:rPr lang="en-US" dirty="0">
                <a:effectLst>
                  <a:outerShdw blurRad="38100" dist="38100" dir="2700000" algn="tl">
                    <a:srgbClr val="000000">
                      <a:alpha val="43137"/>
                    </a:srgbClr>
                  </a:outerShdw>
                </a:effectLst>
              </a:rPr>
              <a:t>2. ask someone who will tell you the truth</a:t>
            </a:r>
          </a:p>
          <a:p>
            <a:r>
              <a:rPr lang="en-US" dirty="0">
                <a:effectLst>
                  <a:outerShdw blurRad="38100" dist="38100" dir="2700000" algn="tl">
                    <a:srgbClr val="000000">
                      <a:alpha val="43137"/>
                    </a:srgbClr>
                  </a:outerShdw>
                </a:effectLst>
              </a:rPr>
              <a:t>3. run a floss between the teeth</a:t>
            </a:r>
          </a:p>
          <a:p>
            <a:endParaRPr lang="en-US" dirty="0"/>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58</a:t>
            </a:fld>
            <a:endParaRPr lang="en-US">
              <a:solidFill>
                <a:prstClr val="black">
                  <a:tint val="75000"/>
                </a:prstClr>
              </a:solidFill>
              <a:latin typeface="Calibri"/>
            </a:endParaRPr>
          </a:p>
        </p:txBody>
      </p:sp>
    </p:spTree>
    <p:extLst>
      <p:ext uri="{BB962C8B-B14F-4D97-AF65-F5344CB8AC3E}">
        <p14:creationId xmlns:p14="http://schemas.microsoft.com/office/powerpoint/2010/main" val="17508693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00200" y="152400"/>
            <a:ext cx="8915400" cy="6553200"/>
          </a:xfrm>
        </p:spPr>
        <p:txBody>
          <a:bodyPr>
            <a:normAutofit fontScale="92500" lnSpcReduction="10000"/>
          </a:bodyPr>
          <a:lstStyle/>
          <a:p>
            <a:r>
              <a:rPr lang="en-US" dirty="0"/>
              <a:t>3. </a:t>
            </a:r>
            <a:r>
              <a:rPr lang="en-US" dirty="0">
                <a:solidFill>
                  <a:srgbClr val="FFC000"/>
                </a:solidFill>
                <a:effectLst>
                  <a:outerShdw blurRad="38100" dist="38100" dir="2700000" algn="tl">
                    <a:srgbClr val="000000">
                      <a:alpha val="43137"/>
                    </a:srgbClr>
                  </a:outerShdw>
                </a:effectLst>
              </a:rPr>
              <a:t>Bathe daily</a:t>
            </a:r>
          </a:p>
          <a:p>
            <a:r>
              <a:rPr lang="en-US" dirty="0">
                <a:effectLst>
                  <a:outerShdw blurRad="38100" dist="38100" dir="2700000" algn="tl">
                    <a:srgbClr val="000000">
                      <a:alpha val="43137"/>
                    </a:srgbClr>
                  </a:outerShdw>
                </a:effectLst>
              </a:rPr>
              <a:t>Taking a birth is key to more than just your overall hygiene but also results in ridding your body of bacteria.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Not bathing can lead to an over accumulation of bacteria that can cause </a:t>
            </a:r>
            <a:r>
              <a:rPr lang="en-US" dirty="0" err="1">
                <a:effectLst>
                  <a:outerShdw blurRad="38100" dist="38100" dir="2700000" algn="tl">
                    <a:srgbClr val="000000">
                      <a:alpha val="43137"/>
                    </a:srgbClr>
                  </a:outerShdw>
                </a:effectLst>
              </a:rPr>
              <a:t>odour</a:t>
            </a:r>
            <a:r>
              <a:rPr lang="en-US" dirty="0">
                <a:effectLst>
                  <a:outerShdw blurRad="38100" dist="38100" dir="2700000" algn="tl">
                    <a:srgbClr val="000000">
                      <a:alpha val="43137"/>
                    </a:srgbClr>
                  </a:outerShdw>
                </a:effectLst>
              </a:rPr>
              <a:t> and certain types of infection, primarily in women.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Bathe </a:t>
            </a:r>
            <a:r>
              <a:rPr lang="en-US" dirty="0" err="1">
                <a:effectLst>
                  <a:outerShdw blurRad="38100" dist="38100" dir="2700000" algn="tl">
                    <a:srgbClr val="000000">
                      <a:alpha val="43137"/>
                    </a:srgbClr>
                  </a:outerShdw>
                </a:effectLst>
              </a:rPr>
              <a:t>atleast</a:t>
            </a:r>
            <a:r>
              <a:rPr lang="en-US" dirty="0">
                <a:effectLst>
                  <a:outerShdw blurRad="38100" dist="38100" dir="2700000" algn="tl">
                    <a:srgbClr val="000000">
                      <a:alpha val="43137"/>
                    </a:srgbClr>
                  </a:outerShdw>
                </a:effectLst>
              </a:rPr>
              <a:t> twice a day with an antibacterial soap . </a:t>
            </a:r>
          </a:p>
          <a:p>
            <a:pPr marL="0" indent="0">
              <a:buNone/>
            </a:pPr>
            <a:r>
              <a:rPr lang="en-US" dirty="0">
                <a:effectLst>
                  <a:outerShdw blurRad="38100" dist="38100" dir="2700000" algn="tl">
                    <a:srgbClr val="000000">
                      <a:alpha val="43137"/>
                    </a:srgbClr>
                  </a:outerShdw>
                </a:effectLst>
              </a:rPr>
              <a:t>•	Important to wash off after games, exercise and work</a:t>
            </a:r>
          </a:p>
          <a:p>
            <a:r>
              <a:rPr lang="en-US" dirty="0">
                <a:effectLst>
                  <a:outerShdw blurRad="38100" dist="38100" dir="2700000" algn="tl">
                    <a:srgbClr val="000000">
                      <a:alpha val="43137"/>
                    </a:srgbClr>
                  </a:outerShdw>
                </a:effectLst>
              </a:rPr>
              <a:t>Some antibacterial soap can cause allergic reaction</a:t>
            </a:r>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59</a:t>
            </a:fld>
            <a:endParaRPr lang="en-US">
              <a:solidFill>
                <a:prstClr val="black">
                  <a:tint val="75000"/>
                </a:prstClr>
              </a:solidFill>
              <a:latin typeface="Calibri"/>
            </a:endParaRPr>
          </a:p>
        </p:txBody>
      </p:sp>
    </p:spTree>
    <p:extLst>
      <p:ext uri="{BB962C8B-B14F-4D97-AF65-F5344CB8AC3E}">
        <p14:creationId xmlns:p14="http://schemas.microsoft.com/office/powerpoint/2010/main" val="10518238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304801"/>
            <a:ext cx="8458200" cy="5821363"/>
          </a:xfrm>
        </p:spPr>
        <p:txBody>
          <a:bodyPr/>
          <a:lstStyle/>
          <a:p>
            <a:pPr marL="0" indent="0">
              <a:buNone/>
            </a:pPr>
            <a:r>
              <a:rPr lang="en-US" dirty="0"/>
              <a:t>•	</a:t>
            </a:r>
            <a:r>
              <a:rPr lang="en-US" dirty="0">
                <a:effectLst>
                  <a:outerShdw blurRad="38100" dist="38100" dir="2700000" algn="tl">
                    <a:srgbClr val="000000">
                      <a:alpha val="43137"/>
                    </a:srgbClr>
                  </a:outerShdw>
                </a:effectLst>
              </a:rPr>
              <a:t>A good and thorough bath one or twice daily is important to maintain healthy skin and to prevent infectious of the skin.</a:t>
            </a:r>
          </a:p>
          <a:p>
            <a:pPr marL="0" indent="0">
              <a:buNone/>
            </a:pPr>
            <a:endParaRPr lang="en-US" dirty="0">
              <a:effectLst>
                <a:outerShdw blurRad="38100" dist="38100" dir="2700000" algn="tl">
                  <a:srgbClr val="000000">
                    <a:alpha val="43137"/>
                  </a:srgbClr>
                </a:outerShdw>
              </a:effectLst>
            </a:endParaRPr>
          </a:p>
          <a:p>
            <a:pPr marL="0" indent="0">
              <a:buNone/>
            </a:pPr>
            <a:r>
              <a:rPr lang="en-US" dirty="0">
                <a:effectLst>
                  <a:outerShdw blurRad="38100" dist="38100" dir="2700000" algn="tl">
                    <a:srgbClr val="000000">
                      <a:alpha val="43137"/>
                    </a:srgbClr>
                  </a:outerShdw>
                </a:effectLst>
              </a:rPr>
              <a:t>•	Use soap and water</a:t>
            </a:r>
          </a:p>
          <a:p>
            <a:pPr marL="0" indent="0">
              <a:buNone/>
            </a:pPr>
            <a:endParaRPr lang="en-US" dirty="0">
              <a:effectLst>
                <a:outerShdw blurRad="38100" dist="38100" dir="2700000" algn="tl">
                  <a:srgbClr val="000000">
                    <a:alpha val="43137"/>
                  </a:srgbClr>
                </a:outerShdw>
              </a:effectLst>
            </a:endParaRPr>
          </a:p>
          <a:p>
            <a:pPr marL="0" indent="0">
              <a:buNone/>
            </a:pPr>
            <a:r>
              <a:rPr lang="en-US" dirty="0">
                <a:effectLst>
                  <a:outerShdw blurRad="38100" dist="38100" dir="2700000" algn="tl">
                    <a:srgbClr val="000000">
                      <a:alpha val="43137"/>
                    </a:srgbClr>
                  </a:outerShdw>
                </a:effectLst>
              </a:rPr>
              <a:t>•	Dry with clean towel</a:t>
            </a:r>
          </a:p>
          <a:p>
            <a:pPr marL="0" indent="0">
              <a:buNone/>
            </a:pPr>
            <a:endParaRPr lang="en-US" dirty="0">
              <a:effectLst>
                <a:outerShdw blurRad="38100" dist="38100" dir="2700000" algn="tl">
                  <a:srgbClr val="000000">
                    <a:alpha val="43137"/>
                  </a:srgbClr>
                </a:outerShdw>
              </a:effectLst>
            </a:endParaRPr>
          </a:p>
          <a:p>
            <a:pPr marL="0" indent="0">
              <a:buNone/>
            </a:pPr>
            <a:r>
              <a:rPr lang="en-US" dirty="0">
                <a:effectLst>
                  <a:outerShdw blurRad="38100" dist="38100" dir="2700000" algn="tl">
                    <a:srgbClr val="000000">
                      <a:alpha val="43137"/>
                    </a:srgbClr>
                  </a:outerShdw>
                </a:effectLst>
              </a:rPr>
              <a:t>•	Change into clean underwear after bath</a:t>
            </a:r>
          </a:p>
          <a:p>
            <a:endParaRPr lang="en-US" dirty="0"/>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60</a:t>
            </a:fld>
            <a:endParaRPr lang="en-US">
              <a:solidFill>
                <a:prstClr val="black">
                  <a:tint val="75000"/>
                </a:prstClr>
              </a:solidFill>
              <a:latin typeface="Calibri"/>
            </a:endParaRPr>
          </a:p>
        </p:txBody>
      </p:sp>
    </p:spTree>
    <p:extLst>
      <p:ext uri="{BB962C8B-B14F-4D97-AF65-F5344CB8AC3E}">
        <p14:creationId xmlns:p14="http://schemas.microsoft.com/office/powerpoint/2010/main" val="18656804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00200" y="228600"/>
            <a:ext cx="8915400" cy="6477000"/>
          </a:xfrm>
        </p:spPr>
        <p:txBody>
          <a:bodyPr>
            <a:normAutofit lnSpcReduction="10000"/>
          </a:bodyPr>
          <a:lstStyle/>
          <a:p>
            <a:r>
              <a:rPr lang="en-US" dirty="0">
                <a:effectLst>
                  <a:outerShdw blurRad="38100" dist="38100" dir="2700000" algn="tl">
                    <a:srgbClr val="000000">
                      <a:alpha val="43137"/>
                    </a:srgbClr>
                  </a:outerShdw>
                </a:effectLst>
              </a:rPr>
              <a:t>Causes of bad body </a:t>
            </a:r>
            <a:r>
              <a:rPr lang="en-US" dirty="0" err="1">
                <a:effectLst>
                  <a:outerShdw blurRad="38100" dist="38100" dir="2700000" algn="tl">
                    <a:srgbClr val="000000">
                      <a:alpha val="43137"/>
                    </a:srgbClr>
                  </a:outerShdw>
                </a:effectLst>
              </a:rPr>
              <a:t>odour</a:t>
            </a:r>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1. chemicals in sweat including pheromones which are made by the body and sexually attract (or repel )other people</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2. wastes excreted through the skin </a:t>
            </a:r>
            <a:r>
              <a:rPr lang="en-US" dirty="0" err="1">
                <a:effectLst>
                  <a:outerShdw blurRad="38100" dist="38100" dir="2700000" algn="tl">
                    <a:srgbClr val="000000">
                      <a:alpha val="43137"/>
                    </a:srgbClr>
                  </a:outerShdw>
                </a:effectLst>
              </a:rPr>
              <a:t>e.g</a:t>
            </a:r>
            <a:r>
              <a:rPr lang="en-US" dirty="0">
                <a:effectLst>
                  <a:outerShdw blurRad="38100" dist="38100" dir="2700000" algn="tl">
                    <a:srgbClr val="000000">
                      <a:alpha val="43137"/>
                    </a:srgbClr>
                  </a:outerShdw>
                </a:effectLst>
              </a:rPr>
              <a:t> metabolized alcohol</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3. The action of bacteria that live on the skin and feed on dead skin cells and sweat</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4. Unwashed clothe </a:t>
            </a:r>
            <a:r>
              <a:rPr lang="en-US" dirty="0" err="1">
                <a:effectLst>
                  <a:outerShdw blurRad="38100" dist="38100" dir="2700000" algn="tl">
                    <a:srgbClr val="000000">
                      <a:alpha val="43137"/>
                    </a:srgbClr>
                  </a:outerShdw>
                </a:effectLst>
              </a:rPr>
              <a:t>e.g</a:t>
            </a:r>
            <a:r>
              <a:rPr lang="en-US" dirty="0">
                <a:effectLst>
                  <a:outerShdw blurRad="38100" dist="38100" dir="2700000" algn="tl">
                    <a:srgbClr val="000000">
                      <a:alpha val="43137"/>
                    </a:srgbClr>
                  </a:outerShdw>
                </a:effectLst>
              </a:rPr>
              <a:t> underwear and socks</a:t>
            </a:r>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61</a:t>
            </a:fld>
            <a:endParaRPr lang="en-US">
              <a:solidFill>
                <a:prstClr val="black">
                  <a:tint val="75000"/>
                </a:prstClr>
              </a:solidFill>
              <a:latin typeface="Calibri"/>
            </a:endParaRPr>
          </a:p>
        </p:txBody>
      </p:sp>
    </p:spTree>
    <p:extLst>
      <p:ext uri="{BB962C8B-B14F-4D97-AF65-F5344CB8AC3E}">
        <p14:creationId xmlns:p14="http://schemas.microsoft.com/office/powerpoint/2010/main" val="1155924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52400"/>
            <a:ext cx="8915400" cy="6553200"/>
          </a:xfrm>
        </p:spPr>
        <p:txBody>
          <a:bodyPr>
            <a:normAutofit fontScale="92500"/>
          </a:bodyPr>
          <a:lstStyle/>
          <a:p>
            <a:r>
              <a:rPr lang="en-US" dirty="0">
                <a:solidFill>
                  <a:srgbClr val="0070C0"/>
                </a:solidFill>
                <a:effectLst>
                  <a:outerShdw blurRad="38100" dist="38100" dir="2700000" algn="tl">
                    <a:srgbClr val="000000">
                      <a:alpha val="43137"/>
                    </a:srgbClr>
                  </a:outerShdw>
                </a:effectLst>
              </a:rPr>
              <a:t>Maintaining good body </a:t>
            </a:r>
            <a:r>
              <a:rPr lang="en-US" dirty="0" err="1">
                <a:solidFill>
                  <a:srgbClr val="0070C0"/>
                </a:solidFill>
                <a:effectLst>
                  <a:outerShdw blurRad="38100" dist="38100" dir="2700000" algn="tl">
                    <a:srgbClr val="000000">
                      <a:alpha val="43137"/>
                    </a:srgbClr>
                  </a:outerShdw>
                </a:effectLst>
              </a:rPr>
              <a:t>odour</a:t>
            </a:r>
            <a:endParaRPr lang="en-US" dirty="0">
              <a:solidFill>
                <a:srgbClr val="0070C0"/>
              </a:solidFill>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1. clean your under arm and groin and dry thoroughly</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2. use deodorants or antiperspirants</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3. wash the clothes after using them once</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4. wash shower or bathe regularly</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5. cut pungent food that is carried in sweat from your diet. Garlic, onions and beer are the common ones</a:t>
            </a:r>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62</a:t>
            </a:fld>
            <a:endParaRPr lang="en-US">
              <a:solidFill>
                <a:prstClr val="black">
                  <a:tint val="75000"/>
                </a:prstClr>
              </a:solidFill>
              <a:latin typeface="Calibri"/>
            </a:endParaRPr>
          </a:p>
        </p:txBody>
      </p:sp>
    </p:spTree>
    <p:extLst>
      <p:ext uri="{BB962C8B-B14F-4D97-AF65-F5344CB8AC3E}">
        <p14:creationId xmlns:p14="http://schemas.microsoft.com/office/powerpoint/2010/main" val="8154047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52400"/>
            <a:ext cx="8839200" cy="6477000"/>
          </a:xfrm>
        </p:spPr>
        <p:txBody>
          <a:bodyPr>
            <a:normAutofit fontScale="92500"/>
          </a:bodyPr>
          <a:lstStyle/>
          <a:p>
            <a:r>
              <a:rPr lang="en-US" dirty="0">
                <a:solidFill>
                  <a:srgbClr val="0070C0"/>
                </a:solidFill>
                <a:effectLst>
                  <a:outerShdw blurRad="38100" dist="38100" dir="2700000" algn="tl">
                    <a:srgbClr val="000000">
                      <a:alpha val="43137"/>
                    </a:srgbClr>
                  </a:outerShdw>
                </a:effectLst>
              </a:rPr>
              <a:t>How to prevent foot </a:t>
            </a:r>
            <a:r>
              <a:rPr lang="en-US" dirty="0" err="1">
                <a:solidFill>
                  <a:srgbClr val="0070C0"/>
                </a:solidFill>
                <a:effectLst>
                  <a:outerShdw blurRad="38100" dist="38100" dir="2700000" algn="tl">
                    <a:srgbClr val="000000">
                      <a:alpha val="43137"/>
                    </a:srgbClr>
                  </a:outerShdw>
                </a:effectLst>
              </a:rPr>
              <a:t>odour</a:t>
            </a:r>
            <a:endParaRPr lang="en-US" dirty="0">
              <a:solidFill>
                <a:srgbClr val="0070C0"/>
              </a:solidFill>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Foot </a:t>
            </a:r>
            <a:r>
              <a:rPr lang="en-US" dirty="0" err="1">
                <a:effectLst>
                  <a:outerShdw blurRad="38100" dist="38100" dir="2700000" algn="tl">
                    <a:srgbClr val="000000">
                      <a:alpha val="43137"/>
                    </a:srgbClr>
                  </a:outerShdw>
                </a:effectLst>
              </a:rPr>
              <a:t>odour</a:t>
            </a:r>
            <a:r>
              <a:rPr lang="en-US" dirty="0">
                <a:effectLst>
                  <a:outerShdw blurRad="38100" dist="38100" dir="2700000" algn="tl">
                    <a:srgbClr val="000000">
                      <a:alpha val="43137"/>
                    </a:srgbClr>
                  </a:outerShdw>
                </a:effectLst>
              </a:rPr>
              <a:t> is caused when sweat does not evaporate and bacteria feed on it</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1. wash the soles of your feet and in between your toes with water and antibacterial soap regularly</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2. soap your feet in kosher salt solution</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3. use antiperspirant or foot deodorant</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4. use clean and comfortable socks. Change daily</a:t>
            </a:r>
          </a:p>
          <a:p>
            <a:endParaRPr lang="en-US" dirty="0"/>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63</a:t>
            </a:fld>
            <a:endParaRPr lang="en-US">
              <a:solidFill>
                <a:prstClr val="black">
                  <a:tint val="75000"/>
                </a:prstClr>
              </a:solidFill>
              <a:latin typeface="Calibri"/>
            </a:endParaRPr>
          </a:p>
        </p:txBody>
      </p:sp>
    </p:spTree>
    <p:extLst>
      <p:ext uri="{BB962C8B-B14F-4D97-AF65-F5344CB8AC3E}">
        <p14:creationId xmlns:p14="http://schemas.microsoft.com/office/powerpoint/2010/main" val="3451295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228600"/>
            <a:ext cx="8763000" cy="6096000"/>
          </a:xfrm>
        </p:spPr>
        <p:txBody>
          <a:bodyPr>
            <a:normAutofit fontScale="85000" lnSpcReduction="20000"/>
          </a:bodyPr>
          <a:lstStyle/>
          <a:p>
            <a:r>
              <a:rPr lang="en-US" dirty="0">
                <a:effectLst>
                  <a:outerShdw blurRad="38100" dist="38100" dir="2700000" algn="tl">
                    <a:srgbClr val="000000">
                      <a:alpha val="43137"/>
                    </a:srgbClr>
                  </a:outerShdw>
                </a:effectLst>
              </a:rPr>
              <a:t>5. Air your shoes. </a:t>
            </a:r>
          </a:p>
          <a:p>
            <a:r>
              <a:rPr lang="en-US" dirty="0">
                <a:effectLst>
                  <a:outerShdw blurRad="38100" dist="38100" dir="2700000" algn="tl">
                    <a:srgbClr val="000000">
                      <a:alpha val="43137"/>
                    </a:srgbClr>
                  </a:outerShdw>
                </a:effectLst>
              </a:rPr>
              <a:t>Choose right shoe size.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Wash and air them.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Sprinkle your shoes with talcum powder.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6. switch to wearing open toed sandals.</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 Wear thongs in public bathrooms/showers.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7. While going out slippers/footwear should be worn to protect the skin of the feet from coming into contact with parasites like hookworm</a:t>
            </a:r>
          </a:p>
          <a:p>
            <a:endParaRPr lang="en-US" dirty="0">
              <a:effectLst>
                <a:outerShdw blurRad="38100" dist="38100" dir="2700000" algn="tl">
                  <a:srgbClr val="000000">
                    <a:alpha val="43137"/>
                  </a:srgbClr>
                </a:outerShdw>
              </a:effectLst>
            </a:endParaRPr>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64</a:t>
            </a:fld>
            <a:endParaRPr lang="en-US">
              <a:solidFill>
                <a:prstClr val="black">
                  <a:tint val="75000"/>
                </a:prstClr>
              </a:solidFill>
              <a:latin typeface="Calibri"/>
            </a:endParaRPr>
          </a:p>
        </p:txBody>
      </p:sp>
    </p:spTree>
    <p:extLst>
      <p:ext uri="{BB962C8B-B14F-4D97-AF65-F5344CB8AC3E}">
        <p14:creationId xmlns:p14="http://schemas.microsoft.com/office/powerpoint/2010/main" val="24130669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76200"/>
            <a:ext cx="8915400" cy="6705600"/>
          </a:xfrm>
        </p:spPr>
        <p:txBody>
          <a:bodyPr>
            <a:normAutofit fontScale="85000" lnSpcReduction="20000"/>
          </a:bodyPr>
          <a:lstStyle/>
          <a:p>
            <a:r>
              <a:rPr lang="en-US" dirty="0">
                <a:effectLst>
                  <a:outerShdw blurRad="38100" dist="38100" dir="2700000" algn="tl">
                    <a:srgbClr val="000000">
                      <a:alpha val="43137"/>
                    </a:srgbClr>
                  </a:outerShdw>
                </a:effectLst>
              </a:rPr>
              <a:t>4. </a:t>
            </a:r>
            <a:r>
              <a:rPr lang="en-US" dirty="0">
                <a:solidFill>
                  <a:schemeClr val="accent2"/>
                </a:solidFill>
                <a:effectLst>
                  <a:outerShdw blurRad="38100" dist="38100" dir="2700000" algn="tl">
                    <a:srgbClr val="000000">
                      <a:alpha val="43137"/>
                    </a:srgbClr>
                  </a:outerShdw>
                </a:effectLst>
              </a:rPr>
              <a:t>Wash your hair regularly</a:t>
            </a:r>
            <a:r>
              <a:rPr lang="en-US" dirty="0">
                <a:effectLst>
                  <a:outerShdw blurRad="38100" dist="38100" dir="2700000" algn="tl">
                    <a:srgbClr val="000000">
                      <a:alpha val="43137"/>
                    </a:srgbClr>
                  </a:outerShdw>
                </a:effectLst>
              </a:rPr>
              <a:t>. </a:t>
            </a:r>
          </a:p>
          <a:p>
            <a:r>
              <a:rPr lang="en-US" dirty="0">
                <a:effectLst>
                  <a:outerShdw blurRad="38100" dist="38100" dir="2700000" algn="tl">
                    <a:srgbClr val="000000">
                      <a:alpha val="43137"/>
                    </a:srgbClr>
                  </a:outerShdw>
                </a:effectLst>
              </a:rPr>
              <a:t>If  you don’t wash hair regularly you could develop dandruff problems and lice.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Hair which is not washed and combed regularly, becomes infested with lice, which suck blood from the scalp.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Lice are easily transferred from one person to another </a:t>
            </a:r>
          </a:p>
          <a:p>
            <a:r>
              <a:rPr lang="en-US" dirty="0">
                <a:effectLst>
                  <a:outerShdw blurRad="38100" dist="38100" dir="2700000" algn="tl">
                    <a:srgbClr val="000000">
                      <a:alpha val="43137"/>
                    </a:srgbClr>
                  </a:outerShdw>
                </a:effectLst>
              </a:rPr>
              <a:t>Ridding yourself off lice can be difficult</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Buy a shampoo that fights dandruff and moisturizes and improves the quality of your hair.</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 If you have a problem with dry scalp, consult with a dermatologist about the possibility of getting a prescription shampoo.</a:t>
            </a:r>
          </a:p>
          <a:p>
            <a:endParaRPr lang="en-US" dirty="0">
              <a:effectLst>
                <a:outerShdw blurRad="38100" dist="38100" dir="2700000" algn="tl">
                  <a:srgbClr val="000000">
                    <a:alpha val="43137"/>
                  </a:srgbClr>
                </a:outerShdw>
              </a:effectLst>
            </a:endParaRPr>
          </a:p>
          <a:p>
            <a:endParaRPr lang="en-US" dirty="0">
              <a:effectLst>
                <a:outerShdw blurRad="38100" dist="38100" dir="2700000" algn="tl">
                  <a:srgbClr val="000000">
                    <a:alpha val="43137"/>
                  </a:srgbClr>
                </a:outerShdw>
              </a:effectLst>
            </a:endParaRPr>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65</a:t>
            </a:fld>
            <a:endParaRPr lang="en-US">
              <a:solidFill>
                <a:prstClr val="black">
                  <a:tint val="75000"/>
                </a:prstClr>
              </a:solidFill>
              <a:latin typeface="Calibri"/>
            </a:endParaRPr>
          </a:p>
        </p:txBody>
      </p:sp>
    </p:spTree>
    <p:extLst>
      <p:ext uri="{BB962C8B-B14F-4D97-AF65-F5344CB8AC3E}">
        <p14:creationId xmlns:p14="http://schemas.microsoft.com/office/powerpoint/2010/main" val="16474398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0" y="381001"/>
            <a:ext cx="8458200" cy="5745163"/>
          </a:xfrm>
        </p:spPr>
        <p:txBody>
          <a:bodyPr>
            <a:normAutofit fontScale="92500" lnSpcReduction="10000"/>
          </a:bodyPr>
          <a:lstStyle/>
          <a:p>
            <a:r>
              <a:rPr lang="en-US" dirty="0">
                <a:effectLst>
                  <a:outerShdw blurRad="38100" dist="38100" dir="2700000" algn="tl">
                    <a:srgbClr val="000000">
                      <a:alpha val="43137"/>
                    </a:srgbClr>
                  </a:outerShdw>
                </a:effectLst>
              </a:rPr>
              <a:t>Hair care</a:t>
            </a:r>
          </a:p>
          <a:p>
            <a:r>
              <a:rPr lang="en-US" dirty="0">
                <a:effectLst>
                  <a:outerShdw blurRad="38100" dist="38100" dir="2700000" algn="tl">
                    <a:srgbClr val="000000">
                      <a:alpha val="43137"/>
                    </a:srgbClr>
                  </a:outerShdw>
                </a:effectLst>
              </a:rPr>
              <a:t>1. wash your hair regularly. You need to wash after spending long hours outdoors.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This is because hair collects dust and pollens. You need to wash away the chlorine after swimming.</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2. Shampooing helps get rid of dandruff that is caused by dead skin cells. </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3. Take a shower after exercises which makes you perspire/ sweat</a:t>
            </a:r>
          </a:p>
          <a:p>
            <a:endParaRPr lang="en-US" dirty="0"/>
          </a:p>
          <a:p>
            <a:endParaRPr lang="en-US" dirty="0"/>
          </a:p>
        </p:txBody>
      </p:sp>
      <p:sp>
        <p:nvSpPr>
          <p:cNvPr id="4" name="Footer Placeholder 3"/>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5" name="Slide Number Placeholder 4"/>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66</a:t>
            </a:fld>
            <a:endParaRPr lang="en-US">
              <a:solidFill>
                <a:prstClr val="black">
                  <a:tint val="75000"/>
                </a:prstClr>
              </a:solidFill>
              <a:latin typeface="Calibri"/>
            </a:endParaRPr>
          </a:p>
        </p:txBody>
      </p:sp>
    </p:spTree>
    <p:extLst>
      <p:ext uri="{BB962C8B-B14F-4D97-AF65-F5344CB8AC3E}">
        <p14:creationId xmlns:p14="http://schemas.microsoft.com/office/powerpoint/2010/main" val="26468422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52400"/>
            <a:ext cx="8763000" cy="6553200"/>
          </a:xfrm>
        </p:spPr>
        <p:txBody>
          <a:bodyPr>
            <a:normAutofit fontScale="92500" lnSpcReduction="20000"/>
          </a:bodyPr>
          <a:lstStyle/>
          <a:p>
            <a:pPr lvl="0"/>
            <a:r>
              <a:rPr lang="en-US" sz="2700" dirty="0">
                <a:solidFill>
                  <a:prstClr val="black"/>
                </a:solidFill>
                <a:effectLst>
                  <a:outerShdw blurRad="38100" dist="38100" dir="2700000" algn="tl">
                    <a:srgbClr val="000000">
                      <a:alpha val="43137"/>
                    </a:srgbClr>
                  </a:outerShdw>
                </a:effectLst>
              </a:rPr>
              <a:t>5</a:t>
            </a:r>
            <a:r>
              <a:rPr lang="en-US" sz="2700" dirty="0">
                <a:solidFill>
                  <a:srgbClr val="C0504D"/>
                </a:solidFill>
                <a:effectLst>
                  <a:outerShdw blurRad="38100" dist="38100" dir="2700000" algn="tl">
                    <a:srgbClr val="000000">
                      <a:alpha val="43137"/>
                    </a:srgbClr>
                  </a:outerShdw>
                </a:effectLst>
              </a:rPr>
              <a:t>. Don’t share personal items</a:t>
            </a:r>
            <a:r>
              <a:rPr lang="en-US" sz="2700" dirty="0">
                <a:solidFill>
                  <a:prstClr val="black"/>
                </a:solidFill>
                <a:effectLst>
                  <a:outerShdw blurRad="38100" dist="38100" dir="2700000" algn="tl">
                    <a:srgbClr val="000000">
                      <a:alpha val="43137"/>
                    </a:srgbClr>
                  </a:outerShdw>
                </a:effectLst>
              </a:rPr>
              <a:t>. </a:t>
            </a:r>
          </a:p>
          <a:p>
            <a:pPr lvl="0"/>
            <a:endParaRPr lang="en-US" sz="2700" dirty="0">
              <a:solidFill>
                <a:prstClr val="black"/>
              </a:solidFill>
              <a:effectLst>
                <a:outerShdw blurRad="38100" dist="38100" dir="2700000" algn="tl">
                  <a:srgbClr val="000000">
                    <a:alpha val="43137"/>
                  </a:srgbClr>
                </a:outerShdw>
              </a:effectLst>
            </a:endParaRPr>
          </a:p>
          <a:p>
            <a:pPr lvl="0"/>
            <a:r>
              <a:rPr lang="en-US" sz="2700" dirty="0">
                <a:solidFill>
                  <a:prstClr val="black"/>
                </a:solidFill>
                <a:effectLst>
                  <a:outerShdw blurRad="38100" dist="38100" dir="2700000" algn="tl">
                    <a:srgbClr val="000000">
                      <a:alpha val="43137"/>
                    </a:srgbClr>
                  </a:outerShdw>
                </a:effectLst>
              </a:rPr>
              <a:t>Don’t use anything that has come into contact with another person’s body fluids.</a:t>
            </a:r>
          </a:p>
          <a:p>
            <a:pPr lvl="0"/>
            <a:endParaRPr lang="en-US" sz="2700" dirty="0">
              <a:solidFill>
                <a:prstClr val="black"/>
              </a:solidFill>
              <a:effectLst>
                <a:outerShdw blurRad="38100" dist="38100" dir="2700000" algn="tl">
                  <a:srgbClr val="000000">
                    <a:alpha val="43137"/>
                  </a:srgbClr>
                </a:outerShdw>
              </a:effectLst>
            </a:endParaRPr>
          </a:p>
          <a:p>
            <a:pPr lvl="0"/>
            <a:r>
              <a:rPr lang="en-US" sz="2700" dirty="0">
                <a:solidFill>
                  <a:prstClr val="black"/>
                </a:solidFill>
                <a:effectLst>
                  <a:outerShdw blurRad="38100" dist="38100" dir="2700000" algn="tl">
                    <a:srgbClr val="000000">
                      <a:alpha val="43137"/>
                    </a:srgbClr>
                  </a:outerShdw>
                </a:effectLst>
              </a:rPr>
              <a:t> This is very important step in practicing good hygiene. </a:t>
            </a:r>
          </a:p>
          <a:p>
            <a:pPr lvl="0"/>
            <a:endParaRPr lang="en-US" sz="2700" dirty="0">
              <a:solidFill>
                <a:prstClr val="black"/>
              </a:solidFill>
              <a:effectLst>
                <a:outerShdw blurRad="38100" dist="38100" dir="2700000" algn="tl">
                  <a:srgbClr val="000000">
                    <a:alpha val="43137"/>
                  </a:srgbClr>
                </a:outerShdw>
              </a:effectLst>
            </a:endParaRPr>
          </a:p>
          <a:p>
            <a:pPr lvl="0"/>
            <a:r>
              <a:rPr lang="en-US" sz="2700" dirty="0">
                <a:solidFill>
                  <a:prstClr val="black"/>
                </a:solidFill>
                <a:effectLst>
                  <a:outerShdw blurRad="38100" dist="38100" dir="2700000" algn="tl">
                    <a:srgbClr val="000000">
                      <a:alpha val="43137"/>
                    </a:srgbClr>
                  </a:outerShdw>
                </a:effectLst>
              </a:rPr>
              <a:t>Don’t use or touch syringes or any other type of medical or personal item that has come into contact with  a person’s fluids. </a:t>
            </a:r>
          </a:p>
          <a:p>
            <a:pPr lvl="0"/>
            <a:endParaRPr lang="en-US" sz="2700" dirty="0">
              <a:solidFill>
                <a:prstClr val="black"/>
              </a:solidFill>
              <a:effectLst>
                <a:outerShdw blurRad="38100" dist="38100" dir="2700000" algn="tl">
                  <a:srgbClr val="000000">
                    <a:alpha val="43137"/>
                  </a:srgbClr>
                </a:outerShdw>
              </a:effectLst>
            </a:endParaRPr>
          </a:p>
          <a:p>
            <a:pPr lvl="0"/>
            <a:r>
              <a:rPr lang="en-US" sz="2700" dirty="0">
                <a:solidFill>
                  <a:prstClr val="black"/>
                </a:solidFill>
                <a:effectLst>
                  <a:outerShdw blurRad="38100" dist="38100" dir="2700000" algn="tl">
                    <a:srgbClr val="000000">
                      <a:alpha val="43137"/>
                    </a:srgbClr>
                  </a:outerShdw>
                </a:effectLst>
              </a:rPr>
              <a:t>This could put you into a very high risk of contracting a very serious illness or condition. </a:t>
            </a:r>
          </a:p>
          <a:p>
            <a:pPr lvl="0"/>
            <a:endParaRPr lang="en-US" sz="2700" dirty="0">
              <a:solidFill>
                <a:prstClr val="black"/>
              </a:solidFill>
              <a:effectLst>
                <a:outerShdw blurRad="38100" dist="38100" dir="2700000" algn="tl">
                  <a:srgbClr val="000000">
                    <a:alpha val="43137"/>
                  </a:srgbClr>
                </a:outerShdw>
              </a:effectLst>
            </a:endParaRPr>
          </a:p>
          <a:p>
            <a:pPr lvl="0"/>
            <a:r>
              <a:rPr lang="en-US" sz="2700" dirty="0">
                <a:solidFill>
                  <a:prstClr val="black"/>
                </a:solidFill>
                <a:effectLst>
                  <a:outerShdw blurRad="38100" dist="38100" dir="2700000" algn="tl">
                    <a:srgbClr val="000000">
                      <a:alpha val="43137"/>
                    </a:srgbClr>
                  </a:outerShdw>
                </a:effectLst>
              </a:rPr>
              <a:t>If when you know someone refrain from personal items.</a:t>
            </a:r>
          </a:p>
          <a:p>
            <a:pPr lvl="0"/>
            <a:endParaRPr lang="en-US" sz="2700" dirty="0">
              <a:solidFill>
                <a:prstClr val="black"/>
              </a:solidFill>
              <a:effectLst>
                <a:outerShdw blurRad="38100" dist="38100" dir="2700000" algn="tl">
                  <a:srgbClr val="000000">
                    <a:alpha val="43137"/>
                  </a:srgbClr>
                </a:outerShdw>
              </a:effectLst>
            </a:endParaRPr>
          </a:p>
          <a:p>
            <a:pPr lvl="0"/>
            <a:r>
              <a:rPr lang="en-US" sz="2700" dirty="0">
                <a:solidFill>
                  <a:prstClr val="black"/>
                </a:solidFill>
                <a:effectLst>
                  <a:outerShdw blurRad="38100" dist="38100" dir="2700000" algn="tl">
                    <a:srgbClr val="000000">
                      <a:alpha val="43137"/>
                    </a:srgbClr>
                  </a:outerShdw>
                </a:effectLst>
              </a:rPr>
              <a:t> •	Hand or handkerchief should be used to cover the mouth while sneezing or coughing</a:t>
            </a:r>
          </a:p>
          <a:p>
            <a:pPr lvl="0"/>
            <a:endParaRPr lang="en-US" sz="2700" dirty="0">
              <a:solidFill>
                <a:prstClr val="black"/>
              </a:solidFill>
              <a:effectLst>
                <a:outerShdw blurRad="38100" dist="38100" dir="2700000" algn="tl">
                  <a:srgbClr val="000000">
                    <a:alpha val="43137"/>
                  </a:srgbClr>
                </a:outerShdw>
              </a:effectLst>
            </a:endParaRPr>
          </a:p>
          <a:p>
            <a:endParaRPr lang="en-US" dirty="0"/>
          </a:p>
        </p:txBody>
      </p:sp>
      <p:sp>
        <p:nvSpPr>
          <p:cNvPr id="2" name="Footer Placeholder 1"/>
          <p:cNvSpPr>
            <a:spLocks noGrp="1"/>
          </p:cNvSpPr>
          <p:nvPr>
            <p:ph type="ftr" sz="quarter" idx="11"/>
          </p:nvPr>
        </p:nvSpPr>
        <p:spPr/>
        <p:txBody>
          <a:bodyPr/>
          <a:lstStyle/>
          <a:p>
            <a:r>
              <a:rPr lang="en-US" dirty="0">
                <a:solidFill>
                  <a:prstClr val="black">
                    <a:tint val="75000"/>
                  </a:prstClr>
                </a:solidFill>
                <a:latin typeface="Calibri"/>
              </a:rPr>
              <a:t>Dr. Mwaniki</a:t>
            </a:r>
          </a:p>
        </p:txBody>
      </p:sp>
      <p:sp>
        <p:nvSpPr>
          <p:cNvPr id="4" name="Slide Number Placeholder 3"/>
          <p:cNvSpPr>
            <a:spLocks noGrp="1"/>
          </p:cNvSpPr>
          <p:nvPr>
            <p:ph type="sldNum" sz="quarter" idx="12"/>
          </p:nvPr>
        </p:nvSpPr>
        <p:spPr/>
        <p:txBody>
          <a:bodyPr/>
          <a:lstStyle/>
          <a:p>
            <a:fld id="{B2578E98-33F1-40C2-AC75-4CA831970A4C}" type="slidenum">
              <a:rPr lang="en-US">
                <a:solidFill>
                  <a:prstClr val="black">
                    <a:tint val="75000"/>
                  </a:prstClr>
                </a:solidFill>
                <a:latin typeface="Calibri"/>
              </a:rPr>
              <a:pPr/>
              <a:t>67</a:t>
            </a:fld>
            <a:endParaRPr lang="en-US">
              <a:solidFill>
                <a:prstClr val="black">
                  <a:tint val="75000"/>
                </a:prstClr>
              </a:solidFill>
              <a:latin typeface="Calibri"/>
            </a:endParaRPr>
          </a:p>
        </p:txBody>
      </p:sp>
    </p:spTree>
    <p:extLst>
      <p:ext uri="{BB962C8B-B14F-4D97-AF65-F5344CB8AC3E}">
        <p14:creationId xmlns:p14="http://schemas.microsoft.com/office/powerpoint/2010/main" val="11722138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944F86-6FD8-4F9C-BECE-F2D3EE57B695}"/>
              </a:ext>
            </a:extLst>
          </p:cNvPr>
          <p:cNvSpPr>
            <a:spLocks noGrp="1"/>
          </p:cNvSpPr>
          <p:nvPr>
            <p:ph idx="1"/>
          </p:nvPr>
        </p:nvSpPr>
        <p:spPr>
          <a:xfrm>
            <a:off x="838200" y="365760"/>
            <a:ext cx="10515600" cy="5811203"/>
          </a:xfrm>
        </p:spPr>
        <p:txBody>
          <a:bodyPr/>
          <a:lstStyle/>
          <a:p>
            <a:pPr>
              <a:lnSpc>
                <a:spcPct val="107000"/>
              </a:lnSpc>
              <a:spcAft>
                <a:spcPts val="800"/>
              </a:spcAft>
            </a:pPr>
            <a:r>
              <a:rPr lang="en-GB"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Water hygiene and sanitation (WASH)</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1E1E1E"/>
                </a:solidFill>
                <a:latin typeface="Roboto"/>
              </a:rPr>
              <a:t>Sustainable Development Goal 6 goes beyond drinking water, sanitation and hygiene to also address the quality and sustainability of water resources, which are critical to the survival of people and the planet. The 2030 Agenda recognizes the centrality of water resources to sustainable development and the vital role that improved drinking water, sanitation and hygiene play in progress in other areas, including health, education and poverty reduction.</a:t>
            </a:r>
            <a:endParaRPr lang="en-KE" dirty="0"/>
          </a:p>
        </p:txBody>
      </p:sp>
    </p:spTree>
    <p:extLst>
      <p:ext uri="{BB962C8B-B14F-4D97-AF65-F5344CB8AC3E}">
        <p14:creationId xmlns:p14="http://schemas.microsoft.com/office/powerpoint/2010/main" val="37878507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759240-A377-4BF4-B34A-9B6392AF2EF0}"/>
              </a:ext>
            </a:extLst>
          </p:cNvPr>
          <p:cNvSpPr>
            <a:spLocks noGrp="1"/>
          </p:cNvSpPr>
          <p:nvPr>
            <p:ph idx="1"/>
          </p:nvPr>
        </p:nvSpPr>
        <p:spPr>
          <a:xfrm>
            <a:off x="838200" y="237744"/>
            <a:ext cx="10515600" cy="5939219"/>
          </a:xfrm>
        </p:spPr>
        <p:txBody>
          <a:bodyPr>
            <a:normAutofit fontScale="92500" lnSpcReduction="20000"/>
          </a:bodyPr>
          <a:lstStyle/>
          <a:p>
            <a:pPr>
              <a:lnSpc>
                <a:spcPct val="107000"/>
              </a:lnSpc>
              <a:spcAft>
                <a:spcPts val="800"/>
              </a:spcAft>
            </a:pPr>
            <a:r>
              <a:rPr lang="en-GB" b="1" u="sng"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Definitions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Safe water</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Safe water is clean water that can be consumed or used without risk of getting a disease.</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Sanitation</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Sanitation is the state of being clean. It generally refers to the facilities and services involved in the safe disposal of human waste.  </a:t>
            </a:r>
            <a:r>
              <a:rPr lang="en-GB" dirty="0" err="1">
                <a:solidFill>
                  <a:srgbClr val="495057"/>
                </a:solidFill>
                <a:latin typeface="Arial" panose="020B0604020202020204" pitchFamily="34" charset="0"/>
                <a:ea typeface="Times New Roman" panose="02020603050405020304" pitchFamily="18" charset="0"/>
                <a:cs typeface="Times New Roman" panose="02020603050405020304" pitchFamily="18" charset="0"/>
              </a:rPr>
              <a:t>ie</a:t>
            </a: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Toilets. Latrines.</a:t>
            </a:r>
          </a:p>
          <a:p>
            <a:pPr>
              <a:lnSpc>
                <a:spcPct val="107000"/>
              </a:lnSpc>
              <a:spcAft>
                <a:spcPts val="800"/>
              </a:spcAft>
            </a:pPr>
            <a:r>
              <a:rPr lang="en-GB" sz="2400"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Hygiene</a:t>
            </a:r>
            <a:endParaRPr lang="en-K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2400"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Hygiene is the practice of keeping yourself and the things around you clean (free of germs) in order to prevent disease. It refers to a range of practises, including personal hygiene and professional care, which reduce the incidence of disease.</a:t>
            </a:r>
            <a:endParaRPr lang="en-K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KE" sz="2400" dirty="0">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33516601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895FF6-0E45-4E8B-B036-07F22537F996}"/>
              </a:ext>
            </a:extLst>
          </p:cNvPr>
          <p:cNvSpPr>
            <a:spLocks noGrp="1"/>
          </p:cNvSpPr>
          <p:nvPr>
            <p:ph idx="1"/>
          </p:nvPr>
        </p:nvSpPr>
        <p:spPr>
          <a:xfrm>
            <a:off x="438912" y="292608"/>
            <a:ext cx="11594592" cy="6309360"/>
          </a:xfrm>
        </p:spPr>
        <p:txBody>
          <a:bodyPr>
            <a:normAutofit lnSpcReduction="10000"/>
          </a:bodyPr>
          <a:lstStyle/>
          <a:p>
            <a:pPr>
              <a:lnSpc>
                <a:spcPct val="107000"/>
              </a:lnSpc>
              <a:spcAft>
                <a:spcPts val="800"/>
              </a:spcAft>
            </a:pPr>
            <a:r>
              <a:rPr lang="en-GB" b="1" u="sng"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Good hygiene practices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Drinking safe water</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i="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Why is it important?</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Water from once open source like streams, river canal/channel etc. is unsafe for drinking, as it is prone to contamination by animals’ germs and human beings.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Drinking contaminated water causes diseases such as diarrhoea, dysentery, typhoid, cholera and hepatitis.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Even if water is collected from a safe source, it can get contaminated if it is not handled properly while collecting, storing and using.</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8427038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26ADC4-BF23-4480-B6AC-B988336C44E8}"/>
              </a:ext>
            </a:extLst>
          </p:cNvPr>
          <p:cNvSpPr>
            <a:spLocks noGrp="1"/>
          </p:cNvSpPr>
          <p:nvPr>
            <p:ph idx="1"/>
          </p:nvPr>
        </p:nvSpPr>
        <p:spPr>
          <a:xfrm>
            <a:off x="256032" y="128016"/>
            <a:ext cx="11667744" cy="6565392"/>
          </a:xfrm>
        </p:spPr>
        <p:txBody>
          <a:bodyPr/>
          <a:lstStyle/>
          <a:p>
            <a:pPr>
              <a:lnSpc>
                <a:spcPct val="107000"/>
              </a:lnSpc>
              <a:spcAft>
                <a:spcPts val="800"/>
              </a:spcAft>
            </a:pPr>
            <a:r>
              <a:rPr lang="en-GB" i="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How should drinking water be collected, handled and stored?</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Drinking water should be collected from a safe source such as a tap and protected Springs only.</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The inside of a vessel should be cleaned well before collecting water.</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After filling the vessel with drinking water, it should be covered while being carried from water source to the place where it is used.</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Treating water at the point of use is an effective way of making it safe to drink. Treatment methods includes: 0 point of use treatment using chlorine (chlorination) solution.</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40929110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E64A65-4F4C-4C57-B4A9-BC3389DF99DA}"/>
              </a:ext>
            </a:extLst>
          </p:cNvPr>
          <p:cNvSpPr>
            <a:spLocks noGrp="1"/>
          </p:cNvSpPr>
          <p:nvPr>
            <p:ph idx="1"/>
          </p:nvPr>
        </p:nvSpPr>
        <p:spPr>
          <a:xfrm>
            <a:off x="365760" y="310896"/>
            <a:ext cx="11539728" cy="5866067"/>
          </a:xfrm>
        </p:spPr>
        <p:txBody>
          <a:bodyPr>
            <a:normAutofit fontScale="92500" lnSpcReduction="20000"/>
          </a:bodyPr>
          <a:lstStyle/>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SODIS (solar disinfection) fill clean 1.5-2 litre plastic (PET) bottles with clear water, place on an inclined surface (roof) in the sun for 6 hours (48 hours if cloudy) water will be safe to drink.</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Filtering using special ceramic filters.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Boiling: heating water until a rolling boiling begins. After cooling off, it is safe to drink if it has been kept covered.</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To remain safe, water must be stored in clean containers with narrow necks or covered with hard covers or jerry cans or other closed containers with spigots.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To keep treated water safe, hands and other objects should not be put into drinking water containers. A ladle or cup attached to the storage container or hung on the wall with a nail and only used for the purpose of serving the water should be used.</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36028444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CEB687-366E-4C47-BE91-AF13F666C2C4}"/>
              </a:ext>
            </a:extLst>
          </p:cNvPr>
          <p:cNvSpPr>
            <a:spLocks noGrp="1"/>
          </p:cNvSpPr>
          <p:nvPr>
            <p:ph idx="1"/>
          </p:nvPr>
        </p:nvSpPr>
        <p:spPr>
          <a:xfrm>
            <a:off x="545592" y="764920"/>
            <a:ext cx="11433048" cy="5928488"/>
          </a:xfrm>
        </p:spPr>
        <p:txBody>
          <a:bodyPr>
            <a:normAutofit/>
          </a:bodyPr>
          <a:lstStyle/>
          <a:p>
            <a:pPr>
              <a:lnSpc>
                <a:spcPct val="107000"/>
              </a:lnSpc>
              <a:spcAft>
                <a:spcPts val="800"/>
              </a:spcAft>
            </a:pPr>
            <a:r>
              <a:rPr lang="en-GB"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ENVIRONMENTAL HEALTH</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Environmental health is defined by the World Health Organisation as those aspects of the human health and disease that are determined by factors in the environment. It also refers to the theory and practice of assessing and controlling factors in the environment that can potentially affect health.</a:t>
            </a:r>
          </a:p>
          <a:p>
            <a:pPr>
              <a:lnSpc>
                <a:spcPct val="107000"/>
              </a:lnSpc>
              <a:spcAft>
                <a:spcPts val="800"/>
              </a:spcAft>
            </a:pPr>
            <a:endParaRPr lang="en-GB" sz="2400" dirty="0">
              <a:solidFill>
                <a:srgbClr val="495057"/>
              </a:solidFill>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2400"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Handling of household refuse</a:t>
            </a:r>
            <a:endParaRPr lang="en-K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2400"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Waste disposal is a growing problem worldwide. Although there have been recent advancements in waste disposal, it remains an overall public safety and environmental health issue that countries around the world continue to address.</a:t>
            </a:r>
            <a:endParaRPr lang="en-KE" sz="20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KE" sz="2400" dirty="0">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23554525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83653F-BD93-4BBF-8C07-281558EBE1C7}"/>
              </a:ext>
            </a:extLst>
          </p:cNvPr>
          <p:cNvSpPr>
            <a:spLocks noGrp="1"/>
          </p:cNvSpPr>
          <p:nvPr>
            <p:ph idx="1"/>
          </p:nvPr>
        </p:nvSpPr>
        <p:spPr>
          <a:xfrm>
            <a:off x="237744" y="292608"/>
            <a:ext cx="11759184" cy="6437376"/>
          </a:xfrm>
        </p:spPr>
        <p:txBody>
          <a:bodyPr>
            <a:normAutofit/>
          </a:bodyPr>
          <a:lstStyle/>
          <a:p>
            <a:pPr>
              <a:lnSpc>
                <a:spcPct val="107000"/>
              </a:lnSpc>
              <a:spcAft>
                <a:spcPts val="800"/>
              </a:spcAft>
            </a:pPr>
            <a:r>
              <a:rPr lang="en-GB" u="sng"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Types of waste and its disposal</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SzPts val="1000"/>
              <a:buNone/>
              <a:tabLst>
                <a:tab pos="457200" algn="l"/>
              </a:tabLs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Organic</a:t>
            </a:r>
            <a:endParaRPr lang="en-KE" sz="24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Derived from animal and plants foods which includes: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Vegetable and meat trimmings.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Bones.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Inedible plant parts.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Food leftovers.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Old cooking oils.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From flower beds and hedges.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40167819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F375B1-DC9B-4DE2-B7C5-46BE7E395AB3}"/>
              </a:ext>
            </a:extLst>
          </p:cNvPr>
          <p:cNvSpPr>
            <a:spLocks noGrp="1"/>
          </p:cNvSpPr>
          <p:nvPr>
            <p:ph idx="1"/>
          </p:nvPr>
        </p:nvSpPr>
        <p:spPr>
          <a:xfrm>
            <a:off x="420624" y="329184"/>
            <a:ext cx="11612880" cy="6272784"/>
          </a:xfrm>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Inorganic (solid waste) which include</a:t>
            </a:r>
            <a:endParaRPr lang="en-KE" sz="24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Packaging materials, cans both plastic and metals.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Glass which include crockery.</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Glass bottles mostly from the bar and kitchen.</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Offices wastes which include papers cardboard cartridges.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26757917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8F3348-F576-45CA-ACC4-47FA6BC69F55}"/>
              </a:ext>
            </a:extLst>
          </p:cNvPr>
          <p:cNvSpPr>
            <a:spLocks noGrp="1"/>
          </p:cNvSpPr>
          <p:nvPr>
            <p:ph idx="1"/>
          </p:nvPr>
        </p:nvSpPr>
        <p:spPr>
          <a:xfrm>
            <a:off x="347472" y="310896"/>
            <a:ext cx="11649456" cy="6272784"/>
          </a:xfrm>
        </p:spPr>
        <p:txBody>
          <a:bodyPr/>
          <a:lstStyle/>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Garage wastes which include old engine oils.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Linen wastes, towels and rags.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Liquid wastes</a:t>
            </a:r>
            <a:endParaRPr lang="en-KE" sz="24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This include grey water from the kitchen and cooking oils.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11449406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F895A1-907C-426B-B036-2A76B55C9E5A}"/>
              </a:ext>
            </a:extLst>
          </p:cNvPr>
          <p:cNvSpPr>
            <a:spLocks noGrp="1"/>
          </p:cNvSpPr>
          <p:nvPr>
            <p:ph idx="1"/>
          </p:nvPr>
        </p:nvSpPr>
        <p:spPr>
          <a:xfrm>
            <a:off x="201168" y="274320"/>
            <a:ext cx="11990832" cy="5902643"/>
          </a:xfrm>
        </p:spPr>
        <p:txBody>
          <a:bodyPr>
            <a:normAutofit lnSpcReduction="10000"/>
          </a:bodyPr>
          <a:lstStyle/>
          <a:p>
            <a:pPr>
              <a:lnSpc>
                <a:spcPct val="107000"/>
              </a:lnSpc>
              <a:spcAft>
                <a:spcPts val="800"/>
              </a:spcAft>
            </a:pPr>
            <a:r>
              <a:rPr lang="en-GB"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PREVENTION AND REDUCTION</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The best method of managing waste is prevention and reduction, which can be achieved in a number of ways like recycling and making use of second hand items.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Burying</a:t>
            </a:r>
            <a:endParaRPr lang="en-KE" sz="24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It is suitable for organic wastes which cannot (degrade) once in the soil thus add nutrients to the soils.</a:t>
            </a:r>
            <a:endParaRPr lang="en-KE" sz="24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It is not suitable for solid wastes.</a:t>
            </a:r>
            <a:endParaRPr lang="en-KE" sz="24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It is not suitable where large amounts of wastes are produced.</a:t>
            </a:r>
            <a:endParaRPr lang="en-KE" sz="24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It is ideal for picnic where small amount of wastes is produced.</a:t>
            </a:r>
            <a:endParaRPr lang="en-KE" sz="24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12525883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5F9C14-C0B3-4445-9175-E1AAE2B95066}"/>
              </a:ext>
            </a:extLst>
          </p:cNvPr>
          <p:cNvSpPr>
            <a:spLocks noGrp="1"/>
          </p:cNvSpPr>
          <p:nvPr>
            <p:ph idx="1"/>
          </p:nvPr>
        </p:nvSpPr>
        <p:spPr>
          <a:xfrm>
            <a:off x="256032" y="219456"/>
            <a:ext cx="11759184" cy="6510528"/>
          </a:xfrm>
        </p:spPr>
        <p:txBody>
          <a:bodyPr>
            <a:normAutofit lnSpcReduction="10000"/>
          </a:bodyPr>
          <a:lstStyle/>
          <a:p>
            <a:pPr>
              <a:lnSpc>
                <a:spcPct val="107000"/>
              </a:lnSpc>
              <a:spcAft>
                <a:spcPts val="800"/>
              </a:spcAft>
            </a:pPr>
            <a:r>
              <a:rPr lang="en-GB"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Storage of hazardous materials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Keep all flammable products out of direct sunlight and away from heat, sparks or flames.</a:t>
            </a:r>
            <a:endParaRPr lang="en-KE" sz="24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Store all containers in an upright position a cardboard box instead of plastic bags and place leaking containers in a larger plastic container with a tight-fitting lid.</a:t>
            </a:r>
            <a:endParaRPr lang="en-KE" sz="24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All hazardous waste generated by business needs to be stored in a safe and secure location.</a:t>
            </a:r>
            <a:endParaRPr lang="en-KE" sz="24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Waste identified as high or extremely risky should not be stored with the rest of hazardous waste. This kind of waste needs to be picked up by special arrangement, possibly outside of the regular hazardous waste pickup.</a:t>
            </a:r>
            <a:endParaRPr lang="en-KE" sz="24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30170094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8E0A47-3313-4B8B-876E-389275DAAFB1}"/>
              </a:ext>
            </a:extLst>
          </p:cNvPr>
          <p:cNvSpPr>
            <a:spLocks noGrp="1"/>
          </p:cNvSpPr>
          <p:nvPr>
            <p:ph idx="1"/>
          </p:nvPr>
        </p:nvSpPr>
        <p:spPr>
          <a:xfrm>
            <a:off x="201168" y="292608"/>
            <a:ext cx="11722608" cy="6419088"/>
          </a:xfrm>
        </p:spPr>
        <p:txBody>
          <a:bodyPr>
            <a:normAutofit lnSpcReduction="10000"/>
          </a:bodyPr>
          <a:lstStyle/>
          <a:p>
            <a:pPr marL="342900" lvl="0" indent="-342900">
              <a:lnSpc>
                <a:spcPct val="107000"/>
              </a:lnSpc>
              <a:spcAft>
                <a:spcPts val="800"/>
              </a:spcAft>
              <a:buSzPts val="1000"/>
              <a:buFont typeface="Symbol" panose="05050102010706020507" pitchFamily="18" charset="2"/>
              <a:buChar char=""/>
              <a:tabLst>
                <a:tab pos="457200" algn="l"/>
              </a:tabLst>
            </a:pPr>
            <a:r>
              <a:rPr lang="en-GB"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Burning/Incineration</a:t>
            </a:r>
            <a:endParaRPr lang="en-KE" sz="24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Incineration is popular due to the minimal land available for disposal but there is some concern about the release of micro pollutants like dioxins from incinerator stacks.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Mainly used inflammable waste like paper.</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Suitable for small amounts of waste as this method may pollute the air.</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Draining into main sewer</a:t>
            </a:r>
            <a:endParaRPr lang="en-KE" sz="24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Suitable for disposing liquid wastes like grey water from dishwashing</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Water from the kitchen is normally channelled to the main sewer.</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180950779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3AB205-FC71-47A1-A797-C12FE2E6D5FB}"/>
              </a:ext>
            </a:extLst>
          </p:cNvPr>
          <p:cNvSpPr>
            <a:spLocks noGrp="1"/>
          </p:cNvSpPr>
          <p:nvPr>
            <p:ph idx="1"/>
          </p:nvPr>
        </p:nvSpPr>
        <p:spPr>
          <a:xfrm>
            <a:off x="347472" y="292608"/>
            <a:ext cx="11594592" cy="6364224"/>
          </a:xfrm>
        </p:spPr>
        <p:txBody>
          <a:bodyPr>
            <a:normAutofit fontScale="85000" lnSpcReduction="20000"/>
          </a:bodyPr>
          <a:lstStyle/>
          <a:p>
            <a:pPr marL="342900" lvl="0" indent="-342900">
              <a:lnSpc>
                <a:spcPct val="107000"/>
              </a:lnSpc>
              <a:spcAft>
                <a:spcPts val="800"/>
              </a:spcAft>
              <a:buSzPts val="1000"/>
              <a:buFont typeface="Symbol" panose="05050102010706020507" pitchFamily="18" charset="2"/>
              <a:buChar char=""/>
              <a:tabLst>
                <a:tab pos="457200" algn="l"/>
              </a:tabLst>
            </a:pPr>
            <a:r>
              <a:rPr lang="en-GB"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Recycling/energy recovery</a:t>
            </a:r>
            <a:endParaRPr lang="en-KE" sz="24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Energy recovery is a promising form of waste disposal. It works by recycling some forms of waste into a fuel source for heating, cooking and powering turbines.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This is one of the best way of disposing wastes.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Materials are separated and taken for recycling.</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Waste that can be recycled include:</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Glass.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Metals.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Plastic cans heavy duty plastic sheets and paper.</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Rubber.</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Paper (made from wood).</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Cooking oil into biodiesel.</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67731168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25CAE3-3C6A-45C9-B188-74D3C08A4DE4}"/>
              </a:ext>
            </a:extLst>
          </p:cNvPr>
          <p:cNvSpPr>
            <a:spLocks noGrp="1"/>
          </p:cNvSpPr>
          <p:nvPr>
            <p:ph idx="1"/>
          </p:nvPr>
        </p:nvSpPr>
        <p:spPr>
          <a:xfrm>
            <a:off x="457200" y="365760"/>
            <a:ext cx="11484864" cy="6272784"/>
          </a:xfrm>
        </p:spPr>
        <p:txBody>
          <a:bodyPr>
            <a:normAutofit/>
          </a:bodyPr>
          <a:lstStyle/>
          <a:p>
            <a:pPr>
              <a:lnSpc>
                <a:spcPct val="107000"/>
              </a:lnSpc>
              <a:spcAft>
                <a:spcPts val="800"/>
              </a:spcAft>
            </a:pPr>
            <a:r>
              <a:rPr lang="en-GB"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Compositing/biological reprocessing</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Biological reprocessing methods such as composting can be used for organic waste like food, paper and plant material.</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Organic matter is composed to produce organic manure to grow organic foods and for adding nutrients to flower beds.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Feeding animals</a:t>
            </a:r>
            <a:endParaRPr lang="en-KE" sz="2400"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Left over foods are used to feed pigs, cows, dogs and other domestic animals.</a:t>
            </a:r>
            <a:endParaRPr lang="en-KE"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KE" sz="2400" dirty="0">
              <a:latin typeface="Calibri" panose="020F0502020204030204" pitchFamily="34" charset="0"/>
              <a:ea typeface="Calibri" panose="020F0502020204030204" pitchFamily="34" charset="0"/>
              <a:cs typeface="Times New Roman" panose="02020603050405020304" pitchFamily="18" charset="0"/>
            </a:endParaRPr>
          </a:p>
          <a:p>
            <a:endParaRPr lang="en-KE" dirty="0"/>
          </a:p>
        </p:txBody>
      </p:sp>
    </p:spTree>
    <p:extLst>
      <p:ext uri="{BB962C8B-B14F-4D97-AF65-F5344CB8AC3E}">
        <p14:creationId xmlns:p14="http://schemas.microsoft.com/office/powerpoint/2010/main" val="4911704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7B9C45-264A-4C2A-B94D-0F93885727E9}"/>
              </a:ext>
            </a:extLst>
          </p:cNvPr>
          <p:cNvSpPr>
            <a:spLocks noGrp="1"/>
          </p:cNvSpPr>
          <p:nvPr>
            <p:ph idx="1"/>
          </p:nvPr>
        </p:nvSpPr>
        <p:spPr>
          <a:xfrm>
            <a:off x="292608" y="256032"/>
            <a:ext cx="11899392" cy="6382512"/>
          </a:xfrm>
        </p:spPr>
        <p:txBody>
          <a:bodyPr>
            <a:normAutofit lnSpcReduction="10000"/>
          </a:bodyPr>
          <a:lstStyle/>
          <a:p>
            <a:pPr marL="342900" lvl="0" indent="-342900">
              <a:lnSpc>
                <a:spcPct val="107000"/>
              </a:lnSpc>
              <a:spcAft>
                <a:spcPts val="800"/>
              </a:spcAft>
              <a:buSzPts val="1000"/>
              <a:buFont typeface="Symbol" panose="05050102010706020507" pitchFamily="18" charset="2"/>
              <a:buChar char=""/>
              <a:tabLst>
                <a:tab pos="457200" algn="l"/>
              </a:tabLst>
            </a:pPr>
            <a:r>
              <a:rPr lang="en-GB"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Compactors</a:t>
            </a:r>
            <a:endParaRPr lang="en-KE"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Compacting reduces the waist sizes (bulkiness)</a:t>
            </a:r>
            <a:endParaRPr lang="en-KE"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The compacted wastes are then discarded into dumping sites.</a:t>
            </a:r>
            <a:endParaRPr lang="en-KE"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GB" b="1"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Disposal in to sea/rivers/ Ocean Dumping</a:t>
            </a:r>
            <a:endParaRPr lang="en-KE" dirty="0">
              <a:solidFill>
                <a:srgbClr val="495057"/>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Controversy surrounds ocean dumping as a waste disposal method. Although the waste may provide nutrients from some sea life, it’s widely believed that the harmful insects will outweigh any benefits.</a:t>
            </a:r>
            <a:endParaRPr lang="en-KE"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This is a bad method of waste disposal because it pollutes the rive r environments.</a:t>
            </a:r>
            <a:endParaRPr lang="en-KE"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GB" dirty="0">
                <a:solidFill>
                  <a:srgbClr val="495057"/>
                </a:solidFill>
                <a:latin typeface="Arial" panose="020B0604020202020204" pitchFamily="34" charset="0"/>
                <a:ea typeface="Times New Roman" panose="02020603050405020304" pitchFamily="18" charset="0"/>
                <a:cs typeface="Times New Roman" panose="02020603050405020304" pitchFamily="18" charset="0"/>
              </a:rPr>
              <a:t>-          However, water from sewage lagoons is usually safe to dispose into the rivers once they are certified clean.</a:t>
            </a:r>
            <a:endParaRPr lang="en-KE"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KE" dirty="0"/>
          </a:p>
        </p:txBody>
      </p:sp>
    </p:spTree>
    <p:extLst>
      <p:ext uri="{BB962C8B-B14F-4D97-AF65-F5344CB8AC3E}">
        <p14:creationId xmlns:p14="http://schemas.microsoft.com/office/powerpoint/2010/main" val="3370279081"/>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4272</TotalTime>
  <Words>4887</Words>
  <Application>Microsoft Office PowerPoint</Application>
  <PresentationFormat>Widescreen</PresentationFormat>
  <Paragraphs>715</Paragraphs>
  <Slides>82</Slides>
  <Notes>0</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82</vt:i4>
      </vt:variant>
    </vt:vector>
  </HeadingPairs>
  <TitlesOfParts>
    <vt:vector size="95" baseType="lpstr">
      <vt:lpstr>Arial</vt:lpstr>
      <vt:lpstr>Calibri</vt:lpstr>
      <vt:lpstr>Calibri Light</vt:lpstr>
      <vt:lpstr>Lucida Sans Unicode</vt:lpstr>
      <vt:lpstr>Roboto</vt:lpstr>
      <vt:lpstr>Symbol</vt:lpstr>
      <vt:lpstr>Times New Roman</vt:lpstr>
      <vt:lpstr>Verdana</vt:lpstr>
      <vt:lpstr>Wingdings 2</vt:lpstr>
      <vt:lpstr>Wingdings 3</vt:lpstr>
      <vt:lpstr>Office Theme</vt:lpstr>
      <vt:lpstr>1_Office Theme</vt:lpstr>
      <vt:lpstr>Concourse</vt:lpstr>
      <vt:lpstr>HYGIENE,SANITATION&amp;SAFETY</vt:lpstr>
      <vt:lpstr>PowerPoint Presentation</vt:lpstr>
      <vt:lpstr>PowerPoint Presentation</vt:lpstr>
      <vt:lpstr>PowerPoint Presentation</vt:lpstr>
      <vt:lpstr>PowerPoint Presentation</vt:lpstr>
      <vt:lpstr>Types of Sanitation</vt:lpstr>
      <vt:lpstr>Types of Sanitation</vt:lpstr>
      <vt:lpstr>PowerPoint Presentation</vt:lpstr>
      <vt:lpstr>PowerPoint Presentation</vt:lpstr>
      <vt:lpstr>PowerPoint Presentation</vt:lpstr>
      <vt:lpstr>Transmission of diseases</vt:lpstr>
      <vt:lpstr>Diseases causing  agents</vt:lpstr>
      <vt:lpstr>Modes of disease transmission</vt:lpstr>
      <vt:lpstr>Ingestion</vt:lpstr>
      <vt:lpstr>Food and waterborne Disease</vt:lpstr>
      <vt:lpstr>PowerPoint Presentation</vt:lpstr>
      <vt:lpstr>Inhalation</vt:lpstr>
      <vt:lpstr>Transmission of diseases</vt:lpstr>
      <vt:lpstr>Transmission of diseases</vt:lpstr>
      <vt:lpstr>Others</vt:lpstr>
      <vt:lpstr>Transmission of diseases</vt:lpstr>
      <vt:lpstr>Cont..</vt:lpstr>
      <vt:lpstr>Diseases related to poor hygiene</vt:lpstr>
      <vt:lpstr>Prevention and control of diseases </vt:lpstr>
      <vt:lpstr>Medical hygiene practices</vt:lpstr>
      <vt:lpstr>Respiratory hygiene</vt:lpstr>
      <vt:lpstr>Food hygiene at home </vt:lpstr>
      <vt:lpstr>Household water treatment and safe storage</vt:lpstr>
      <vt:lpstr>PowerPoint Presentation</vt:lpstr>
      <vt:lpstr>Cont…</vt:lpstr>
      <vt:lpstr>Cont…</vt:lpstr>
      <vt:lpstr>Hand washing</vt:lpstr>
      <vt:lpstr>Personal hygiene/Clean body</vt:lpstr>
      <vt:lpstr>Vector control</vt:lpstr>
      <vt:lpstr>Sewage treatment</vt:lpstr>
      <vt:lpstr>Cont…</vt:lpstr>
      <vt:lpstr>Health Education</vt:lpstr>
      <vt:lpstr>Improving hygiene and Sanitation</vt:lpstr>
      <vt:lpstr>Summary </vt:lpstr>
      <vt:lpstr>Cont…</vt:lpstr>
      <vt:lpstr>HYGIENE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HYGIENE &amp; SANITATION</dc:title>
  <dc:creator>User</dc:creator>
  <cp:lastModifiedBy>HP</cp:lastModifiedBy>
  <cp:revision>20</cp:revision>
  <dcterms:created xsi:type="dcterms:W3CDTF">2022-01-21T11:36:23Z</dcterms:created>
  <dcterms:modified xsi:type="dcterms:W3CDTF">2024-10-25T05:59:39Z</dcterms:modified>
</cp:coreProperties>
</file>
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89"/>
  </p:notesMasterIdLst>
  <p:sldIdLst>
    <p:sldId id="259" r:id="rId2"/>
    <p:sldId id="349" r:id="rId3"/>
    <p:sldId id="350" r:id="rId4"/>
    <p:sldId id="351" r:id="rId5"/>
    <p:sldId id="264" r:id="rId6"/>
    <p:sldId id="257" r:id="rId7"/>
    <p:sldId id="261" r:id="rId8"/>
    <p:sldId id="263" r:id="rId9"/>
    <p:sldId id="336" r:id="rId10"/>
    <p:sldId id="262" r:id="rId11"/>
    <p:sldId id="265" r:id="rId12"/>
    <p:sldId id="266" r:id="rId13"/>
    <p:sldId id="269" r:id="rId14"/>
    <p:sldId id="270" r:id="rId15"/>
    <p:sldId id="271" r:id="rId16"/>
    <p:sldId id="273" r:id="rId17"/>
    <p:sldId id="274" r:id="rId18"/>
    <p:sldId id="275" r:id="rId19"/>
    <p:sldId id="276" r:id="rId20"/>
    <p:sldId id="277" r:id="rId21"/>
    <p:sldId id="278" r:id="rId22"/>
    <p:sldId id="279" r:id="rId23"/>
    <p:sldId id="280" r:id="rId24"/>
    <p:sldId id="284" r:id="rId25"/>
    <p:sldId id="281" r:id="rId26"/>
    <p:sldId id="282" r:id="rId27"/>
    <p:sldId id="283" r:id="rId28"/>
    <p:sldId id="285" r:id="rId29"/>
    <p:sldId id="286" r:id="rId30"/>
    <p:sldId id="287" r:id="rId31"/>
    <p:sldId id="288"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28" r:id="rId70"/>
    <p:sldId id="327" r:id="rId71"/>
    <p:sldId id="329" r:id="rId72"/>
    <p:sldId id="330" r:id="rId73"/>
    <p:sldId id="331" r:id="rId74"/>
    <p:sldId id="332" r:id="rId75"/>
    <p:sldId id="333" r:id="rId76"/>
    <p:sldId id="334" r:id="rId77"/>
    <p:sldId id="335" r:id="rId78"/>
    <p:sldId id="337" r:id="rId79"/>
    <p:sldId id="338" r:id="rId80"/>
    <p:sldId id="339" r:id="rId81"/>
    <p:sldId id="340" r:id="rId82"/>
    <p:sldId id="341" r:id="rId83"/>
    <p:sldId id="342" r:id="rId84"/>
    <p:sldId id="345" r:id="rId85"/>
    <p:sldId id="343" r:id="rId86"/>
    <p:sldId id="344" r:id="rId87"/>
    <p:sldId id="346" r:id="rId8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850"/>
    <p:restoredTop sz="94726"/>
  </p:normalViewPr>
  <p:slideViewPr>
    <p:cSldViewPr>
      <p:cViewPr varScale="1">
        <p:scale>
          <a:sx n="110" d="100"/>
          <a:sy n="110" d="100"/>
        </p:scale>
        <p:origin x="168" y="3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6A5E0F08-E0D4-30D4-7DDD-49490E4664F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97283" name="Rectangle 3">
            <a:extLst>
              <a:ext uri="{FF2B5EF4-FFF2-40B4-BE49-F238E27FC236}">
                <a16:creationId xmlns:a16="http://schemas.microsoft.com/office/drawing/2014/main" id="{E60BF34B-D00F-169E-FFF9-725E1AB0350D}"/>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92164" name="Rectangle 4">
            <a:extLst>
              <a:ext uri="{FF2B5EF4-FFF2-40B4-BE49-F238E27FC236}">
                <a16:creationId xmlns:a16="http://schemas.microsoft.com/office/drawing/2014/main" id="{F745982F-EBDC-BA67-DAF7-0B996D1AF2C3}"/>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5" name="Rectangle 5">
            <a:extLst>
              <a:ext uri="{FF2B5EF4-FFF2-40B4-BE49-F238E27FC236}">
                <a16:creationId xmlns:a16="http://schemas.microsoft.com/office/drawing/2014/main" id="{A19884FA-5C7C-2C39-743F-C6485952E46F}"/>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7286" name="Rectangle 6">
            <a:extLst>
              <a:ext uri="{FF2B5EF4-FFF2-40B4-BE49-F238E27FC236}">
                <a16:creationId xmlns:a16="http://schemas.microsoft.com/office/drawing/2014/main" id="{BAA09686-CBD5-4629-17E8-59EB76BC0AA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97287" name="Rectangle 7">
            <a:extLst>
              <a:ext uri="{FF2B5EF4-FFF2-40B4-BE49-F238E27FC236}">
                <a16:creationId xmlns:a16="http://schemas.microsoft.com/office/drawing/2014/main" id="{EDB73433-A140-4A77-7448-4062662BB703}"/>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57F3DAA4-FA7E-3C4B-9E99-E54ED4C805A0}" type="slidenum">
              <a:rPr lang="en-US" altLang="en-KE"/>
              <a:pPr/>
              <a:t>‹#›</a:t>
            </a:fld>
            <a:endParaRPr lang="en-US" altLang="en-K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1A2A371-A50D-E9BA-5F5D-AF21B0A9A0BE}"/>
              </a:ext>
            </a:extLst>
          </p:cNvPr>
          <p:cNvGrpSpPr>
            <a:grpSpLocks/>
          </p:cNvGrpSpPr>
          <p:nvPr/>
        </p:nvGrpSpPr>
        <p:grpSpPr bwMode="auto">
          <a:xfrm>
            <a:off x="0" y="0"/>
            <a:ext cx="5867400" cy="6858000"/>
            <a:chOff x="0" y="0"/>
            <a:chExt cx="3696" cy="4320"/>
          </a:xfrm>
        </p:grpSpPr>
        <p:sp>
          <p:nvSpPr>
            <p:cNvPr id="3" name="Rectangle 3">
              <a:extLst>
                <a:ext uri="{FF2B5EF4-FFF2-40B4-BE49-F238E27FC236}">
                  <a16:creationId xmlns:a16="http://schemas.microsoft.com/office/drawing/2014/main" id="{EE205E26-BCD3-8ACF-241F-B871C2D3C649}"/>
                </a:ext>
              </a:extLst>
            </p:cNvPr>
            <p:cNvSpPr>
              <a:spLocks noChangeArrowheads="1"/>
            </p:cNvSpPr>
            <p:nvPr/>
          </p:nvSpPr>
          <p:spPr bwMode="auto">
            <a:xfrm>
              <a:off x="0" y="0"/>
              <a:ext cx="2880" cy="4320"/>
            </a:xfrm>
            <a:prstGeom prst="rect">
              <a:avLst/>
            </a:prstGeom>
            <a:solidFill>
              <a:schemeClr val="accent2"/>
            </a:solidFill>
            <a:ln w="9525">
              <a:noFill/>
              <a:miter lim="800000"/>
              <a:headEnd/>
              <a:tailEnd/>
            </a:ln>
            <a:effectLst/>
          </p:spPr>
          <p:txBody>
            <a:bodyPr wrap="none" anchor="ctr"/>
            <a:lstStyle/>
            <a:p>
              <a:pPr algn="ctr">
                <a:defRPr/>
              </a:pPr>
              <a:endParaRPr kumimoji="1" lang="en-US" sz="2400">
                <a:latin typeface="Times New Roman" pitchFamily="18" charset="0"/>
              </a:endParaRPr>
            </a:p>
          </p:txBody>
        </p:sp>
        <p:sp>
          <p:nvSpPr>
            <p:cNvPr id="4" name="AutoShape 4">
              <a:extLst>
                <a:ext uri="{FF2B5EF4-FFF2-40B4-BE49-F238E27FC236}">
                  <a16:creationId xmlns:a16="http://schemas.microsoft.com/office/drawing/2014/main" id="{833031BA-8581-7B1D-17D6-B26EA456708E}"/>
                </a:ext>
              </a:extLst>
            </p:cNvPr>
            <p:cNvSpPr>
              <a:spLocks noChangeArrowheads="1"/>
            </p:cNvSpPr>
            <p:nvPr/>
          </p:nvSpPr>
          <p:spPr bwMode="white">
            <a:xfrm>
              <a:off x="432" y="624"/>
              <a:ext cx="3264" cy="1200"/>
            </a:xfrm>
            <a:prstGeom prst="roundRect">
              <a:avLst>
                <a:gd name="adj" fmla="val 50000"/>
              </a:avLst>
            </a:prstGeom>
            <a:solidFill>
              <a:schemeClr val="bg1"/>
            </a:solidFill>
            <a:ln w="9525">
              <a:noFill/>
              <a:round/>
              <a:headEnd/>
              <a:tailEnd/>
            </a:ln>
            <a:effectLst/>
          </p:spPr>
          <p:txBody>
            <a:bodyPr wrap="none" anchor="ctr"/>
            <a:lstStyle/>
            <a:p>
              <a:pPr algn="ctr">
                <a:defRPr/>
              </a:pPr>
              <a:endParaRPr kumimoji="1" lang="en-US" sz="2400">
                <a:latin typeface="Times New Roman" pitchFamily="18" charset="0"/>
              </a:endParaRPr>
            </a:p>
          </p:txBody>
        </p:sp>
      </p:grpSp>
      <p:grpSp>
        <p:nvGrpSpPr>
          <p:cNvPr id="5" name="Group 5">
            <a:extLst>
              <a:ext uri="{FF2B5EF4-FFF2-40B4-BE49-F238E27FC236}">
                <a16:creationId xmlns:a16="http://schemas.microsoft.com/office/drawing/2014/main" id="{BD3A4B14-0938-E78D-FA4F-0EA52EC745A4}"/>
              </a:ext>
            </a:extLst>
          </p:cNvPr>
          <p:cNvGrpSpPr>
            <a:grpSpLocks/>
          </p:cNvGrpSpPr>
          <p:nvPr/>
        </p:nvGrpSpPr>
        <p:grpSpPr bwMode="auto">
          <a:xfrm>
            <a:off x="3632200" y="4889500"/>
            <a:ext cx="4876800" cy="319088"/>
            <a:chOff x="2288" y="3080"/>
            <a:chExt cx="3072" cy="201"/>
          </a:xfrm>
        </p:grpSpPr>
        <p:sp>
          <p:nvSpPr>
            <p:cNvPr id="6" name="AutoShape 6">
              <a:extLst>
                <a:ext uri="{FF2B5EF4-FFF2-40B4-BE49-F238E27FC236}">
                  <a16:creationId xmlns:a16="http://schemas.microsoft.com/office/drawing/2014/main" id="{7DC6DBBC-E693-E27B-BC65-92E72B3FA4A8}"/>
                </a:ext>
              </a:extLst>
            </p:cNvPr>
            <p:cNvSpPr>
              <a:spLocks noChangeArrowheads="1"/>
            </p:cNvSpPr>
            <p:nvPr/>
          </p:nvSpPr>
          <p:spPr bwMode="auto">
            <a:xfrm flipH="1">
              <a:off x="2288" y="3080"/>
              <a:ext cx="2914" cy="200"/>
            </a:xfrm>
            <a:prstGeom prst="roundRect">
              <a:avLst>
                <a:gd name="adj" fmla="val 0"/>
              </a:avLst>
            </a:prstGeom>
            <a:solidFill>
              <a:schemeClr val="hlink"/>
            </a:solidFill>
            <a:ln w="9525">
              <a:noFill/>
              <a:round/>
              <a:headEnd/>
              <a:tailEnd/>
            </a:ln>
            <a:effectLst/>
          </p:spPr>
          <p:txBody>
            <a:bodyPr wrap="none" anchor="ctr"/>
            <a:lstStyle/>
            <a:p>
              <a:pPr eaLnBrk="0" hangingPunct="0">
                <a:defRPr/>
              </a:pPr>
              <a:endParaRPr lang="en-US">
                <a:latin typeface="Arial" charset="0"/>
              </a:endParaRPr>
            </a:p>
          </p:txBody>
        </p:sp>
        <p:sp>
          <p:nvSpPr>
            <p:cNvPr id="7" name="AutoShape 7">
              <a:extLst>
                <a:ext uri="{FF2B5EF4-FFF2-40B4-BE49-F238E27FC236}">
                  <a16:creationId xmlns:a16="http://schemas.microsoft.com/office/drawing/2014/main" id="{991E2C91-A649-164F-8D65-81EBF3E42F57}"/>
                </a:ext>
              </a:extLst>
            </p:cNvPr>
            <p:cNvSpPr>
              <a:spLocks noChangeArrowheads="1"/>
            </p:cNvSpPr>
            <p:nvPr/>
          </p:nvSpPr>
          <p:spPr bwMode="auto">
            <a:xfrm>
              <a:off x="5196" y="3080"/>
              <a:ext cx="164" cy="201"/>
            </a:xfrm>
            <a:prstGeom prst="flowChartDelay">
              <a:avLst/>
            </a:prstGeom>
            <a:solidFill>
              <a:schemeClr val="hlink"/>
            </a:solidFill>
            <a:ln w="9525">
              <a:noFill/>
              <a:miter lim="800000"/>
              <a:headEnd/>
              <a:tailEnd/>
            </a:ln>
            <a:effectLst/>
          </p:spPr>
          <p:txBody>
            <a:bodyPr wrap="none" anchor="ctr"/>
            <a:lstStyle/>
            <a:p>
              <a:pPr eaLnBrk="0" hangingPunct="0">
                <a:defRPr/>
              </a:pPr>
              <a:endParaRPr lang="en-US">
                <a:latin typeface="Arial" charset="0"/>
              </a:endParaRPr>
            </a:p>
          </p:txBody>
        </p:sp>
      </p:grpSp>
      <p:sp>
        <p:nvSpPr>
          <p:cNvPr id="114696" name="Rectangle 8"/>
          <p:cNvSpPr>
            <a:spLocks noGrp="1" noChangeArrowheads="1"/>
          </p:cNvSpPr>
          <p:nvPr>
            <p:ph type="subTitle" idx="1"/>
          </p:nvPr>
        </p:nvSpPr>
        <p:spPr>
          <a:xfrm>
            <a:off x="4673600" y="2927350"/>
            <a:ext cx="4013200" cy="1822450"/>
          </a:xfrm>
        </p:spPr>
        <p:txBody>
          <a:bodyPr anchor="b"/>
          <a:lstStyle>
            <a:lvl1pPr marL="0" indent="0">
              <a:buFont typeface="Wingdings" pitchFamily="2" charset="2"/>
              <a:buNone/>
              <a:defRPr>
                <a:solidFill>
                  <a:schemeClr val="tx2"/>
                </a:solidFill>
              </a:defRPr>
            </a:lvl1pPr>
          </a:lstStyle>
          <a:p>
            <a:r>
              <a:rPr lang="en-US"/>
              <a:t>Click to edit Master subtitle style</a:t>
            </a:r>
          </a:p>
        </p:txBody>
      </p:sp>
      <p:sp>
        <p:nvSpPr>
          <p:cNvPr id="114700" name="AutoShape 12"/>
          <p:cNvSpPr>
            <a:spLocks noGrp="1" noChangeArrowheads="1"/>
          </p:cNvSpPr>
          <p:nvPr>
            <p:ph type="ctrTitle" sz="quarter"/>
          </p:nvPr>
        </p:nvSpPr>
        <p:spPr>
          <a:xfrm>
            <a:off x="685800" y="990600"/>
            <a:ext cx="8229600" cy="1905000"/>
          </a:xfrm>
          <a:prstGeom prst="roundRect">
            <a:avLst>
              <a:gd name="adj" fmla="val 50000"/>
            </a:avLst>
          </a:prstGeom>
        </p:spPr>
        <p:txBody>
          <a:bodyPr anchor="ctr"/>
          <a:lstStyle>
            <a:lvl1pPr algn="ctr">
              <a:defRPr>
                <a:solidFill>
                  <a:schemeClr val="tx1"/>
                </a:solidFill>
              </a:defRPr>
            </a:lvl1pPr>
          </a:lstStyle>
          <a:p>
            <a:r>
              <a:rPr lang="en-US"/>
              <a:t>Click to edit Master title style</a:t>
            </a:r>
          </a:p>
        </p:txBody>
      </p:sp>
      <p:sp>
        <p:nvSpPr>
          <p:cNvPr id="8" name="Rectangle 9">
            <a:extLst>
              <a:ext uri="{FF2B5EF4-FFF2-40B4-BE49-F238E27FC236}">
                <a16:creationId xmlns:a16="http://schemas.microsoft.com/office/drawing/2014/main" id="{13F8D329-893D-4FCD-14F2-00E7EEC5839F}"/>
              </a:ext>
            </a:extLst>
          </p:cNvPr>
          <p:cNvSpPr>
            <a:spLocks noGrp="1" noChangeArrowheads="1"/>
          </p:cNvSpPr>
          <p:nvPr>
            <p:ph type="dt" sz="quarter" idx="10"/>
          </p:nvPr>
        </p:nvSpPr>
        <p:spPr/>
        <p:txBody>
          <a:bodyPr/>
          <a:lstStyle>
            <a:lvl1pPr>
              <a:defRPr>
                <a:solidFill>
                  <a:schemeClr val="bg1"/>
                </a:solidFill>
              </a:defRPr>
            </a:lvl1pPr>
          </a:lstStyle>
          <a:p>
            <a:pPr>
              <a:defRPr/>
            </a:pPr>
            <a:endParaRPr lang="en-US"/>
          </a:p>
        </p:txBody>
      </p:sp>
      <p:sp>
        <p:nvSpPr>
          <p:cNvPr id="9" name="Rectangle 10">
            <a:extLst>
              <a:ext uri="{FF2B5EF4-FFF2-40B4-BE49-F238E27FC236}">
                <a16:creationId xmlns:a16="http://schemas.microsoft.com/office/drawing/2014/main" id="{EDD4A215-2E39-93E8-6900-1188234AF750}"/>
              </a:ext>
            </a:extLst>
          </p:cNvPr>
          <p:cNvSpPr>
            <a:spLocks noGrp="1" noChangeArrowheads="1"/>
          </p:cNvSpPr>
          <p:nvPr>
            <p:ph type="ftr" sz="quarter" idx="11"/>
          </p:nvPr>
        </p:nvSpPr>
        <p:spPr/>
        <p:txBody>
          <a:bodyPr/>
          <a:lstStyle>
            <a:lvl1pPr algn="r">
              <a:defRPr/>
            </a:lvl1pPr>
          </a:lstStyle>
          <a:p>
            <a:pPr>
              <a:defRPr/>
            </a:pPr>
            <a:endParaRPr lang="en-US"/>
          </a:p>
        </p:txBody>
      </p:sp>
      <p:sp>
        <p:nvSpPr>
          <p:cNvPr id="10" name="Rectangle 11">
            <a:extLst>
              <a:ext uri="{FF2B5EF4-FFF2-40B4-BE49-F238E27FC236}">
                <a16:creationId xmlns:a16="http://schemas.microsoft.com/office/drawing/2014/main" id="{58EFEB3B-016F-8B3D-5415-BCD8EABC9D47}"/>
              </a:ext>
            </a:extLst>
          </p:cNvPr>
          <p:cNvSpPr>
            <a:spLocks noGrp="1" noChangeArrowheads="1"/>
          </p:cNvSpPr>
          <p:nvPr>
            <p:ph type="sldNum" sz="quarter" idx="12"/>
          </p:nvPr>
        </p:nvSpPr>
        <p:spPr>
          <a:xfrm>
            <a:off x="76200" y="6248400"/>
            <a:ext cx="587375" cy="488950"/>
          </a:xfrm>
        </p:spPr>
        <p:txBody>
          <a:bodyPr anchorCtr="0"/>
          <a:lstStyle>
            <a:lvl1pPr>
              <a:defRPr/>
            </a:lvl1pPr>
          </a:lstStyle>
          <a:p>
            <a:fld id="{7690FD7F-68DD-9F46-A5E0-44FA85B070D4}" type="slidenum">
              <a:rPr lang="en-US" altLang="en-KE"/>
              <a:pPr/>
              <a:t>‹#›</a:t>
            </a:fld>
            <a:endParaRPr lang="en-US" altLang="en-KE"/>
          </a:p>
        </p:txBody>
      </p:sp>
    </p:spTree>
    <p:extLst>
      <p:ext uri="{BB962C8B-B14F-4D97-AF65-F5344CB8AC3E}">
        <p14:creationId xmlns:p14="http://schemas.microsoft.com/office/powerpoint/2010/main" val="3150175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9CCD9236-568A-52BD-BAD1-CC7D673ABE5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B9C260D1-AB5A-BE4E-A4CD-731A322C50F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8F0C3CAA-38ED-F295-02F6-8DB3D8F99A81}"/>
              </a:ext>
            </a:extLst>
          </p:cNvPr>
          <p:cNvSpPr>
            <a:spLocks noGrp="1" noChangeArrowheads="1"/>
          </p:cNvSpPr>
          <p:nvPr>
            <p:ph type="sldNum" sz="quarter" idx="12"/>
          </p:nvPr>
        </p:nvSpPr>
        <p:spPr>
          <a:ln/>
        </p:spPr>
        <p:txBody>
          <a:bodyPr/>
          <a:lstStyle>
            <a:lvl1pPr>
              <a:defRPr/>
            </a:lvl1pPr>
          </a:lstStyle>
          <a:p>
            <a:fld id="{CEC942D9-79D7-4D49-88E0-8BEFA75FEDD3}" type="slidenum">
              <a:rPr lang="en-US" altLang="en-KE"/>
              <a:pPr/>
              <a:t>‹#›</a:t>
            </a:fld>
            <a:endParaRPr lang="en-US" altLang="en-KE"/>
          </a:p>
        </p:txBody>
      </p:sp>
    </p:spTree>
    <p:extLst>
      <p:ext uri="{BB962C8B-B14F-4D97-AF65-F5344CB8AC3E}">
        <p14:creationId xmlns:p14="http://schemas.microsoft.com/office/powerpoint/2010/main" val="1443652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1">
            <a:extLst>
              <a:ext uri="{FF2B5EF4-FFF2-40B4-BE49-F238E27FC236}">
                <a16:creationId xmlns:a16="http://schemas.microsoft.com/office/drawing/2014/main" id="{19AE1074-32B9-D0A5-80FC-2BA5C8466AA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831EF71B-83AE-54B5-608D-475AA301882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95A8C14C-AD66-0948-87F9-2E9A910C5468}"/>
              </a:ext>
            </a:extLst>
          </p:cNvPr>
          <p:cNvSpPr>
            <a:spLocks noGrp="1" noChangeArrowheads="1"/>
          </p:cNvSpPr>
          <p:nvPr>
            <p:ph type="sldNum" sz="quarter" idx="12"/>
          </p:nvPr>
        </p:nvSpPr>
        <p:spPr>
          <a:ln/>
        </p:spPr>
        <p:txBody>
          <a:bodyPr/>
          <a:lstStyle>
            <a:lvl1pPr>
              <a:defRPr/>
            </a:lvl1pPr>
          </a:lstStyle>
          <a:p>
            <a:fld id="{D2AB4444-B3C7-714A-A1B8-B271652B3CAE}" type="slidenum">
              <a:rPr lang="en-US" altLang="en-KE"/>
              <a:pPr/>
              <a:t>‹#›</a:t>
            </a:fld>
            <a:endParaRPr lang="en-US" altLang="en-KE"/>
          </a:p>
        </p:txBody>
      </p:sp>
    </p:spTree>
    <p:extLst>
      <p:ext uri="{BB962C8B-B14F-4D97-AF65-F5344CB8AC3E}">
        <p14:creationId xmlns:p14="http://schemas.microsoft.com/office/powerpoint/2010/main" val="539693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2362200"/>
            <a:ext cx="3770313"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0913" y="2362200"/>
            <a:ext cx="3770312"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1">
            <a:extLst>
              <a:ext uri="{FF2B5EF4-FFF2-40B4-BE49-F238E27FC236}">
                <a16:creationId xmlns:a16="http://schemas.microsoft.com/office/drawing/2014/main" id="{19D6830D-B57D-62E7-8F33-D4B27E9C9855}"/>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D1EBC9E3-C074-9A23-39BE-1A4C6773D26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B631DB0E-BACE-BADD-9D82-A05D327A39D2}"/>
              </a:ext>
            </a:extLst>
          </p:cNvPr>
          <p:cNvSpPr>
            <a:spLocks noGrp="1" noChangeArrowheads="1"/>
          </p:cNvSpPr>
          <p:nvPr>
            <p:ph type="sldNum" sz="quarter" idx="12"/>
          </p:nvPr>
        </p:nvSpPr>
        <p:spPr>
          <a:ln/>
        </p:spPr>
        <p:txBody>
          <a:bodyPr/>
          <a:lstStyle>
            <a:lvl1pPr>
              <a:defRPr/>
            </a:lvl1pPr>
          </a:lstStyle>
          <a:p>
            <a:fld id="{DDABEB1D-B3DB-6D49-A705-023C2427AEE7}" type="slidenum">
              <a:rPr lang="en-US" altLang="en-KE"/>
              <a:pPr/>
              <a:t>‹#›</a:t>
            </a:fld>
            <a:endParaRPr lang="en-US" altLang="en-KE"/>
          </a:p>
        </p:txBody>
      </p:sp>
    </p:spTree>
    <p:extLst>
      <p:ext uri="{BB962C8B-B14F-4D97-AF65-F5344CB8AC3E}">
        <p14:creationId xmlns:p14="http://schemas.microsoft.com/office/powerpoint/2010/main" val="559217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1">
            <a:extLst>
              <a:ext uri="{FF2B5EF4-FFF2-40B4-BE49-F238E27FC236}">
                <a16:creationId xmlns:a16="http://schemas.microsoft.com/office/drawing/2014/main" id="{00F96C87-0341-2FEE-1210-9F1BF338EC70}"/>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8DA700E1-5140-02F7-4C0C-6A00294899B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0733E7F6-AF3F-A959-C246-143D722504AB}"/>
              </a:ext>
            </a:extLst>
          </p:cNvPr>
          <p:cNvSpPr>
            <a:spLocks noGrp="1" noChangeArrowheads="1"/>
          </p:cNvSpPr>
          <p:nvPr>
            <p:ph type="sldNum" sz="quarter" idx="12"/>
          </p:nvPr>
        </p:nvSpPr>
        <p:spPr>
          <a:ln/>
        </p:spPr>
        <p:txBody>
          <a:bodyPr/>
          <a:lstStyle>
            <a:lvl1pPr>
              <a:defRPr/>
            </a:lvl1pPr>
          </a:lstStyle>
          <a:p>
            <a:fld id="{452CE321-E3A1-BB41-8E51-3D260E7DC202}" type="slidenum">
              <a:rPr lang="en-US" altLang="en-KE"/>
              <a:pPr/>
              <a:t>‹#›</a:t>
            </a:fld>
            <a:endParaRPr lang="en-US" altLang="en-KE"/>
          </a:p>
        </p:txBody>
      </p:sp>
    </p:spTree>
    <p:extLst>
      <p:ext uri="{BB962C8B-B14F-4D97-AF65-F5344CB8AC3E}">
        <p14:creationId xmlns:p14="http://schemas.microsoft.com/office/powerpoint/2010/main" val="2643893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1">
            <a:extLst>
              <a:ext uri="{FF2B5EF4-FFF2-40B4-BE49-F238E27FC236}">
                <a16:creationId xmlns:a16="http://schemas.microsoft.com/office/drawing/2014/main" id="{29CBE941-6756-E32B-986A-0EAF2232C0F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208CC819-758A-9080-C4A5-3E1B2819E6D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B717CF7D-7DFF-62DB-7A88-747CF90D2F88}"/>
              </a:ext>
            </a:extLst>
          </p:cNvPr>
          <p:cNvSpPr>
            <a:spLocks noGrp="1" noChangeArrowheads="1"/>
          </p:cNvSpPr>
          <p:nvPr>
            <p:ph type="sldNum" sz="quarter" idx="12"/>
          </p:nvPr>
        </p:nvSpPr>
        <p:spPr>
          <a:ln/>
        </p:spPr>
        <p:txBody>
          <a:bodyPr/>
          <a:lstStyle>
            <a:lvl1pPr>
              <a:defRPr/>
            </a:lvl1pPr>
          </a:lstStyle>
          <a:p>
            <a:fld id="{E99CFE4B-B87B-AE47-A9E0-44C0085099C9}" type="slidenum">
              <a:rPr lang="en-US" altLang="en-KE"/>
              <a:pPr/>
              <a:t>‹#›</a:t>
            </a:fld>
            <a:endParaRPr lang="en-US" altLang="en-KE"/>
          </a:p>
        </p:txBody>
      </p:sp>
    </p:spTree>
    <p:extLst>
      <p:ext uri="{BB962C8B-B14F-4D97-AF65-F5344CB8AC3E}">
        <p14:creationId xmlns:p14="http://schemas.microsoft.com/office/powerpoint/2010/main" val="2265574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B69AA205-A441-B5FA-F714-CE9BD91CA11E}"/>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244BC81D-050D-66B4-9DBB-AF4425171F7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58B6ECA2-30A9-C1D9-C7D7-474BDBCF1011}"/>
              </a:ext>
            </a:extLst>
          </p:cNvPr>
          <p:cNvSpPr>
            <a:spLocks noGrp="1" noChangeArrowheads="1"/>
          </p:cNvSpPr>
          <p:nvPr>
            <p:ph type="sldNum" sz="quarter" idx="12"/>
          </p:nvPr>
        </p:nvSpPr>
        <p:spPr>
          <a:ln/>
        </p:spPr>
        <p:txBody>
          <a:bodyPr/>
          <a:lstStyle>
            <a:lvl1pPr>
              <a:defRPr/>
            </a:lvl1pPr>
          </a:lstStyle>
          <a:p>
            <a:fld id="{27FFE4FB-69E4-1B4A-8DF5-0C6D6A2C19C7}" type="slidenum">
              <a:rPr lang="en-US" altLang="en-KE"/>
              <a:pPr/>
              <a:t>‹#›</a:t>
            </a:fld>
            <a:endParaRPr lang="en-US" altLang="en-KE"/>
          </a:p>
        </p:txBody>
      </p:sp>
    </p:spTree>
    <p:extLst>
      <p:ext uri="{BB962C8B-B14F-4D97-AF65-F5344CB8AC3E}">
        <p14:creationId xmlns:p14="http://schemas.microsoft.com/office/powerpoint/2010/main" val="1667162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AA5159C2-BFC3-C466-3FF0-CE25540529DB}"/>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FA34DAF2-9DD4-894B-37F6-23F9DE14183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8DF661E6-BE4E-C9DF-DED0-FA92B1E44994}"/>
              </a:ext>
            </a:extLst>
          </p:cNvPr>
          <p:cNvSpPr>
            <a:spLocks noGrp="1" noChangeArrowheads="1"/>
          </p:cNvSpPr>
          <p:nvPr>
            <p:ph type="sldNum" sz="quarter" idx="12"/>
          </p:nvPr>
        </p:nvSpPr>
        <p:spPr>
          <a:ln/>
        </p:spPr>
        <p:txBody>
          <a:bodyPr/>
          <a:lstStyle>
            <a:lvl1pPr>
              <a:defRPr/>
            </a:lvl1pPr>
          </a:lstStyle>
          <a:p>
            <a:fld id="{4C769934-774A-0A48-8F0E-416705BD31E1}" type="slidenum">
              <a:rPr lang="en-US" altLang="en-KE"/>
              <a:pPr/>
              <a:t>‹#›</a:t>
            </a:fld>
            <a:endParaRPr lang="en-US" altLang="en-KE"/>
          </a:p>
        </p:txBody>
      </p:sp>
    </p:spTree>
    <p:extLst>
      <p:ext uri="{BB962C8B-B14F-4D97-AF65-F5344CB8AC3E}">
        <p14:creationId xmlns:p14="http://schemas.microsoft.com/office/powerpoint/2010/main" val="3229442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1">
            <a:extLst>
              <a:ext uri="{FF2B5EF4-FFF2-40B4-BE49-F238E27FC236}">
                <a16:creationId xmlns:a16="http://schemas.microsoft.com/office/drawing/2014/main" id="{3F1AE3BF-7BF2-DBEA-DD1B-55110A9444E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9C94E295-C62A-D5A2-C3C3-B6395B18A7B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1492E4B4-C92C-CFF1-1F46-EB91C33441CD}"/>
              </a:ext>
            </a:extLst>
          </p:cNvPr>
          <p:cNvSpPr>
            <a:spLocks noGrp="1" noChangeArrowheads="1"/>
          </p:cNvSpPr>
          <p:nvPr>
            <p:ph type="sldNum" sz="quarter" idx="12"/>
          </p:nvPr>
        </p:nvSpPr>
        <p:spPr>
          <a:ln/>
        </p:spPr>
        <p:txBody>
          <a:bodyPr/>
          <a:lstStyle>
            <a:lvl1pPr>
              <a:defRPr/>
            </a:lvl1pPr>
          </a:lstStyle>
          <a:p>
            <a:fld id="{22549375-DAED-C544-A56E-BDA02C93B7E0}" type="slidenum">
              <a:rPr lang="en-US" altLang="en-KE"/>
              <a:pPr/>
              <a:t>‹#›</a:t>
            </a:fld>
            <a:endParaRPr lang="en-US" altLang="en-KE"/>
          </a:p>
        </p:txBody>
      </p:sp>
    </p:spTree>
    <p:extLst>
      <p:ext uri="{BB962C8B-B14F-4D97-AF65-F5344CB8AC3E}">
        <p14:creationId xmlns:p14="http://schemas.microsoft.com/office/powerpoint/2010/main" val="3727325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11026F08-FD88-CC71-6808-9D799F67447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08298FDC-DC1F-3A8A-922E-0CAAECFFFFA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07292AD7-11C1-0F0D-0106-D1B3F762A87E}"/>
              </a:ext>
            </a:extLst>
          </p:cNvPr>
          <p:cNvSpPr>
            <a:spLocks noGrp="1" noChangeArrowheads="1"/>
          </p:cNvSpPr>
          <p:nvPr>
            <p:ph type="sldNum" sz="quarter" idx="12"/>
          </p:nvPr>
        </p:nvSpPr>
        <p:spPr>
          <a:ln/>
        </p:spPr>
        <p:txBody>
          <a:bodyPr/>
          <a:lstStyle>
            <a:lvl1pPr>
              <a:defRPr/>
            </a:lvl1pPr>
          </a:lstStyle>
          <a:p>
            <a:fld id="{81363FE1-2D0C-C047-92AD-EF0301DCC0E6}" type="slidenum">
              <a:rPr lang="en-US" altLang="en-KE"/>
              <a:pPr/>
              <a:t>‹#›</a:t>
            </a:fld>
            <a:endParaRPr lang="en-US" altLang="en-KE"/>
          </a:p>
        </p:txBody>
      </p:sp>
    </p:spTree>
    <p:extLst>
      <p:ext uri="{BB962C8B-B14F-4D97-AF65-F5344CB8AC3E}">
        <p14:creationId xmlns:p14="http://schemas.microsoft.com/office/powerpoint/2010/main" val="2417141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762000"/>
            <a:ext cx="1981200" cy="53244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762000"/>
            <a:ext cx="5791200" cy="53244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1D9C3637-A8B5-1570-C46D-3132B70E7B8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FEA06651-3159-E135-CDBD-50EDACFE2D9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0B533964-3E65-11A0-8E3E-E327412AE844}"/>
              </a:ext>
            </a:extLst>
          </p:cNvPr>
          <p:cNvSpPr>
            <a:spLocks noGrp="1" noChangeArrowheads="1"/>
          </p:cNvSpPr>
          <p:nvPr>
            <p:ph type="sldNum" sz="quarter" idx="12"/>
          </p:nvPr>
        </p:nvSpPr>
        <p:spPr>
          <a:ln/>
        </p:spPr>
        <p:txBody>
          <a:bodyPr/>
          <a:lstStyle>
            <a:lvl1pPr>
              <a:defRPr/>
            </a:lvl1pPr>
          </a:lstStyle>
          <a:p>
            <a:fld id="{B8EBE5E0-6C40-E948-A6B3-8BCF3384B944}" type="slidenum">
              <a:rPr lang="en-US" altLang="en-KE"/>
              <a:pPr/>
              <a:t>‹#›</a:t>
            </a:fld>
            <a:endParaRPr lang="en-US" altLang="en-KE"/>
          </a:p>
        </p:txBody>
      </p:sp>
    </p:spTree>
    <p:extLst>
      <p:ext uri="{BB962C8B-B14F-4D97-AF65-F5344CB8AC3E}">
        <p14:creationId xmlns:p14="http://schemas.microsoft.com/office/powerpoint/2010/main" val="2455834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D0E7ADEF-7C4F-23AB-A589-61EA71D00F3B}"/>
              </a:ext>
            </a:extLst>
          </p:cNvPr>
          <p:cNvGrpSpPr>
            <a:grpSpLocks/>
          </p:cNvGrpSpPr>
          <p:nvPr/>
        </p:nvGrpSpPr>
        <p:grpSpPr bwMode="auto">
          <a:xfrm>
            <a:off x="0" y="0"/>
            <a:ext cx="7620000" cy="6858000"/>
            <a:chOff x="0" y="0"/>
            <a:chExt cx="4800" cy="4320"/>
          </a:xfrm>
        </p:grpSpPr>
        <p:grpSp>
          <p:nvGrpSpPr>
            <p:cNvPr id="1032" name="Group 3">
              <a:extLst>
                <a:ext uri="{FF2B5EF4-FFF2-40B4-BE49-F238E27FC236}">
                  <a16:creationId xmlns:a16="http://schemas.microsoft.com/office/drawing/2014/main" id="{E5B30694-4705-63A4-A2AD-BB006A141D0C}"/>
                </a:ext>
              </a:extLst>
            </p:cNvPr>
            <p:cNvGrpSpPr>
              <a:grpSpLocks/>
            </p:cNvGrpSpPr>
            <p:nvPr userDrawn="1"/>
          </p:nvGrpSpPr>
          <p:grpSpPr bwMode="auto">
            <a:xfrm>
              <a:off x="0" y="0"/>
              <a:ext cx="2016" cy="4320"/>
              <a:chOff x="0" y="0"/>
              <a:chExt cx="2016" cy="4320"/>
            </a:xfrm>
          </p:grpSpPr>
          <p:sp>
            <p:nvSpPr>
              <p:cNvPr id="113668" name="Rectangle 4">
                <a:extLst>
                  <a:ext uri="{FF2B5EF4-FFF2-40B4-BE49-F238E27FC236}">
                    <a16:creationId xmlns:a16="http://schemas.microsoft.com/office/drawing/2014/main" id="{23ACDC10-D72E-5914-0040-3985ABC79D9B}"/>
                  </a:ext>
                </a:extLst>
              </p:cNvPr>
              <p:cNvSpPr>
                <a:spLocks noChangeArrowheads="1"/>
              </p:cNvSpPr>
              <p:nvPr userDrawn="1"/>
            </p:nvSpPr>
            <p:spPr bwMode="auto">
              <a:xfrm>
                <a:off x="0" y="0"/>
                <a:ext cx="480" cy="4320"/>
              </a:xfrm>
              <a:prstGeom prst="rect">
                <a:avLst/>
              </a:prstGeom>
              <a:solidFill>
                <a:schemeClr val="accent2"/>
              </a:solidFill>
              <a:ln w="9525">
                <a:noFill/>
                <a:miter lim="800000"/>
                <a:headEnd/>
                <a:tailEnd/>
              </a:ln>
              <a:effectLst/>
            </p:spPr>
            <p:txBody>
              <a:bodyPr wrap="none" anchor="ctr"/>
              <a:lstStyle/>
              <a:p>
                <a:pPr eaLnBrk="0" hangingPunct="0">
                  <a:defRPr/>
                </a:pPr>
                <a:endParaRPr lang="en-US">
                  <a:latin typeface="Arial" charset="0"/>
                </a:endParaRPr>
              </a:p>
            </p:txBody>
          </p:sp>
          <p:sp>
            <p:nvSpPr>
              <p:cNvPr id="113669" name="Freeform 5">
                <a:extLst>
                  <a:ext uri="{FF2B5EF4-FFF2-40B4-BE49-F238E27FC236}">
                    <a16:creationId xmlns:a16="http://schemas.microsoft.com/office/drawing/2014/main" id="{5DF51EF9-5EF4-90C5-ABFB-90C3DC7FB42D}"/>
                  </a:ext>
                </a:extLst>
              </p:cNvPr>
              <p:cNvSpPr>
                <a:spLocks/>
              </p:cNvSpPr>
              <p:nvPr userDrawn="1"/>
            </p:nvSpPr>
            <p:spPr bwMode="auto">
              <a:xfrm>
                <a:off x="288" y="0"/>
                <a:ext cx="1728" cy="735"/>
              </a:xfrm>
              <a:custGeom>
                <a:avLst/>
                <a:gdLst/>
                <a:ahLst/>
                <a:cxnLst>
                  <a:cxn ang="0">
                    <a:pos x="1728" y="0"/>
                  </a:cxn>
                  <a:cxn ang="0">
                    <a:pos x="1728" y="480"/>
                  </a:cxn>
                  <a:cxn ang="0">
                    <a:pos x="380" y="482"/>
                  </a:cxn>
                  <a:cxn ang="0">
                    <a:pos x="354" y="480"/>
                  </a:cxn>
                  <a:cxn ang="0">
                    <a:pos x="308" y="489"/>
                  </a:cxn>
                  <a:cxn ang="0">
                    <a:pos x="246" y="531"/>
                  </a:cxn>
                  <a:cxn ang="0">
                    <a:pos x="206" y="597"/>
                  </a:cxn>
                  <a:cxn ang="0">
                    <a:pos x="192" y="666"/>
                  </a:cxn>
                  <a:cxn ang="0">
                    <a:pos x="192" y="735"/>
                  </a:cxn>
                  <a:cxn ang="0">
                    <a:pos x="0" y="735"/>
                  </a:cxn>
                  <a:cxn ang="0">
                    <a:pos x="0" y="480"/>
                  </a:cxn>
                  <a:cxn ang="0">
                    <a:pos x="0" y="0"/>
                  </a:cxn>
                  <a:cxn ang="0">
                    <a:pos x="1728" y="0"/>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w="9525" cap="flat" cmpd="sng">
                <a:noFill/>
                <a:prstDash val="solid"/>
                <a:miter lim="800000"/>
                <a:headEnd type="none" w="med" len="med"/>
                <a:tailEnd type="none" w="med" len="med"/>
              </a:ln>
              <a:effectLst/>
            </p:spPr>
            <p:txBody>
              <a:bodyPr wrap="none"/>
              <a:lstStyle/>
              <a:p>
                <a:pPr eaLnBrk="0" hangingPunct="0">
                  <a:defRPr/>
                </a:pPr>
                <a:endParaRPr lang="en-US">
                  <a:latin typeface="Arial" charset="0"/>
                </a:endParaRPr>
              </a:p>
            </p:txBody>
          </p:sp>
        </p:grpSp>
        <p:grpSp>
          <p:nvGrpSpPr>
            <p:cNvPr id="1033" name="Group 6">
              <a:extLst>
                <a:ext uri="{FF2B5EF4-FFF2-40B4-BE49-F238E27FC236}">
                  <a16:creationId xmlns:a16="http://schemas.microsoft.com/office/drawing/2014/main" id="{44E38159-0C46-8398-1912-4B23F104D73B}"/>
                </a:ext>
              </a:extLst>
            </p:cNvPr>
            <p:cNvGrpSpPr>
              <a:grpSpLocks/>
            </p:cNvGrpSpPr>
            <p:nvPr/>
          </p:nvGrpSpPr>
          <p:grpSpPr bwMode="auto">
            <a:xfrm>
              <a:off x="144" y="1248"/>
              <a:ext cx="4656" cy="201"/>
              <a:chOff x="144" y="1248"/>
              <a:chExt cx="4656" cy="201"/>
            </a:xfrm>
          </p:grpSpPr>
          <p:sp>
            <p:nvSpPr>
              <p:cNvPr id="113671" name="AutoShape 7">
                <a:extLst>
                  <a:ext uri="{FF2B5EF4-FFF2-40B4-BE49-F238E27FC236}">
                    <a16:creationId xmlns:a16="http://schemas.microsoft.com/office/drawing/2014/main" id="{C83C12EE-64DF-34C7-177D-5A4F4B89DA5B}"/>
                  </a:ext>
                </a:extLst>
              </p:cNvPr>
              <p:cNvSpPr>
                <a:spLocks noChangeArrowheads="1"/>
              </p:cNvSpPr>
              <p:nvPr/>
            </p:nvSpPr>
            <p:spPr bwMode="auto">
              <a:xfrm>
                <a:off x="384" y="1248"/>
                <a:ext cx="4416" cy="200"/>
              </a:xfrm>
              <a:prstGeom prst="roundRect">
                <a:avLst>
                  <a:gd name="adj" fmla="val 0"/>
                </a:avLst>
              </a:prstGeom>
              <a:solidFill>
                <a:schemeClr val="hlink"/>
              </a:solidFill>
              <a:ln w="9525">
                <a:noFill/>
                <a:round/>
                <a:headEnd/>
                <a:tailEnd/>
              </a:ln>
              <a:effectLst/>
            </p:spPr>
            <p:txBody>
              <a:bodyPr wrap="none" anchor="ctr"/>
              <a:lstStyle/>
              <a:p>
                <a:pPr eaLnBrk="0" hangingPunct="0">
                  <a:defRPr/>
                </a:pPr>
                <a:endParaRPr lang="en-US">
                  <a:latin typeface="Arial" charset="0"/>
                </a:endParaRPr>
              </a:p>
            </p:txBody>
          </p:sp>
          <p:sp>
            <p:nvSpPr>
              <p:cNvPr id="113672" name="AutoShape 8">
                <a:extLst>
                  <a:ext uri="{FF2B5EF4-FFF2-40B4-BE49-F238E27FC236}">
                    <a16:creationId xmlns:a16="http://schemas.microsoft.com/office/drawing/2014/main" id="{95A00E89-CD5C-AEA6-538A-E60361E29E34}"/>
                  </a:ext>
                </a:extLst>
              </p:cNvPr>
              <p:cNvSpPr>
                <a:spLocks noChangeArrowheads="1"/>
              </p:cNvSpPr>
              <p:nvPr/>
            </p:nvSpPr>
            <p:spPr bwMode="auto">
              <a:xfrm flipH="1">
                <a:off x="144" y="1248"/>
                <a:ext cx="248" cy="201"/>
              </a:xfrm>
              <a:prstGeom prst="flowChartDelay">
                <a:avLst/>
              </a:prstGeom>
              <a:solidFill>
                <a:schemeClr val="hlink"/>
              </a:solidFill>
              <a:ln w="9525">
                <a:noFill/>
                <a:miter lim="800000"/>
                <a:headEnd/>
                <a:tailEnd/>
              </a:ln>
              <a:effectLst/>
            </p:spPr>
            <p:txBody>
              <a:bodyPr wrap="none" anchor="ctr"/>
              <a:lstStyle/>
              <a:p>
                <a:pPr eaLnBrk="0" hangingPunct="0">
                  <a:defRPr/>
                </a:pPr>
                <a:endParaRPr lang="en-US">
                  <a:latin typeface="Arial" charset="0"/>
                </a:endParaRPr>
              </a:p>
            </p:txBody>
          </p:sp>
        </p:grpSp>
      </p:grpSp>
      <p:sp>
        <p:nvSpPr>
          <p:cNvPr id="1027" name="AutoShape 9">
            <a:extLst>
              <a:ext uri="{FF2B5EF4-FFF2-40B4-BE49-F238E27FC236}">
                <a16:creationId xmlns:a16="http://schemas.microsoft.com/office/drawing/2014/main" id="{39E7AA7E-192D-27FA-9F93-B774EFC6497B}"/>
              </a:ext>
            </a:extLst>
          </p:cNvPr>
          <p:cNvSpPr>
            <a:spLocks noGrp="1" noChangeArrowheads="1"/>
          </p:cNvSpPr>
          <p:nvPr>
            <p:ph type="title"/>
          </p:nvPr>
        </p:nvSpPr>
        <p:spPr bwMode="auto">
          <a:xfrm>
            <a:off x="762000" y="762000"/>
            <a:ext cx="7924800" cy="1143000"/>
          </a:xfrm>
          <a:prstGeom prst="roundRect">
            <a:avLst>
              <a:gd name="adj" fmla="val 21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b" anchorCtr="0" compatLnSpc="1">
            <a:prstTxWarp prst="textNoShape">
              <a:avLst/>
            </a:prstTxWarp>
          </a:bodyPr>
          <a:lstStyle/>
          <a:p>
            <a:pPr lvl="0"/>
            <a:r>
              <a:rPr lang="en-US" altLang="en-KE"/>
              <a:t>Click to edit Master title style</a:t>
            </a:r>
          </a:p>
        </p:txBody>
      </p:sp>
      <p:sp>
        <p:nvSpPr>
          <p:cNvPr id="1028" name="Rectangle 10">
            <a:extLst>
              <a:ext uri="{FF2B5EF4-FFF2-40B4-BE49-F238E27FC236}">
                <a16:creationId xmlns:a16="http://schemas.microsoft.com/office/drawing/2014/main" id="{DA078E27-2F00-EC67-B5B7-2872CE0EB86C}"/>
              </a:ext>
            </a:extLst>
          </p:cNvPr>
          <p:cNvSpPr>
            <a:spLocks noGrp="1" noChangeArrowheads="1"/>
          </p:cNvSpPr>
          <p:nvPr>
            <p:ph type="body" idx="1"/>
          </p:nvPr>
        </p:nvSpPr>
        <p:spPr bwMode="auto">
          <a:xfrm>
            <a:off x="838200" y="2362200"/>
            <a:ext cx="7693025"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KE"/>
              <a:t>Click to edit Master text styles</a:t>
            </a:r>
          </a:p>
          <a:p>
            <a:pPr lvl="1"/>
            <a:r>
              <a:rPr lang="en-US" altLang="en-KE"/>
              <a:t>Second level</a:t>
            </a:r>
          </a:p>
          <a:p>
            <a:pPr lvl="2"/>
            <a:r>
              <a:rPr lang="en-US" altLang="en-KE"/>
              <a:t>Third level</a:t>
            </a:r>
          </a:p>
          <a:p>
            <a:pPr lvl="3"/>
            <a:r>
              <a:rPr lang="en-US" altLang="en-KE"/>
              <a:t>Fourth level</a:t>
            </a:r>
          </a:p>
          <a:p>
            <a:pPr lvl="4"/>
            <a:r>
              <a:rPr lang="en-US" altLang="en-KE"/>
              <a:t>Fifth level</a:t>
            </a:r>
          </a:p>
        </p:txBody>
      </p:sp>
      <p:sp>
        <p:nvSpPr>
          <p:cNvPr id="113675" name="Rectangle 11">
            <a:extLst>
              <a:ext uri="{FF2B5EF4-FFF2-40B4-BE49-F238E27FC236}">
                <a16:creationId xmlns:a16="http://schemas.microsoft.com/office/drawing/2014/main" id="{9B5AA1CE-1F5B-05A1-A9B2-5B0F73E3DCF9}"/>
              </a:ext>
            </a:extLst>
          </p:cNvPr>
          <p:cNvSpPr>
            <a:spLocks noGrp="1" noChangeArrowheads="1"/>
          </p:cNvSpPr>
          <p:nvPr>
            <p:ph type="dt" sz="half" idx="2"/>
          </p:nvPr>
        </p:nvSpPr>
        <p:spPr bwMode="auto">
          <a:xfrm>
            <a:off x="2438400" y="6248400"/>
            <a:ext cx="2130425"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latin typeface="Arial" charset="0"/>
              </a:defRPr>
            </a:lvl1pPr>
          </a:lstStyle>
          <a:p>
            <a:pPr>
              <a:defRPr/>
            </a:pPr>
            <a:endParaRPr lang="en-US"/>
          </a:p>
        </p:txBody>
      </p:sp>
      <p:sp>
        <p:nvSpPr>
          <p:cNvPr id="113676" name="Rectangle 12">
            <a:extLst>
              <a:ext uri="{FF2B5EF4-FFF2-40B4-BE49-F238E27FC236}">
                <a16:creationId xmlns:a16="http://schemas.microsoft.com/office/drawing/2014/main" id="{5ED3AADA-A6CF-381F-65CB-67C59E8FE01B}"/>
              </a:ext>
            </a:extLst>
          </p:cNvPr>
          <p:cNvSpPr>
            <a:spLocks noGrp="1" noChangeArrowheads="1"/>
          </p:cNvSpPr>
          <p:nvPr>
            <p:ph type="ftr" sz="quarter" idx="3"/>
          </p:nvPr>
        </p:nvSpPr>
        <p:spPr bwMode="auto">
          <a:xfrm>
            <a:off x="5791200" y="6248400"/>
            <a:ext cx="2897188"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Arial" charset="0"/>
              </a:defRPr>
            </a:lvl1pPr>
          </a:lstStyle>
          <a:p>
            <a:pPr>
              <a:defRPr/>
            </a:pPr>
            <a:endParaRPr lang="en-US"/>
          </a:p>
        </p:txBody>
      </p:sp>
      <p:sp>
        <p:nvSpPr>
          <p:cNvPr id="113677" name="Rectangle 13">
            <a:extLst>
              <a:ext uri="{FF2B5EF4-FFF2-40B4-BE49-F238E27FC236}">
                <a16:creationId xmlns:a16="http://schemas.microsoft.com/office/drawing/2014/main" id="{033BD33E-7B99-9DDD-6D6B-162FE90FE6C5}"/>
              </a:ext>
            </a:extLst>
          </p:cNvPr>
          <p:cNvSpPr>
            <a:spLocks noGrp="1" noChangeArrowheads="1"/>
          </p:cNvSpPr>
          <p:nvPr>
            <p:ph type="sldNum" sz="quarter" idx="4"/>
          </p:nvPr>
        </p:nvSpPr>
        <p:spPr bwMode="auto">
          <a:xfrm>
            <a:off x="84138" y="6242050"/>
            <a:ext cx="587375" cy="488950"/>
          </a:xfrm>
          <a:prstGeom prst="rect">
            <a:avLst/>
          </a:prstGeom>
          <a:noFill/>
          <a:ln w="9525">
            <a:noFill/>
            <a:miter lim="800000"/>
            <a:headEnd/>
            <a:tailEnd/>
          </a:ln>
          <a:effectLst/>
        </p:spPr>
        <p:txBody>
          <a:bodyPr vert="horz" wrap="square" lIns="91440" tIns="45720" rIns="91440" bIns="45720" numCol="1" anchor="b" anchorCtr="1" compatLnSpc="1">
            <a:prstTxWarp prst="textNoShape">
              <a:avLst/>
            </a:prstTxWarp>
          </a:bodyPr>
          <a:lstStyle>
            <a:lvl1pPr>
              <a:defRPr sz="2600" b="1">
                <a:solidFill>
                  <a:schemeClr val="bg1"/>
                </a:solidFill>
              </a:defRPr>
            </a:lvl1pPr>
          </a:lstStyle>
          <a:p>
            <a:fld id="{9D3754C9-A3A4-CC47-8EFC-23AD730546A7}" type="slidenum">
              <a:rPr lang="en-US" altLang="en-KE"/>
              <a:pPr/>
              <a:t>‹#›</a:t>
            </a:fld>
            <a:endParaRPr lang="en-US" altLang="en-KE"/>
          </a:p>
        </p:txBody>
      </p:sp>
    </p:spTree>
  </p:cSld>
  <p:clrMap bg1="lt1" tx1="dk1" bg2="lt2" tx2="dk2" accent1="accent1" accent2="accent2" accent3="accent3" accent4="accent4" accent5="accent5" accent6="accent6" hlink="hlink" folHlink="folHlink"/>
  <p:sldLayoutIdLst>
    <p:sldLayoutId id="2147483686"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hdr="0" ftr="0" dt="0"/>
  <p:txStyles>
    <p:titleStyle>
      <a:lvl1pPr algn="l" rtl="0" eaLnBrk="0" fontAlgn="base" hangingPunct="0">
        <a:lnSpc>
          <a:spcPct val="90000"/>
        </a:lnSpc>
        <a:spcBef>
          <a:spcPct val="0"/>
        </a:spcBef>
        <a:spcAft>
          <a:spcPct val="0"/>
        </a:spcAft>
        <a:defRPr sz="3600" b="1">
          <a:solidFill>
            <a:schemeClr val="tx2"/>
          </a:solidFill>
          <a:latin typeface="+mj-lt"/>
          <a:ea typeface="+mj-ea"/>
          <a:cs typeface="+mj-cs"/>
        </a:defRPr>
      </a:lvl1pPr>
      <a:lvl2pPr algn="l" rtl="0" eaLnBrk="0" fontAlgn="base" hangingPunct="0">
        <a:lnSpc>
          <a:spcPct val="90000"/>
        </a:lnSpc>
        <a:spcBef>
          <a:spcPct val="0"/>
        </a:spcBef>
        <a:spcAft>
          <a:spcPct val="0"/>
        </a:spcAft>
        <a:defRPr sz="3600" b="1">
          <a:solidFill>
            <a:schemeClr val="tx2"/>
          </a:solidFill>
          <a:latin typeface="Arial" charset="0"/>
        </a:defRPr>
      </a:lvl2pPr>
      <a:lvl3pPr algn="l" rtl="0" eaLnBrk="0" fontAlgn="base" hangingPunct="0">
        <a:lnSpc>
          <a:spcPct val="90000"/>
        </a:lnSpc>
        <a:spcBef>
          <a:spcPct val="0"/>
        </a:spcBef>
        <a:spcAft>
          <a:spcPct val="0"/>
        </a:spcAft>
        <a:defRPr sz="3600" b="1">
          <a:solidFill>
            <a:schemeClr val="tx2"/>
          </a:solidFill>
          <a:latin typeface="Arial" charset="0"/>
        </a:defRPr>
      </a:lvl3pPr>
      <a:lvl4pPr algn="l" rtl="0" eaLnBrk="0" fontAlgn="base" hangingPunct="0">
        <a:lnSpc>
          <a:spcPct val="90000"/>
        </a:lnSpc>
        <a:spcBef>
          <a:spcPct val="0"/>
        </a:spcBef>
        <a:spcAft>
          <a:spcPct val="0"/>
        </a:spcAft>
        <a:defRPr sz="3600" b="1">
          <a:solidFill>
            <a:schemeClr val="tx2"/>
          </a:solidFill>
          <a:latin typeface="Arial" charset="0"/>
        </a:defRPr>
      </a:lvl4pPr>
      <a:lvl5pPr algn="l" rtl="0" eaLnBrk="0" fontAlgn="base" hangingPunct="0">
        <a:lnSpc>
          <a:spcPct val="90000"/>
        </a:lnSpc>
        <a:spcBef>
          <a:spcPct val="0"/>
        </a:spcBef>
        <a:spcAft>
          <a:spcPct val="0"/>
        </a:spcAft>
        <a:defRPr sz="3600" b="1">
          <a:solidFill>
            <a:schemeClr val="tx2"/>
          </a:solidFill>
          <a:latin typeface="Arial" charset="0"/>
        </a:defRPr>
      </a:lvl5pPr>
      <a:lvl6pPr marL="457200" algn="l" rtl="0" fontAlgn="base">
        <a:lnSpc>
          <a:spcPct val="90000"/>
        </a:lnSpc>
        <a:spcBef>
          <a:spcPct val="0"/>
        </a:spcBef>
        <a:spcAft>
          <a:spcPct val="0"/>
        </a:spcAft>
        <a:defRPr sz="3600" b="1">
          <a:solidFill>
            <a:schemeClr val="tx2"/>
          </a:solidFill>
          <a:latin typeface="Arial" charset="0"/>
        </a:defRPr>
      </a:lvl6pPr>
      <a:lvl7pPr marL="914400" algn="l" rtl="0" fontAlgn="base">
        <a:lnSpc>
          <a:spcPct val="90000"/>
        </a:lnSpc>
        <a:spcBef>
          <a:spcPct val="0"/>
        </a:spcBef>
        <a:spcAft>
          <a:spcPct val="0"/>
        </a:spcAft>
        <a:defRPr sz="3600" b="1">
          <a:solidFill>
            <a:schemeClr val="tx2"/>
          </a:solidFill>
          <a:latin typeface="Arial" charset="0"/>
        </a:defRPr>
      </a:lvl7pPr>
      <a:lvl8pPr marL="1371600" algn="l" rtl="0" fontAlgn="base">
        <a:lnSpc>
          <a:spcPct val="90000"/>
        </a:lnSpc>
        <a:spcBef>
          <a:spcPct val="0"/>
        </a:spcBef>
        <a:spcAft>
          <a:spcPct val="0"/>
        </a:spcAft>
        <a:defRPr sz="3600" b="1">
          <a:solidFill>
            <a:schemeClr val="tx2"/>
          </a:solidFill>
          <a:latin typeface="Arial" charset="0"/>
        </a:defRPr>
      </a:lvl8pPr>
      <a:lvl9pPr marL="1828800" algn="l" rtl="0" fontAlgn="base">
        <a:lnSpc>
          <a:spcPct val="90000"/>
        </a:lnSpc>
        <a:spcBef>
          <a:spcPct val="0"/>
        </a:spcBef>
        <a:spcAft>
          <a:spcPct val="0"/>
        </a:spcAft>
        <a:defRPr sz="36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SzPct val="75000"/>
        <a:buFont typeface="Wingdings" pitchFamily="2" charset="2"/>
        <a:buChar char="l"/>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75000"/>
        <a:buChar char="–"/>
        <a:defRPr sz="2400">
          <a:solidFill>
            <a:schemeClr val="tx1"/>
          </a:solidFill>
          <a:latin typeface="+mn-lt"/>
        </a:defRPr>
      </a:lvl2pPr>
      <a:lvl3pPr marL="1143000" indent="-228600" algn="l" rtl="0" eaLnBrk="0" fontAlgn="base" hangingPunct="0">
        <a:spcBef>
          <a:spcPct val="20000"/>
        </a:spcBef>
        <a:spcAft>
          <a:spcPct val="0"/>
        </a:spcAft>
        <a:buClr>
          <a:schemeClr val="tx1"/>
        </a:buClr>
        <a:buSzPct val="75000"/>
        <a:buFont typeface="Wingdings" pitchFamily="2" charset="2"/>
        <a:buChar char="l"/>
        <a:defRPr sz="2000">
          <a:solidFill>
            <a:schemeClr val="tx1"/>
          </a:solidFill>
          <a:latin typeface="+mn-lt"/>
        </a:defRPr>
      </a:lvl3pPr>
      <a:lvl4pPr marL="1600200" indent="-228600" algn="l" rtl="0" eaLnBrk="0" fontAlgn="base" hangingPunct="0">
        <a:spcBef>
          <a:spcPct val="20000"/>
        </a:spcBef>
        <a:spcAft>
          <a:spcPct val="0"/>
        </a:spcAft>
        <a:buClr>
          <a:schemeClr val="tx1"/>
        </a:buClr>
        <a:buSzPct val="80000"/>
        <a:buChar char="–"/>
        <a:defRPr sz="2000">
          <a:solidFill>
            <a:schemeClr val="tx1"/>
          </a:solidFill>
          <a:latin typeface="+mn-lt"/>
        </a:defRPr>
      </a:lvl4pPr>
      <a:lvl5pPr marL="2057400" indent="-228600" algn="l" rtl="0" eaLnBrk="0" fontAlgn="base" hangingPunct="0">
        <a:spcBef>
          <a:spcPct val="20000"/>
        </a:spcBef>
        <a:spcAft>
          <a:spcPct val="0"/>
        </a:spcAft>
        <a:buClr>
          <a:schemeClr val="tx1"/>
        </a:buClr>
        <a:buSzPct val="65000"/>
        <a:buFont typeface="Wingdings" pitchFamily="2" charset="2"/>
        <a:buChar char="l"/>
        <a:defRPr sz="2000">
          <a:solidFill>
            <a:schemeClr val="tx1"/>
          </a:solidFill>
          <a:latin typeface="+mn-lt"/>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1">
            <a:extLst>
              <a:ext uri="{FF2B5EF4-FFF2-40B4-BE49-F238E27FC236}">
                <a16:creationId xmlns:a16="http://schemas.microsoft.com/office/drawing/2014/main" id="{ABC29BA8-2045-1660-30FA-2706CE0C888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F6032D6-0F82-BE4B-9F75-EC1D4E9B78D0}" type="slidenum">
              <a:rPr lang="en-US" altLang="en-KE">
                <a:solidFill>
                  <a:schemeClr val="bg1"/>
                </a:solidFill>
              </a:rPr>
              <a:pPr eaLnBrk="1" hangingPunct="1"/>
              <a:t>1</a:t>
            </a:fld>
            <a:endParaRPr lang="en-US" altLang="en-KE">
              <a:solidFill>
                <a:schemeClr val="bg1"/>
              </a:solidFill>
            </a:endParaRPr>
          </a:p>
        </p:txBody>
      </p:sp>
      <p:sp>
        <p:nvSpPr>
          <p:cNvPr id="3075" name="AutoShape 2">
            <a:extLst>
              <a:ext uri="{FF2B5EF4-FFF2-40B4-BE49-F238E27FC236}">
                <a16:creationId xmlns:a16="http://schemas.microsoft.com/office/drawing/2014/main" id="{5B06690F-0B42-BEB0-11AC-A9ADF01F0823}"/>
              </a:ext>
            </a:extLst>
          </p:cNvPr>
          <p:cNvSpPr>
            <a:spLocks noGrp="1" noChangeArrowheads="1"/>
          </p:cNvSpPr>
          <p:nvPr>
            <p:ph type="ctrTitle"/>
          </p:nvPr>
        </p:nvSpPr>
        <p:spPr/>
        <p:txBody>
          <a:bodyPr/>
          <a:lstStyle/>
          <a:p>
            <a:pPr eaLnBrk="1" hangingPunct="1"/>
            <a:r>
              <a:rPr lang="en-US" altLang="en-KE" sz="3200">
                <a:solidFill>
                  <a:srgbClr val="FF0066"/>
                </a:solidFill>
              </a:rPr>
              <a:t>HEALTH  EDUCATION</a:t>
            </a:r>
          </a:p>
        </p:txBody>
      </p:sp>
      <p:sp>
        <p:nvSpPr>
          <p:cNvPr id="3076" name="Rectangle 3">
            <a:extLst>
              <a:ext uri="{FF2B5EF4-FFF2-40B4-BE49-F238E27FC236}">
                <a16:creationId xmlns:a16="http://schemas.microsoft.com/office/drawing/2014/main" id="{4A98EFE6-29A8-F43F-9D0C-3CAF2E9A6384}"/>
              </a:ext>
            </a:extLst>
          </p:cNvPr>
          <p:cNvSpPr>
            <a:spLocks noGrp="1" noChangeArrowheads="1"/>
          </p:cNvSpPr>
          <p:nvPr>
            <p:ph type="subTitle" idx="1"/>
          </p:nvPr>
        </p:nvSpPr>
        <p:spPr/>
        <p:txBody>
          <a:bodyPr/>
          <a:lstStyle/>
          <a:p>
            <a:pPr eaLnBrk="1" hangingPunct="1"/>
            <a:r>
              <a:rPr lang="en-US" altLang="en-KE" dirty="0">
                <a:solidFill>
                  <a:srgbClr val="FF0066"/>
                </a:solidFill>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5">
            <a:extLst>
              <a:ext uri="{FF2B5EF4-FFF2-40B4-BE49-F238E27FC236}">
                <a16:creationId xmlns:a16="http://schemas.microsoft.com/office/drawing/2014/main" id="{1809BD1C-A62C-31AC-A997-17E76B8736C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7D7BC77-5718-A240-A063-DDE8A9D4AA31}" type="slidenum">
              <a:rPr lang="en-US" altLang="en-KE">
                <a:solidFill>
                  <a:schemeClr val="bg1"/>
                </a:solidFill>
              </a:rPr>
              <a:pPr eaLnBrk="1" hangingPunct="1"/>
              <a:t>2</a:t>
            </a:fld>
            <a:endParaRPr lang="en-US" altLang="en-KE">
              <a:solidFill>
                <a:schemeClr val="bg1"/>
              </a:solidFill>
            </a:endParaRPr>
          </a:p>
        </p:txBody>
      </p:sp>
      <p:sp>
        <p:nvSpPr>
          <p:cNvPr id="4099" name="AutoShape 2">
            <a:extLst>
              <a:ext uri="{FF2B5EF4-FFF2-40B4-BE49-F238E27FC236}">
                <a16:creationId xmlns:a16="http://schemas.microsoft.com/office/drawing/2014/main" id="{0EAA466B-FA1E-BAFC-408A-141520F4FE26}"/>
              </a:ext>
            </a:extLst>
          </p:cNvPr>
          <p:cNvSpPr>
            <a:spLocks noGrp="1" noChangeArrowheads="1"/>
          </p:cNvSpPr>
          <p:nvPr>
            <p:ph type="title"/>
          </p:nvPr>
        </p:nvSpPr>
        <p:spPr/>
        <p:txBody>
          <a:bodyPr/>
          <a:lstStyle/>
          <a:p>
            <a:pPr eaLnBrk="1" hangingPunct="1"/>
            <a:r>
              <a:rPr lang="en-US" altLang="en-KE">
                <a:solidFill>
                  <a:srgbClr val="FF0066"/>
                </a:solidFill>
              </a:rPr>
              <a:t>HEALTH  EDUCATION</a:t>
            </a:r>
          </a:p>
        </p:txBody>
      </p:sp>
      <p:sp>
        <p:nvSpPr>
          <p:cNvPr id="4100" name="Rectangle 3">
            <a:extLst>
              <a:ext uri="{FF2B5EF4-FFF2-40B4-BE49-F238E27FC236}">
                <a16:creationId xmlns:a16="http://schemas.microsoft.com/office/drawing/2014/main" id="{816ABD2D-22AB-BEC9-65CC-B3747103FD6A}"/>
              </a:ext>
            </a:extLst>
          </p:cNvPr>
          <p:cNvSpPr>
            <a:spLocks noGrp="1" noChangeArrowheads="1"/>
          </p:cNvSpPr>
          <p:nvPr>
            <p:ph type="body" idx="1"/>
          </p:nvPr>
        </p:nvSpPr>
        <p:spPr/>
        <p:txBody>
          <a:bodyPr/>
          <a:lstStyle/>
          <a:p>
            <a:pPr eaLnBrk="1" hangingPunct="1">
              <a:lnSpc>
                <a:spcPct val="90000"/>
              </a:lnSpc>
              <a:buFont typeface="Wingdings" pitchFamily="2" charset="2"/>
              <a:buNone/>
            </a:pPr>
            <a:r>
              <a:rPr lang="en-US" altLang="en-KE"/>
              <a:t>   Health Education is any combination of learning experiences designed to help individuals and communities improve   and maintain their health by increasing their knowledge or influencing their attitudes.</a:t>
            </a:r>
          </a:p>
          <a:p>
            <a:pPr eaLnBrk="1" hangingPunct="1">
              <a:lnSpc>
                <a:spcPct val="90000"/>
              </a:lnSpc>
              <a:buFont typeface="Wingdings" pitchFamily="2" charset="2"/>
              <a:buNone/>
            </a:pPr>
            <a:r>
              <a:rPr lang="en-US" altLang="en-KE"/>
              <a:t>    Health includes physical, social,</a:t>
            </a:r>
          </a:p>
          <a:p>
            <a:pPr eaLnBrk="1" hangingPunct="1">
              <a:lnSpc>
                <a:spcPct val="90000"/>
              </a:lnSpc>
              <a:buFont typeface="Wingdings" pitchFamily="2" charset="2"/>
              <a:buNone/>
            </a:pPr>
            <a:r>
              <a:rPr lang="en-US" altLang="en-KE"/>
              <a:t>   intellectual, emotional and environmental wellbeing  and not merely lack of illness or infirmity. (WHO)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a:extLst>
              <a:ext uri="{FF2B5EF4-FFF2-40B4-BE49-F238E27FC236}">
                <a16:creationId xmlns:a16="http://schemas.microsoft.com/office/drawing/2014/main" id="{3F5DA590-69F3-3E83-0D49-22D662F3A63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6E86740-BCB2-D443-9A5E-404B697AF6A8}" type="slidenum">
              <a:rPr lang="en-US" altLang="en-KE">
                <a:solidFill>
                  <a:schemeClr val="bg1"/>
                </a:solidFill>
              </a:rPr>
              <a:pPr eaLnBrk="1" hangingPunct="1"/>
              <a:t>3</a:t>
            </a:fld>
            <a:endParaRPr lang="en-US" altLang="en-KE">
              <a:solidFill>
                <a:schemeClr val="bg1"/>
              </a:solidFill>
            </a:endParaRPr>
          </a:p>
        </p:txBody>
      </p:sp>
      <p:sp>
        <p:nvSpPr>
          <p:cNvPr id="5123" name="AutoShape 2">
            <a:extLst>
              <a:ext uri="{FF2B5EF4-FFF2-40B4-BE49-F238E27FC236}">
                <a16:creationId xmlns:a16="http://schemas.microsoft.com/office/drawing/2014/main" id="{D86E564C-1ABB-45EE-323A-A80C51853BC6}"/>
              </a:ext>
            </a:extLst>
          </p:cNvPr>
          <p:cNvSpPr>
            <a:spLocks noGrp="1" noChangeArrowheads="1"/>
          </p:cNvSpPr>
          <p:nvPr>
            <p:ph type="title"/>
          </p:nvPr>
        </p:nvSpPr>
        <p:spPr/>
        <p:txBody>
          <a:bodyPr/>
          <a:lstStyle/>
          <a:p>
            <a:pPr eaLnBrk="1" hangingPunct="1"/>
            <a:r>
              <a:rPr lang="en-US" altLang="en-KE" sz="3200"/>
              <a:t>MODULES IN HEALTH EDUCATION</a:t>
            </a:r>
          </a:p>
        </p:txBody>
      </p:sp>
      <p:sp>
        <p:nvSpPr>
          <p:cNvPr id="5124" name="Rectangle 3">
            <a:extLst>
              <a:ext uri="{FF2B5EF4-FFF2-40B4-BE49-F238E27FC236}">
                <a16:creationId xmlns:a16="http://schemas.microsoft.com/office/drawing/2014/main" id="{3A2A9FBD-5F66-7C92-CADA-418C5A9B8062}"/>
              </a:ext>
            </a:extLst>
          </p:cNvPr>
          <p:cNvSpPr>
            <a:spLocks noGrp="1" noChangeArrowheads="1"/>
          </p:cNvSpPr>
          <p:nvPr>
            <p:ph type="body" idx="1"/>
          </p:nvPr>
        </p:nvSpPr>
        <p:spPr/>
        <p:txBody>
          <a:bodyPr/>
          <a:lstStyle/>
          <a:p>
            <a:pPr eaLnBrk="1" hangingPunct="1"/>
            <a:r>
              <a:rPr lang="en-US" altLang="en-KE"/>
              <a:t>Communicable Diseases</a:t>
            </a:r>
          </a:p>
          <a:p>
            <a:pPr eaLnBrk="1" hangingPunct="1"/>
            <a:r>
              <a:rPr lang="en-US" altLang="en-KE"/>
              <a:t>Hygiene and Sanitation</a:t>
            </a:r>
          </a:p>
          <a:p>
            <a:pPr eaLnBrk="1" hangingPunct="1"/>
            <a:r>
              <a:rPr lang="en-US" altLang="en-KE">
                <a:solidFill>
                  <a:srgbClr val="FF0066"/>
                </a:solidFill>
              </a:rPr>
              <a:t>Drug and Substance abuse</a:t>
            </a:r>
          </a:p>
          <a:p>
            <a:pPr eaLnBrk="1" hangingPunct="1"/>
            <a:r>
              <a:rPr lang="en-US" altLang="en-KE"/>
              <a:t>Lifestyle Diseases</a:t>
            </a:r>
          </a:p>
          <a:p>
            <a:pPr eaLnBrk="1" hangingPunct="1"/>
            <a:r>
              <a:rPr lang="en-US" altLang="en-KE"/>
              <a:t>HIV &amp; AIDS</a:t>
            </a:r>
          </a:p>
          <a:p>
            <a:pPr eaLnBrk="1" hangingPunct="1">
              <a:buFont typeface="Wingdings" pitchFamily="2" charset="2"/>
              <a:buNone/>
            </a:pPr>
            <a:endParaRPr lang="en-US" altLang="en-K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a:extLst>
              <a:ext uri="{FF2B5EF4-FFF2-40B4-BE49-F238E27FC236}">
                <a16:creationId xmlns:a16="http://schemas.microsoft.com/office/drawing/2014/main" id="{B10C1809-34E8-D8E1-3A48-18F2AC37BB1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D854AC-B30A-1440-8CC7-6DE2084E7B3C}" type="slidenum">
              <a:rPr lang="en-US" altLang="en-KE">
                <a:solidFill>
                  <a:schemeClr val="bg1"/>
                </a:solidFill>
              </a:rPr>
              <a:pPr eaLnBrk="1" hangingPunct="1"/>
              <a:t>4</a:t>
            </a:fld>
            <a:endParaRPr lang="en-US" altLang="en-KE">
              <a:solidFill>
                <a:schemeClr val="bg1"/>
              </a:solidFill>
            </a:endParaRPr>
          </a:p>
        </p:txBody>
      </p:sp>
      <p:sp>
        <p:nvSpPr>
          <p:cNvPr id="6147" name="AutoShape 2">
            <a:extLst>
              <a:ext uri="{FF2B5EF4-FFF2-40B4-BE49-F238E27FC236}">
                <a16:creationId xmlns:a16="http://schemas.microsoft.com/office/drawing/2014/main" id="{B7AD38A6-A9B8-DBB3-DC73-D37EB2650F4E}"/>
              </a:ext>
            </a:extLst>
          </p:cNvPr>
          <p:cNvSpPr>
            <a:spLocks noGrp="1" noChangeArrowheads="1"/>
          </p:cNvSpPr>
          <p:nvPr>
            <p:ph type="title"/>
          </p:nvPr>
        </p:nvSpPr>
        <p:spPr/>
        <p:txBody>
          <a:bodyPr/>
          <a:lstStyle/>
          <a:p>
            <a:pPr eaLnBrk="1" hangingPunct="1"/>
            <a:r>
              <a:rPr lang="en-US" altLang="en-KE"/>
              <a:t>DRUG AND SUBSTANCE ABUSE</a:t>
            </a:r>
          </a:p>
        </p:txBody>
      </p:sp>
      <p:sp>
        <p:nvSpPr>
          <p:cNvPr id="6148" name="Rectangle 3">
            <a:extLst>
              <a:ext uri="{FF2B5EF4-FFF2-40B4-BE49-F238E27FC236}">
                <a16:creationId xmlns:a16="http://schemas.microsoft.com/office/drawing/2014/main" id="{67A80CF4-B012-7832-D85D-3DBDAE10851D}"/>
              </a:ext>
            </a:extLst>
          </p:cNvPr>
          <p:cNvSpPr>
            <a:spLocks noGrp="1" noChangeArrowheads="1"/>
          </p:cNvSpPr>
          <p:nvPr>
            <p:ph type="body" idx="1"/>
          </p:nvPr>
        </p:nvSpPr>
        <p:spPr/>
        <p:txBody>
          <a:bodyPr/>
          <a:lstStyle/>
          <a:p>
            <a:pPr eaLnBrk="1" hangingPunct="1"/>
            <a:r>
              <a:rPr lang="en-US" altLang="en-KE"/>
              <a:t>What are the objectives of this topic in Health Education?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2917CE87-7770-9112-AA39-F7DEC72DBD2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B734C3E-9F9D-BA40-88C6-2B61D9354E00}" type="slidenum">
              <a:rPr lang="en-US" altLang="en-KE">
                <a:solidFill>
                  <a:schemeClr val="bg1"/>
                </a:solidFill>
              </a:rPr>
              <a:pPr eaLnBrk="1" hangingPunct="1"/>
              <a:t>5</a:t>
            </a:fld>
            <a:endParaRPr lang="en-US" altLang="en-KE">
              <a:solidFill>
                <a:schemeClr val="bg1"/>
              </a:solidFill>
            </a:endParaRPr>
          </a:p>
        </p:txBody>
      </p:sp>
      <p:sp>
        <p:nvSpPr>
          <p:cNvPr id="7171" name="AutoShape 2">
            <a:extLst>
              <a:ext uri="{FF2B5EF4-FFF2-40B4-BE49-F238E27FC236}">
                <a16:creationId xmlns:a16="http://schemas.microsoft.com/office/drawing/2014/main" id="{24F885C8-D952-21D8-D111-46E22CA854DF}"/>
              </a:ext>
            </a:extLst>
          </p:cNvPr>
          <p:cNvSpPr>
            <a:spLocks noGrp="1" noChangeArrowheads="1"/>
          </p:cNvSpPr>
          <p:nvPr>
            <p:ph type="title"/>
          </p:nvPr>
        </p:nvSpPr>
        <p:spPr/>
        <p:txBody>
          <a:bodyPr/>
          <a:lstStyle/>
          <a:p>
            <a:pPr eaLnBrk="1" hangingPunct="1"/>
            <a:r>
              <a:rPr lang="en-US" altLang="en-KE"/>
              <a:t>Objectives</a:t>
            </a:r>
          </a:p>
        </p:txBody>
      </p:sp>
      <p:sp>
        <p:nvSpPr>
          <p:cNvPr id="7172" name="Rectangle 3">
            <a:extLst>
              <a:ext uri="{FF2B5EF4-FFF2-40B4-BE49-F238E27FC236}">
                <a16:creationId xmlns:a16="http://schemas.microsoft.com/office/drawing/2014/main" id="{40D45EF6-93FD-8CEC-FFD5-D1B630FA0FEA}"/>
              </a:ext>
            </a:extLst>
          </p:cNvPr>
          <p:cNvSpPr>
            <a:spLocks noGrp="1" noChangeArrowheads="1"/>
          </p:cNvSpPr>
          <p:nvPr>
            <p:ph type="body" idx="1"/>
          </p:nvPr>
        </p:nvSpPr>
        <p:spPr/>
        <p:txBody>
          <a:bodyPr/>
          <a:lstStyle/>
          <a:p>
            <a:pPr eaLnBrk="1" hangingPunct="1">
              <a:buFont typeface="Wingdings" pitchFamily="2" charset="2"/>
              <a:buNone/>
            </a:pPr>
            <a:r>
              <a:rPr lang="en-US" altLang="en-KE"/>
              <a:t>1.Define the terms.</a:t>
            </a:r>
          </a:p>
          <a:p>
            <a:pPr eaLnBrk="1" hangingPunct="1">
              <a:buFont typeface="Wingdings" pitchFamily="2" charset="2"/>
              <a:buNone/>
            </a:pPr>
            <a:r>
              <a:rPr lang="en-US" altLang="en-KE"/>
              <a:t>2.Identify the commonly abused drugs and substances and reasons for abuse.</a:t>
            </a:r>
          </a:p>
          <a:p>
            <a:pPr eaLnBrk="1" hangingPunct="1">
              <a:buFont typeface="Wingdings" pitchFamily="2" charset="2"/>
              <a:buNone/>
            </a:pPr>
            <a:r>
              <a:rPr lang="en-US" altLang="en-KE"/>
              <a:t>3.Describe the signs and symptoms of drug abuse in an individual.</a:t>
            </a:r>
          </a:p>
          <a:p>
            <a:pPr eaLnBrk="1" hangingPunct="1">
              <a:buFont typeface="Wingdings" pitchFamily="2" charset="2"/>
              <a:buNone/>
            </a:pPr>
            <a:r>
              <a:rPr lang="en-US" altLang="en-KE"/>
              <a:t>4.Explain the effects and risks of drug abuse on an individual and society.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0E543E27-A247-E84B-D670-E87350F4E49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6A04B44-E886-F745-B949-5E2655AAD264}" type="slidenum">
              <a:rPr lang="en-US" altLang="en-KE">
                <a:solidFill>
                  <a:schemeClr val="bg1"/>
                </a:solidFill>
              </a:rPr>
              <a:pPr eaLnBrk="1" hangingPunct="1"/>
              <a:t>6</a:t>
            </a:fld>
            <a:endParaRPr lang="en-US" altLang="en-KE">
              <a:solidFill>
                <a:schemeClr val="bg1"/>
              </a:solidFill>
            </a:endParaRPr>
          </a:p>
        </p:txBody>
      </p:sp>
      <p:sp>
        <p:nvSpPr>
          <p:cNvPr id="8195" name="AutoShape 2">
            <a:extLst>
              <a:ext uri="{FF2B5EF4-FFF2-40B4-BE49-F238E27FC236}">
                <a16:creationId xmlns:a16="http://schemas.microsoft.com/office/drawing/2014/main" id="{E48B291B-2406-7F04-0868-8FCD2A8438AF}"/>
              </a:ext>
            </a:extLst>
          </p:cNvPr>
          <p:cNvSpPr>
            <a:spLocks noGrp="1" noChangeArrowheads="1"/>
          </p:cNvSpPr>
          <p:nvPr>
            <p:ph type="title"/>
          </p:nvPr>
        </p:nvSpPr>
        <p:spPr/>
        <p:txBody>
          <a:bodyPr/>
          <a:lstStyle/>
          <a:p>
            <a:pPr eaLnBrk="1" hangingPunct="1"/>
            <a:r>
              <a:rPr lang="en-US" altLang="en-KE"/>
              <a:t>Objectives</a:t>
            </a:r>
          </a:p>
        </p:txBody>
      </p:sp>
      <p:sp>
        <p:nvSpPr>
          <p:cNvPr id="8196" name="Rectangle 3">
            <a:extLst>
              <a:ext uri="{FF2B5EF4-FFF2-40B4-BE49-F238E27FC236}">
                <a16:creationId xmlns:a16="http://schemas.microsoft.com/office/drawing/2014/main" id="{AF6DE574-C913-0C2E-B6C9-C3EBA7EBDE97}"/>
              </a:ext>
            </a:extLst>
          </p:cNvPr>
          <p:cNvSpPr>
            <a:spLocks noGrp="1" noChangeArrowheads="1"/>
          </p:cNvSpPr>
          <p:nvPr>
            <p:ph type="body" idx="1"/>
          </p:nvPr>
        </p:nvSpPr>
        <p:spPr/>
        <p:txBody>
          <a:bodyPr/>
          <a:lstStyle/>
          <a:p>
            <a:pPr eaLnBrk="1" hangingPunct="1">
              <a:lnSpc>
                <a:spcPct val="90000"/>
              </a:lnSpc>
              <a:buFont typeface="Wingdings" pitchFamily="2" charset="2"/>
              <a:buNone/>
            </a:pPr>
            <a:r>
              <a:rPr lang="en-US" altLang="en-KE"/>
              <a:t>5.Describe the  measures used to control and prevent  addiction</a:t>
            </a:r>
          </a:p>
          <a:p>
            <a:pPr eaLnBrk="1" hangingPunct="1">
              <a:lnSpc>
                <a:spcPct val="90000"/>
              </a:lnSpc>
              <a:buFont typeface="Wingdings" pitchFamily="2" charset="2"/>
              <a:buNone/>
            </a:pPr>
            <a:r>
              <a:rPr lang="en-US" altLang="en-KE"/>
              <a:t>6.List what treatment strategies are available for drug dependence</a:t>
            </a:r>
          </a:p>
          <a:p>
            <a:pPr eaLnBrk="1" hangingPunct="1">
              <a:lnSpc>
                <a:spcPct val="90000"/>
              </a:lnSpc>
              <a:buFont typeface="Wingdings" pitchFamily="2" charset="2"/>
              <a:buNone/>
            </a:pPr>
            <a:r>
              <a:rPr lang="en-US" altLang="en-KE"/>
              <a:t>7.Explain the association between drug abuse and development.</a:t>
            </a:r>
          </a:p>
          <a:p>
            <a:pPr eaLnBrk="1" hangingPunct="1">
              <a:lnSpc>
                <a:spcPct val="90000"/>
              </a:lnSpc>
              <a:buFont typeface="Wingdings" pitchFamily="2" charset="2"/>
              <a:buNone/>
            </a:pPr>
            <a:r>
              <a:rPr lang="en-US" altLang="en-KE"/>
              <a:t>8.Government policy on drug and substance abuse.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a:extLst>
              <a:ext uri="{FF2B5EF4-FFF2-40B4-BE49-F238E27FC236}">
                <a16:creationId xmlns:a16="http://schemas.microsoft.com/office/drawing/2014/main" id="{4BD6EE41-30FD-48EC-ABB8-9D1F763A926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E39B69A-B38B-344B-BF66-33AF167B4378}" type="slidenum">
              <a:rPr lang="en-US" altLang="en-KE">
                <a:solidFill>
                  <a:schemeClr val="bg1"/>
                </a:solidFill>
              </a:rPr>
              <a:pPr eaLnBrk="1" hangingPunct="1"/>
              <a:t>7</a:t>
            </a:fld>
            <a:endParaRPr lang="en-US" altLang="en-KE">
              <a:solidFill>
                <a:schemeClr val="bg1"/>
              </a:solidFill>
            </a:endParaRPr>
          </a:p>
        </p:txBody>
      </p:sp>
      <p:sp>
        <p:nvSpPr>
          <p:cNvPr id="9219" name="AutoShape 2">
            <a:extLst>
              <a:ext uri="{FF2B5EF4-FFF2-40B4-BE49-F238E27FC236}">
                <a16:creationId xmlns:a16="http://schemas.microsoft.com/office/drawing/2014/main" id="{29B79CBF-8A00-066E-6A04-EF4C9DA4C04A}"/>
              </a:ext>
            </a:extLst>
          </p:cNvPr>
          <p:cNvSpPr>
            <a:spLocks noGrp="1" noChangeArrowheads="1"/>
          </p:cNvSpPr>
          <p:nvPr>
            <p:ph type="title"/>
          </p:nvPr>
        </p:nvSpPr>
        <p:spPr/>
        <p:txBody>
          <a:bodyPr/>
          <a:lstStyle/>
          <a:p>
            <a:pPr eaLnBrk="1" hangingPunct="1"/>
            <a:r>
              <a:rPr lang="en-US" altLang="en-KE"/>
              <a:t> Definition</a:t>
            </a:r>
          </a:p>
        </p:txBody>
      </p:sp>
      <p:sp>
        <p:nvSpPr>
          <p:cNvPr id="9220" name="Rectangle 3">
            <a:extLst>
              <a:ext uri="{FF2B5EF4-FFF2-40B4-BE49-F238E27FC236}">
                <a16:creationId xmlns:a16="http://schemas.microsoft.com/office/drawing/2014/main" id="{6E2E268B-ECA3-46EA-9291-FEF99A157FED}"/>
              </a:ext>
            </a:extLst>
          </p:cNvPr>
          <p:cNvSpPr>
            <a:spLocks noGrp="1" noChangeArrowheads="1"/>
          </p:cNvSpPr>
          <p:nvPr>
            <p:ph type="body" idx="1"/>
          </p:nvPr>
        </p:nvSpPr>
        <p:spPr/>
        <p:txBody>
          <a:bodyPr/>
          <a:lstStyle/>
          <a:p>
            <a:pPr eaLnBrk="1" hangingPunct="1">
              <a:buFont typeface="Wingdings" pitchFamily="2" charset="2"/>
              <a:buNone/>
            </a:pPr>
            <a:r>
              <a:rPr lang="en-US" altLang="en-KE"/>
              <a:t>   </a:t>
            </a:r>
            <a:r>
              <a:rPr lang="en-US" altLang="en-KE">
                <a:solidFill>
                  <a:srgbClr val="FF0066"/>
                </a:solidFill>
              </a:rPr>
              <a:t>Drug</a:t>
            </a:r>
            <a:r>
              <a:rPr lang="en-US" altLang="en-KE"/>
              <a:t> is a substance or a mixture of substances used in the diagnosis, treatment, investigation or prevention of disease or for the modification of physiological function or prevention of pregnancy and is incorporated in an official list.</a:t>
            </a:r>
          </a:p>
          <a:p>
            <a:pPr eaLnBrk="1" hangingPunct="1">
              <a:buFont typeface="Wingdings" pitchFamily="2" charset="2"/>
              <a:buNone/>
            </a:pPr>
            <a:r>
              <a:rPr lang="en-US" altLang="en-KE"/>
              <a:t>   </a:t>
            </a:r>
            <a:r>
              <a:rPr lang="en-US" altLang="en-KE">
                <a:solidFill>
                  <a:srgbClr val="FF0066"/>
                </a:solidFill>
              </a:rPr>
              <a:t>Substance</a:t>
            </a:r>
            <a:r>
              <a:rPr lang="en-US" altLang="en-KE"/>
              <a:t> is a particular kind of matter with uniform properties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a:extLst>
              <a:ext uri="{FF2B5EF4-FFF2-40B4-BE49-F238E27FC236}">
                <a16:creationId xmlns:a16="http://schemas.microsoft.com/office/drawing/2014/main" id="{AADDBACD-D9A1-21EE-A31E-9B6B763B60A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2DF91F5-068E-EE46-978E-0AF737451DF4}" type="slidenum">
              <a:rPr lang="en-US" altLang="en-KE">
                <a:solidFill>
                  <a:schemeClr val="bg1"/>
                </a:solidFill>
              </a:rPr>
              <a:pPr eaLnBrk="1" hangingPunct="1"/>
              <a:t>8</a:t>
            </a:fld>
            <a:endParaRPr lang="en-US" altLang="en-KE">
              <a:solidFill>
                <a:schemeClr val="bg1"/>
              </a:solidFill>
            </a:endParaRPr>
          </a:p>
        </p:txBody>
      </p:sp>
      <p:sp>
        <p:nvSpPr>
          <p:cNvPr id="10243" name="AutoShape 2">
            <a:extLst>
              <a:ext uri="{FF2B5EF4-FFF2-40B4-BE49-F238E27FC236}">
                <a16:creationId xmlns:a16="http://schemas.microsoft.com/office/drawing/2014/main" id="{484C41DC-E022-8C4D-E233-F7C1DE5D7BFE}"/>
              </a:ext>
            </a:extLst>
          </p:cNvPr>
          <p:cNvSpPr>
            <a:spLocks noGrp="1" noChangeArrowheads="1"/>
          </p:cNvSpPr>
          <p:nvPr>
            <p:ph type="title"/>
          </p:nvPr>
        </p:nvSpPr>
        <p:spPr/>
        <p:txBody>
          <a:bodyPr/>
          <a:lstStyle/>
          <a:p>
            <a:pPr eaLnBrk="1" hangingPunct="1"/>
            <a:r>
              <a:rPr lang="en-US" altLang="en-KE"/>
              <a:t>Drug dependence and abuse</a:t>
            </a:r>
          </a:p>
        </p:txBody>
      </p:sp>
      <p:sp>
        <p:nvSpPr>
          <p:cNvPr id="10244" name="Rectangle 3">
            <a:extLst>
              <a:ext uri="{FF2B5EF4-FFF2-40B4-BE49-F238E27FC236}">
                <a16:creationId xmlns:a16="http://schemas.microsoft.com/office/drawing/2014/main" id="{C663819F-2906-46C9-4DC6-C4F29A394D11}"/>
              </a:ext>
            </a:extLst>
          </p:cNvPr>
          <p:cNvSpPr>
            <a:spLocks noGrp="1" noChangeArrowheads="1"/>
          </p:cNvSpPr>
          <p:nvPr>
            <p:ph type="body" idx="1"/>
          </p:nvPr>
        </p:nvSpPr>
        <p:spPr/>
        <p:txBody>
          <a:bodyPr/>
          <a:lstStyle/>
          <a:p>
            <a:pPr eaLnBrk="1" hangingPunct="1"/>
            <a:r>
              <a:rPr lang="en-US" altLang="en-KE" sz="2400"/>
              <a:t>Drug dependence is a state resulting from the interaction of a person and a drug in which the person has a compulsion to continue taking the drug to experience pleasurable psychological effects and sometimes avoid discomfort due to withdrawal of the drug.</a:t>
            </a:r>
          </a:p>
          <a:p>
            <a:pPr eaLnBrk="1" hangingPunct="1"/>
            <a:r>
              <a:rPr lang="en-US" altLang="en-KE" sz="2400"/>
              <a:t>Drug abuse is the use of a drug for recreational rather than medical reasons, often in excessive quantities.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a:extLst>
              <a:ext uri="{FF2B5EF4-FFF2-40B4-BE49-F238E27FC236}">
                <a16:creationId xmlns:a16="http://schemas.microsoft.com/office/drawing/2014/main" id="{5017C81A-E6F5-607F-A98A-6FABDF91F95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F9AD45-7297-7C4E-962D-91EDEF7C018F}" type="slidenum">
              <a:rPr lang="en-US" altLang="en-KE">
                <a:solidFill>
                  <a:schemeClr val="bg1"/>
                </a:solidFill>
              </a:rPr>
              <a:pPr eaLnBrk="1" hangingPunct="1"/>
              <a:t>9</a:t>
            </a:fld>
            <a:endParaRPr lang="en-US" altLang="en-KE">
              <a:solidFill>
                <a:schemeClr val="bg1"/>
              </a:solidFill>
            </a:endParaRPr>
          </a:p>
        </p:txBody>
      </p:sp>
      <p:sp>
        <p:nvSpPr>
          <p:cNvPr id="11267" name="AutoShape 2">
            <a:extLst>
              <a:ext uri="{FF2B5EF4-FFF2-40B4-BE49-F238E27FC236}">
                <a16:creationId xmlns:a16="http://schemas.microsoft.com/office/drawing/2014/main" id="{F93B70B6-B90A-32AE-724F-FC897EB20932}"/>
              </a:ext>
            </a:extLst>
          </p:cNvPr>
          <p:cNvSpPr>
            <a:spLocks noGrp="1" noChangeArrowheads="1"/>
          </p:cNvSpPr>
          <p:nvPr>
            <p:ph type="title"/>
          </p:nvPr>
        </p:nvSpPr>
        <p:spPr/>
        <p:txBody>
          <a:bodyPr/>
          <a:lstStyle/>
          <a:p>
            <a:pPr eaLnBrk="1" hangingPunct="1"/>
            <a:r>
              <a:rPr lang="en-US" altLang="en-KE"/>
              <a:t>Withdrawal Symptoms</a:t>
            </a:r>
          </a:p>
        </p:txBody>
      </p:sp>
      <p:sp>
        <p:nvSpPr>
          <p:cNvPr id="11268" name="Rectangle 3">
            <a:extLst>
              <a:ext uri="{FF2B5EF4-FFF2-40B4-BE49-F238E27FC236}">
                <a16:creationId xmlns:a16="http://schemas.microsoft.com/office/drawing/2014/main" id="{BC69D5DB-D512-A940-80D0-82925FF7BFAD}"/>
              </a:ext>
            </a:extLst>
          </p:cNvPr>
          <p:cNvSpPr>
            <a:spLocks noGrp="1" noChangeArrowheads="1"/>
          </p:cNvSpPr>
          <p:nvPr>
            <p:ph type="body" idx="1"/>
          </p:nvPr>
        </p:nvSpPr>
        <p:spPr/>
        <p:txBody>
          <a:bodyPr/>
          <a:lstStyle/>
          <a:p>
            <a:pPr eaLnBrk="1" hangingPunct="1"/>
            <a:r>
              <a:rPr lang="en-US" altLang="en-KE"/>
              <a:t>The physical and psychological effects which follow after ceasing to take an addictive drug.</a:t>
            </a:r>
          </a:p>
          <a:p>
            <a:pPr eaLnBrk="1" hangingPunct="1"/>
            <a:r>
              <a:rPr lang="en-US" altLang="en-KE"/>
              <a:t> They include craving for a further dose,restlessness,anxiety,distress,nauseavomiting,muscle cramps,increased pulse rate and raised blood pressure.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686A94F8-2AB6-0864-41C2-E67213DDEF5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18B90A0-E9CE-D040-87CC-5E696ACFC953}" type="slidenum">
              <a:rPr lang="en-US" altLang="en-KE">
                <a:solidFill>
                  <a:schemeClr val="bg1"/>
                </a:solidFill>
              </a:rPr>
              <a:pPr eaLnBrk="1" hangingPunct="1"/>
              <a:t>10</a:t>
            </a:fld>
            <a:endParaRPr lang="en-US" altLang="en-KE">
              <a:solidFill>
                <a:schemeClr val="bg1"/>
              </a:solidFill>
            </a:endParaRPr>
          </a:p>
        </p:txBody>
      </p:sp>
      <p:sp>
        <p:nvSpPr>
          <p:cNvPr id="12291" name="AutoShape 2">
            <a:extLst>
              <a:ext uri="{FF2B5EF4-FFF2-40B4-BE49-F238E27FC236}">
                <a16:creationId xmlns:a16="http://schemas.microsoft.com/office/drawing/2014/main" id="{A63AA882-451D-0164-DBFE-E44C1E8CDA1A}"/>
              </a:ext>
            </a:extLst>
          </p:cNvPr>
          <p:cNvSpPr>
            <a:spLocks noGrp="1" noChangeArrowheads="1"/>
          </p:cNvSpPr>
          <p:nvPr>
            <p:ph type="title"/>
          </p:nvPr>
        </p:nvSpPr>
        <p:spPr/>
        <p:txBody>
          <a:bodyPr/>
          <a:lstStyle/>
          <a:p>
            <a:pPr eaLnBrk="1" hangingPunct="1"/>
            <a:r>
              <a:rPr lang="en-US" altLang="en-KE" sz="3200"/>
              <a:t>Commonly abused drugs &amp; Substances</a:t>
            </a:r>
          </a:p>
        </p:txBody>
      </p:sp>
      <p:sp>
        <p:nvSpPr>
          <p:cNvPr id="12292" name="Rectangle 3">
            <a:extLst>
              <a:ext uri="{FF2B5EF4-FFF2-40B4-BE49-F238E27FC236}">
                <a16:creationId xmlns:a16="http://schemas.microsoft.com/office/drawing/2014/main" id="{72734875-8440-1708-C622-840FF8E93683}"/>
              </a:ext>
            </a:extLst>
          </p:cNvPr>
          <p:cNvSpPr>
            <a:spLocks noGrp="1" noChangeArrowheads="1"/>
          </p:cNvSpPr>
          <p:nvPr>
            <p:ph type="body" idx="1"/>
          </p:nvPr>
        </p:nvSpPr>
        <p:spPr/>
        <p:txBody>
          <a:bodyPr/>
          <a:lstStyle/>
          <a:p>
            <a:pPr eaLnBrk="1" hangingPunct="1">
              <a:lnSpc>
                <a:spcPct val="90000"/>
              </a:lnSpc>
            </a:pPr>
            <a:r>
              <a:rPr lang="en-US" altLang="en-KE" sz="2000"/>
              <a:t>Alcohol</a:t>
            </a:r>
          </a:p>
          <a:p>
            <a:pPr eaLnBrk="1" hangingPunct="1">
              <a:lnSpc>
                <a:spcPct val="90000"/>
              </a:lnSpc>
            </a:pPr>
            <a:r>
              <a:rPr lang="en-US" altLang="en-KE" sz="2000"/>
              <a:t>Tobacco</a:t>
            </a:r>
          </a:p>
          <a:p>
            <a:pPr eaLnBrk="1" hangingPunct="1">
              <a:lnSpc>
                <a:spcPct val="90000"/>
              </a:lnSpc>
            </a:pPr>
            <a:r>
              <a:rPr lang="en-US" altLang="en-KE" sz="2000"/>
              <a:t>Cannabis (Bhang)</a:t>
            </a:r>
          </a:p>
          <a:p>
            <a:pPr eaLnBrk="1" hangingPunct="1">
              <a:lnSpc>
                <a:spcPct val="90000"/>
              </a:lnSpc>
            </a:pPr>
            <a:r>
              <a:rPr lang="en-US" altLang="en-KE" sz="2000"/>
              <a:t>Khat (Miraa)</a:t>
            </a:r>
          </a:p>
          <a:p>
            <a:pPr eaLnBrk="1" hangingPunct="1">
              <a:lnSpc>
                <a:spcPct val="90000"/>
              </a:lnSpc>
            </a:pPr>
            <a:r>
              <a:rPr lang="en-US" altLang="en-KE" sz="2000"/>
              <a:t>Marijuana (the plant cannabis sativa source of bhang)</a:t>
            </a:r>
          </a:p>
          <a:p>
            <a:pPr eaLnBrk="1" hangingPunct="1">
              <a:lnSpc>
                <a:spcPct val="90000"/>
              </a:lnSpc>
            </a:pPr>
            <a:r>
              <a:rPr lang="en-US" altLang="en-KE" sz="2000"/>
              <a:t>Cocaine</a:t>
            </a:r>
          </a:p>
          <a:p>
            <a:pPr eaLnBrk="1" hangingPunct="1">
              <a:lnSpc>
                <a:spcPct val="90000"/>
              </a:lnSpc>
            </a:pPr>
            <a:r>
              <a:rPr lang="en-US" altLang="en-KE" sz="2000"/>
              <a:t>Inhalants/Solvents example petrol,glue,paint thinners</a:t>
            </a:r>
          </a:p>
          <a:p>
            <a:pPr eaLnBrk="1" hangingPunct="1">
              <a:lnSpc>
                <a:spcPct val="90000"/>
              </a:lnSpc>
            </a:pPr>
            <a:r>
              <a:rPr lang="en-US" altLang="en-KE" sz="2000"/>
              <a:t>HIV/AIDS drugs</a:t>
            </a:r>
          </a:p>
          <a:p>
            <a:pPr eaLnBrk="1" hangingPunct="1">
              <a:lnSpc>
                <a:spcPct val="90000"/>
              </a:lnSpc>
            </a:pPr>
            <a:r>
              <a:rPr lang="en-US" altLang="en-KE" sz="2000"/>
              <a:t>Heroine</a:t>
            </a:r>
          </a:p>
          <a:p>
            <a:pPr eaLnBrk="1" hangingPunct="1">
              <a:lnSpc>
                <a:spcPct val="90000"/>
              </a:lnSpc>
            </a:pPr>
            <a:r>
              <a:rPr lang="en-US" altLang="en-KE" sz="2000"/>
              <a:t>Sedative Hypnotics example Diazepam</a:t>
            </a:r>
          </a:p>
          <a:p>
            <a:pPr eaLnBrk="1" hangingPunct="1">
              <a:lnSpc>
                <a:spcPct val="90000"/>
              </a:lnSpc>
            </a:pPr>
            <a:r>
              <a:rPr lang="en-US" altLang="en-KE" sz="2000"/>
              <a:t>Any other? Caffeine!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a:extLst>
              <a:ext uri="{FF2B5EF4-FFF2-40B4-BE49-F238E27FC236}">
                <a16:creationId xmlns:a16="http://schemas.microsoft.com/office/drawing/2014/main" id="{3A3C11DF-706E-3C5E-839F-BF13A49CF32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E8FF131-8CA7-E74F-9873-7D71E4499669}" type="slidenum">
              <a:rPr lang="en-US" altLang="en-KE">
                <a:solidFill>
                  <a:schemeClr val="bg1"/>
                </a:solidFill>
              </a:rPr>
              <a:pPr eaLnBrk="1" hangingPunct="1"/>
              <a:t>11</a:t>
            </a:fld>
            <a:endParaRPr lang="en-US" altLang="en-KE">
              <a:solidFill>
                <a:schemeClr val="bg1"/>
              </a:solidFill>
            </a:endParaRPr>
          </a:p>
        </p:txBody>
      </p:sp>
      <p:sp>
        <p:nvSpPr>
          <p:cNvPr id="13315" name="AutoShape 2">
            <a:extLst>
              <a:ext uri="{FF2B5EF4-FFF2-40B4-BE49-F238E27FC236}">
                <a16:creationId xmlns:a16="http://schemas.microsoft.com/office/drawing/2014/main" id="{BB1A203E-EDBB-A773-C562-BB0AC98D039F}"/>
              </a:ext>
            </a:extLst>
          </p:cNvPr>
          <p:cNvSpPr>
            <a:spLocks noGrp="1" noChangeArrowheads="1"/>
          </p:cNvSpPr>
          <p:nvPr>
            <p:ph type="title"/>
          </p:nvPr>
        </p:nvSpPr>
        <p:spPr/>
        <p:txBody>
          <a:bodyPr/>
          <a:lstStyle/>
          <a:p>
            <a:pPr eaLnBrk="1" hangingPunct="1"/>
            <a:r>
              <a:rPr lang="en-US" altLang="en-KE"/>
              <a:t>General reasons for drug abuse</a:t>
            </a:r>
          </a:p>
        </p:txBody>
      </p:sp>
      <p:sp>
        <p:nvSpPr>
          <p:cNvPr id="13316" name="Rectangle 3">
            <a:extLst>
              <a:ext uri="{FF2B5EF4-FFF2-40B4-BE49-F238E27FC236}">
                <a16:creationId xmlns:a16="http://schemas.microsoft.com/office/drawing/2014/main" id="{5E09AEEE-8462-E7C4-2A4F-E01D642981EC}"/>
              </a:ext>
            </a:extLst>
          </p:cNvPr>
          <p:cNvSpPr>
            <a:spLocks noGrp="1" noChangeArrowheads="1"/>
          </p:cNvSpPr>
          <p:nvPr>
            <p:ph type="body" idx="1"/>
          </p:nvPr>
        </p:nvSpPr>
        <p:spPr/>
        <p:txBody>
          <a:bodyPr/>
          <a:lstStyle/>
          <a:p>
            <a:pPr eaLnBrk="1" hangingPunct="1">
              <a:buFont typeface="Wingdings" pitchFamily="2" charset="2"/>
              <a:buNone/>
            </a:pPr>
            <a:r>
              <a:rPr lang="en-US" altLang="en-KE"/>
              <a:t>  These are mainly social or emotional reasons;</a:t>
            </a:r>
          </a:p>
          <a:p>
            <a:pPr eaLnBrk="1" hangingPunct="1">
              <a:buFont typeface="Wingdings" pitchFamily="2" charset="2"/>
              <a:buNone/>
            </a:pPr>
            <a:r>
              <a:rPr lang="en-US" altLang="en-KE"/>
              <a:t>1.Curiosity and wanting to belong to peers.</a:t>
            </a:r>
          </a:p>
          <a:p>
            <a:pPr eaLnBrk="1" hangingPunct="1">
              <a:buFont typeface="Wingdings" pitchFamily="2" charset="2"/>
              <a:buNone/>
            </a:pPr>
            <a:r>
              <a:rPr lang="en-US" altLang="en-KE"/>
              <a:t>2.Chemical stimulation and escapism from reality</a:t>
            </a:r>
          </a:p>
          <a:p>
            <a:pPr eaLnBrk="1" hangingPunct="1">
              <a:buFont typeface="Wingdings" pitchFamily="2" charset="2"/>
              <a:buNone/>
            </a:pPr>
            <a:r>
              <a:rPr lang="en-US" altLang="en-KE"/>
              <a:t>3.Biological (genetic) make up little evidence for example in alcohol metabolism?</a:t>
            </a:r>
          </a:p>
          <a:p>
            <a:pPr eaLnBrk="1" hangingPunct="1">
              <a:buFont typeface="Wingdings" pitchFamily="2" charset="2"/>
              <a:buNone/>
            </a:pPr>
            <a:endParaRPr lang="en-US" altLang="en-K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9B8C843F-F162-048B-5DE2-3B1314791BD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E30F05F-6902-E548-907B-3BBC3299F9C2}" type="slidenum">
              <a:rPr lang="en-US" altLang="en-KE">
                <a:solidFill>
                  <a:schemeClr val="bg1"/>
                </a:solidFill>
              </a:rPr>
              <a:pPr eaLnBrk="1" hangingPunct="1"/>
              <a:t>12</a:t>
            </a:fld>
            <a:endParaRPr lang="en-US" altLang="en-KE">
              <a:solidFill>
                <a:schemeClr val="bg1"/>
              </a:solidFill>
            </a:endParaRPr>
          </a:p>
        </p:txBody>
      </p:sp>
      <p:sp>
        <p:nvSpPr>
          <p:cNvPr id="14339" name="AutoShape 2">
            <a:extLst>
              <a:ext uri="{FF2B5EF4-FFF2-40B4-BE49-F238E27FC236}">
                <a16:creationId xmlns:a16="http://schemas.microsoft.com/office/drawing/2014/main" id="{B4E063FE-4385-F07E-F307-19499E398F03}"/>
              </a:ext>
            </a:extLst>
          </p:cNvPr>
          <p:cNvSpPr>
            <a:spLocks noGrp="1" noChangeArrowheads="1"/>
          </p:cNvSpPr>
          <p:nvPr>
            <p:ph type="title"/>
          </p:nvPr>
        </p:nvSpPr>
        <p:spPr/>
        <p:txBody>
          <a:bodyPr/>
          <a:lstStyle/>
          <a:p>
            <a:pPr eaLnBrk="1" hangingPunct="1"/>
            <a:r>
              <a:rPr lang="en-US" altLang="en-KE"/>
              <a:t>Reasons  for drug abuse Cont.</a:t>
            </a:r>
          </a:p>
        </p:txBody>
      </p:sp>
      <p:sp>
        <p:nvSpPr>
          <p:cNvPr id="14340" name="Rectangle 3">
            <a:extLst>
              <a:ext uri="{FF2B5EF4-FFF2-40B4-BE49-F238E27FC236}">
                <a16:creationId xmlns:a16="http://schemas.microsoft.com/office/drawing/2014/main" id="{42A0438F-3582-41EB-7F62-2B9736B6750F}"/>
              </a:ext>
            </a:extLst>
          </p:cNvPr>
          <p:cNvSpPr>
            <a:spLocks noGrp="1" noChangeArrowheads="1"/>
          </p:cNvSpPr>
          <p:nvPr>
            <p:ph type="body" idx="1"/>
          </p:nvPr>
        </p:nvSpPr>
        <p:spPr/>
        <p:txBody>
          <a:bodyPr/>
          <a:lstStyle/>
          <a:p>
            <a:pPr eaLnBrk="1" hangingPunct="1">
              <a:buFont typeface="Wingdings" pitchFamily="2" charset="2"/>
              <a:buNone/>
            </a:pPr>
            <a:r>
              <a:rPr lang="en-US" altLang="en-KE"/>
              <a:t>5. Availability and cost, for instance cheap alcohol and liver cirrhosis in France. Any familiar example locally?</a:t>
            </a:r>
          </a:p>
          <a:p>
            <a:pPr eaLnBrk="1" hangingPunct="1">
              <a:buFont typeface="Wingdings" pitchFamily="2" charset="2"/>
              <a:buNone/>
            </a:pPr>
            <a:r>
              <a:rPr lang="en-US" altLang="en-KE"/>
              <a:t>6. Pressure of long hours of  work and accessibility of the drugs.</a:t>
            </a:r>
          </a:p>
          <a:p>
            <a:pPr eaLnBrk="1" hangingPunct="1">
              <a:buFont typeface="Wingdings" pitchFamily="2" charset="2"/>
              <a:buNone/>
            </a:pPr>
            <a:r>
              <a:rPr lang="en-US" altLang="en-KE"/>
              <a:t>7.Others ?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a:extLst>
              <a:ext uri="{FF2B5EF4-FFF2-40B4-BE49-F238E27FC236}">
                <a16:creationId xmlns:a16="http://schemas.microsoft.com/office/drawing/2014/main" id="{97CD8D24-39E0-CB2F-1E2B-B3EDFB175E5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9764C4E-E5B7-1B42-B7B6-04050A169254}" type="slidenum">
              <a:rPr lang="en-US" altLang="en-KE">
                <a:solidFill>
                  <a:schemeClr val="bg1"/>
                </a:solidFill>
              </a:rPr>
              <a:pPr eaLnBrk="1" hangingPunct="1"/>
              <a:t>13</a:t>
            </a:fld>
            <a:endParaRPr lang="en-US" altLang="en-KE">
              <a:solidFill>
                <a:schemeClr val="bg1"/>
              </a:solidFill>
            </a:endParaRPr>
          </a:p>
        </p:txBody>
      </p:sp>
      <p:sp>
        <p:nvSpPr>
          <p:cNvPr id="15363" name="AutoShape 2">
            <a:extLst>
              <a:ext uri="{FF2B5EF4-FFF2-40B4-BE49-F238E27FC236}">
                <a16:creationId xmlns:a16="http://schemas.microsoft.com/office/drawing/2014/main" id="{B9CD1102-66A4-1BFA-003D-FD9D370E35A6}"/>
              </a:ext>
            </a:extLst>
          </p:cNvPr>
          <p:cNvSpPr>
            <a:spLocks noGrp="1" noChangeArrowheads="1"/>
          </p:cNvSpPr>
          <p:nvPr>
            <p:ph type="title"/>
          </p:nvPr>
        </p:nvSpPr>
        <p:spPr/>
        <p:txBody>
          <a:bodyPr/>
          <a:lstStyle/>
          <a:p>
            <a:pPr eaLnBrk="1" hangingPunct="1"/>
            <a:r>
              <a:rPr lang="en-US" altLang="en-KE">
                <a:solidFill>
                  <a:srgbClr val="FF0066"/>
                </a:solidFill>
              </a:rPr>
              <a:t>ALCOHOL</a:t>
            </a:r>
          </a:p>
        </p:txBody>
      </p:sp>
      <p:sp>
        <p:nvSpPr>
          <p:cNvPr id="15364" name="Rectangle 3">
            <a:extLst>
              <a:ext uri="{FF2B5EF4-FFF2-40B4-BE49-F238E27FC236}">
                <a16:creationId xmlns:a16="http://schemas.microsoft.com/office/drawing/2014/main" id="{3B6E4112-BD6E-C53F-2B65-EFF8A86862B0}"/>
              </a:ext>
            </a:extLst>
          </p:cNvPr>
          <p:cNvSpPr>
            <a:spLocks noGrp="1" noChangeArrowheads="1"/>
          </p:cNvSpPr>
          <p:nvPr>
            <p:ph type="body" idx="1"/>
          </p:nvPr>
        </p:nvSpPr>
        <p:spPr/>
        <p:txBody>
          <a:bodyPr/>
          <a:lstStyle/>
          <a:p>
            <a:pPr eaLnBrk="1" hangingPunct="1"/>
            <a:r>
              <a:rPr lang="en-US" altLang="en-KE"/>
              <a:t>Alcohol is a colorless volatile flammable liquid which is the intoxicating constituent of wine, beer and spirits also called ethanol.</a:t>
            </a:r>
          </a:p>
          <a:p>
            <a:pPr eaLnBrk="1" hangingPunct="1"/>
            <a:r>
              <a:rPr lang="en-US" altLang="en-KE"/>
              <a:t>Dependence or abuse of alcohol is a difficult medical and social problem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EBBEEAAB-0427-FABD-E8A9-A17FC2F31A6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1A7205A-8672-0140-AF44-FAE574A1D673}" type="slidenum">
              <a:rPr lang="en-US" altLang="en-KE">
                <a:solidFill>
                  <a:schemeClr val="bg1"/>
                </a:solidFill>
              </a:rPr>
              <a:pPr eaLnBrk="1" hangingPunct="1"/>
              <a:t>14</a:t>
            </a:fld>
            <a:endParaRPr lang="en-US" altLang="en-KE">
              <a:solidFill>
                <a:schemeClr val="bg1"/>
              </a:solidFill>
            </a:endParaRPr>
          </a:p>
        </p:txBody>
      </p:sp>
      <p:sp>
        <p:nvSpPr>
          <p:cNvPr id="16387" name="AutoShape 2">
            <a:extLst>
              <a:ext uri="{FF2B5EF4-FFF2-40B4-BE49-F238E27FC236}">
                <a16:creationId xmlns:a16="http://schemas.microsoft.com/office/drawing/2014/main" id="{F50328DF-630C-0C47-DD8C-43DE9F82A71E}"/>
              </a:ext>
            </a:extLst>
          </p:cNvPr>
          <p:cNvSpPr>
            <a:spLocks noGrp="1" noChangeArrowheads="1"/>
          </p:cNvSpPr>
          <p:nvPr>
            <p:ph type="title"/>
          </p:nvPr>
        </p:nvSpPr>
        <p:spPr/>
        <p:txBody>
          <a:bodyPr/>
          <a:lstStyle/>
          <a:p>
            <a:pPr eaLnBrk="1" hangingPunct="1"/>
            <a:r>
              <a:rPr lang="en-US" altLang="en-KE"/>
              <a:t>Effects of Alcohol cont.</a:t>
            </a:r>
          </a:p>
        </p:txBody>
      </p:sp>
      <p:sp>
        <p:nvSpPr>
          <p:cNvPr id="16388" name="Rectangle 3">
            <a:extLst>
              <a:ext uri="{FF2B5EF4-FFF2-40B4-BE49-F238E27FC236}">
                <a16:creationId xmlns:a16="http://schemas.microsoft.com/office/drawing/2014/main" id="{B4E8751C-AC29-A986-D799-AD5C2564B66A}"/>
              </a:ext>
            </a:extLst>
          </p:cNvPr>
          <p:cNvSpPr>
            <a:spLocks noGrp="1" noChangeArrowheads="1"/>
          </p:cNvSpPr>
          <p:nvPr>
            <p:ph type="body" idx="1"/>
          </p:nvPr>
        </p:nvSpPr>
        <p:spPr/>
        <p:txBody>
          <a:bodyPr/>
          <a:lstStyle/>
          <a:p>
            <a:pPr eaLnBrk="1" hangingPunct="1">
              <a:buFont typeface="Wingdings" pitchFamily="2" charset="2"/>
              <a:buNone/>
            </a:pPr>
            <a:r>
              <a:rPr lang="en-US" altLang="en-KE" sz="2400" b="1"/>
              <a:t>    Acute consumption of excessive amount of alcohol produces a deterioration of brain function with changes in behavior progressing through slurred speech to unconsciousness</a:t>
            </a:r>
          </a:p>
          <a:p>
            <a:pPr eaLnBrk="1" hangingPunct="1">
              <a:buFont typeface="Wingdings" pitchFamily="2" charset="2"/>
              <a:buNone/>
            </a:pPr>
            <a:r>
              <a:rPr lang="en-US" altLang="en-KE" sz="2400" b="1"/>
              <a:t>1.Alcohol and driving.</a:t>
            </a:r>
            <a:r>
              <a:rPr lang="en-US" altLang="en-KE" sz="2400"/>
              <a:t>   Alcohol is well known to reduce the judgment and performance of drivers and others engaging in activities that require concentration, quick reaction, and precise movement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a:extLst>
              <a:ext uri="{FF2B5EF4-FFF2-40B4-BE49-F238E27FC236}">
                <a16:creationId xmlns:a16="http://schemas.microsoft.com/office/drawing/2014/main" id="{8E458FAC-78F0-EFAA-AEE3-F02E66D12CA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006870D-E239-FB4F-B1D1-5544C0B53CB7}" type="slidenum">
              <a:rPr lang="en-US" altLang="en-KE">
                <a:solidFill>
                  <a:schemeClr val="bg1"/>
                </a:solidFill>
              </a:rPr>
              <a:pPr eaLnBrk="1" hangingPunct="1"/>
              <a:t>15</a:t>
            </a:fld>
            <a:endParaRPr lang="en-US" altLang="en-KE">
              <a:solidFill>
                <a:schemeClr val="bg1"/>
              </a:solidFill>
            </a:endParaRPr>
          </a:p>
        </p:txBody>
      </p:sp>
      <p:sp>
        <p:nvSpPr>
          <p:cNvPr id="17411" name="AutoShape 2">
            <a:extLst>
              <a:ext uri="{FF2B5EF4-FFF2-40B4-BE49-F238E27FC236}">
                <a16:creationId xmlns:a16="http://schemas.microsoft.com/office/drawing/2014/main" id="{1FBA7713-1F75-8B12-A7C4-C47518490F2A}"/>
              </a:ext>
            </a:extLst>
          </p:cNvPr>
          <p:cNvSpPr>
            <a:spLocks noGrp="1" noChangeArrowheads="1"/>
          </p:cNvSpPr>
          <p:nvPr>
            <p:ph type="title"/>
          </p:nvPr>
        </p:nvSpPr>
        <p:spPr/>
        <p:txBody>
          <a:bodyPr/>
          <a:lstStyle/>
          <a:p>
            <a:pPr eaLnBrk="1" hangingPunct="1"/>
            <a:r>
              <a:rPr lang="en-US" altLang="en-KE"/>
              <a:t>Effects of alcohol cont.</a:t>
            </a:r>
          </a:p>
        </p:txBody>
      </p:sp>
      <p:sp>
        <p:nvSpPr>
          <p:cNvPr id="17412" name="Rectangle 3">
            <a:extLst>
              <a:ext uri="{FF2B5EF4-FFF2-40B4-BE49-F238E27FC236}">
                <a16:creationId xmlns:a16="http://schemas.microsoft.com/office/drawing/2014/main" id="{BC994029-4056-1617-7179-60E34DDD2CCD}"/>
              </a:ext>
            </a:extLst>
          </p:cNvPr>
          <p:cNvSpPr>
            <a:spLocks noGrp="1" noChangeArrowheads="1"/>
          </p:cNvSpPr>
          <p:nvPr>
            <p:ph type="body" idx="1"/>
          </p:nvPr>
        </p:nvSpPr>
        <p:spPr/>
        <p:txBody>
          <a:bodyPr/>
          <a:lstStyle/>
          <a:p>
            <a:pPr eaLnBrk="1" hangingPunct="1">
              <a:lnSpc>
                <a:spcPct val="90000"/>
              </a:lnSpc>
              <a:buFont typeface="Wingdings" pitchFamily="2" charset="2"/>
              <a:buNone/>
            </a:pPr>
            <a:r>
              <a:rPr lang="en-US" altLang="en-KE" sz="2000"/>
              <a:t>2.Excessive drinking of alcohol leads to a condition known as Alcohol Dementia, that is, loss of memory and ability to learn. Alcohol has a direct affect on brain cells, resulting in poor judgment, difficulty making decisions and lack of insight.</a:t>
            </a:r>
          </a:p>
          <a:p>
            <a:pPr eaLnBrk="1" hangingPunct="1">
              <a:lnSpc>
                <a:spcPct val="90000"/>
              </a:lnSpc>
              <a:buFont typeface="Wingdings" pitchFamily="2" charset="2"/>
              <a:buNone/>
            </a:pPr>
            <a:r>
              <a:rPr lang="en-US" altLang="en-KE" sz="2000"/>
              <a:t>3. Nutrition problems resulting from poor appetite due to alcohol abuse further complicates the condition since parts of the brain are damaged by vitamin deficiency, especially vitamin B-1 (thiamine).</a:t>
            </a:r>
            <a:br>
              <a:rPr lang="en-US" altLang="en-KE" sz="2000"/>
            </a:br>
            <a:endParaRPr lang="en-US" altLang="en-KE" sz="2000"/>
          </a:p>
          <a:p>
            <a:pPr eaLnBrk="1" hangingPunct="1">
              <a:lnSpc>
                <a:spcPct val="90000"/>
              </a:lnSpc>
              <a:buFont typeface="Wingdings" pitchFamily="2" charset="2"/>
              <a:buNone/>
            </a:pPr>
            <a:br>
              <a:rPr lang="en-US" altLang="en-KE" sz="2000"/>
            </a:br>
            <a:endParaRPr lang="en-US" altLang="en-KE" sz="2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a:extLst>
              <a:ext uri="{FF2B5EF4-FFF2-40B4-BE49-F238E27FC236}">
                <a16:creationId xmlns:a16="http://schemas.microsoft.com/office/drawing/2014/main" id="{1B280179-2DD3-C03E-1E4C-346F7A58965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4E97CB6-D72E-8F4B-8C7E-027BCA19A90C}" type="slidenum">
              <a:rPr lang="en-US" altLang="en-KE">
                <a:solidFill>
                  <a:schemeClr val="bg1"/>
                </a:solidFill>
              </a:rPr>
              <a:pPr eaLnBrk="1" hangingPunct="1"/>
              <a:t>16</a:t>
            </a:fld>
            <a:endParaRPr lang="en-US" altLang="en-KE">
              <a:solidFill>
                <a:schemeClr val="bg1"/>
              </a:solidFill>
            </a:endParaRPr>
          </a:p>
        </p:txBody>
      </p:sp>
      <p:sp>
        <p:nvSpPr>
          <p:cNvPr id="18435" name="AutoShape 2">
            <a:extLst>
              <a:ext uri="{FF2B5EF4-FFF2-40B4-BE49-F238E27FC236}">
                <a16:creationId xmlns:a16="http://schemas.microsoft.com/office/drawing/2014/main" id="{A27A4161-D395-9E6D-7A3E-79D938B9D08F}"/>
              </a:ext>
            </a:extLst>
          </p:cNvPr>
          <p:cNvSpPr>
            <a:spLocks noGrp="1" noChangeArrowheads="1"/>
          </p:cNvSpPr>
          <p:nvPr>
            <p:ph type="title"/>
          </p:nvPr>
        </p:nvSpPr>
        <p:spPr/>
        <p:txBody>
          <a:bodyPr/>
          <a:lstStyle/>
          <a:p>
            <a:pPr eaLnBrk="1" hangingPunct="1"/>
            <a:r>
              <a:rPr lang="en-US" altLang="en-KE"/>
              <a:t>4.Personality changes</a:t>
            </a:r>
          </a:p>
        </p:txBody>
      </p:sp>
      <p:sp>
        <p:nvSpPr>
          <p:cNvPr id="18436" name="Rectangle 3">
            <a:extLst>
              <a:ext uri="{FF2B5EF4-FFF2-40B4-BE49-F238E27FC236}">
                <a16:creationId xmlns:a16="http://schemas.microsoft.com/office/drawing/2014/main" id="{CC9FDA19-1FCB-7A47-1AB3-1D13C789C800}"/>
              </a:ext>
            </a:extLst>
          </p:cNvPr>
          <p:cNvSpPr>
            <a:spLocks noGrp="1" noChangeArrowheads="1"/>
          </p:cNvSpPr>
          <p:nvPr>
            <p:ph type="body" idx="1"/>
          </p:nvPr>
        </p:nvSpPr>
        <p:spPr/>
        <p:txBody>
          <a:bodyPr/>
          <a:lstStyle/>
          <a:p>
            <a:pPr lvl="1" eaLnBrk="1" hangingPunct="1"/>
            <a:r>
              <a:rPr lang="en-US" altLang="en-KE" sz="2000"/>
              <a:t>Neglect of self and property </a:t>
            </a:r>
          </a:p>
          <a:p>
            <a:pPr lvl="1" eaLnBrk="1" hangingPunct="1"/>
            <a:r>
              <a:rPr lang="en-US" altLang="en-KE" sz="2000"/>
              <a:t>Frustration </a:t>
            </a:r>
          </a:p>
          <a:p>
            <a:pPr lvl="1" eaLnBrk="1" hangingPunct="1"/>
            <a:r>
              <a:rPr lang="en-US" altLang="en-KE" sz="2000"/>
              <a:t>Anger and Irritability </a:t>
            </a:r>
          </a:p>
          <a:p>
            <a:pPr lvl="1" eaLnBrk="1" hangingPunct="1"/>
            <a:r>
              <a:rPr lang="en-US" altLang="en-KE" sz="2000"/>
              <a:t>Emotional instability </a:t>
            </a:r>
          </a:p>
          <a:p>
            <a:pPr lvl="1" eaLnBrk="1" hangingPunct="1"/>
            <a:r>
              <a:rPr lang="en-US" altLang="en-KE" sz="2000"/>
              <a:t>Unstable moods and confusion </a:t>
            </a:r>
          </a:p>
          <a:p>
            <a:pPr lvl="1" eaLnBrk="1" hangingPunct="1"/>
            <a:r>
              <a:rPr lang="en-US" altLang="en-KE" sz="2000"/>
              <a:t>Paranoia, </a:t>
            </a:r>
          </a:p>
          <a:p>
            <a:pPr lvl="1" eaLnBrk="1" hangingPunct="1"/>
            <a:r>
              <a:rPr lang="en-US" altLang="en-KE" sz="2000"/>
              <a:t>Suspicion and jealousy </a:t>
            </a:r>
          </a:p>
          <a:p>
            <a:pPr lvl="1" eaLnBrk="1" hangingPunct="1"/>
            <a:r>
              <a:rPr lang="en-US" altLang="en-KE" sz="2000"/>
              <a:t>Insensitivity to others </a:t>
            </a:r>
          </a:p>
          <a:p>
            <a:pPr lvl="1" eaLnBrk="1" hangingPunct="1"/>
            <a:r>
              <a:rPr lang="en-US" altLang="en-KE" sz="2000"/>
              <a:t>Loss of inhibitions and incontinence </a:t>
            </a:r>
          </a:p>
          <a:p>
            <a:pPr lvl="1" eaLnBrk="1" hangingPunct="1"/>
            <a:r>
              <a:rPr lang="en-US" altLang="en-KE" sz="2000"/>
              <a:t>Fear of being alone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5">
            <a:extLst>
              <a:ext uri="{FF2B5EF4-FFF2-40B4-BE49-F238E27FC236}">
                <a16:creationId xmlns:a16="http://schemas.microsoft.com/office/drawing/2014/main" id="{3BF33ADA-D2A3-14D0-C80C-D9B4379B308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3AF8EAE-3148-174B-BCC2-E9165541A4CC}" type="slidenum">
              <a:rPr lang="en-US" altLang="en-KE">
                <a:solidFill>
                  <a:schemeClr val="bg1"/>
                </a:solidFill>
              </a:rPr>
              <a:pPr eaLnBrk="1" hangingPunct="1"/>
              <a:t>17</a:t>
            </a:fld>
            <a:endParaRPr lang="en-US" altLang="en-KE">
              <a:solidFill>
                <a:schemeClr val="bg1"/>
              </a:solidFill>
            </a:endParaRPr>
          </a:p>
        </p:txBody>
      </p:sp>
      <p:sp>
        <p:nvSpPr>
          <p:cNvPr id="19459" name="AutoShape 2">
            <a:extLst>
              <a:ext uri="{FF2B5EF4-FFF2-40B4-BE49-F238E27FC236}">
                <a16:creationId xmlns:a16="http://schemas.microsoft.com/office/drawing/2014/main" id="{355E24AA-F198-C4D8-DBED-FFC87E340757}"/>
              </a:ext>
            </a:extLst>
          </p:cNvPr>
          <p:cNvSpPr>
            <a:spLocks noGrp="1" noChangeArrowheads="1"/>
          </p:cNvSpPr>
          <p:nvPr>
            <p:ph type="title"/>
          </p:nvPr>
        </p:nvSpPr>
        <p:spPr/>
        <p:txBody>
          <a:bodyPr/>
          <a:lstStyle/>
          <a:p>
            <a:pPr eaLnBrk="1" hangingPunct="1"/>
            <a:r>
              <a:rPr lang="en-US" altLang="en-KE"/>
              <a:t>5.Loss of problem solving skills</a:t>
            </a:r>
          </a:p>
        </p:txBody>
      </p:sp>
      <p:sp>
        <p:nvSpPr>
          <p:cNvPr id="19460" name="Rectangle 3">
            <a:extLst>
              <a:ext uri="{FF2B5EF4-FFF2-40B4-BE49-F238E27FC236}">
                <a16:creationId xmlns:a16="http://schemas.microsoft.com/office/drawing/2014/main" id="{32EE414B-9C85-9FCE-DCB1-111AB7F8FE50}"/>
              </a:ext>
            </a:extLst>
          </p:cNvPr>
          <p:cNvSpPr>
            <a:spLocks noGrp="1" noChangeArrowheads="1"/>
          </p:cNvSpPr>
          <p:nvPr>
            <p:ph type="body" idx="1"/>
          </p:nvPr>
        </p:nvSpPr>
        <p:spPr/>
        <p:txBody>
          <a:bodyPr/>
          <a:lstStyle/>
          <a:p>
            <a:pPr eaLnBrk="1" hangingPunct="1"/>
            <a:r>
              <a:rPr lang="en-US" altLang="en-KE"/>
              <a:t>Inability to do familiar tasks</a:t>
            </a:r>
          </a:p>
          <a:p>
            <a:pPr eaLnBrk="1" hangingPunct="1"/>
            <a:r>
              <a:rPr lang="en-US" altLang="en-KE"/>
              <a:t>Inability to make connections between different tasks</a:t>
            </a:r>
          </a:p>
          <a:p>
            <a:pPr eaLnBrk="1" hangingPunct="1"/>
            <a:r>
              <a:rPr lang="en-US" altLang="en-KE"/>
              <a:t>Inability to make decisions</a:t>
            </a:r>
          </a:p>
          <a:p>
            <a:pPr eaLnBrk="1" hangingPunct="1"/>
            <a:r>
              <a:rPr lang="en-US" altLang="en-KE"/>
              <a:t>Inability to initiate or complete projects.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a:extLst>
              <a:ext uri="{FF2B5EF4-FFF2-40B4-BE49-F238E27FC236}">
                <a16:creationId xmlns:a16="http://schemas.microsoft.com/office/drawing/2014/main" id="{B99E221C-5DEA-CFFB-E4AD-A8CABA3C63A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4863C66-49C4-AF4E-BFC4-485D3DAB95E9}" type="slidenum">
              <a:rPr lang="en-US" altLang="en-KE">
                <a:solidFill>
                  <a:schemeClr val="bg1"/>
                </a:solidFill>
              </a:rPr>
              <a:pPr eaLnBrk="1" hangingPunct="1"/>
              <a:t>18</a:t>
            </a:fld>
            <a:endParaRPr lang="en-US" altLang="en-KE">
              <a:solidFill>
                <a:schemeClr val="bg1"/>
              </a:solidFill>
            </a:endParaRPr>
          </a:p>
        </p:txBody>
      </p:sp>
      <p:sp>
        <p:nvSpPr>
          <p:cNvPr id="20483" name="AutoShape 2">
            <a:extLst>
              <a:ext uri="{FF2B5EF4-FFF2-40B4-BE49-F238E27FC236}">
                <a16:creationId xmlns:a16="http://schemas.microsoft.com/office/drawing/2014/main" id="{B42BA46A-78B3-9C7E-3F12-92C7726F4474}"/>
              </a:ext>
            </a:extLst>
          </p:cNvPr>
          <p:cNvSpPr>
            <a:spLocks noGrp="1" noChangeArrowheads="1"/>
          </p:cNvSpPr>
          <p:nvPr>
            <p:ph type="title"/>
          </p:nvPr>
        </p:nvSpPr>
        <p:spPr/>
        <p:txBody>
          <a:bodyPr/>
          <a:lstStyle/>
          <a:p>
            <a:pPr eaLnBrk="1" hangingPunct="1"/>
            <a:r>
              <a:rPr lang="en-US" altLang="en-KE"/>
              <a:t>6.Communication problems</a:t>
            </a:r>
          </a:p>
        </p:txBody>
      </p:sp>
      <p:sp>
        <p:nvSpPr>
          <p:cNvPr id="20484" name="Rectangle 3">
            <a:extLst>
              <a:ext uri="{FF2B5EF4-FFF2-40B4-BE49-F238E27FC236}">
                <a16:creationId xmlns:a16="http://schemas.microsoft.com/office/drawing/2014/main" id="{FE376517-F49F-5716-9993-7D1E887EB424}"/>
              </a:ext>
            </a:extLst>
          </p:cNvPr>
          <p:cNvSpPr>
            <a:spLocks noGrp="1" noChangeArrowheads="1"/>
          </p:cNvSpPr>
          <p:nvPr>
            <p:ph type="body" idx="1"/>
          </p:nvPr>
        </p:nvSpPr>
        <p:spPr/>
        <p:txBody>
          <a:bodyPr/>
          <a:lstStyle/>
          <a:p>
            <a:pPr eaLnBrk="1" hangingPunct="1"/>
            <a:r>
              <a:rPr lang="en-US" altLang="en-KE"/>
              <a:t>Problems finding words and expressions </a:t>
            </a:r>
          </a:p>
          <a:p>
            <a:pPr eaLnBrk="1" hangingPunct="1"/>
            <a:r>
              <a:rPr lang="en-US" altLang="en-KE"/>
              <a:t>Inability to follow conversations </a:t>
            </a:r>
          </a:p>
          <a:p>
            <a:pPr eaLnBrk="1" hangingPunct="1"/>
            <a:r>
              <a:rPr lang="en-US" altLang="en-KE"/>
              <a:t>Repeating same pieces of information and questions </a:t>
            </a:r>
          </a:p>
          <a:p>
            <a:pPr eaLnBrk="1" hangingPunct="1"/>
            <a:r>
              <a:rPr lang="en-US" altLang="en-KE"/>
              <a:t>Fabricating detailed, believable stories about experiences or situations to cover the gaps in memory (also known as confabulation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a:extLst>
              <a:ext uri="{FF2B5EF4-FFF2-40B4-BE49-F238E27FC236}">
                <a16:creationId xmlns:a16="http://schemas.microsoft.com/office/drawing/2014/main" id="{0C6BAE7D-3B4C-A639-6F0F-6B4F1E998DC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3BA5432-A280-B24C-A037-21745F853C30}" type="slidenum">
              <a:rPr lang="en-US" altLang="en-KE">
                <a:solidFill>
                  <a:schemeClr val="bg1"/>
                </a:solidFill>
              </a:rPr>
              <a:pPr eaLnBrk="1" hangingPunct="1"/>
              <a:t>19</a:t>
            </a:fld>
            <a:endParaRPr lang="en-US" altLang="en-KE">
              <a:solidFill>
                <a:schemeClr val="bg1"/>
              </a:solidFill>
            </a:endParaRPr>
          </a:p>
        </p:txBody>
      </p:sp>
      <p:sp>
        <p:nvSpPr>
          <p:cNvPr id="21507" name="AutoShape 2">
            <a:extLst>
              <a:ext uri="{FF2B5EF4-FFF2-40B4-BE49-F238E27FC236}">
                <a16:creationId xmlns:a16="http://schemas.microsoft.com/office/drawing/2014/main" id="{2A6C27A7-64CA-6654-53E6-E690B5B28DA4}"/>
              </a:ext>
            </a:extLst>
          </p:cNvPr>
          <p:cNvSpPr>
            <a:spLocks noGrp="1" noChangeArrowheads="1"/>
          </p:cNvSpPr>
          <p:nvPr>
            <p:ph type="title"/>
          </p:nvPr>
        </p:nvSpPr>
        <p:spPr/>
        <p:txBody>
          <a:bodyPr/>
          <a:lstStyle/>
          <a:p>
            <a:pPr eaLnBrk="1" hangingPunct="1"/>
            <a:r>
              <a:rPr lang="en-US" altLang="en-KE"/>
              <a:t>7.Alcohol abuse and HIV/AIDS</a:t>
            </a:r>
          </a:p>
        </p:txBody>
      </p:sp>
      <p:sp>
        <p:nvSpPr>
          <p:cNvPr id="21508" name="Rectangle 3">
            <a:extLst>
              <a:ext uri="{FF2B5EF4-FFF2-40B4-BE49-F238E27FC236}">
                <a16:creationId xmlns:a16="http://schemas.microsoft.com/office/drawing/2014/main" id="{E47680CA-22A7-8F6A-11E1-EADD6DED590F}"/>
              </a:ext>
            </a:extLst>
          </p:cNvPr>
          <p:cNvSpPr>
            <a:spLocks noGrp="1" noChangeArrowheads="1"/>
          </p:cNvSpPr>
          <p:nvPr>
            <p:ph type="body" idx="1"/>
          </p:nvPr>
        </p:nvSpPr>
        <p:spPr/>
        <p:txBody>
          <a:bodyPr/>
          <a:lstStyle/>
          <a:p>
            <a:pPr eaLnBrk="1" hangingPunct="1"/>
            <a:r>
              <a:rPr lang="en-US" altLang="en-KE"/>
              <a:t>Research shows that alcohol and other substances of abuse are factors in the spread of HIV. Alcohol abuse also causes long-term health complications for HIV-positive individuals. People who abuse alcohol are more likely than the general population to contract HIV/AIDS. Why?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a:extLst>
              <a:ext uri="{FF2B5EF4-FFF2-40B4-BE49-F238E27FC236}">
                <a16:creationId xmlns:a16="http://schemas.microsoft.com/office/drawing/2014/main" id="{EA9D4410-4373-F1D7-434C-A9E4DCF4A24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CC6A1B7-E6A2-B943-81E3-2BC0C0986775}" type="slidenum">
              <a:rPr lang="en-US" altLang="en-KE">
                <a:solidFill>
                  <a:schemeClr val="bg1"/>
                </a:solidFill>
              </a:rPr>
              <a:pPr eaLnBrk="1" hangingPunct="1"/>
              <a:t>20</a:t>
            </a:fld>
            <a:endParaRPr lang="en-US" altLang="en-KE">
              <a:solidFill>
                <a:schemeClr val="bg1"/>
              </a:solidFill>
            </a:endParaRPr>
          </a:p>
        </p:txBody>
      </p:sp>
      <p:sp>
        <p:nvSpPr>
          <p:cNvPr id="22531" name="AutoShape 2">
            <a:extLst>
              <a:ext uri="{FF2B5EF4-FFF2-40B4-BE49-F238E27FC236}">
                <a16:creationId xmlns:a16="http://schemas.microsoft.com/office/drawing/2014/main" id="{90FCB724-8636-7D9F-9054-075D0BCC65C4}"/>
              </a:ext>
            </a:extLst>
          </p:cNvPr>
          <p:cNvSpPr>
            <a:spLocks noGrp="1" noChangeArrowheads="1"/>
          </p:cNvSpPr>
          <p:nvPr>
            <p:ph type="title"/>
          </p:nvPr>
        </p:nvSpPr>
        <p:spPr/>
        <p:txBody>
          <a:bodyPr/>
          <a:lstStyle/>
          <a:p>
            <a:pPr eaLnBrk="1" hangingPunct="1"/>
            <a:r>
              <a:rPr lang="en-US" altLang="en-KE"/>
              <a:t>8.Alcohol abuse and pregnancy</a:t>
            </a:r>
          </a:p>
        </p:txBody>
      </p:sp>
      <p:sp>
        <p:nvSpPr>
          <p:cNvPr id="22532" name="Rectangle 3">
            <a:extLst>
              <a:ext uri="{FF2B5EF4-FFF2-40B4-BE49-F238E27FC236}">
                <a16:creationId xmlns:a16="http://schemas.microsoft.com/office/drawing/2014/main" id="{B30BCD96-1D52-F708-1C61-DA1C96062155}"/>
              </a:ext>
            </a:extLst>
          </p:cNvPr>
          <p:cNvSpPr>
            <a:spLocks noGrp="1" noChangeArrowheads="1"/>
          </p:cNvSpPr>
          <p:nvPr>
            <p:ph type="body" idx="1"/>
          </p:nvPr>
        </p:nvSpPr>
        <p:spPr/>
        <p:txBody>
          <a:bodyPr/>
          <a:lstStyle/>
          <a:p>
            <a:pPr eaLnBrk="1" hangingPunct="1">
              <a:buFont typeface="Wingdings" pitchFamily="2" charset="2"/>
              <a:buNone/>
            </a:pPr>
            <a:r>
              <a:rPr lang="en-US" altLang="en-KE"/>
              <a:t>   Babies born to mothers who drink during pregnancy do develop serious mental and physical defects known as Foetal Alcohol Syndrome (FAS). The probability of giving birth to a child with FAS increases with the amount and frequency of alcohol consumed.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a:extLst>
              <a:ext uri="{FF2B5EF4-FFF2-40B4-BE49-F238E27FC236}">
                <a16:creationId xmlns:a16="http://schemas.microsoft.com/office/drawing/2014/main" id="{C8E5E5F2-0C59-E562-0559-CB2CCEC0774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18D006A-63B7-EA4C-9173-E25F46088184}" type="slidenum">
              <a:rPr lang="en-US" altLang="en-KE">
                <a:solidFill>
                  <a:schemeClr val="bg1"/>
                </a:solidFill>
              </a:rPr>
              <a:pPr eaLnBrk="1" hangingPunct="1"/>
              <a:t>21</a:t>
            </a:fld>
            <a:endParaRPr lang="en-US" altLang="en-KE">
              <a:solidFill>
                <a:schemeClr val="bg1"/>
              </a:solidFill>
            </a:endParaRPr>
          </a:p>
        </p:txBody>
      </p:sp>
      <p:sp>
        <p:nvSpPr>
          <p:cNvPr id="23555" name="AutoShape 2">
            <a:extLst>
              <a:ext uri="{FF2B5EF4-FFF2-40B4-BE49-F238E27FC236}">
                <a16:creationId xmlns:a16="http://schemas.microsoft.com/office/drawing/2014/main" id="{6C9BFBD2-D2BB-951B-0D77-47A0793C1C66}"/>
              </a:ext>
            </a:extLst>
          </p:cNvPr>
          <p:cNvSpPr>
            <a:spLocks noGrp="1" noChangeArrowheads="1"/>
          </p:cNvSpPr>
          <p:nvPr>
            <p:ph type="title"/>
          </p:nvPr>
        </p:nvSpPr>
        <p:spPr/>
        <p:txBody>
          <a:bodyPr/>
          <a:lstStyle/>
          <a:p>
            <a:pPr eaLnBrk="1" hangingPunct="1"/>
            <a:r>
              <a:rPr lang="en-US" altLang="en-KE"/>
              <a:t>9. Alcohol and Work</a:t>
            </a:r>
          </a:p>
        </p:txBody>
      </p:sp>
      <p:sp>
        <p:nvSpPr>
          <p:cNvPr id="23556" name="Rectangle 3">
            <a:extLst>
              <a:ext uri="{FF2B5EF4-FFF2-40B4-BE49-F238E27FC236}">
                <a16:creationId xmlns:a16="http://schemas.microsoft.com/office/drawing/2014/main" id="{A4EEB885-A609-3B82-FD41-B1FB98263098}"/>
              </a:ext>
            </a:extLst>
          </p:cNvPr>
          <p:cNvSpPr>
            <a:spLocks noGrp="1" noChangeArrowheads="1"/>
          </p:cNvSpPr>
          <p:nvPr>
            <p:ph type="body" idx="1"/>
          </p:nvPr>
        </p:nvSpPr>
        <p:spPr/>
        <p:txBody>
          <a:bodyPr/>
          <a:lstStyle/>
          <a:p>
            <a:pPr eaLnBrk="1" hangingPunct="1"/>
            <a:r>
              <a:rPr lang="en-US" altLang="en-KE" sz="2400"/>
              <a:t>Alcohol abusers do not necessarily have to drink while on duty to have a negative impact at their respective work stations. Compared to non-alcohol abusing co-workers, alcohol abusers are 10 times more likely to miss work; are 33% less productive; 3.6 times more likely to be involved in on-the-job accidents; 5 times more likely to injure someone at the work place; and are responsible for 40% of industrial accidents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a:extLst>
              <a:ext uri="{FF2B5EF4-FFF2-40B4-BE49-F238E27FC236}">
                <a16:creationId xmlns:a16="http://schemas.microsoft.com/office/drawing/2014/main" id="{E8BD5FF3-CB2C-7AA6-3662-9C209442C8E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31679D-0FB7-A544-BD95-2B3B69AC1D14}" type="slidenum">
              <a:rPr lang="en-US" altLang="en-KE">
                <a:solidFill>
                  <a:schemeClr val="bg1"/>
                </a:solidFill>
              </a:rPr>
              <a:pPr eaLnBrk="1" hangingPunct="1"/>
              <a:t>22</a:t>
            </a:fld>
            <a:endParaRPr lang="en-US" altLang="en-KE">
              <a:solidFill>
                <a:schemeClr val="bg1"/>
              </a:solidFill>
            </a:endParaRPr>
          </a:p>
        </p:txBody>
      </p:sp>
      <p:sp>
        <p:nvSpPr>
          <p:cNvPr id="24579" name="AutoShape 2">
            <a:extLst>
              <a:ext uri="{FF2B5EF4-FFF2-40B4-BE49-F238E27FC236}">
                <a16:creationId xmlns:a16="http://schemas.microsoft.com/office/drawing/2014/main" id="{306245CB-B761-D059-BA9B-A3DD30A14A40}"/>
              </a:ext>
            </a:extLst>
          </p:cNvPr>
          <p:cNvSpPr>
            <a:spLocks noGrp="1" noChangeArrowheads="1"/>
          </p:cNvSpPr>
          <p:nvPr>
            <p:ph type="title"/>
          </p:nvPr>
        </p:nvSpPr>
        <p:spPr/>
        <p:txBody>
          <a:bodyPr/>
          <a:lstStyle/>
          <a:p>
            <a:pPr eaLnBrk="1" hangingPunct="1"/>
            <a:r>
              <a:rPr lang="en-US" altLang="en-KE"/>
              <a:t>10.Binge drinking</a:t>
            </a:r>
          </a:p>
        </p:txBody>
      </p:sp>
      <p:sp>
        <p:nvSpPr>
          <p:cNvPr id="24580" name="Rectangle 3">
            <a:extLst>
              <a:ext uri="{FF2B5EF4-FFF2-40B4-BE49-F238E27FC236}">
                <a16:creationId xmlns:a16="http://schemas.microsoft.com/office/drawing/2014/main" id="{A1FD0380-EC78-2494-98ED-133BD962FE25}"/>
              </a:ext>
            </a:extLst>
          </p:cNvPr>
          <p:cNvSpPr>
            <a:spLocks noGrp="1" noChangeArrowheads="1"/>
          </p:cNvSpPr>
          <p:nvPr>
            <p:ph type="body" idx="1"/>
          </p:nvPr>
        </p:nvSpPr>
        <p:spPr/>
        <p:txBody>
          <a:bodyPr/>
          <a:lstStyle/>
          <a:p>
            <a:pPr eaLnBrk="1" hangingPunct="1">
              <a:lnSpc>
                <a:spcPct val="90000"/>
              </a:lnSpc>
            </a:pPr>
            <a:r>
              <a:rPr lang="en-US" altLang="en-KE" sz="2400"/>
              <a:t>Binge drinking is the drinking of  alcoholic beverages with the primary intention of becoming intoxicated by heavy consumption of alcohol over a short period of time. To most people, binge drinking brings to mind a self-destructive and unrestrained drinking bout lasting for at least a couple of days during which time the heavily intoxicated drinker “drops out” by not working, ignoring responsibilities, squandering money, and engaging in other harmful behaviors such as fighting or risky sex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a:extLst>
              <a:ext uri="{FF2B5EF4-FFF2-40B4-BE49-F238E27FC236}">
                <a16:creationId xmlns:a16="http://schemas.microsoft.com/office/drawing/2014/main" id="{284D6326-2891-60B3-3935-CCB4428A2BB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2A9624E-2E8D-D34F-8645-F9773C185829}" type="slidenum">
              <a:rPr lang="en-US" altLang="en-KE">
                <a:solidFill>
                  <a:schemeClr val="bg1"/>
                </a:solidFill>
              </a:rPr>
              <a:pPr eaLnBrk="1" hangingPunct="1"/>
              <a:t>23</a:t>
            </a:fld>
            <a:endParaRPr lang="en-US" altLang="en-KE">
              <a:solidFill>
                <a:schemeClr val="bg1"/>
              </a:solidFill>
            </a:endParaRPr>
          </a:p>
        </p:txBody>
      </p:sp>
      <p:sp>
        <p:nvSpPr>
          <p:cNvPr id="25603" name="AutoShape 2">
            <a:extLst>
              <a:ext uri="{FF2B5EF4-FFF2-40B4-BE49-F238E27FC236}">
                <a16:creationId xmlns:a16="http://schemas.microsoft.com/office/drawing/2014/main" id="{D3504088-11AC-34CE-86AE-F6F651601B93}"/>
              </a:ext>
            </a:extLst>
          </p:cNvPr>
          <p:cNvSpPr>
            <a:spLocks noGrp="1" noChangeArrowheads="1"/>
          </p:cNvSpPr>
          <p:nvPr>
            <p:ph type="title"/>
          </p:nvPr>
        </p:nvSpPr>
        <p:spPr/>
        <p:txBody>
          <a:bodyPr/>
          <a:lstStyle/>
          <a:p>
            <a:pPr eaLnBrk="1" hangingPunct="1"/>
            <a:r>
              <a:rPr lang="en-US" altLang="en-KE"/>
              <a:t>CONTROL  OF ALCOHOLISM</a:t>
            </a:r>
          </a:p>
        </p:txBody>
      </p:sp>
      <p:sp>
        <p:nvSpPr>
          <p:cNvPr id="25604" name="Rectangle 3">
            <a:extLst>
              <a:ext uri="{FF2B5EF4-FFF2-40B4-BE49-F238E27FC236}">
                <a16:creationId xmlns:a16="http://schemas.microsoft.com/office/drawing/2014/main" id="{1FDD0A71-6007-53B7-EB48-BE9C2144583D}"/>
              </a:ext>
            </a:extLst>
          </p:cNvPr>
          <p:cNvSpPr>
            <a:spLocks noGrp="1" noChangeArrowheads="1"/>
          </p:cNvSpPr>
          <p:nvPr>
            <p:ph type="body" idx="1"/>
          </p:nvPr>
        </p:nvSpPr>
        <p:spPr/>
        <p:txBody>
          <a:bodyPr/>
          <a:lstStyle/>
          <a:p>
            <a:pPr eaLnBrk="1" hangingPunct="1"/>
            <a:r>
              <a:rPr lang="en-US" altLang="en-KE"/>
              <a:t>Keeping track</a:t>
            </a:r>
          </a:p>
          <a:p>
            <a:pPr eaLnBrk="1" hangingPunct="1"/>
            <a:r>
              <a:rPr lang="en-US" altLang="en-KE"/>
              <a:t>Counting and measuring </a:t>
            </a:r>
          </a:p>
          <a:p>
            <a:pPr eaLnBrk="1" hangingPunct="1"/>
            <a:r>
              <a:rPr lang="en-US" altLang="en-KE"/>
              <a:t>Setting goals </a:t>
            </a:r>
          </a:p>
          <a:p>
            <a:pPr eaLnBrk="1" hangingPunct="1"/>
            <a:r>
              <a:rPr lang="en-US" altLang="en-KE"/>
              <a:t>Pacing and spacing</a:t>
            </a:r>
          </a:p>
          <a:p>
            <a:pPr eaLnBrk="1" hangingPunct="1"/>
            <a:r>
              <a:rPr lang="en-US" altLang="en-KE"/>
              <a:t>Including food</a:t>
            </a:r>
          </a:p>
          <a:p>
            <a:pPr eaLnBrk="1" hangingPunct="1"/>
            <a:endParaRPr lang="en-US" altLang="en-KE"/>
          </a:p>
          <a:p>
            <a:pPr eaLnBrk="1" hangingPunct="1"/>
            <a:endParaRPr lang="en-US" altLang="en-KE"/>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F1AAB557-50B5-818F-F07B-63669199CE0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24BA11A-F674-DF41-98CF-D78CABAB70FE}" type="slidenum">
              <a:rPr lang="en-US" altLang="en-KE">
                <a:solidFill>
                  <a:schemeClr val="bg1"/>
                </a:solidFill>
              </a:rPr>
              <a:pPr eaLnBrk="1" hangingPunct="1"/>
              <a:t>24</a:t>
            </a:fld>
            <a:endParaRPr lang="en-US" altLang="en-KE">
              <a:solidFill>
                <a:schemeClr val="bg1"/>
              </a:solidFill>
            </a:endParaRPr>
          </a:p>
        </p:txBody>
      </p:sp>
      <p:sp>
        <p:nvSpPr>
          <p:cNvPr id="26627" name="AutoShape 2">
            <a:extLst>
              <a:ext uri="{FF2B5EF4-FFF2-40B4-BE49-F238E27FC236}">
                <a16:creationId xmlns:a16="http://schemas.microsoft.com/office/drawing/2014/main" id="{A3163091-CF05-E601-4D7D-E2B40598E0E5}"/>
              </a:ext>
            </a:extLst>
          </p:cNvPr>
          <p:cNvSpPr>
            <a:spLocks noGrp="1" noChangeArrowheads="1"/>
          </p:cNvSpPr>
          <p:nvPr>
            <p:ph type="title"/>
          </p:nvPr>
        </p:nvSpPr>
        <p:spPr/>
        <p:txBody>
          <a:bodyPr/>
          <a:lstStyle/>
          <a:p>
            <a:pPr eaLnBrk="1" hangingPunct="1"/>
            <a:r>
              <a:rPr lang="en-US" altLang="en-KE"/>
              <a:t>Prevention</a:t>
            </a:r>
          </a:p>
        </p:txBody>
      </p:sp>
      <p:sp>
        <p:nvSpPr>
          <p:cNvPr id="26628" name="Rectangle 3">
            <a:extLst>
              <a:ext uri="{FF2B5EF4-FFF2-40B4-BE49-F238E27FC236}">
                <a16:creationId xmlns:a16="http://schemas.microsoft.com/office/drawing/2014/main" id="{5C5E23FB-56E7-05A1-EA6B-EA93C0C4F1E6}"/>
              </a:ext>
            </a:extLst>
          </p:cNvPr>
          <p:cNvSpPr>
            <a:spLocks noGrp="1" noChangeArrowheads="1"/>
          </p:cNvSpPr>
          <p:nvPr>
            <p:ph type="body" idx="1"/>
          </p:nvPr>
        </p:nvSpPr>
        <p:spPr/>
        <p:txBody>
          <a:bodyPr/>
          <a:lstStyle/>
          <a:p>
            <a:pPr eaLnBrk="1" hangingPunct="1">
              <a:buFont typeface="Wingdings" pitchFamily="2" charset="2"/>
              <a:buNone/>
            </a:pPr>
            <a:r>
              <a:rPr lang="en-US" altLang="en-KE" b="1"/>
              <a:t> 1.Avoiding “triggers”</a:t>
            </a:r>
          </a:p>
          <a:p>
            <a:pPr eaLnBrk="1" hangingPunct="1">
              <a:buFont typeface="Wingdings" pitchFamily="2" charset="2"/>
              <a:buNone/>
            </a:pPr>
            <a:r>
              <a:rPr lang="en-US" altLang="en-KE"/>
              <a:t>   What triggers your urge to drink? If certain people or places make you drink even when you don’t want to, try to avoid them. If certain activities, times of day, or feelings trigger the urge, plan what you’ll do instead of drinking. If drinking at home is a problem, keep little or no alcohol there. </a:t>
            </a:r>
          </a:p>
          <a:p>
            <a:pPr eaLnBrk="1" hangingPunct="1"/>
            <a:endParaRPr lang="en-US" altLang="en-KE"/>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a:extLst>
              <a:ext uri="{FF2B5EF4-FFF2-40B4-BE49-F238E27FC236}">
                <a16:creationId xmlns:a16="http://schemas.microsoft.com/office/drawing/2014/main" id="{4B8B4170-935F-EB36-EABE-50088554D5B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DF02456-398B-E849-9587-F67DCE764D5A}" type="slidenum">
              <a:rPr lang="en-US" altLang="en-KE">
                <a:solidFill>
                  <a:schemeClr val="bg1"/>
                </a:solidFill>
              </a:rPr>
              <a:pPr eaLnBrk="1" hangingPunct="1"/>
              <a:t>25</a:t>
            </a:fld>
            <a:endParaRPr lang="en-US" altLang="en-KE">
              <a:solidFill>
                <a:schemeClr val="bg1"/>
              </a:solidFill>
            </a:endParaRPr>
          </a:p>
        </p:txBody>
      </p:sp>
      <p:sp>
        <p:nvSpPr>
          <p:cNvPr id="27651" name="AutoShape 2">
            <a:extLst>
              <a:ext uri="{FF2B5EF4-FFF2-40B4-BE49-F238E27FC236}">
                <a16:creationId xmlns:a16="http://schemas.microsoft.com/office/drawing/2014/main" id="{C0F2D878-0E9C-3E31-2AB7-A5C1E28C8BFE}"/>
              </a:ext>
            </a:extLst>
          </p:cNvPr>
          <p:cNvSpPr>
            <a:spLocks noGrp="1" noChangeArrowheads="1"/>
          </p:cNvSpPr>
          <p:nvPr>
            <p:ph type="title"/>
          </p:nvPr>
        </p:nvSpPr>
        <p:spPr/>
        <p:txBody>
          <a:bodyPr/>
          <a:lstStyle/>
          <a:p>
            <a:pPr eaLnBrk="1" hangingPunct="1"/>
            <a:r>
              <a:rPr lang="en-US" altLang="en-KE"/>
              <a:t>Prevention cont.</a:t>
            </a:r>
          </a:p>
        </p:txBody>
      </p:sp>
      <p:sp>
        <p:nvSpPr>
          <p:cNvPr id="27652" name="Rectangle 3">
            <a:extLst>
              <a:ext uri="{FF2B5EF4-FFF2-40B4-BE49-F238E27FC236}">
                <a16:creationId xmlns:a16="http://schemas.microsoft.com/office/drawing/2014/main" id="{F19CF959-EA56-461E-25B0-DD83341872CF}"/>
              </a:ext>
            </a:extLst>
          </p:cNvPr>
          <p:cNvSpPr>
            <a:spLocks noGrp="1" noChangeArrowheads="1"/>
          </p:cNvSpPr>
          <p:nvPr>
            <p:ph type="body" idx="1"/>
          </p:nvPr>
        </p:nvSpPr>
        <p:spPr/>
        <p:txBody>
          <a:bodyPr/>
          <a:lstStyle/>
          <a:p>
            <a:pPr eaLnBrk="1" hangingPunct="1">
              <a:lnSpc>
                <a:spcPct val="90000"/>
              </a:lnSpc>
              <a:buFont typeface="Wingdings" pitchFamily="2" charset="2"/>
              <a:buNone/>
            </a:pPr>
            <a:r>
              <a:rPr lang="en-US" altLang="en-KE" b="1"/>
              <a:t> 2.Planning to handle urges</a:t>
            </a:r>
          </a:p>
          <a:p>
            <a:pPr eaLnBrk="1" hangingPunct="1">
              <a:lnSpc>
                <a:spcPct val="90000"/>
              </a:lnSpc>
              <a:buFont typeface="Wingdings" pitchFamily="2" charset="2"/>
              <a:buNone/>
            </a:pPr>
            <a:r>
              <a:rPr lang="en-US" altLang="en-KE"/>
              <a:t>   When an urge hits, consider these options: Remind yourself of your reasons for changing. Or talk it through with someone you trust. Or get involved with a healthy, distracting activity. Or “urge surf”—instead of fighting the feeling, accept it and ride it out, knowing that it will soon crest like a wave and pass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a:extLst>
              <a:ext uri="{FF2B5EF4-FFF2-40B4-BE49-F238E27FC236}">
                <a16:creationId xmlns:a16="http://schemas.microsoft.com/office/drawing/2014/main" id="{5F414743-8923-71F5-7118-54AD695F508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A2118FE-B1E5-5A4B-B703-57EE7238EAEA}" type="slidenum">
              <a:rPr lang="en-US" altLang="en-KE">
                <a:solidFill>
                  <a:schemeClr val="bg1"/>
                </a:solidFill>
              </a:rPr>
              <a:pPr eaLnBrk="1" hangingPunct="1"/>
              <a:t>26</a:t>
            </a:fld>
            <a:endParaRPr lang="en-US" altLang="en-KE">
              <a:solidFill>
                <a:schemeClr val="bg1"/>
              </a:solidFill>
            </a:endParaRPr>
          </a:p>
        </p:txBody>
      </p:sp>
      <p:sp>
        <p:nvSpPr>
          <p:cNvPr id="28675" name="AutoShape 2">
            <a:extLst>
              <a:ext uri="{FF2B5EF4-FFF2-40B4-BE49-F238E27FC236}">
                <a16:creationId xmlns:a16="http://schemas.microsoft.com/office/drawing/2014/main" id="{33097639-ADAC-AB3E-F892-57FE645BBAEE}"/>
              </a:ext>
            </a:extLst>
          </p:cNvPr>
          <p:cNvSpPr>
            <a:spLocks noGrp="1" noChangeArrowheads="1"/>
          </p:cNvSpPr>
          <p:nvPr>
            <p:ph type="title"/>
          </p:nvPr>
        </p:nvSpPr>
        <p:spPr/>
        <p:txBody>
          <a:bodyPr/>
          <a:lstStyle/>
          <a:p>
            <a:pPr eaLnBrk="1" hangingPunct="1"/>
            <a:r>
              <a:rPr lang="en-US" altLang="en-KE"/>
              <a:t>Prevention cont.</a:t>
            </a:r>
          </a:p>
        </p:txBody>
      </p:sp>
      <p:sp>
        <p:nvSpPr>
          <p:cNvPr id="28676" name="Rectangle 3">
            <a:extLst>
              <a:ext uri="{FF2B5EF4-FFF2-40B4-BE49-F238E27FC236}">
                <a16:creationId xmlns:a16="http://schemas.microsoft.com/office/drawing/2014/main" id="{A061AB16-D5AA-9619-46DD-A7D7E83BA88A}"/>
              </a:ext>
            </a:extLst>
          </p:cNvPr>
          <p:cNvSpPr>
            <a:spLocks noGrp="1" noChangeArrowheads="1"/>
          </p:cNvSpPr>
          <p:nvPr>
            <p:ph type="body" idx="1"/>
          </p:nvPr>
        </p:nvSpPr>
        <p:spPr/>
        <p:txBody>
          <a:bodyPr/>
          <a:lstStyle/>
          <a:p>
            <a:pPr eaLnBrk="1" hangingPunct="1">
              <a:buFont typeface="Wingdings" pitchFamily="2" charset="2"/>
              <a:buNone/>
            </a:pPr>
            <a:r>
              <a:rPr lang="en-US" altLang="en-KE" b="1"/>
              <a:t>3. Knowing your “no”</a:t>
            </a:r>
          </a:p>
          <a:p>
            <a:pPr eaLnBrk="1" hangingPunct="1">
              <a:buFont typeface="Wingdings" pitchFamily="2" charset="2"/>
              <a:buNone/>
            </a:pPr>
            <a:r>
              <a:rPr lang="en-US" altLang="en-KE"/>
              <a:t>   You’re likely to be offered a drink at times when you don’t want one. Have a polite, convincing “no, thanks” ready. The faster you can say no to these offers, the less likely you are to give in. If you hesitate, it allows you time to think of excuses to go along.</a:t>
            </a:r>
          </a:p>
          <a:p>
            <a:pPr eaLnBrk="1" hangingPunct="1">
              <a:buFont typeface="Wingdings" pitchFamily="2" charset="2"/>
              <a:buNone/>
            </a:pPr>
            <a:endParaRPr lang="en-US" altLang="en-KE"/>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a:extLst>
              <a:ext uri="{FF2B5EF4-FFF2-40B4-BE49-F238E27FC236}">
                <a16:creationId xmlns:a16="http://schemas.microsoft.com/office/drawing/2014/main" id="{A3805418-C354-80AE-D942-3D88BDBBAEE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43A45A8-3C5C-F449-8211-18DD54071BB7}" type="slidenum">
              <a:rPr lang="en-US" altLang="en-KE">
                <a:solidFill>
                  <a:schemeClr val="bg1"/>
                </a:solidFill>
              </a:rPr>
              <a:pPr eaLnBrk="1" hangingPunct="1"/>
              <a:t>27</a:t>
            </a:fld>
            <a:endParaRPr lang="en-US" altLang="en-KE">
              <a:solidFill>
                <a:schemeClr val="bg1"/>
              </a:solidFill>
            </a:endParaRPr>
          </a:p>
        </p:txBody>
      </p:sp>
      <p:sp>
        <p:nvSpPr>
          <p:cNvPr id="29699" name="AutoShape 2">
            <a:extLst>
              <a:ext uri="{FF2B5EF4-FFF2-40B4-BE49-F238E27FC236}">
                <a16:creationId xmlns:a16="http://schemas.microsoft.com/office/drawing/2014/main" id="{291D7EFF-2BD9-7B00-39FF-824DAF295F3D}"/>
              </a:ext>
            </a:extLst>
          </p:cNvPr>
          <p:cNvSpPr>
            <a:spLocks noGrp="1" noChangeArrowheads="1"/>
          </p:cNvSpPr>
          <p:nvPr>
            <p:ph type="title"/>
          </p:nvPr>
        </p:nvSpPr>
        <p:spPr/>
        <p:txBody>
          <a:bodyPr/>
          <a:lstStyle/>
          <a:p>
            <a:pPr eaLnBrk="1" hangingPunct="1"/>
            <a:r>
              <a:rPr lang="en-US" altLang="en-KE"/>
              <a:t>Prevention cont.</a:t>
            </a:r>
          </a:p>
        </p:txBody>
      </p:sp>
      <p:sp>
        <p:nvSpPr>
          <p:cNvPr id="29700" name="Rectangle 3">
            <a:extLst>
              <a:ext uri="{FF2B5EF4-FFF2-40B4-BE49-F238E27FC236}">
                <a16:creationId xmlns:a16="http://schemas.microsoft.com/office/drawing/2014/main" id="{BCDA1866-06B6-417A-1DD7-F1509B29FAD4}"/>
              </a:ext>
            </a:extLst>
          </p:cNvPr>
          <p:cNvSpPr>
            <a:spLocks noGrp="1" noChangeArrowheads="1"/>
          </p:cNvSpPr>
          <p:nvPr>
            <p:ph type="body" idx="1"/>
          </p:nvPr>
        </p:nvSpPr>
        <p:spPr/>
        <p:txBody>
          <a:bodyPr/>
          <a:lstStyle/>
          <a:p>
            <a:pPr lvl="1" eaLnBrk="1" hangingPunct="1">
              <a:buFontTx/>
              <a:buNone/>
            </a:pPr>
            <a:r>
              <a:rPr lang="en-US" altLang="en-KE"/>
              <a:t>4. </a:t>
            </a:r>
            <a:r>
              <a:rPr lang="en-US" altLang="en-KE" b="1"/>
              <a:t>Seek support from others for instance</a:t>
            </a:r>
          </a:p>
          <a:p>
            <a:pPr lvl="1" eaLnBrk="1" hangingPunct="1">
              <a:buFontTx/>
              <a:buNone/>
            </a:pPr>
            <a:r>
              <a:rPr lang="en-US" altLang="en-KE"/>
              <a:t>     - non drinking friends</a:t>
            </a:r>
          </a:p>
          <a:p>
            <a:pPr lvl="1" eaLnBrk="1" hangingPunct="1">
              <a:buFontTx/>
              <a:buNone/>
            </a:pPr>
            <a:r>
              <a:rPr lang="en-US" altLang="en-KE"/>
              <a:t>     -alcoholics anonymus</a:t>
            </a:r>
          </a:p>
          <a:p>
            <a:pPr lvl="1" eaLnBrk="1" hangingPunct="1">
              <a:buFontTx/>
              <a:buNone/>
            </a:pPr>
            <a:r>
              <a:rPr lang="en-US" altLang="en-KE"/>
              <a:t>     -medical personnell</a:t>
            </a:r>
          </a:p>
          <a:p>
            <a:pPr lvl="1" eaLnBrk="1" hangingPunct="1">
              <a:buFontTx/>
              <a:buNone/>
            </a:pPr>
            <a:r>
              <a:rPr lang="en-US" altLang="en-KE"/>
              <a:t>     - clergy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a:extLst>
              <a:ext uri="{FF2B5EF4-FFF2-40B4-BE49-F238E27FC236}">
                <a16:creationId xmlns:a16="http://schemas.microsoft.com/office/drawing/2014/main" id="{FE5C0B3F-014B-0EA6-E7D9-297B482FB59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708CCAC-ABC2-CC44-9636-619C1889849B}" type="slidenum">
              <a:rPr lang="en-US" altLang="en-KE">
                <a:solidFill>
                  <a:schemeClr val="bg1"/>
                </a:solidFill>
              </a:rPr>
              <a:pPr eaLnBrk="1" hangingPunct="1"/>
              <a:t>28</a:t>
            </a:fld>
            <a:endParaRPr lang="en-US" altLang="en-KE">
              <a:solidFill>
                <a:schemeClr val="bg1"/>
              </a:solidFill>
            </a:endParaRPr>
          </a:p>
        </p:txBody>
      </p:sp>
      <p:sp>
        <p:nvSpPr>
          <p:cNvPr id="30723" name="AutoShape 2">
            <a:extLst>
              <a:ext uri="{FF2B5EF4-FFF2-40B4-BE49-F238E27FC236}">
                <a16:creationId xmlns:a16="http://schemas.microsoft.com/office/drawing/2014/main" id="{8E11CA1C-4F89-F28E-0997-9F0C39D88897}"/>
              </a:ext>
            </a:extLst>
          </p:cNvPr>
          <p:cNvSpPr>
            <a:spLocks noGrp="1" noChangeArrowheads="1"/>
          </p:cNvSpPr>
          <p:nvPr>
            <p:ph type="title"/>
          </p:nvPr>
        </p:nvSpPr>
        <p:spPr/>
        <p:txBody>
          <a:bodyPr/>
          <a:lstStyle/>
          <a:p>
            <a:pPr eaLnBrk="1" hangingPunct="1"/>
            <a:r>
              <a:rPr lang="en-US" altLang="en-KE"/>
              <a:t>Treatment</a:t>
            </a:r>
          </a:p>
        </p:txBody>
      </p:sp>
      <p:sp>
        <p:nvSpPr>
          <p:cNvPr id="30724" name="Rectangle 3">
            <a:extLst>
              <a:ext uri="{FF2B5EF4-FFF2-40B4-BE49-F238E27FC236}">
                <a16:creationId xmlns:a16="http://schemas.microsoft.com/office/drawing/2014/main" id="{0484F86B-C7EB-453A-9020-5A4709A2C386}"/>
              </a:ext>
            </a:extLst>
          </p:cNvPr>
          <p:cNvSpPr>
            <a:spLocks noGrp="1" noChangeArrowheads="1"/>
          </p:cNvSpPr>
          <p:nvPr>
            <p:ph type="body" idx="1"/>
          </p:nvPr>
        </p:nvSpPr>
        <p:spPr/>
        <p:txBody>
          <a:bodyPr/>
          <a:lstStyle/>
          <a:p>
            <a:pPr eaLnBrk="1" hangingPunct="1">
              <a:lnSpc>
                <a:spcPct val="90000"/>
              </a:lnSpc>
              <a:buFont typeface="Wingdings" pitchFamily="2" charset="2"/>
              <a:buNone/>
            </a:pPr>
            <a:r>
              <a:rPr lang="en-US" altLang="en-KE"/>
              <a:t>1.Sedation with diazepam to prevent tremors, anxiety tachycardia and vomiting due to withdrawal of alcohol.</a:t>
            </a:r>
          </a:p>
          <a:p>
            <a:pPr eaLnBrk="1" hangingPunct="1">
              <a:lnSpc>
                <a:spcPct val="90000"/>
              </a:lnSpc>
              <a:buFont typeface="Wingdings" pitchFamily="2" charset="2"/>
              <a:buNone/>
            </a:pPr>
            <a:r>
              <a:rPr lang="en-US" altLang="en-KE"/>
              <a:t>2.Administer large doses of vitamin B as these are deficient due to alcoholic dementia.</a:t>
            </a:r>
          </a:p>
          <a:p>
            <a:pPr eaLnBrk="1" hangingPunct="1">
              <a:lnSpc>
                <a:spcPct val="90000"/>
              </a:lnSpc>
              <a:buFont typeface="Wingdings" pitchFamily="2" charset="2"/>
              <a:buNone/>
            </a:pPr>
            <a:r>
              <a:rPr lang="en-US" altLang="en-KE"/>
              <a:t>3.Admnister a drug disulfiram which causes nausea, flushing and vomiting thus discouraging further drinking</a:t>
            </a:r>
          </a:p>
          <a:p>
            <a:pPr eaLnBrk="1" hangingPunct="1">
              <a:lnSpc>
                <a:spcPct val="90000"/>
              </a:lnSpc>
              <a:buFont typeface="Wingdings" pitchFamily="2" charset="2"/>
              <a:buNone/>
            </a:pPr>
            <a:endParaRPr lang="en-US" altLang="en-KE"/>
          </a:p>
          <a:p>
            <a:pPr eaLnBrk="1" hangingPunct="1">
              <a:lnSpc>
                <a:spcPct val="90000"/>
              </a:lnSpc>
              <a:buFont typeface="Wingdings" pitchFamily="2" charset="2"/>
              <a:buNone/>
            </a:pPr>
            <a:endParaRPr lang="en-US" altLang="en-KE"/>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a:extLst>
              <a:ext uri="{FF2B5EF4-FFF2-40B4-BE49-F238E27FC236}">
                <a16:creationId xmlns:a16="http://schemas.microsoft.com/office/drawing/2014/main" id="{0F6CC992-9476-5C3B-FD6D-057A663F235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42FEFF0-32D6-1048-81F3-FE23A316866C}" type="slidenum">
              <a:rPr lang="en-US" altLang="en-KE">
                <a:solidFill>
                  <a:schemeClr val="bg1"/>
                </a:solidFill>
              </a:rPr>
              <a:pPr eaLnBrk="1" hangingPunct="1"/>
              <a:t>29</a:t>
            </a:fld>
            <a:endParaRPr lang="en-US" altLang="en-KE">
              <a:solidFill>
                <a:schemeClr val="bg1"/>
              </a:solidFill>
            </a:endParaRPr>
          </a:p>
        </p:txBody>
      </p:sp>
      <p:sp>
        <p:nvSpPr>
          <p:cNvPr id="31747" name="AutoShape 2">
            <a:extLst>
              <a:ext uri="{FF2B5EF4-FFF2-40B4-BE49-F238E27FC236}">
                <a16:creationId xmlns:a16="http://schemas.microsoft.com/office/drawing/2014/main" id="{5ED50A83-3C6F-4D11-38DB-1A89C20B82AE}"/>
              </a:ext>
            </a:extLst>
          </p:cNvPr>
          <p:cNvSpPr>
            <a:spLocks noGrp="1" noChangeArrowheads="1"/>
          </p:cNvSpPr>
          <p:nvPr>
            <p:ph type="title"/>
          </p:nvPr>
        </p:nvSpPr>
        <p:spPr/>
        <p:txBody>
          <a:bodyPr/>
          <a:lstStyle/>
          <a:p>
            <a:pPr eaLnBrk="1" hangingPunct="1"/>
            <a:r>
              <a:rPr lang="en-US" altLang="en-KE"/>
              <a:t>Treatment cont.</a:t>
            </a:r>
          </a:p>
        </p:txBody>
      </p:sp>
      <p:sp>
        <p:nvSpPr>
          <p:cNvPr id="31748" name="Rectangle 3">
            <a:extLst>
              <a:ext uri="{FF2B5EF4-FFF2-40B4-BE49-F238E27FC236}">
                <a16:creationId xmlns:a16="http://schemas.microsoft.com/office/drawing/2014/main" id="{BB5134F9-C274-A607-95FC-5B00FE54625D}"/>
              </a:ext>
            </a:extLst>
          </p:cNvPr>
          <p:cNvSpPr>
            <a:spLocks noGrp="1" noChangeArrowheads="1"/>
          </p:cNvSpPr>
          <p:nvPr>
            <p:ph type="body" idx="1"/>
          </p:nvPr>
        </p:nvSpPr>
        <p:spPr/>
        <p:txBody>
          <a:bodyPr/>
          <a:lstStyle/>
          <a:p>
            <a:pPr lvl="1" eaLnBrk="1" hangingPunct="1">
              <a:buFontTx/>
              <a:buNone/>
            </a:pPr>
            <a:r>
              <a:rPr lang="en-US" altLang="en-KE"/>
              <a:t>5. Acute poisoning with alcohol should be referred to a health facility immediately.</a:t>
            </a:r>
          </a:p>
          <a:p>
            <a:pPr eaLnBrk="1" hangingPunct="1"/>
            <a:endParaRPr lang="en-US" altLang="en-KE"/>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a:extLst>
              <a:ext uri="{FF2B5EF4-FFF2-40B4-BE49-F238E27FC236}">
                <a16:creationId xmlns:a16="http://schemas.microsoft.com/office/drawing/2014/main" id="{289AAB38-A01E-F2D7-D629-C93132E77F8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28A2F7C-DCBB-1B4E-9554-A15E6A9FD875}" type="slidenum">
              <a:rPr lang="en-US" altLang="en-KE">
                <a:solidFill>
                  <a:schemeClr val="bg1"/>
                </a:solidFill>
              </a:rPr>
              <a:pPr eaLnBrk="1" hangingPunct="1"/>
              <a:t>30</a:t>
            </a:fld>
            <a:endParaRPr lang="en-US" altLang="en-KE">
              <a:solidFill>
                <a:schemeClr val="bg1"/>
              </a:solidFill>
            </a:endParaRPr>
          </a:p>
        </p:txBody>
      </p:sp>
      <p:sp>
        <p:nvSpPr>
          <p:cNvPr id="32771" name="AutoShape 2">
            <a:extLst>
              <a:ext uri="{FF2B5EF4-FFF2-40B4-BE49-F238E27FC236}">
                <a16:creationId xmlns:a16="http://schemas.microsoft.com/office/drawing/2014/main" id="{FE253E3E-C889-C13C-BDEA-2B16C3C2D898}"/>
              </a:ext>
            </a:extLst>
          </p:cNvPr>
          <p:cNvSpPr>
            <a:spLocks noGrp="1" noChangeArrowheads="1"/>
          </p:cNvSpPr>
          <p:nvPr>
            <p:ph type="title"/>
          </p:nvPr>
        </p:nvSpPr>
        <p:spPr/>
        <p:txBody>
          <a:bodyPr/>
          <a:lstStyle/>
          <a:p>
            <a:pPr eaLnBrk="1" hangingPunct="1"/>
            <a:r>
              <a:rPr lang="en-US" altLang="en-KE">
                <a:solidFill>
                  <a:srgbClr val="FF0066"/>
                </a:solidFill>
              </a:rPr>
              <a:t>TOBACCO</a:t>
            </a:r>
          </a:p>
        </p:txBody>
      </p:sp>
      <p:sp>
        <p:nvSpPr>
          <p:cNvPr id="32772" name="Rectangle 3">
            <a:extLst>
              <a:ext uri="{FF2B5EF4-FFF2-40B4-BE49-F238E27FC236}">
                <a16:creationId xmlns:a16="http://schemas.microsoft.com/office/drawing/2014/main" id="{7D199BB1-9D6C-1081-680B-3E0360B4011E}"/>
              </a:ext>
            </a:extLst>
          </p:cNvPr>
          <p:cNvSpPr>
            <a:spLocks noGrp="1" noChangeArrowheads="1"/>
          </p:cNvSpPr>
          <p:nvPr>
            <p:ph type="body" idx="1"/>
          </p:nvPr>
        </p:nvSpPr>
        <p:spPr/>
        <p:txBody>
          <a:bodyPr/>
          <a:lstStyle/>
          <a:p>
            <a:pPr eaLnBrk="1" hangingPunct="1">
              <a:lnSpc>
                <a:spcPct val="90000"/>
              </a:lnSpc>
            </a:pPr>
            <a:r>
              <a:rPr lang="en-US" altLang="en-KE" sz="2000"/>
              <a:t>Tobacco is a herbal plant grown extensively through out the world. It falls under the category of drugs known as </a:t>
            </a:r>
            <a:r>
              <a:rPr lang="en-US" altLang="en-KE" sz="2000">
                <a:solidFill>
                  <a:srgbClr val="FF0066"/>
                </a:solidFill>
              </a:rPr>
              <a:t>selective drugs</a:t>
            </a:r>
            <a:r>
              <a:rPr lang="en-US" altLang="en-KE" sz="2000"/>
              <a:t> since its effects vary from person to person.</a:t>
            </a:r>
          </a:p>
          <a:p>
            <a:pPr eaLnBrk="1" hangingPunct="1">
              <a:lnSpc>
                <a:spcPct val="90000"/>
              </a:lnSpc>
            </a:pPr>
            <a:r>
              <a:rPr lang="en-US" altLang="en-KE" sz="2000"/>
              <a:t> Tobacco sedates and stimulates. It is a plant with tapering hairy leaves that are dried and prepared for </a:t>
            </a:r>
            <a:r>
              <a:rPr lang="en-US" altLang="en-KE" sz="2000">
                <a:solidFill>
                  <a:srgbClr val="FF0066"/>
                </a:solidFill>
              </a:rPr>
              <a:t>snuffing, chewing </a:t>
            </a:r>
            <a:r>
              <a:rPr lang="en-US" altLang="en-KE" sz="2000"/>
              <a:t>and </a:t>
            </a:r>
            <a:r>
              <a:rPr lang="en-US" altLang="en-KE" sz="2000">
                <a:solidFill>
                  <a:srgbClr val="FF0066"/>
                </a:solidFill>
              </a:rPr>
              <a:t>smoking.</a:t>
            </a:r>
          </a:p>
          <a:p>
            <a:pPr eaLnBrk="1" hangingPunct="1">
              <a:lnSpc>
                <a:spcPct val="90000"/>
              </a:lnSpc>
            </a:pPr>
            <a:r>
              <a:rPr lang="en-US" altLang="en-KE" sz="2000"/>
              <a:t> </a:t>
            </a:r>
            <a:r>
              <a:rPr lang="en-US" altLang="en-KE" sz="2000">
                <a:solidFill>
                  <a:srgbClr val="FF0066"/>
                </a:solidFill>
              </a:rPr>
              <a:t>Nicotine</a:t>
            </a:r>
            <a:r>
              <a:rPr lang="en-US" altLang="en-KE" sz="2000"/>
              <a:t> is the main active ingredient and most addictive substance in tobacco. It contains thousands of chemicals, 40 of which are carcinogenic. In a tobacco plantation, no other animal, insect or plant can survive the harsh chemical environment produced by the tobacco plant.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a:extLst>
              <a:ext uri="{FF2B5EF4-FFF2-40B4-BE49-F238E27FC236}">
                <a16:creationId xmlns:a16="http://schemas.microsoft.com/office/drawing/2014/main" id="{22964C5D-014C-2F3E-E536-7022AAD433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94484B6-E1EA-B847-8B94-4F53F7672DBC}" type="slidenum">
              <a:rPr lang="en-US" altLang="en-KE">
                <a:solidFill>
                  <a:schemeClr val="bg1"/>
                </a:solidFill>
              </a:rPr>
              <a:pPr eaLnBrk="1" hangingPunct="1"/>
              <a:t>31</a:t>
            </a:fld>
            <a:endParaRPr lang="en-US" altLang="en-KE">
              <a:solidFill>
                <a:schemeClr val="bg1"/>
              </a:solidFill>
            </a:endParaRPr>
          </a:p>
        </p:txBody>
      </p:sp>
      <p:sp>
        <p:nvSpPr>
          <p:cNvPr id="33795" name="AutoShape 2">
            <a:extLst>
              <a:ext uri="{FF2B5EF4-FFF2-40B4-BE49-F238E27FC236}">
                <a16:creationId xmlns:a16="http://schemas.microsoft.com/office/drawing/2014/main" id="{63D6F620-2BBE-7B8E-5F3D-396EB0567CEC}"/>
              </a:ext>
            </a:extLst>
          </p:cNvPr>
          <p:cNvSpPr>
            <a:spLocks noGrp="1" noChangeArrowheads="1"/>
          </p:cNvSpPr>
          <p:nvPr>
            <p:ph type="title"/>
          </p:nvPr>
        </p:nvSpPr>
        <p:spPr/>
        <p:txBody>
          <a:bodyPr/>
          <a:lstStyle/>
          <a:p>
            <a:pPr eaLnBrk="1" hangingPunct="1"/>
            <a:r>
              <a:rPr lang="en-US" altLang="en-KE">
                <a:solidFill>
                  <a:srgbClr val="FF0066"/>
                </a:solidFill>
              </a:rPr>
              <a:t>Presentations</a:t>
            </a:r>
          </a:p>
        </p:txBody>
      </p:sp>
      <p:sp>
        <p:nvSpPr>
          <p:cNvPr id="33796" name="Rectangle 3">
            <a:extLst>
              <a:ext uri="{FF2B5EF4-FFF2-40B4-BE49-F238E27FC236}">
                <a16:creationId xmlns:a16="http://schemas.microsoft.com/office/drawing/2014/main" id="{366EB9D6-92D8-1E3F-D8E3-BC00168B094F}"/>
              </a:ext>
            </a:extLst>
          </p:cNvPr>
          <p:cNvSpPr>
            <a:spLocks noGrp="1" noChangeArrowheads="1"/>
          </p:cNvSpPr>
          <p:nvPr>
            <p:ph type="body" idx="1"/>
          </p:nvPr>
        </p:nvSpPr>
        <p:spPr/>
        <p:txBody>
          <a:bodyPr/>
          <a:lstStyle/>
          <a:p>
            <a:pPr eaLnBrk="1" hangingPunct="1"/>
            <a:r>
              <a:rPr lang="en-US" altLang="en-KE" dirty="0"/>
              <a:t>Tobacco comes in these forms: cigars, Pipe tobacco, chewing tobacco and cigarettes. </a:t>
            </a:r>
          </a:p>
          <a:p>
            <a:pPr eaLnBrk="1" hangingPunct="1"/>
            <a:r>
              <a:rPr lang="en-US" altLang="en-KE" dirty="0"/>
              <a:t>Street names include; </a:t>
            </a:r>
            <a:r>
              <a:rPr lang="en-US" altLang="en-KE" dirty="0" err="1"/>
              <a:t>Gaff,Ngale,Algae,Fegi,</a:t>
            </a:r>
            <a:r>
              <a:rPr lang="en-US" altLang="en-KE" dirty="0" err="1">
                <a:solidFill>
                  <a:srgbClr val="FF0066"/>
                </a:solidFill>
              </a:rPr>
              <a:t>Cancer</a:t>
            </a:r>
            <a:r>
              <a:rPr lang="en-US" altLang="en-KE" dirty="0">
                <a:solidFill>
                  <a:srgbClr val="FF0066"/>
                </a:solidFill>
              </a:rPr>
              <a:t> </a:t>
            </a:r>
            <a:r>
              <a:rPr lang="en-US" altLang="en-KE" dirty="0" err="1">
                <a:solidFill>
                  <a:srgbClr val="FF0066"/>
                </a:solidFill>
              </a:rPr>
              <a:t>sticks,</a:t>
            </a:r>
            <a:r>
              <a:rPr lang="en-US" altLang="en-KE" dirty="0" err="1"/>
              <a:t>Mozo,Zale,Cigs,Butts,Fags,Kafera</a:t>
            </a:r>
            <a:r>
              <a:rPr lang="en-US" altLang="en-KE" dirty="0"/>
              <a:t>,</a:t>
            </a:r>
          </a:p>
          <a:p>
            <a:pPr eaLnBrk="1" hangingPunct="1">
              <a:buFont typeface="Wingdings" pitchFamily="2" charset="2"/>
              <a:buNone/>
            </a:pPr>
            <a:r>
              <a:rPr lang="en-US" altLang="en-KE" dirty="0"/>
              <a:t>   </a:t>
            </a:r>
            <a:r>
              <a:rPr lang="en-US" altLang="en-KE" dirty="0" err="1"/>
              <a:t>Smokes,Sigara,Puffs</a:t>
            </a:r>
            <a:r>
              <a:rPr lang="en-US" altLang="en-KE" dirty="0"/>
              <a:t>, </a:t>
            </a:r>
            <a:r>
              <a:rPr lang="en-US" altLang="en-KE" dirty="0" err="1"/>
              <a:t>Fuaka</a:t>
            </a:r>
            <a:r>
              <a:rPr lang="en-US" altLang="en-KE" dirty="0"/>
              <a:t>, </a:t>
            </a:r>
            <a:r>
              <a:rPr lang="en-US" altLang="en-KE" dirty="0" err="1"/>
              <a:t>Kiraiku</a:t>
            </a:r>
            <a:r>
              <a:rPr lang="en-US" altLang="en-KE" dirty="0"/>
              <a:t>, boza,</a:t>
            </a:r>
          </a:p>
          <a:p>
            <a:pPr eaLnBrk="1" hangingPunct="1"/>
            <a:endParaRPr lang="en-US" altLang="en-KE" dirty="0"/>
          </a:p>
        </p:txBody>
      </p:sp>
      <p:sp>
        <p:nvSpPr>
          <p:cNvPr id="33797" name="Rectangle 4">
            <a:extLst>
              <a:ext uri="{FF2B5EF4-FFF2-40B4-BE49-F238E27FC236}">
                <a16:creationId xmlns:a16="http://schemas.microsoft.com/office/drawing/2014/main" id="{9FA194F2-2D4E-9200-64D6-39ED7203DF8D}"/>
              </a:ext>
            </a:extLst>
          </p:cNvPr>
          <p:cNvSpPr>
            <a:spLocks noChangeArrowheads="1"/>
          </p:cNvSpPr>
          <p:nvPr/>
        </p:nvSpPr>
        <p:spPr bwMode="auto">
          <a:xfrm>
            <a:off x="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KE"/>
          </a:p>
          <a:p>
            <a:endParaRPr lang="en-US" altLang="en-KE"/>
          </a:p>
        </p:txBody>
      </p:sp>
      <p:sp>
        <p:nvSpPr>
          <p:cNvPr id="33798" name="Rectangle 5">
            <a:extLst>
              <a:ext uri="{FF2B5EF4-FFF2-40B4-BE49-F238E27FC236}">
                <a16:creationId xmlns:a16="http://schemas.microsoft.com/office/drawing/2014/main" id="{EE26711F-A999-03A8-0BB4-CA73EC199C0E}"/>
              </a:ext>
            </a:extLst>
          </p:cNvPr>
          <p:cNvSpPr>
            <a:spLocks noChangeArrowheads="1"/>
          </p:cNvSpPr>
          <p:nvPr/>
        </p:nvSpPr>
        <p:spPr bwMode="auto">
          <a:xfrm>
            <a:off x="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KE"/>
          </a:p>
          <a:p>
            <a:endParaRPr lang="en-US" altLang="en-KE"/>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a:extLst>
              <a:ext uri="{FF2B5EF4-FFF2-40B4-BE49-F238E27FC236}">
                <a16:creationId xmlns:a16="http://schemas.microsoft.com/office/drawing/2014/main" id="{E0B674E0-6F62-67D8-22EA-59E829BEC5D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F7DE7F9-4485-0A4D-B66D-4D6BB9267015}" type="slidenum">
              <a:rPr lang="en-US" altLang="en-KE">
                <a:solidFill>
                  <a:schemeClr val="bg1"/>
                </a:solidFill>
              </a:rPr>
              <a:pPr eaLnBrk="1" hangingPunct="1"/>
              <a:t>32</a:t>
            </a:fld>
            <a:endParaRPr lang="en-US" altLang="en-KE">
              <a:solidFill>
                <a:schemeClr val="bg1"/>
              </a:solidFill>
            </a:endParaRPr>
          </a:p>
        </p:txBody>
      </p:sp>
      <p:sp>
        <p:nvSpPr>
          <p:cNvPr id="34819" name="AutoShape 2">
            <a:extLst>
              <a:ext uri="{FF2B5EF4-FFF2-40B4-BE49-F238E27FC236}">
                <a16:creationId xmlns:a16="http://schemas.microsoft.com/office/drawing/2014/main" id="{2C872D46-5927-B3DD-E6A5-832CC03E59AA}"/>
              </a:ext>
            </a:extLst>
          </p:cNvPr>
          <p:cNvSpPr>
            <a:spLocks noGrp="1" noChangeArrowheads="1"/>
          </p:cNvSpPr>
          <p:nvPr>
            <p:ph type="title"/>
          </p:nvPr>
        </p:nvSpPr>
        <p:spPr/>
        <p:txBody>
          <a:bodyPr/>
          <a:lstStyle/>
          <a:p>
            <a:pPr eaLnBrk="1" hangingPunct="1"/>
            <a:r>
              <a:rPr lang="en-US" altLang="en-KE">
                <a:solidFill>
                  <a:srgbClr val="FF0066"/>
                </a:solidFill>
              </a:rPr>
              <a:t>Types of Tobacco</a:t>
            </a:r>
          </a:p>
        </p:txBody>
      </p:sp>
      <p:sp>
        <p:nvSpPr>
          <p:cNvPr id="34820" name="Rectangle 3">
            <a:extLst>
              <a:ext uri="{FF2B5EF4-FFF2-40B4-BE49-F238E27FC236}">
                <a16:creationId xmlns:a16="http://schemas.microsoft.com/office/drawing/2014/main" id="{E80122C4-17E7-D95D-849E-2C6458A30A49}"/>
              </a:ext>
            </a:extLst>
          </p:cNvPr>
          <p:cNvSpPr>
            <a:spLocks noGrp="1" noChangeArrowheads="1"/>
          </p:cNvSpPr>
          <p:nvPr>
            <p:ph type="body" idx="1"/>
          </p:nvPr>
        </p:nvSpPr>
        <p:spPr/>
        <p:txBody>
          <a:bodyPr/>
          <a:lstStyle/>
          <a:p>
            <a:pPr eaLnBrk="1" hangingPunct="1">
              <a:lnSpc>
                <a:spcPct val="80000"/>
              </a:lnSpc>
              <a:buFont typeface="Wingdings" pitchFamily="2" charset="2"/>
              <a:buNone/>
            </a:pPr>
            <a:r>
              <a:rPr lang="en-US" altLang="en-KE" sz="1800" b="1"/>
              <a:t>    Four main types are identified according to the method of </a:t>
            </a:r>
            <a:r>
              <a:rPr lang="en-US" altLang="en-KE" sz="1800" b="1">
                <a:solidFill>
                  <a:srgbClr val="FF0066"/>
                </a:solidFill>
              </a:rPr>
              <a:t>curing (dying)</a:t>
            </a:r>
          </a:p>
          <a:p>
            <a:pPr eaLnBrk="1" hangingPunct="1">
              <a:lnSpc>
                <a:spcPct val="80000"/>
              </a:lnSpc>
              <a:buFont typeface="Wingdings" pitchFamily="2" charset="2"/>
              <a:buNone/>
            </a:pPr>
            <a:endParaRPr lang="en-US" altLang="en-KE" sz="1800" b="1">
              <a:solidFill>
                <a:srgbClr val="FF0066"/>
              </a:solidFill>
            </a:endParaRPr>
          </a:p>
          <a:p>
            <a:pPr eaLnBrk="1" hangingPunct="1">
              <a:lnSpc>
                <a:spcPct val="80000"/>
              </a:lnSpc>
              <a:buFont typeface="Wingdings" pitchFamily="2" charset="2"/>
              <a:buChar char="Ø"/>
            </a:pPr>
            <a:r>
              <a:rPr lang="en-US" altLang="en-KE" sz="1800" b="1">
                <a:solidFill>
                  <a:srgbClr val="FF0066"/>
                </a:solidFill>
              </a:rPr>
              <a:t>Flue-cured</a:t>
            </a:r>
            <a:r>
              <a:rPr lang="en-US" altLang="en-KE" sz="1800" b="1"/>
              <a:t>: also known as “flue-cured Virginia” or just “Virginia”. After the US state where this method of curing using artificial treat was first propounded and “bright” because of its luster and color. </a:t>
            </a:r>
          </a:p>
          <a:p>
            <a:pPr eaLnBrk="1" hangingPunct="1">
              <a:lnSpc>
                <a:spcPct val="80000"/>
              </a:lnSpc>
              <a:buFont typeface="Wingdings" pitchFamily="2" charset="2"/>
              <a:buChar char="Ø"/>
            </a:pPr>
            <a:r>
              <a:rPr lang="en-US" altLang="en-KE" sz="1800" b="1">
                <a:solidFill>
                  <a:srgbClr val="FF0066"/>
                </a:solidFill>
              </a:rPr>
              <a:t>Air-cured</a:t>
            </a:r>
            <a:r>
              <a:rPr lang="en-US" altLang="en-KE" sz="1800" b="1"/>
              <a:t>: this includes barley, cigar and light and dark air-cured tobaccos. Its cured in ambient air with minimal artificial control of humidity. </a:t>
            </a:r>
          </a:p>
          <a:p>
            <a:pPr eaLnBrk="1" hangingPunct="1">
              <a:lnSpc>
                <a:spcPct val="80000"/>
              </a:lnSpc>
              <a:buFont typeface="Wingdings" pitchFamily="2" charset="2"/>
              <a:buChar char="Ø"/>
            </a:pPr>
            <a:r>
              <a:rPr lang="en-US" altLang="en-KE" sz="1800" b="1">
                <a:solidFill>
                  <a:srgbClr val="FF0066"/>
                </a:solidFill>
              </a:rPr>
              <a:t>Fire-cured</a:t>
            </a:r>
            <a:r>
              <a:rPr lang="en-US" altLang="en-KE" sz="1800" b="1"/>
              <a:t>: a similar process to  flue-cured, expect that open smoldering fires to give the product its characteristic smoked aroma and flavor. </a:t>
            </a:r>
          </a:p>
          <a:p>
            <a:pPr eaLnBrk="1" hangingPunct="1">
              <a:lnSpc>
                <a:spcPct val="80000"/>
              </a:lnSpc>
              <a:buFont typeface="Wingdings" pitchFamily="2" charset="2"/>
              <a:buChar char="Ø"/>
            </a:pPr>
            <a:r>
              <a:rPr lang="en-US" altLang="en-KE" sz="1800" b="1">
                <a:solidFill>
                  <a:srgbClr val="FF0066"/>
                </a:solidFill>
              </a:rPr>
              <a:t>Sun-cured</a:t>
            </a:r>
            <a:r>
              <a:rPr lang="en-US" altLang="en-KE" sz="1800" b="1"/>
              <a:t>: oriental tobaccos belong to this type. The strong flavor and tastes is developed in the first phase of curing and then retain by drying leaves outside in the sun. </a:t>
            </a:r>
          </a:p>
          <a:p>
            <a:pPr eaLnBrk="1" hangingPunct="1">
              <a:lnSpc>
                <a:spcPct val="80000"/>
              </a:lnSpc>
              <a:buFont typeface="Wingdings" pitchFamily="2" charset="2"/>
              <a:buChar char="Ø"/>
            </a:pPr>
            <a:endParaRPr lang="en-US" altLang="en-KE" sz="1800" b="1"/>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a:extLst>
              <a:ext uri="{FF2B5EF4-FFF2-40B4-BE49-F238E27FC236}">
                <a16:creationId xmlns:a16="http://schemas.microsoft.com/office/drawing/2014/main" id="{52E64100-254C-8CB5-C9E2-11EB6D3EB81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B363ED-57C2-8D44-B9CD-2B2BAE78774F}" type="slidenum">
              <a:rPr lang="en-US" altLang="en-KE">
                <a:solidFill>
                  <a:schemeClr val="bg1"/>
                </a:solidFill>
              </a:rPr>
              <a:pPr eaLnBrk="1" hangingPunct="1"/>
              <a:t>33</a:t>
            </a:fld>
            <a:endParaRPr lang="en-US" altLang="en-KE">
              <a:solidFill>
                <a:schemeClr val="bg1"/>
              </a:solidFill>
            </a:endParaRPr>
          </a:p>
        </p:txBody>
      </p:sp>
      <p:sp>
        <p:nvSpPr>
          <p:cNvPr id="35843" name="AutoShape 2">
            <a:extLst>
              <a:ext uri="{FF2B5EF4-FFF2-40B4-BE49-F238E27FC236}">
                <a16:creationId xmlns:a16="http://schemas.microsoft.com/office/drawing/2014/main" id="{319FCCDE-DE8C-B511-63EB-CA4170987399}"/>
              </a:ext>
            </a:extLst>
          </p:cNvPr>
          <p:cNvSpPr>
            <a:spLocks noGrp="1" noChangeArrowheads="1"/>
          </p:cNvSpPr>
          <p:nvPr>
            <p:ph type="title"/>
          </p:nvPr>
        </p:nvSpPr>
        <p:spPr/>
        <p:txBody>
          <a:bodyPr/>
          <a:lstStyle/>
          <a:p>
            <a:pPr eaLnBrk="1" hangingPunct="1"/>
            <a:r>
              <a:rPr lang="en-US" altLang="en-KE">
                <a:solidFill>
                  <a:srgbClr val="FF0066"/>
                </a:solidFill>
              </a:rPr>
              <a:t>Modes of administering tobacco</a:t>
            </a:r>
          </a:p>
        </p:txBody>
      </p:sp>
      <p:sp>
        <p:nvSpPr>
          <p:cNvPr id="35844" name="Rectangle 3">
            <a:extLst>
              <a:ext uri="{FF2B5EF4-FFF2-40B4-BE49-F238E27FC236}">
                <a16:creationId xmlns:a16="http://schemas.microsoft.com/office/drawing/2014/main" id="{A1DB4A9F-2A5D-8AB5-2698-966542660372}"/>
              </a:ext>
            </a:extLst>
          </p:cNvPr>
          <p:cNvSpPr>
            <a:spLocks noGrp="1" noChangeArrowheads="1"/>
          </p:cNvSpPr>
          <p:nvPr>
            <p:ph type="body" idx="1"/>
          </p:nvPr>
        </p:nvSpPr>
        <p:spPr/>
        <p:txBody>
          <a:bodyPr/>
          <a:lstStyle/>
          <a:p>
            <a:pPr eaLnBrk="1" hangingPunct="1">
              <a:lnSpc>
                <a:spcPct val="90000"/>
              </a:lnSpc>
              <a:buFont typeface="Wingdings" pitchFamily="2" charset="2"/>
              <a:buNone/>
            </a:pPr>
            <a:endParaRPr lang="en-US" altLang="en-KE"/>
          </a:p>
          <a:p>
            <a:pPr eaLnBrk="1" hangingPunct="1">
              <a:lnSpc>
                <a:spcPct val="90000"/>
              </a:lnSpc>
            </a:pPr>
            <a:r>
              <a:rPr lang="en-US" altLang="en-KE"/>
              <a:t>Chewing </a:t>
            </a:r>
          </a:p>
          <a:p>
            <a:pPr eaLnBrk="1" hangingPunct="1">
              <a:lnSpc>
                <a:spcPct val="90000"/>
              </a:lnSpc>
            </a:pPr>
            <a:r>
              <a:rPr lang="en-US" altLang="en-KE"/>
              <a:t>Sniffing </a:t>
            </a:r>
          </a:p>
          <a:p>
            <a:pPr eaLnBrk="1" hangingPunct="1">
              <a:lnSpc>
                <a:spcPct val="90000"/>
              </a:lnSpc>
            </a:pPr>
            <a:r>
              <a:rPr lang="en-US" altLang="en-KE"/>
              <a:t>Smoking </a:t>
            </a:r>
          </a:p>
          <a:p>
            <a:pPr eaLnBrk="1" hangingPunct="1">
              <a:lnSpc>
                <a:spcPct val="90000"/>
              </a:lnSpc>
            </a:pPr>
            <a:r>
              <a:rPr lang="en-US" altLang="en-KE"/>
              <a:t>Oral ingestion </a:t>
            </a:r>
          </a:p>
          <a:p>
            <a:pPr eaLnBrk="1" hangingPunct="1">
              <a:lnSpc>
                <a:spcPct val="90000"/>
              </a:lnSpc>
              <a:buFont typeface="Wingdings" pitchFamily="2" charset="2"/>
              <a:buNone/>
            </a:pPr>
            <a:r>
              <a:rPr lang="en-US" altLang="en-KE"/>
              <a:t>   Among the four modes of use, smoking is the most common and most dangerous since it not only affects the smoker, but those around him.</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AB67A4EB-75F7-2DAF-98F4-20F8ECDA8E6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73A6C29-93EB-F044-AB90-E947C36DA711}" type="slidenum">
              <a:rPr lang="en-US" altLang="en-KE">
                <a:solidFill>
                  <a:schemeClr val="bg1"/>
                </a:solidFill>
              </a:rPr>
              <a:pPr eaLnBrk="1" hangingPunct="1"/>
              <a:t>34</a:t>
            </a:fld>
            <a:endParaRPr lang="en-US" altLang="en-KE">
              <a:solidFill>
                <a:schemeClr val="bg1"/>
              </a:solidFill>
            </a:endParaRPr>
          </a:p>
        </p:txBody>
      </p:sp>
      <p:sp>
        <p:nvSpPr>
          <p:cNvPr id="36867" name="AutoShape 2">
            <a:extLst>
              <a:ext uri="{FF2B5EF4-FFF2-40B4-BE49-F238E27FC236}">
                <a16:creationId xmlns:a16="http://schemas.microsoft.com/office/drawing/2014/main" id="{6DB7DD8D-AE55-5AA1-AFA6-A0C6FC7565C3}"/>
              </a:ext>
            </a:extLst>
          </p:cNvPr>
          <p:cNvSpPr>
            <a:spLocks noGrp="1" noChangeArrowheads="1"/>
          </p:cNvSpPr>
          <p:nvPr>
            <p:ph type="title"/>
          </p:nvPr>
        </p:nvSpPr>
        <p:spPr/>
        <p:txBody>
          <a:bodyPr/>
          <a:lstStyle/>
          <a:p>
            <a:pPr eaLnBrk="1" hangingPunct="1"/>
            <a:r>
              <a:rPr lang="en-US" altLang="en-KE">
                <a:solidFill>
                  <a:srgbClr val="FF0066"/>
                </a:solidFill>
              </a:rPr>
              <a:t>Types of smokers</a:t>
            </a:r>
          </a:p>
        </p:txBody>
      </p:sp>
      <p:sp>
        <p:nvSpPr>
          <p:cNvPr id="36868" name="Rectangle 3">
            <a:extLst>
              <a:ext uri="{FF2B5EF4-FFF2-40B4-BE49-F238E27FC236}">
                <a16:creationId xmlns:a16="http://schemas.microsoft.com/office/drawing/2014/main" id="{F63EFE6A-1BC4-3972-55BF-D60DF621D094}"/>
              </a:ext>
            </a:extLst>
          </p:cNvPr>
          <p:cNvSpPr>
            <a:spLocks noGrp="1" noChangeArrowheads="1"/>
          </p:cNvSpPr>
          <p:nvPr>
            <p:ph type="body" idx="1"/>
          </p:nvPr>
        </p:nvSpPr>
        <p:spPr/>
        <p:txBody>
          <a:bodyPr/>
          <a:lstStyle/>
          <a:p>
            <a:pPr eaLnBrk="1" hangingPunct="1">
              <a:lnSpc>
                <a:spcPct val="90000"/>
              </a:lnSpc>
            </a:pPr>
            <a:r>
              <a:rPr lang="en-US" altLang="en-KE" b="1" i="1"/>
              <a:t>Active smokers (Mainstream Smokers)</a:t>
            </a:r>
            <a:br>
              <a:rPr lang="en-US" altLang="en-KE"/>
            </a:br>
            <a:r>
              <a:rPr lang="en-US" altLang="en-KE"/>
              <a:t>These inhale directly from cigarettes</a:t>
            </a:r>
          </a:p>
          <a:p>
            <a:pPr eaLnBrk="1" hangingPunct="1">
              <a:lnSpc>
                <a:spcPct val="90000"/>
              </a:lnSpc>
            </a:pPr>
            <a:endParaRPr lang="en-US" altLang="en-KE" b="1" i="1"/>
          </a:p>
          <a:p>
            <a:pPr eaLnBrk="1" hangingPunct="1">
              <a:lnSpc>
                <a:spcPct val="90000"/>
              </a:lnSpc>
            </a:pPr>
            <a:r>
              <a:rPr lang="en-US" altLang="en-KE" b="1" i="1"/>
              <a:t>Passive smokers (Side-stream smokers)</a:t>
            </a:r>
            <a:br>
              <a:rPr lang="en-US" altLang="en-KE"/>
            </a:br>
            <a:r>
              <a:rPr lang="en-US" altLang="en-KE"/>
              <a:t>These are non smokers who inhale the smoke indirectly</a:t>
            </a:r>
          </a:p>
          <a:p>
            <a:pPr eaLnBrk="1" hangingPunct="1">
              <a:lnSpc>
                <a:spcPct val="90000"/>
              </a:lnSpc>
              <a:buFont typeface="Wingdings" pitchFamily="2" charset="2"/>
              <a:buNone/>
            </a:pPr>
            <a:r>
              <a:rPr lang="en-US" altLang="en-KE"/>
              <a:t>    For both cases same substance is inhaled though active smokers inhale double the amount.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7FFB5BCB-A65A-F6A8-5DA8-F98F24C5C4C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43D70DF-CF1F-E349-AB51-D9AD17E0F77A}" type="slidenum">
              <a:rPr lang="en-US" altLang="en-KE">
                <a:solidFill>
                  <a:schemeClr val="bg1"/>
                </a:solidFill>
              </a:rPr>
              <a:pPr eaLnBrk="1" hangingPunct="1"/>
              <a:t>35</a:t>
            </a:fld>
            <a:endParaRPr lang="en-US" altLang="en-KE">
              <a:solidFill>
                <a:schemeClr val="bg1"/>
              </a:solidFill>
            </a:endParaRPr>
          </a:p>
        </p:txBody>
      </p:sp>
      <p:sp>
        <p:nvSpPr>
          <p:cNvPr id="37891" name="AutoShape 2">
            <a:extLst>
              <a:ext uri="{FF2B5EF4-FFF2-40B4-BE49-F238E27FC236}">
                <a16:creationId xmlns:a16="http://schemas.microsoft.com/office/drawing/2014/main" id="{934F9608-6A7D-B04A-4AC2-35AF99572E6B}"/>
              </a:ext>
            </a:extLst>
          </p:cNvPr>
          <p:cNvSpPr>
            <a:spLocks noGrp="1" noChangeArrowheads="1"/>
          </p:cNvSpPr>
          <p:nvPr>
            <p:ph type="title"/>
          </p:nvPr>
        </p:nvSpPr>
        <p:spPr/>
        <p:txBody>
          <a:bodyPr/>
          <a:lstStyle/>
          <a:p>
            <a:pPr eaLnBrk="1" hangingPunct="1"/>
            <a:r>
              <a:rPr lang="en-US" altLang="en-KE">
                <a:solidFill>
                  <a:srgbClr val="FF0066"/>
                </a:solidFill>
              </a:rPr>
              <a:t>Greatest at risk to heart problems</a:t>
            </a:r>
          </a:p>
        </p:txBody>
      </p:sp>
      <p:sp>
        <p:nvSpPr>
          <p:cNvPr id="37892" name="Rectangle 3">
            <a:extLst>
              <a:ext uri="{FF2B5EF4-FFF2-40B4-BE49-F238E27FC236}">
                <a16:creationId xmlns:a16="http://schemas.microsoft.com/office/drawing/2014/main" id="{1CDF14B0-33E2-25C9-2A59-715840DB90CB}"/>
              </a:ext>
            </a:extLst>
          </p:cNvPr>
          <p:cNvSpPr>
            <a:spLocks noGrp="1" noChangeArrowheads="1"/>
          </p:cNvSpPr>
          <p:nvPr>
            <p:ph type="body" idx="1"/>
          </p:nvPr>
        </p:nvSpPr>
        <p:spPr/>
        <p:txBody>
          <a:bodyPr/>
          <a:lstStyle/>
          <a:p>
            <a:pPr eaLnBrk="1" hangingPunct="1">
              <a:lnSpc>
                <a:spcPct val="80000"/>
              </a:lnSpc>
            </a:pPr>
            <a:r>
              <a:rPr lang="en-US" altLang="en-KE" sz="2400">
                <a:solidFill>
                  <a:srgbClr val="FF0066"/>
                </a:solidFill>
              </a:rPr>
              <a:t>Current smokers</a:t>
            </a:r>
            <a:r>
              <a:rPr lang="en-US" altLang="en-KE" sz="2400"/>
              <a:t> (quitting will rapidly reduce the risk of developing heart disease, but long term smoking may permanently damage the arteries) </a:t>
            </a:r>
          </a:p>
          <a:p>
            <a:pPr eaLnBrk="1" hangingPunct="1">
              <a:lnSpc>
                <a:spcPct val="80000"/>
              </a:lnSpc>
            </a:pPr>
            <a:r>
              <a:rPr lang="en-US" altLang="en-KE" sz="2400">
                <a:solidFill>
                  <a:srgbClr val="FF0066"/>
                </a:solidFill>
              </a:rPr>
              <a:t>Heavy smokers</a:t>
            </a:r>
            <a:r>
              <a:rPr lang="en-US" altLang="en-KE" sz="2400"/>
              <a:t> </a:t>
            </a:r>
          </a:p>
          <a:p>
            <a:pPr eaLnBrk="1" hangingPunct="1">
              <a:lnSpc>
                <a:spcPct val="80000"/>
              </a:lnSpc>
            </a:pPr>
            <a:r>
              <a:rPr lang="en-US" altLang="en-KE" sz="2400">
                <a:solidFill>
                  <a:srgbClr val="FF0066"/>
                </a:solidFill>
              </a:rPr>
              <a:t>Female smokers</a:t>
            </a:r>
            <a:r>
              <a:rPr lang="en-US" altLang="en-KE" sz="2400"/>
              <a:t> (the risk of having a heart attack in women is 50% greater than in men). </a:t>
            </a:r>
          </a:p>
          <a:p>
            <a:pPr eaLnBrk="1" hangingPunct="1">
              <a:lnSpc>
                <a:spcPct val="80000"/>
              </a:lnSpc>
            </a:pPr>
            <a:r>
              <a:rPr lang="en-US" altLang="en-KE" sz="2400"/>
              <a:t>Smokers of </a:t>
            </a:r>
            <a:r>
              <a:rPr lang="en-US" altLang="en-KE" sz="2400">
                <a:solidFill>
                  <a:srgbClr val="FF0066"/>
                </a:solidFill>
              </a:rPr>
              <a:t>low tar cigarette</a:t>
            </a:r>
            <a:r>
              <a:rPr lang="en-US" altLang="en-KE" sz="2400"/>
              <a:t>: smokers of these cigarette are at  risk of  getting a deadly lung cancer known as adrenocarcinoma. </a:t>
            </a:r>
          </a:p>
          <a:p>
            <a:pPr eaLnBrk="1" hangingPunct="1">
              <a:lnSpc>
                <a:spcPct val="80000"/>
              </a:lnSpc>
            </a:pPr>
            <a:r>
              <a:rPr lang="en-US" altLang="en-KE" sz="2400"/>
              <a:t>Smokers of </a:t>
            </a:r>
            <a:r>
              <a:rPr lang="en-US" altLang="en-KE" sz="2400">
                <a:solidFill>
                  <a:srgbClr val="FF0066"/>
                </a:solidFill>
              </a:rPr>
              <a:t>mentholated cigarette</a:t>
            </a:r>
            <a:r>
              <a:rPr lang="en-US" altLang="en-KE" sz="2400"/>
              <a:t>: this may be due deeper inhalation and smoking earlier in the day.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5">
            <a:extLst>
              <a:ext uri="{FF2B5EF4-FFF2-40B4-BE49-F238E27FC236}">
                <a16:creationId xmlns:a16="http://schemas.microsoft.com/office/drawing/2014/main" id="{99990AF0-F3F8-9F57-F7EF-202156AE526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63F9674-EB15-C14A-8D55-4790212BC829}" type="slidenum">
              <a:rPr lang="en-US" altLang="en-KE">
                <a:solidFill>
                  <a:schemeClr val="bg1"/>
                </a:solidFill>
              </a:rPr>
              <a:pPr eaLnBrk="1" hangingPunct="1"/>
              <a:t>36</a:t>
            </a:fld>
            <a:endParaRPr lang="en-US" altLang="en-KE">
              <a:solidFill>
                <a:schemeClr val="bg1"/>
              </a:solidFill>
            </a:endParaRPr>
          </a:p>
        </p:txBody>
      </p:sp>
      <p:sp>
        <p:nvSpPr>
          <p:cNvPr id="38915" name="AutoShape 2">
            <a:extLst>
              <a:ext uri="{FF2B5EF4-FFF2-40B4-BE49-F238E27FC236}">
                <a16:creationId xmlns:a16="http://schemas.microsoft.com/office/drawing/2014/main" id="{3D825EB0-E125-6BFC-E100-27EEC3995A36}"/>
              </a:ext>
            </a:extLst>
          </p:cNvPr>
          <p:cNvSpPr>
            <a:spLocks noGrp="1" noChangeArrowheads="1"/>
          </p:cNvSpPr>
          <p:nvPr>
            <p:ph type="title"/>
          </p:nvPr>
        </p:nvSpPr>
        <p:spPr/>
        <p:txBody>
          <a:bodyPr/>
          <a:lstStyle/>
          <a:p>
            <a:pPr eaLnBrk="1" hangingPunct="1"/>
            <a:r>
              <a:rPr lang="en-US" altLang="en-KE">
                <a:solidFill>
                  <a:srgbClr val="FF0066"/>
                </a:solidFill>
              </a:rPr>
              <a:t>Reasons for Tobacco abuse</a:t>
            </a:r>
          </a:p>
        </p:txBody>
      </p:sp>
      <p:sp>
        <p:nvSpPr>
          <p:cNvPr id="38916" name="Rectangle 3">
            <a:extLst>
              <a:ext uri="{FF2B5EF4-FFF2-40B4-BE49-F238E27FC236}">
                <a16:creationId xmlns:a16="http://schemas.microsoft.com/office/drawing/2014/main" id="{5F7C1A6E-D384-CE9D-2EE1-84D14CDD2665}"/>
              </a:ext>
            </a:extLst>
          </p:cNvPr>
          <p:cNvSpPr>
            <a:spLocks noGrp="1" noChangeArrowheads="1"/>
          </p:cNvSpPr>
          <p:nvPr>
            <p:ph type="body" idx="1"/>
          </p:nvPr>
        </p:nvSpPr>
        <p:spPr/>
        <p:txBody>
          <a:bodyPr/>
          <a:lstStyle/>
          <a:p>
            <a:pPr eaLnBrk="1" hangingPunct="1"/>
            <a:r>
              <a:rPr lang="en-US" altLang="en-KE"/>
              <a:t>Peer pressure </a:t>
            </a:r>
          </a:p>
          <a:p>
            <a:pPr eaLnBrk="1" hangingPunct="1"/>
            <a:r>
              <a:rPr lang="en-US" altLang="en-KE"/>
              <a:t>The first one is almost always free </a:t>
            </a:r>
          </a:p>
          <a:p>
            <a:pPr eaLnBrk="1" hangingPunct="1"/>
            <a:r>
              <a:rPr lang="en-US" altLang="en-KE"/>
              <a:t>To relieve stress </a:t>
            </a:r>
          </a:p>
          <a:p>
            <a:pPr eaLnBrk="1" hangingPunct="1"/>
            <a:r>
              <a:rPr lang="en-US" altLang="en-KE"/>
              <a:t>To ape celebrities </a:t>
            </a:r>
          </a:p>
          <a:p>
            <a:pPr eaLnBrk="1" hangingPunct="1"/>
            <a:r>
              <a:rPr lang="en-US" altLang="en-KE"/>
              <a:t>Media influence </a:t>
            </a:r>
          </a:p>
          <a:p>
            <a:pPr eaLnBrk="1" hangingPunct="1"/>
            <a:r>
              <a:rPr lang="en-US" altLang="en-KE"/>
              <a:t>It’s cheap and available  </a:t>
            </a:r>
          </a:p>
        </p:txBody>
      </p:sp>
      <p:sp>
        <p:nvSpPr>
          <p:cNvPr id="38917" name="Rectangle 4">
            <a:extLst>
              <a:ext uri="{FF2B5EF4-FFF2-40B4-BE49-F238E27FC236}">
                <a16:creationId xmlns:a16="http://schemas.microsoft.com/office/drawing/2014/main" id="{89A8A407-3006-3041-7935-B6DE3FA157FE}"/>
              </a:ext>
            </a:extLst>
          </p:cNvPr>
          <p:cNvSpPr>
            <a:spLocks noChangeArrowheads="1"/>
          </p:cNvSpPr>
          <p:nvPr/>
        </p:nvSpPr>
        <p:spPr bwMode="auto">
          <a:xfrm>
            <a:off x="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KE"/>
          </a:p>
          <a:p>
            <a:endParaRPr lang="en-US" altLang="en-KE"/>
          </a:p>
        </p:txBody>
      </p:sp>
      <p:sp>
        <p:nvSpPr>
          <p:cNvPr id="38918" name="Rectangle 5">
            <a:extLst>
              <a:ext uri="{FF2B5EF4-FFF2-40B4-BE49-F238E27FC236}">
                <a16:creationId xmlns:a16="http://schemas.microsoft.com/office/drawing/2014/main" id="{AF2C40F4-B24C-189F-D657-8A09E1010710}"/>
              </a:ext>
            </a:extLst>
          </p:cNvPr>
          <p:cNvSpPr>
            <a:spLocks noChangeArrowheads="1"/>
          </p:cNvSpPr>
          <p:nvPr/>
        </p:nvSpPr>
        <p:spPr bwMode="auto">
          <a:xfrm>
            <a:off x="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KE"/>
          </a:p>
          <a:p>
            <a:endParaRPr lang="en-US" altLang="en-KE"/>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7AAC8575-D07D-FB64-A99E-02B64CB59E0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5ED1F9C-F701-5D48-B452-DA7EA2478B97}" type="slidenum">
              <a:rPr lang="en-US" altLang="en-KE">
                <a:solidFill>
                  <a:schemeClr val="bg1"/>
                </a:solidFill>
              </a:rPr>
              <a:pPr eaLnBrk="1" hangingPunct="1"/>
              <a:t>37</a:t>
            </a:fld>
            <a:endParaRPr lang="en-US" altLang="en-KE">
              <a:solidFill>
                <a:schemeClr val="bg1"/>
              </a:solidFill>
            </a:endParaRPr>
          </a:p>
        </p:txBody>
      </p:sp>
      <p:sp>
        <p:nvSpPr>
          <p:cNvPr id="39939" name="AutoShape 2">
            <a:extLst>
              <a:ext uri="{FF2B5EF4-FFF2-40B4-BE49-F238E27FC236}">
                <a16:creationId xmlns:a16="http://schemas.microsoft.com/office/drawing/2014/main" id="{DA3065C0-07FA-70DA-4DC2-B99406275F65}"/>
              </a:ext>
            </a:extLst>
          </p:cNvPr>
          <p:cNvSpPr>
            <a:spLocks noGrp="1" noChangeArrowheads="1"/>
          </p:cNvSpPr>
          <p:nvPr>
            <p:ph type="title"/>
          </p:nvPr>
        </p:nvSpPr>
        <p:spPr/>
        <p:txBody>
          <a:bodyPr/>
          <a:lstStyle/>
          <a:p>
            <a:pPr eaLnBrk="1" hangingPunct="1"/>
            <a:r>
              <a:rPr lang="en-US" altLang="en-KE">
                <a:solidFill>
                  <a:srgbClr val="FF0066"/>
                </a:solidFill>
              </a:rPr>
              <a:t>Reasons for Tobacco abuse cont</a:t>
            </a:r>
            <a:r>
              <a:rPr lang="en-US" altLang="en-KE"/>
              <a:t>.</a:t>
            </a:r>
          </a:p>
        </p:txBody>
      </p:sp>
      <p:sp>
        <p:nvSpPr>
          <p:cNvPr id="39940" name="Rectangle 3">
            <a:extLst>
              <a:ext uri="{FF2B5EF4-FFF2-40B4-BE49-F238E27FC236}">
                <a16:creationId xmlns:a16="http://schemas.microsoft.com/office/drawing/2014/main" id="{815C2DC8-641F-A55D-589B-B77DBDE8D220}"/>
              </a:ext>
            </a:extLst>
          </p:cNvPr>
          <p:cNvSpPr>
            <a:spLocks noGrp="1" noChangeArrowheads="1"/>
          </p:cNvSpPr>
          <p:nvPr>
            <p:ph type="body" idx="1"/>
          </p:nvPr>
        </p:nvSpPr>
        <p:spPr/>
        <p:txBody>
          <a:bodyPr/>
          <a:lstStyle/>
          <a:p>
            <a:pPr eaLnBrk="1" hangingPunct="1"/>
            <a:r>
              <a:rPr lang="en-US" altLang="en-KE"/>
              <a:t>It is acceptable by the society </a:t>
            </a:r>
          </a:p>
          <a:p>
            <a:pPr eaLnBrk="1" hangingPunct="1"/>
            <a:r>
              <a:rPr lang="en-US" altLang="en-KE"/>
              <a:t>Some ladies smoke it to have dark lips which are said to be attractive? </a:t>
            </a:r>
          </a:p>
          <a:p>
            <a:pPr eaLnBrk="1" hangingPunct="1"/>
            <a:r>
              <a:rPr lang="en-US" altLang="en-KE"/>
              <a:t>For prestige </a:t>
            </a:r>
          </a:p>
          <a:p>
            <a:pPr eaLnBrk="1" hangingPunct="1"/>
            <a:r>
              <a:rPr lang="en-US" altLang="en-KE"/>
              <a:t>Curiosity </a:t>
            </a:r>
          </a:p>
          <a:p>
            <a:pPr eaLnBrk="1" hangingPunct="1"/>
            <a:r>
              <a:rPr lang="en-US" altLang="en-KE"/>
              <a:t>Ignorance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a:extLst>
              <a:ext uri="{FF2B5EF4-FFF2-40B4-BE49-F238E27FC236}">
                <a16:creationId xmlns:a16="http://schemas.microsoft.com/office/drawing/2014/main" id="{395652A8-BA98-4330-982C-F66D20E0DD0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7303215-E211-5748-9B3E-BEF3F68CB692}" type="slidenum">
              <a:rPr lang="en-US" altLang="en-KE">
                <a:solidFill>
                  <a:schemeClr val="bg1"/>
                </a:solidFill>
              </a:rPr>
              <a:pPr eaLnBrk="1" hangingPunct="1"/>
              <a:t>38</a:t>
            </a:fld>
            <a:endParaRPr lang="en-US" altLang="en-KE">
              <a:solidFill>
                <a:schemeClr val="bg1"/>
              </a:solidFill>
            </a:endParaRPr>
          </a:p>
        </p:txBody>
      </p:sp>
      <p:sp>
        <p:nvSpPr>
          <p:cNvPr id="40963" name="AutoShape 2">
            <a:extLst>
              <a:ext uri="{FF2B5EF4-FFF2-40B4-BE49-F238E27FC236}">
                <a16:creationId xmlns:a16="http://schemas.microsoft.com/office/drawing/2014/main" id="{60E5A7F2-6F11-582E-30DB-8DFF8C298C44}"/>
              </a:ext>
            </a:extLst>
          </p:cNvPr>
          <p:cNvSpPr>
            <a:spLocks noGrp="1" noChangeArrowheads="1"/>
          </p:cNvSpPr>
          <p:nvPr>
            <p:ph type="title"/>
          </p:nvPr>
        </p:nvSpPr>
        <p:spPr/>
        <p:txBody>
          <a:bodyPr/>
          <a:lstStyle/>
          <a:p>
            <a:pPr eaLnBrk="1" hangingPunct="1"/>
            <a:r>
              <a:rPr lang="en-US" altLang="en-KE">
                <a:solidFill>
                  <a:srgbClr val="FF0066"/>
                </a:solidFill>
              </a:rPr>
              <a:t>Signs of Tobacco abuse</a:t>
            </a:r>
          </a:p>
        </p:txBody>
      </p:sp>
      <p:sp>
        <p:nvSpPr>
          <p:cNvPr id="40964" name="Rectangle 3">
            <a:extLst>
              <a:ext uri="{FF2B5EF4-FFF2-40B4-BE49-F238E27FC236}">
                <a16:creationId xmlns:a16="http://schemas.microsoft.com/office/drawing/2014/main" id="{6BFDE92A-C921-4E61-ECD3-8869E9C6FD7F}"/>
              </a:ext>
            </a:extLst>
          </p:cNvPr>
          <p:cNvSpPr>
            <a:spLocks noGrp="1" noChangeArrowheads="1"/>
          </p:cNvSpPr>
          <p:nvPr>
            <p:ph type="body" idx="1"/>
          </p:nvPr>
        </p:nvSpPr>
        <p:spPr/>
        <p:txBody>
          <a:bodyPr/>
          <a:lstStyle/>
          <a:p>
            <a:pPr eaLnBrk="1" hangingPunct="1"/>
            <a:r>
              <a:rPr lang="en-US" altLang="en-KE"/>
              <a:t>Dark lips/fingertips </a:t>
            </a:r>
          </a:p>
          <a:p>
            <a:pPr eaLnBrk="1" hangingPunct="1"/>
            <a:r>
              <a:rPr lang="en-US" altLang="en-KE"/>
              <a:t>Discolored teeth </a:t>
            </a:r>
          </a:p>
          <a:p>
            <a:pPr eaLnBrk="1" hangingPunct="1"/>
            <a:r>
              <a:rPr lang="en-US" altLang="en-KE"/>
              <a:t>Bloodshot eyes </a:t>
            </a:r>
          </a:p>
          <a:p>
            <a:pPr eaLnBrk="1" hangingPunct="1"/>
            <a:r>
              <a:rPr lang="en-US" altLang="en-KE"/>
              <a:t>Trembling limbs</a:t>
            </a:r>
          </a:p>
          <a:p>
            <a:pPr eaLnBrk="1" hangingPunct="1"/>
            <a:r>
              <a:rPr lang="en-US" altLang="en-KE"/>
              <a:t>Chain smoking </a:t>
            </a:r>
          </a:p>
          <a:p>
            <a:pPr eaLnBrk="1" hangingPunct="1"/>
            <a:r>
              <a:rPr lang="en-US" altLang="en-KE"/>
              <a:t>Foul smelling breath </a:t>
            </a:r>
          </a:p>
          <a:p>
            <a:pPr eaLnBrk="1" hangingPunct="1"/>
            <a:r>
              <a:rPr lang="en-US" altLang="en-KE"/>
              <a:t>Deep dry and heavy cough  </a:t>
            </a:r>
          </a:p>
        </p:txBody>
      </p:sp>
      <p:sp>
        <p:nvSpPr>
          <p:cNvPr id="40965" name="Rectangle 4">
            <a:extLst>
              <a:ext uri="{FF2B5EF4-FFF2-40B4-BE49-F238E27FC236}">
                <a16:creationId xmlns:a16="http://schemas.microsoft.com/office/drawing/2014/main" id="{AB875CEC-E24F-74F0-FE17-A914863F2828}"/>
              </a:ext>
            </a:extLst>
          </p:cNvPr>
          <p:cNvSpPr>
            <a:spLocks noChangeArrowheads="1"/>
          </p:cNvSpPr>
          <p:nvPr/>
        </p:nvSpPr>
        <p:spPr bwMode="auto">
          <a:xfrm>
            <a:off x="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KE"/>
          </a:p>
          <a:p>
            <a:endParaRPr lang="en-US" altLang="en-KE"/>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a:extLst>
              <a:ext uri="{FF2B5EF4-FFF2-40B4-BE49-F238E27FC236}">
                <a16:creationId xmlns:a16="http://schemas.microsoft.com/office/drawing/2014/main" id="{546ABB2B-2F4B-4D3F-817B-57508068BE5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1CED608-F5CD-A94F-8766-FE87086C9A1A}" type="slidenum">
              <a:rPr lang="en-US" altLang="en-KE">
                <a:solidFill>
                  <a:schemeClr val="bg1"/>
                </a:solidFill>
              </a:rPr>
              <a:pPr eaLnBrk="1" hangingPunct="1"/>
              <a:t>39</a:t>
            </a:fld>
            <a:endParaRPr lang="en-US" altLang="en-KE">
              <a:solidFill>
                <a:schemeClr val="bg1"/>
              </a:solidFill>
            </a:endParaRPr>
          </a:p>
        </p:txBody>
      </p:sp>
      <p:sp>
        <p:nvSpPr>
          <p:cNvPr id="41987" name="AutoShape 2">
            <a:extLst>
              <a:ext uri="{FF2B5EF4-FFF2-40B4-BE49-F238E27FC236}">
                <a16:creationId xmlns:a16="http://schemas.microsoft.com/office/drawing/2014/main" id="{9AAD7AB2-B13A-1A80-FFAF-705EE99753AF}"/>
              </a:ext>
            </a:extLst>
          </p:cNvPr>
          <p:cNvSpPr>
            <a:spLocks noGrp="1" noChangeArrowheads="1"/>
          </p:cNvSpPr>
          <p:nvPr>
            <p:ph type="title"/>
          </p:nvPr>
        </p:nvSpPr>
        <p:spPr/>
        <p:txBody>
          <a:bodyPr/>
          <a:lstStyle/>
          <a:p>
            <a:pPr eaLnBrk="1" hangingPunct="1"/>
            <a:r>
              <a:rPr lang="en-US" altLang="en-KE">
                <a:solidFill>
                  <a:srgbClr val="FF0066"/>
                </a:solidFill>
              </a:rPr>
              <a:t>Chemical contents of Tobacco</a:t>
            </a:r>
          </a:p>
        </p:txBody>
      </p:sp>
      <p:sp>
        <p:nvSpPr>
          <p:cNvPr id="41988" name="Rectangle 3">
            <a:extLst>
              <a:ext uri="{FF2B5EF4-FFF2-40B4-BE49-F238E27FC236}">
                <a16:creationId xmlns:a16="http://schemas.microsoft.com/office/drawing/2014/main" id="{2B560370-4F44-BEB8-9CC9-9653C502268F}"/>
              </a:ext>
            </a:extLst>
          </p:cNvPr>
          <p:cNvSpPr>
            <a:spLocks noGrp="1" noChangeArrowheads="1"/>
          </p:cNvSpPr>
          <p:nvPr>
            <p:ph type="body" idx="1"/>
          </p:nvPr>
        </p:nvSpPr>
        <p:spPr/>
        <p:txBody>
          <a:bodyPr/>
          <a:lstStyle/>
          <a:p>
            <a:pPr eaLnBrk="1" hangingPunct="1">
              <a:buFont typeface="Wingdings" pitchFamily="2" charset="2"/>
              <a:buNone/>
            </a:pPr>
            <a:r>
              <a:rPr lang="en-US" altLang="en-KE" sz="2400"/>
              <a:t>    The following are some to the over 4000 contents of tobacco.</a:t>
            </a:r>
          </a:p>
          <a:p>
            <a:pPr lvl="1" eaLnBrk="1" hangingPunct="1"/>
            <a:r>
              <a:rPr lang="en-US" altLang="en-KE" sz="2000" b="1"/>
              <a:t>Nicotine: </a:t>
            </a:r>
            <a:r>
              <a:rPr lang="en-US" altLang="en-KE" sz="2000"/>
              <a:t>This is the most addictive substance in tobacco. It is both a stimulant and sedative to the central Nervous system and changes cardiovascular, neural, endocrine and skeletal muscle functions. </a:t>
            </a:r>
          </a:p>
          <a:p>
            <a:pPr lvl="1" eaLnBrk="1" hangingPunct="1"/>
            <a:r>
              <a:rPr lang="en-US" altLang="en-KE" sz="2000" b="1"/>
              <a:t>Tar</a:t>
            </a:r>
            <a:r>
              <a:rPr lang="en-US" altLang="en-KE" sz="2000"/>
              <a:t> </a:t>
            </a:r>
          </a:p>
          <a:p>
            <a:pPr lvl="1" eaLnBrk="1" hangingPunct="1"/>
            <a:r>
              <a:rPr lang="en-US" altLang="en-KE" sz="2000" b="1"/>
              <a:t>Carbon monoxide</a:t>
            </a:r>
            <a:r>
              <a:rPr lang="en-US" altLang="en-KE" sz="2000"/>
              <a:t> </a:t>
            </a:r>
          </a:p>
          <a:p>
            <a:pPr lvl="1" eaLnBrk="1" hangingPunct="1"/>
            <a:r>
              <a:rPr lang="en-US" altLang="en-KE" sz="2000" b="1"/>
              <a:t>Nitrogen dioxide</a:t>
            </a:r>
            <a:r>
              <a:rPr lang="en-US" altLang="en-KE" sz="2000"/>
              <a:t> </a:t>
            </a:r>
          </a:p>
          <a:p>
            <a:pPr lvl="1" eaLnBrk="1" hangingPunct="1"/>
            <a:r>
              <a:rPr lang="en-US" altLang="en-KE" sz="2000" b="1"/>
              <a:t>Ammonia</a:t>
            </a:r>
            <a:r>
              <a:rPr lang="en-US" altLang="en-KE" sz="2000"/>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26644B63-EC05-C785-F1E7-62D208F286A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1B5698-585B-D040-AA32-4E0A827EB0C7}" type="slidenum">
              <a:rPr lang="en-US" altLang="en-KE">
                <a:solidFill>
                  <a:schemeClr val="bg1"/>
                </a:solidFill>
              </a:rPr>
              <a:pPr eaLnBrk="1" hangingPunct="1"/>
              <a:t>40</a:t>
            </a:fld>
            <a:endParaRPr lang="en-US" altLang="en-KE">
              <a:solidFill>
                <a:schemeClr val="bg1"/>
              </a:solidFill>
            </a:endParaRPr>
          </a:p>
        </p:txBody>
      </p:sp>
      <p:sp>
        <p:nvSpPr>
          <p:cNvPr id="43011" name="AutoShape 2">
            <a:extLst>
              <a:ext uri="{FF2B5EF4-FFF2-40B4-BE49-F238E27FC236}">
                <a16:creationId xmlns:a16="http://schemas.microsoft.com/office/drawing/2014/main" id="{44C4943F-D430-A7BB-0EEC-9CA35CBE509D}"/>
              </a:ext>
            </a:extLst>
          </p:cNvPr>
          <p:cNvSpPr>
            <a:spLocks noGrp="1" noChangeArrowheads="1"/>
          </p:cNvSpPr>
          <p:nvPr>
            <p:ph type="title"/>
          </p:nvPr>
        </p:nvSpPr>
        <p:spPr/>
        <p:txBody>
          <a:bodyPr/>
          <a:lstStyle/>
          <a:p>
            <a:pPr eaLnBrk="1" hangingPunct="1"/>
            <a:r>
              <a:rPr lang="en-US" altLang="en-KE">
                <a:solidFill>
                  <a:srgbClr val="FF0066"/>
                </a:solidFill>
              </a:rPr>
              <a:t>Effects of nicotine</a:t>
            </a:r>
          </a:p>
        </p:txBody>
      </p:sp>
      <p:sp>
        <p:nvSpPr>
          <p:cNvPr id="43012" name="Rectangle 3">
            <a:extLst>
              <a:ext uri="{FF2B5EF4-FFF2-40B4-BE49-F238E27FC236}">
                <a16:creationId xmlns:a16="http://schemas.microsoft.com/office/drawing/2014/main" id="{1BA7E910-C49B-877F-6100-DF8FC5ECE139}"/>
              </a:ext>
            </a:extLst>
          </p:cNvPr>
          <p:cNvSpPr>
            <a:spLocks noGrp="1" noChangeArrowheads="1"/>
          </p:cNvSpPr>
          <p:nvPr>
            <p:ph type="body" idx="1"/>
          </p:nvPr>
        </p:nvSpPr>
        <p:spPr/>
        <p:txBody>
          <a:bodyPr/>
          <a:lstStyle/>
          <a:p>
            <a:pPr eaLnBrk="1" hangingPunct="1">
              <a:lnSpc>
                <a:spcPct val="90000"/>
              </a:lnSpc>
            </a:pPr>
            <a:r>
              <a:rPr lang="en-US" altLang="en-KE" sz="2400"/>
              <a:t>Increases heart rate and blood pressure hence restricts blood flow </a:t>
            </a:r>
          </a:p>
          <a:p>
            <a:pPr eaLnBrk="1" hangingPunct="1">
              <a:lnSpc>
                <a:spcPct val="90000"/>
              </a:lnSpc>
            </a:pPr>
            <a:r>
              <a:rPr lang="en-US" altLang="en-KE" sz="2400"/>
              <a:t>Every puff deposits 100% concentrated nicotine in the brain within 8 seconds </a:t>
            </a:r>
          </a:p>
          <a:p>
            <a:pPr eaLnBrk="1" hangingPunct="1">
              <a:lnSpc>
                <a:spcPct val="90000"/>
              </a:lnSpc>
            </a:pPr>
            <a:r>
              <a:rPr lang="en-US" altLang="en-KE" sz="2400"/>
              <a:t>Cigarette smoking is associated with coronary heart disease, stroke, ulcers and an increased incidence of respiratory infections </a:t>
            </a:r>
          </a:p>
          <a:p>
            <a:pPr eaLnBrk="1" hangingPunct="1">
              <a:lnSpc>
                <a:spcPct val="90000"/>
              </a:lnSpc>
            </a:pPr>
            <a:r>
              <a:rPr lang="en-US" altLang="en-KE" sz="2400"/>
              <a:t>It encourages formation of blood clot in the vessels impending blood flow (thrombosis) </a:t>
            </a:r>
          </a:p>
          <a:p>
            <a:pPr eaLnBrk="1" hangingPunct="1">
              <a:lnSpc>
                <a:spcPct val="90000"/>
              </a:lnSpc>
            </a:pPr>
            <a:r>
              <a:rPr lang="en-US" altLang="en-KE" sz="2400"/>
              <a:t>Nicotine worsens heart disease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5">
            <a:extLst>
              <a:ext uri="{FF2B5EF4-FFF2-40B4-BE49-F238E27FC236}">
                <a16:creationId xmlns:a16="http://schemas.microsoft.com/office/drawing/2014/main" id="{C73FF267-93BE-7907-946B-D283093866E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31927F2-26D3-F34D-8EAC-891A5E54E8C5}" type="slidenum">
              <a:rPr lang="en-US" altLang="en-KE">
                <a:solidFill>
                  <a:schemeClr val="bg1"/>
                </a:solidFill>
              </a:rPr>
              <a:pPr eaLnBrk="1" hangingPunct="1"/>
              <a:t>41</a:t>
            </a:fld>
            <a:endParaRPr lang="en-US" altLang="en-KE">
              <a:solidFill>
                <a:schemeClr val="bg1"/>
              </a:solidFill>
            </a:endParaRPr>
          </a:p>
        </p:txBody>
      </p:sp>
      <p:sp>
        <p:nvSpPr>
          <p:cNvPr id="44035" name="AutoShape 2">
            <a:extLst>
              <a:ext uri="{FF2B5EF4-FFF2-40B4-BE49-F238E27FC236}">
                <a16:creationId xmlns:a16="http://schemas.microsoft.com/office/drawing/2014/main" id="{1C1ADBB2-E5DB-AD4E-7264-8C86C9912264}"/>
              </a:ext>
            </a:extLst>
          </p:cNvPr>
          <p:cNvSpPr>
            <a:spLocks noGrp="1" noChangeArrowheads="1"/>
          </p:cNvSpPr>
          <p:nvPr>
            <p:ph type="title"/>
          </p:nvPr>
        </p:nvSpPr>
        <p:spPr/>
        <p:txBody>
          <a:bodyPr/>
          <a:lstStyle/>
          <a:p>
            <a:pPr eaLnBrk="1" hangingPunct="1"/>
            <a:r>
              <a:rPr lang="en-US" altLang="en-KE">
                <a:solidFill>
                  <a:srgbClr val="FF0066"/>
                </a:solidFill>
              </a:rPr>
              <a:t>Effects of nicotine cont.</a:t>
            </a:r>
          </a:p>
        </p:txBody>
      </p:sp>
      <p:sp>
        <p:nvSpPr>
          <p:cNvPr id="44036" name="Rectangle 3">
            <a:extLst>
              <a:ext uri="{FF2B5EF4-FFF2-40B4-BE49-F238E27FC236}">
                <a16:creationId xmlns:a16="http://schemas.microsoft.com/office/drawing/2014/main" id="{C5408502-E890-E306-EC1D-2755C7963855}"/>
              </a:ext>
            </a:extLst>
          </p:cNvPr>
          <p:cNvSpPr>
            <a:spLocks noGrp="1" noChangeArrowheads="1"/>
          </p:cNvSpPr>
          <p:nvPr>
            <p:ph type="body" idx="1"/>
          </p:nvPr>
        </p:nvSpPr>
        <p:spPr/>
        <p:txBody>
          <a:bodyPr/>
          <a:lstStyle/>
          <a:p>
            <a:pPr eaLnBrk="1" hangingPunct="1"/>
            <a:r>
              <a:rPr lang="en-US" altLang="en-KE"/>
              <a:t>Increases alertness, concentration initially and gives a feeling of satiety.</a:t>
            </a:r>
          </a:p>
          <a:p>
            <a:pPr eaLnBrk="1" hangingPunct="1"/>
            <a:r>
              <a:rPr lang="en-US" altLang="en-KE"/>
              <a:t>Causes release of adrenaline leading to sudden release of glucose.? Diabetes</a:t>
            </a:r>
          </a:p>
          <a:p>
            <a:pPr eaLnBrk="1" hangingPunct="1"/>
            <a:r>
              <a:rPr lang="en-US" altLang="en-KE">
                <a:solidFill>
                  <a:srgbClr val="FF0066"/>
                </a:solidFill>
              </a:rPr>
              <a:t>Stimulation resulting from nicotine high is followed by depression and fatigue</a:t>
            </a:r>
            <a:r>
              <a:rPr lang="en-US" altLang="en-KE"/>
              <a:t>, this compels the abuser to take more and more (Addiction)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a:extLst>
              <a:ext uri="{FF2B5EF4-FFF2-40B4-BE49-F238E27FC236}">
                <a16:creationId xmlns:a16="http://schemas.microsoft.com/office/drawing/2014/main" id="{3A018127-2FF4-BC84-670E-1324E3FEE17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9F1A7F2-9031-3142-B788-C69CE2FAB954}" type="slidenum">
              <a:rPr lang="en-US" altLang="en-KE">
                <a:solidFill>
                  <a:schemeClr val="bg1"/>
                </a:solidFill>
              </a:rPr>
              <a:pPr eaLnBrk="1" hangingPunct="1"/>
              <a:t>42</a:t>
            </a:fld>
            <a:endParaRPr lang="en-US" altLang="en-KE">
              <a:solidFill>
                <a:schemeClr val="bg1"/>
              </a:solidFill>
            </a:endParaRPr>
          </a:p>
        </p:txBody>
      </p:sp>
      <p:sp>
        <p:nvSpPr>
          <p:cNvPr id="45059" name="AutoShape 2">
            <a:extLst>
              <a:ext uri="{FF2B5EF4-FFF2-40B4-BE49-F238E27FC236}">
                <a16:creationId xmlns:a16="http://schemas.microsoft.com/office/drawing/2014/main" id="{D48CB12B-67B2-DC6F-AE83-4EBAB478B726}"/>
              </a:ext>
            </a:extLst>
          </p:cNvPr>
          <p:cNvSpPr>
            <a:spLocks noGrp="1" noChangeArrowheads="1"/>
          </p:cNvSpPr>
          <p:nvPr>
            <p:ph type="title"/>
          </p:nvPr>
        </p:nvSpPr>
        <p:spPr/>
        <p:txBody>
          <a:bodyPr/>
          <a:lstStyle/>
          <a:p>
            <a:pPr eaLnBrk="1" hangingPunct="1"/>
            <a:r>
              <a:rPr lang="en-US" altLang="en-KE">
                <a:solidFill>
                  <a:srgbClr val="FF0066"/>
                </a:solidFill>
              </a:rPr>
              <a:t>Effects of tar</a:t>
            </a:r>
          </a:p>
        </p:txBody>
      </p:sp>
      <p:sp>
        <p:nvSpPr>
          <p:cNvPr id="45060" name="Rectangle 3">
            <a:extLst>
              <a:ext uri="{FF2B5EF4-FFF2-40B4-BE49-F238E27FC236}">
                <a16:creationId xmlns:a16="http://schemas.microsoft.com/office/drawing/2014/main" id="{0FFB67EF-8286-1378-86AA-D91C07AF2F6D}"/>
              </a:ext>
            </a:extLst>
          </p:cNvPr>
          <p:cNvSpPr>
            <a:spLocks noGrp="1" noChangeArrowheads="1"/>
          </p:cNvSpPr>
          <p:nvPr>
            <p:ph type="body" idx="1"/>
          </p:nvPr>
        </p:nvSpPr>
        <p:spPr/>
        <p:txBody>
          <a:bodyPr/>
          <a:lstStyle/>
          <a:p>
            <a:pPr eaLnBrk="1" hangingPunct="1"/>
            <a:r>
              <a:rPr lang="en-US" altLang="en-KE"/>
              <a:t>Tar has 50 known carcinogens that activate dormant cancer causing cells </a:t>
            </a:r>
          </a:p>
          <a:p>
            <a:pPr eaLnBrk="1" hangingPunct="1"/>
            <a:r>
              <a:rPr lang="en-US" altLang="en-KE"/>
              <a:t>Causes chronic bronchitis and other chest problems </a:t>
            </a:r>
          </a:p>
          <a:p>
            <a:pPr eaLnBrk="1" hangingPunct="1"/>
            <a:r>
              <a:rPr lang="en-US" altLang="en-KE"/>
              <a:t>Increases chance of getting tuberculosis </a:t>
            </a:r>
          </a:p>
          <a:p>
            <a:pPr eaLnBrk="1" hangingPunct="1"/>
            <a:r>
              <a:rPr lang="en-US" altLang="en-KE"/>
              <a:t>Darkens lips, fingertips and teethCoats the tongue and taste buds and leads to loss of appetite </a:t>
            </a:r>
          </a:p>
          <a:p>
            <a:pPr eaLnBrk="1" hangingPunct="1"/>
            <a:endParaRPr lang="en-US" altLang="en-KE"/>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a:extLst>
              <a:ext uri="{FF2B5EF4-FFF2-40B4-BE49-F238E27FC236}">
                <a16:creationId xmlns:a16="http://schemas.microsoft.com/office/drawing/2014/main" id="{C833D5C0-3F0B-C121-C170-50BBC40CDC7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678CFC0-3A61-AD4F-9DFB-12073B39D157}" type="slidenum">
              <a:rPr lang="en-US" altLang="en-KE">
                <a:solidFill>
                  <a:schemeClr val="bg1"/>
                </a:solidFill>
              </a:rPr>
              <a:pPr eaLnBrk="1" hangingPunct="1"/>
              <a:t>43</a:t>
            </a:fld>
            <a:endParaRPr lang="en-US" altLang="en-KE">
              <a:solidFill>
                <a:schemeClr val="bg1"/>
              </a:solidFill>
            </a:endParaRPr>
          </a:p>
        </p:txBody>
      </p:sp>
      <p:sp>
        <p:nvSpPr>
          <p:cNvPr id="46083" name="AutoShape 2">
            <a:extLst>
              <a:ext uri="{FF2B5EF4-FFF2-40B4-BE49-F238E27FC236}">
                <a16:creationId xmlns:a16="http://schemas.microsoft.com/office/drawing/2014/main" id="{2BBDA6CE-CA3A-56E7-6B43-7893DFB0452F}"/>
              </a:ext>
            </a:extLst>
          </p:cNvPr>
          <p:cNvSpPr>
            <a:spLocks noGrp="1" noChangeArrowheads="1"/>
          </p:cNvSpPr>
          <p:nvPr>
            <p:ph type="title"/>
          </p:nvPr>
        </p:nvSpPr>
        <p:spPr/>
        <p:txBody>
          <a:bodyPr/>
          <a:lstStyle/>
          <a:p>
            <a:pPr eaLnBrk="1" hangingPunct="1"/>
            <a:r>
              <a:rPr lang="en-US" altLang="en-KE">
                <a:solidFill>
                  <a:srgbClr val="FF0066"/>
                </a:solidFill>
              </a:rPr>
              <a:t>Effects of nitrogen dioxide</a:t>
            </a:r>
          </a:p>
        </p:txBody>
      </p:sp>
      <p:sp>
        <p:nvSpPr>
          <p:cNvPr id="46084" name="Rectangle 3">
            <a:extLst>
              <a:ext uri="{FF2B5EF4-FFF2-40B4-BE49-F238E27FC236}">
                <a16:creationId xmlns:a16="http://schemas.microsoft.com/office/drawing/2014/main" id="{568D3179-B88C-A102-3832-01C3F4B2195B}"/>
              </a:ext>
            </a:extLst>
          </p:cNvPr>
          <p:cNvSpPr>
            <a:spLocks noGrp="1" noChangeArrowheads="1"/>
          </p:cNvSpPr>
          <p:nvPr>
            <p:ph type="body" idx="1"/>
          </p:nvPr>
        </p:nvSpPr>
        <p:spPr/>
        <p:txBody>
          <a:bodyPr/>
          <a:lstStyle/>
          <a:p>
            <a:pPr eaLnBrk="1" hangingPunct="1"/>
            <a:r>
              <a:rPr lang="en-US" altLang="en-KE"/>
              <a:t>Causes emphysema (progressive thinning of the lung tissue that leads to the rupture of the alveoli) </a:t>
            </a:r>
          </a:p>
          <a:p>
            <a:pPr eaLnBrk="1" hangingPunct="1"/>
            <a:r>
              <a:rPr lang="en-US" altLang="en-KE"/>
              <a:t>Lowers immunity system increasing susceptibility to diseases </a:t>
            </a:r>
          </a:p>
          <a:p>
            <a:pPr eaLnBrk="1" hangingPunct="1"/>
            <a:r>
              <a:rPr lang="en-US" altLang="en-KE"/>
              <a:t>Causes sore throat </a:t>
            </a:r>
          </a:p>
          <a:p>
            <a:pPr eaLnBrk="1" hangingPunct="1"/>
            <a:r>
              <a:rPr lang="en-US" altLang="en-KE"/>
              <a:t>Causes bad smell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FC869427-617E-15A7-A575-4086E08D4DE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B4D536B-912A-2447-8311-7374DAB39AA2}" type="slidenum">
              <a:rPr lang="en-US" altLang="en-KE">
                <a:solidFill>
                  <a:schemeClr val="bg1"/>
                </a:solidFill>
              </a:rPr>
              <a:pPr eaLnBrk="1" hangingPunct="1"/>
              <a:t>44</a:t>
            </a:fld>
            <a:endParaRPr lang="en-US" altLang="en-KE">
              <a:solidFill>
                <a:schemeClr val="bg1"/>
              </a:solidFill>
            </a:endParaRPr>
          </a:p>
        </p:txBody>
      </p:sp>
      <p:sp>
        <p:nvSpPr>
          <p:cNvPr id="47107" name="AutoShape 2">
            <a:extLst>
              <a:ext uri="{FF2B5EF4-FFF2-40B4-BE49-F238E27FC236}">
                <a16:creationId xmlns:a16="http://schemas.microsoft.com/office/drawing/2014/main" id="{2080F506-A045-2171-3538-F10D58881D62}"/>
              </a:ext>
            </a:extLst>
          </p:cNvPr>
          <p:cNvSpPr>
            <a:spLocks noGrp="1" noChangeArrowheads="1"/>
          </p:cNvSpPr>
          <p:nvPr>
            <p:ph type="title"/>
          </p:nvPr>
        </p:nvSpPr>
        <p:spPr/>
        <p:txBody>
          <a:bodyPr/>
          <a:lstStyle/>
          <a:p>
            <a:pPr eaLnBrk="1" hangingPunct="1"/>
            <a:r>
              <a:rPr lang="en-US" altLang="en-KE" sz="3200" b="0">
                <a:solidFill>
                  <a:srgbClr val="FF0066"/>
                </a:solidFill>
              </a:rPr>
              <a:t>Effects of ammonia</a:t>
            </a:r>
            <a:br>
              <a:rPr lang="en-US" altLang="en-KE" sz="3200" b="0">
                <a:solidFill>
                  <a:srgbClr val="FF0066"/>
                </a:solidFill>
              </a:rPr>
            </a:br>
            <a:endParaRPr lang="en-US" altLang="en-KE" sz="3200" b="0">
              <a:solidFill>
                <a:srgbClr val="FF0066"/>
              </a:solidFill>
            </a:endParaRPr>
          </a:p>
        </p:txBody>
      </p:sp>
      <p:sp>
        <p:nvSpPr>
          <p:cNvPr id="47108" name="Rectangle 3">
            <a:extLst>
              <a:ext uri="{FF2B5EF4-FFF2-40B4-BE49-F238E27FC236}">
                <a16:creationId xmlns:a16="http://schemas.microsoft.com/office/drawing/2014/main" id="{84285183-170A-0BA1-799B-981085650D41}"/>
              </a:ext>
            </a:extLst>
          </p:cNvPr>
          <p:cNvSpPr>
            <a:spLocks noGrp="1" noChangeArrowheads="1"/>
          </p:cNvSpPr>
          <p:nvPr>
            <p:ph type="body" idx="1"/>
          </p:nvPr>
        </p:nvSpPr>
        <p:spPr/>
        <p:txBody>
          <a:bodyPr/>
          <a:lstStyle/>
          <a:p>
            <a:pPr eaLnBrk="1" hangingPunct="1"/>
            <a:r>
              <a:rPr lang="en-US" altLang="en-KE"/>
              <a:t>A toxic gas that causes bad smell</a:t>
            </a:r>
          </a:p>
          <a:p>
            <a:pPr eaLnBrk="1" hangingPunct="1"/>
            <a:r>
              <a:rPr lang="en-US" altLang="en-KE"/>
              <a:t>When inhaled the </a:t>
            </a:r>
            <a:r>
              <a:rPr lang="en-US" altLang="en-KE">
                <a:solidFill>
                  <a:srgbClr val="FF0066"/>
                </a:solidFill>
              </a:rPr>
              <a:t>effects </a:t>
            </a:r>
            <a:r>
              <a:rPr lang="en-US" altLang="en-KE"/>
              <a:t>on the body are similar to those of nitrogen on the body organs. Which effects are these?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a:extLst>
              <a:ext uri="{FF2B5EF4-FFF2-40B4-BE49-F238E27FC236}">
                <a16:creationId xmlns:a16="http://schemas.microsoft.com/office/drawing/2014/main" id="{1A4C6D4A-B8DC-746E-74D8-C2859052B0E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D1440C9-9389-894C-BF6E-1A5433E498BF}" type="slidenum">
              <a:rPr lang="en-US" altLang="en-KE">
                <a:solidFill>
                  <a:schemeClr val="bg1"/>
                </a:solidFill>
              </a:rPr>
              <a:pPr eaLnBrk="1" hangingPunct="1"/>
              <a:t>45</a:t>
            </a:fld>
            <a:endParaRPr lang="en-US" altLang="en-KE">
              <a:solidFill>
                <a:schemeClr val="bg1"/>
              </a:solidFill>
            </a:endParaRPr>
          </a:p>
        </p:txBody>
      </p:sp>
      <p:sp>
        <p:nvSpPr>
          <p:cNvPr id="48131" name="AutoShape 2">
            <a:extLst>
              <a:ext uri="{FF2B5EF4-FFF2-40B4-BE49-F238E27FC236}">
                <a16:creationId xmlns:a16="http://schemas.microsoft.com/office/drawing/2014/main" id="{6746F7FA-9E55-DF0E-27C2-7114CA4762AF}"/>
              </a:ext>
            </a:extLst>
          </p:cNvPr>
          <p:cNvSpPr>
            <a:spLocks noGrp="1" noChangeArrowheads="1"/>
          </p:cNvSpPr>
          <p:nvPr>
            <p:ph type="title"/>
          </p:nvPr>
        </p:nvSpPr>
        <p:spPr/>
        <p:txBody>
          <a:bodyPr/>
          <a:lstStyle/>
          <a:p>
            <a:pPr eaLnBrk="1" hangingPunct="1"/>
            <a:r>
              <a:rPr lang="en-US" altLang="en-KE"/>
              <a:t> </a:t>
            </a:r>
            <a:r>
              <a:rPr lang="en-US" altLang="en-KE">
                <a:solidFill>
                  <a:srgbClr val="FF0066"/>
                </a:solidFill>
              </a:rPr>
              <a:t>To stop tobacco addiction</a:t>
            </a:r>
          </a:p>
        </p:txBody>
      </p:sp>
      <p:sp>
        <p:nvSpPr>
          <p:cNvPr id="48132" name="Rectangle 3">
            <a:extLst>
              <a:ext uri="{FF2B5EF4-FFF2-40B4-BE49-F238E27FC236}">
                <a16:creationId xmlns:a16="http://schemas.microsoft.com/office/drawing/2014/main" id="{1373AEE5-BE41-118C-4816-68B94D2E699E}"/>
              </a:ext>
            </a:extLst>
          </p:cNvPr>
          <p:cNvSpPr>
            <a:spLocks noGrp="1" noChangeArrowheads="1"/>
          </p:cNvSpPr>
          <p:nvPr>
            <p:ph type="body" idx="1"/>
          </p:nvPr>
        </p:nvSpPr>
        <p:spPr/>
        <p:txBody>
          <a:bodyPr/>
          <a:lstStyle/>
          <a:p>
            <a:pPr eaLnBrk="1" hangingPunct="1">
              <a:lnSpc>
                <a:spcPct val="80000"/>
              </a:lnSpc>
            </a:pPr>
            <a:r>
              <a:rPr lang="en-US" altLang="en-KE" sz="2000" dirty="0">
                <a:solidFill>
                  <a:srgbClr val="FF0066"/>
                </a:solidFill>
              </a:rPr>
              <a:t>Decide </a:t>
            </a:r>
            <a:r>
              <a:rPr lang="en-US" altLang="en-KE" sz="2000" dirty="0"/>
              <a:t>to quit and tell friends and family about it. </a:t>
            </a:r>
          </a:p>
          <a:p>
            <a:pPr eaLnBrk="1" hangingPunct="1">
              <a:lnSpc>
                <a:spcPct val="80000"/>
              </a:lnSpc>
            </a:pPr>
            <a:r>
              <a:rPr lang="en-US" altLang="en-KE" sz="2000" dirty="0"/>
              <a:t>Cigarette smoking is a behavioral problem, a habit that one learns over a time. So it requires the </a:t>
            </a:r>
            <a:r>
              <a:rPr lang="en-US" altLang="en-KE" sz="2000" dirty="0">
                <a:solidFill>
                  <a:srgbClr val="FF0066"/>
                </a:solidFill>
              </a:rPr>
              <a:t>will power</a:t>
            </a:r>
            <a:r>
              <a:rPr lang="en-US" altLang="en-KE" sz="2000" dirty="0"/>
              <a:t> (self will to stop). </a:t>
            </a:r>
          </a:p>
          <a:p>
            <a:pPr eaLnBrk="1" hangingPunct="1">
              <a:lnSpc>
                <a:spcPct val="80000"/>
              </a:lnSpc>
            </a:pPr>
            <a:r>
              <a:rPr lang="en-US" altLang="en-KE" sz="2000" dirty="0"/>
              <a:t>Self-will to give up the habit; an inner power that causes you to overcome every obstacle to achieve a goal. Self will can be cultivated by a correct understanding of the </a:t>
            </a:r>
            <a:r>
              <a:rPr lang="en-US" altLang="en-KE" sz="2000" dirty="0">
                <a:solidFill>
                  <a:srgbClr val="FF0066"/>
                </a:solidFill>
              </a:rPr>
              <a:t>dangers of smoking</a:t>
            </a:r>
            <a:r>
              <a:rPr lang="en-US" altLang="en-KE" sz="2000" dirty="0"/>
              <a:t> and the desire to live a long healthy life. </a:t>
            </a:r>
          </a:p>
          <a:p>
            <a:pPr eaLnBrk="1" hangingPunct="1">
              <a:lnSpc>
                <a:spcPct val="80000"/>
              </a:lnSpc>
            </a:pPr>
            <a:r>
              <a:rPr lang="en-US" altLang="en-KE" sz="2000" dirty="0">
                <a:solidFill>
                  <a:srgbClr val="FF0066"/>
                </a:solidFill>
              </a:rPr>
              <a:t>Be conscious</a:t>
            </a:r>
            <a:r>
              <a:rPr lang="en-US" altLang="en-KE" sz="2000" dirty="0"/>
              <a:t> of every cigarette smoked, the place one is likely to smoke and the time one is likely to do it. To help you monitor yourself, keep a record card of these e.g. wrap your cigarette pack with paper and rubber bands. Each time you smoke write down the time of day, how you feel and </a:t>
            </a:r>
            <a:r>
              <a:rPr lang="en-US" altLang="en-KE" sz="2000" dirty="0">
                <a:solidFill>
                  <a:srgbClr val="FF0066"/>
                </a:solidFill>
              </a:rPr>
              <a:t>how important</a:t>
            </a:r>
            <a:r>
              <a:rPr lang="en-US" altLang="en-KE" sz="2000" dirty="0"/>
              <a:t> that cigarette is to you on a scale of 1-5.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F8BD69BE-3FCB-E224-164B-3511D136EBA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573AD56-B832-7E42-A1A4-66EFB62A2E22}" type="slidenum">
              <a:rPr lang="en-US" altLang="en-KE">
                <a:solidFill>
                  <a:schemeClr val="bg1"/>
                </a:solidFill>
              </a:rPr>
              <a:pPr eaLnBrk="1" hangingPunct="1"/>
              <a:t>46</a:t>
            </a:fld>
            <a:endParaRPr lang="en-US" altLang="en-KE">
              <a:solidFill>
                <a:schemeClr val="bg1"/>
              </a:solidFill>
            </a:endParaRPr>
          </a:p>
        </p:txBody>
      </p:sp>
      <p:sp>
        <p:nvSpPr>
          <p:cNvPr id="49155" name="AutoShape 2">
            <a:extLst>
              <a:ext uri="{FF2B5EF4-FFF2-40B4-BE49-F238E27FC236}">
                <a16:creationId xmlns:a16="http://schemas.microsoft.com/office/drawing/2014/main" id="{F1C5DAA3-415D-3488-E5FC-9A8A3B062232}"/>
              </a:ext>
            </a:extLst>
          </p:cNvPr>
          <p:cNvSpPr>
            <a:spLocks noGrp="1" noChangeArrowheads="1"/>
          </p:cNvSpPr>
          <p:nvPr>
            <p:ph type="title"/>
          </p:nvPr>
        </p:nvSpPr>
        <p:spPr/>
        <p:txBody>
          <a:bodyPr/>
          <a:lstStyle/>
          <a:p>
            <a:pPr eaLnBrk="1" hangingPunct="1"/>
            <a:r>
              <a:rPr lang="en-US" altLang="en-KE">
                <a:solidFill>
                  <a:srgbClr val="FF0066"/>
                </a:solidFill>
              </a:rPr>
              <a:t>To Stop tobacco addiction cont.</a:t>
            </a:r>
          </a:p>
        </p:txBody>
      </p:sp>
      <p:sp>
        <p:nvSpPr>
          <p:cNvPr id="49156" name="Rectangle 3">
            <a:extLst>
              <a:ext uri="{FF2B5EF4-FFF2-40B4-BE49-F238E27FC236}">
                <a16:creationId xmlns:a16="http://schemas.microsoft.com/office/drawing/2014/main" id="{E2F7F7A8-CDDF-6669-6DD4-EF6FCB6BA2D1}"/>
              </a:ext>
            </a:extLst>
          </p:cNvPr>
          <p:cNvSpPr>
            <a:spLocks noGrp="1" noChangeArrowheads="1"/>
          </p:cNvSpPr>
          <p:nvPr>
            <p:ph type="body" idx="1"/>
          </p:nvPr>
        </p:nvSpPr>
        <p:spPr/>
        <p:txBody>
          <a:bodyPr/>
          <a:lstStyle/>
          <a:p>
            <a:pPr eaLnBrk="1" hangingPunct="1">
              <a:lnSpc>
                <a:spcPct val="80000"/>
              </a:lnSpc>
            </a:pPr>
            <a:r>
              <a:rPr lang="en-US" altLang="en-KE" sz="2000">
                <a:solidFill>
                  <a:srgbClr val="FF0066"/>
                </a:solidFill>
              </a:rPr>
              <a:t>Don’t carry matches</a:t>
            </a:r>
            <a:r>
              <a:rPr lang="en-US" altLang="en-KE" sz="2000"/>
              <a:t> and keep your cigarette of easy reach. </a:t>
            </a:r>
          </a:p>
          <a:p>
            <a:pPr eaLnBrk="1" hangingPunct="1">
              <a:lnSpc>
                <a:spcPct val="80000"/>
              </a:lnSpc>
            </a:pPr>
            <a:r>
              <a:rPr lang="en-US" altLang="en-KE" sz="2000"/>
              <a:t>Write down the benefits of </a:t>
            </a:r>
            <a:r>
              <a:rPr lang="en-US" altLang="en-KE" sz="2000">
                <a:solidFill>
                  <a:srgbClr val="FF0066"/>
                </a:solidFill>
              </a:rPr>
              <a:t>NOT</a:t>
            </a:r>
            <a:r>
              <a:rPr lang="en-US" altLang="en-KE" sz="2000"/>
              <a:t> smoking and the reason why one began smoking no matter how obnoxious they may sound. </a:t>
            </a:r>
          </a:p>
          <a:p>
            <a:pPr eaLnBrk="1" hangingPunct="1">
              <a:lnSpc>
                <a:spcPct val="80000"/>
              </a:lnSpc>
            </a:pPr>
            <a:r>
              <a:rPr lang="en-US" altLang="en-KE" sz="2000"/>
              <a:t>If you are already dependent on cigarettes, </a:t>
            </a:r>
            <a:r>
              <a:rPr lang="en-US" altLang="en-KE" sz="2000">
                <a:solidFill>
                  <a:srgbClr val="FF0066"/>
                </a:solidFill>
              </a:rPr>
              <a:t>reduce</a:t>
            </a:r>
            <a:r>
              <a:rPr lang="en-US" altLang="en-KE" sz="2000"/>
              <a:t> the intake each day, try to smoke fewer cigarettes and try not to smoke the ones that aren’t most important. </a:t>
            </a:r>
          </a:p>
          <a:p>
            <a:pPr eaLnBrk="1" hangingPunct="1">
              <a:lnSpc>
                <a:spcPct val="80000"/>
              </a:lnSpc>
            </a:pPr>
            <a:r>
              <a:rPr lang="en-US" altLang="en-KE" sz="2000">
                <a:solidFill>
                  <a:srgbClr val="FF0066"/>
                </a:solidFill>
              </a:rPr>
              <a:t>Gradually</a:t>
            </a:r>
            <a:r>
              <a:rPr lang="en-US" altLang="en-KE" sz="2000"/>
              <a:t> to avoid the unpleasant effects of withdrawal </a:t>
            </a:r>
          </a:p>
          <a:p>
            <a:pPr eaLnBrk="1" hangingPunct="1">
              <a:lnSpc>
                <a:spcPct val="80000"/>
              </a:lnSpc>
            </a:pPr>
            <a:r>
              <a:rPr lang="en-US" altLang="en-KE" sz="2000"/>
              <a:t>After reducing gradually, </a:t>
            </a:r>
            <a:r>
              <a:rPr lang="en-US" altLang="en-KE" sz="2000">
                <a:solidFill>
                  <a:srgbClr val="FF0066"/>
                </a:solidFill>
              </a:rPr>
              <a:t>set a D-Day</a:t>
            </a:r>
            <a:r>
              <a:rPr lang="en-US" altLang="en-KE" sz="2000"/>
              <a:t> of (target) terminating the smoking permanently. </a:t>
            </a:r>
          </a:p>
          <a:p>
            <a:pPr eaLnBrk="1" hangingPunct="1">
              <a:lnSpc>
                <a:spcPct val="80000"/>
              </a:lnSpc>
            </a:pPr>
            <a:r>
              <a:rPr lang="en-US" altLang="en-KE" sz="2000"/>
              <a:t>Don’t buy a new pack.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5">
            <a:extLst>
              <a:ext uri="{FF2B5EF4-FFF2-40B4-BE49-F238E27FC236}">
                <a16:creationId xmlns:a16="http://schemas.microsoft.com/office/drawing/2014/main" id="{90E499AF-2A62-A8B5-DD36-A037DA4090F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5A9C87D-59EB-834E-BCA3-3FABB6DFA265}" type="slidenum">
              <a:rPr lang="en-US" altLang="en-KE">
                <a:solidFill>
                  <a:schemeClr val="bg1"/>
                </a:solidFill>
              </a:rPr>
              <a:pPr eaLnBrk="1" hangingPunct="1"/>
              <a:t>47</a:t>
            </a:fld>
            <a:endParaRPr lang="en-US" altLang="en-KE">
              <a:solidFill>
                <a:schemeClr val="bg1"/>
              </a:solidFill>
            </a:endParaRPr>
          </a:p>
        </p:txBody>
      </p:sp>
      <p:sp>
        <p:nvSpPr>
          <p:cNvPr id="50179" name="AutoShape 2">
            <a:extLst>
              <a:ext uri="{FF2B5EF4-FFF2-40B4-BE49-F238E27FC236}">
                <a16:creationId xmlns:a16="http://schemas.microsoft.com/office/drawing/2014/main" id="{ADD6A9B9-5118-2C19-0E86-E33C614F29E1}"/>
              </a:ext>
            </a:extLst>
          </p:cNvPr>
          <p:cNvSpPr>
            <a:spLocks noGrp="1" noChangeArrowheads="1"/>
          </p:cNvSpPr>
          <p:nvPr>
            <p:ph type="title"/>
          </p:nvPr>
        </p:nvSpPr>
        <p:spPr/>
        <p:txBody>
          <a:bodyPr/>
          <a:lstStyle/>
          <a:p>
            <a:pPr eaLnBrk="1" hangingPunct="1"/>
            <a:r>
              <a:rPr lang="en-US" altLang="en-KE">
                <a:solidFill>
                  <a:srgbClr val="FF0066"/>
                </a:solidFill>
              </a:rPr>
              <a:t>Stop tobacco addiction cont.</a:t>
            </a:r>
          </a:p>
        </p:txBody>
      </p:sp>
      <p:sp>
        <p:nvSpPr>
          <p:cNvPr id="50180" name="Rectangle 3">
            <a:extLst>
              <a:ext uri="{FF2B5EF4-FFF2-40B4-BE49-F238E27FC236}">
                <a16:creationId xmlns:a16="http://schemas.microsoft.com/office/drawing/2014/main" id="{B185B430-B4A8-F6D5-DEC9-E7A11930D0A7}"/>
              </a:ext>
            </a:extLst>
          </p:cNvPr>
          <p:cNvSpPr>
            <a:spLocks noGrp="1" noChangeArrowheads="1"/>
          </p:cNvSpPr>
          <p:nvPr>
            <p:ph type="body" idx="1"/>
          </p:nvPr>
        </p:nvSpPr>
        <p:spPr/>
        <p:txBody>
          <a:bodyPr/>
          <a:lstStyle/>
          <a:p>
            <a:pPr eaLnBrk="1" hangingPunct="1">
              <a:lnSpc>
                <a:spcPct val="80000"/>
              </a:lnSpc>
            </a:pPr>
            <a:r>
              <a:rPr lang="en-US" altLang="en-KE" sz="1800"/>
              <a:t>Do exercises. This helps to stimulate the body, causes relaxation and helps to relieve stress </a:t>
            </a:r>
          </a:p>
          <a:p>
            <a:pPr eaLnBrk="1" hangingPunct="1">
              <a:lnSpc>
                <a:spcPct val="80000"/>
              </a:lnSpc>
            </a:pPr>
            <a:r>
              <a:rPr lang="en-US" altLang="en-KE" sz="1800"/>
              <a:t>Change your habits, e.g. route to work, eating place etc. </a:t>
            </a:r>
          </a:p>
          <a:p>
            <a:pPr eaLnBrk="1" hangingPunct="1">
              <a:lnSpc>
                <a:spcPct val="80000"/>
              </a:lnSpc>
            </a:pPr>
            <a:r>
              <a:rPr lang="en-US" altLang="en-KE" sz="1800"/>
              <a:t>When craving arises, chew a low calorie nibble like carrots or sugarless gum </a:t>
            </a:r>
          </a:p>
          <a:p>
            <a:pPr eaLnBrk="1" hangingPunct="1">
              <a:lnSpc>
                <a:spcPct val="80000"/>
              </a:lnSpc>
            </a:pPr>
            <a:r>
              <a:rPr lang="en-US" altLang="en-KE" sz="1800"/>
              <a:t>Drink a lot of liquids especially water, juice, tea. Limit coffee, soft drinks and alcohol they increases urge to smoke. </a:t>
            </a:r>
          </a:p>
          <a:p>
            <a:pPr eaLnBrk="1" hangingPunct="1">
              <a:lnSpc>
                <a:spcPct val="80000"/>
              </a:lnSpc>
            </a:pPr>
            <a:r>
              <a:rPr lang="en-US" altLang="en-KE" sz="1800"/>
              <a:t>Ask a non-smoking friend for moral support </a:t>
            </a:r>
          </a:p>
          <a:p>
            <a:pPr eaLnBrk="1" hangingPunct="1">
              <a:lnSpc>
                <a:spcPct val="80000"/>
              </a:lnSpc>
            </a:pPr>
            <a:r>
              <a:rPr lang="en-US" altLang="en-KE" sz="1800"/>
              <a:t>Congratulate yourself on every effort made (reward yourself for every effort made). </a:t>
            </a:r>
          </a:p>
          <a:p>
            <a:pPr eaLnBrk="1" hangingPunct="1">
              <a:lnSpc>
                <a:spcPct val="80000"/>
              </a:lnSpc>
            </a:pPr>
            <a:r>
              <a:rPr lang="en-US" altLang="en-KE" sz="1800"/>
              <a:t>Avoid having a lot of unstructured time keep yourself busy, change routine and do things that are out of the ordinary that don’t remind you of smoking. </a:t>
            </a:r>
          </a:p>
          <a:p>
            <a:pPr eaLnBrk="1" hangingPunct="1">
              <a:lnSpc>
                <a:spcPct val="80000"/>
              </a:lnSpc>
            </a:pPr>
            <a:r>
              <a:rPr lang="en-US" altLang="en-KE" sz="1800"/>
              <a:t>Develop good personal connections with family members, friends, animals, things to encourage caring, learning to share space and also bonding.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5">
            <a:extLst>
              <a:ext uri="{FF2B5EF4-FFF2-40B4-BE49-F238E27FC236}">
                <a16:creationId xmlns:a16="http://schemas.microsoft.com/office/drawing/2014/main" id="{B4DEA837-EBDC-97A6-C168-535266FA864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A039A2C-335A-2B45-A69A-1F1CB17AF4AE}" type="slidenum">
              <a:rPr lang="en-US" altLang="en-KE">
                <a:solidFill>
                  <a:schemeClr val="bg1"/>
                </a:solidFill>
              </a:rPr>
              <a:pPr eaLnBrk="1" hangingPunct="1"/>
              <a:t>48</a:t>
            </a:fld>
            <a:endParaRPr lang="en-US" altLang="en-KE">
              <a:solidFill>
                <a:schemeClr val="bg1"/>
              </a:solidFill>
            </a:endParaRPr>
          </a:p>
        </p:txBody>
      </p:sp>
      <p:sp>
        <p:nvSpPr>
          <p:cNvPr id="51203" name="AutoShape 2">
            <a:extLst>
              <a:ext uri="{FF2B5EF4-FFF2-40B4-BE49-F238E27FC236}">
                <a16:creationId xmlns:a16="http://schemas.microsoft.com/office/drawing/2014/main" id="{BD8D484D-21BD-A1E4-950E-43BD71F5BDB7}"/>
              </a:ext>
            </a:extLst>
          </p:cNvPr>
          <p:cNvSpPr>
            <a:spLocks noGrp="1" noChangeArrowheads="1"/>
          </p:cNvSpPr>
          <p:nvPr>
            <p:ph type="title"/>
          </p:nvPr>
        </p:nvSpPr>
        <p:spPr/>
        <p:txBody>
          <a:bodyPr/>
          <a:lstStyle/>
          <a:p>
            <a:pPr eaLnBrk="1" hangingPunct="1"/>
            <a:r>
              <a:rPr lang="en-US" altLang="en-KE">
                <a:solidFill>
                  <a:srgbClr val="FF0066"/>
                </a:solidFill>
              </a:rPr>
              <a:t>Treatment</a:t>
            </a:r>
          </a:p>
        </p:txBody>
      </p:sp>
      <p:sp>
        <p:nvSpPr>
          <p:cNvPr id="51204" name="Rectangle 3">
            <a:extLst>
              <a:ext uri="{FF2B5EF4-FFF2-40B4-BE49-F238E27FC236}">
                <a16:creationId xmlns:a16="http://schemas.microsoft.com/office/drawing/2014/main" id="{4AA774D4-3299-505E-35CA-C0E18F83CBB9}"/>
              </a:ext>
            </a:extLst>
          </p:cNvPr>
          <p:cNvSpPr>
            <a:spLocks noGrp="1" noChangeArrowheads="1"/>
          </p:cNvSpPr>
          <p:nvPr>
            <p:ph type="body" idx="1"/>
          </p:nvPr>
        </p:nvSpPr>
        <p:spPr/>
        <p:txBody>
          <a:bodyPr/>
          <a:lstStyle/>
          <a:p>
            <a:pPr eaLnBrk="1" hangingPunct="1">
              <a:buFont typeface="Wingdings" pitchFamily="2" charset="2"/>
              <a:buNone/>
            </a:pPr>
            <a:r>
              <a:rPr lang="en-US" altLang="en-KE"/>
              <a:t>1. Nicotine substitutes</a:t>
            </a:r>
          </a:p>
          <a:p>
            <a:pPr eaLnBrk="1" hangingPunct="1">
              <a:buFont typeface="Wingdings" pitchFamily="2" charset="2"/>
              <a:buNone/>
            </a:pPr>
            <a:r>
              <a:rPr lang="en-US" altLang="en-KE"/>
              <a:t>      -Nicotine chewing gum</a:t>
            </a:r>
          </a:p>
          <a:p>
            <a:pPr eaLnBrk="1" hangingPunct="1">
              <a:buFont typeface="Wingdings" pitchFamily="2" charset="2"/>
              <a:buNone/>
            </a:pPr>
            <a:r>
              <a:rPr lang="en-US" altLang="en-KE"/>
              <a:t>      -Nicotine transdermal patches</a:t>
            </a:r>
          </a:p>
          <a:p>
            <a:pPr eaLnBrk="1" hangingPunct="1">
              <a:buFont typeface="Wingdings" pitchFamily="2" charset="2"/>
              <a:buNone/>
            </a:pPr>
            <a:r>
              <a:rPr lang="en-US" altLang="en-KE"/>
              <a:t>2. Zyban an oral medication</a:t>
            </a:r>
          </a:p>
          <a:p>
            <a:pPr eaLnBrk="1" hangingPunct="1">
              <a:buFont typeface="Wingdings" pitchFamily="2" charset="2"/>
              <a:buNone/>
            </a:pPr>
            <a:r>
              <a:rPr lang="en-US" altLang="en-KE"/>
              <a:t>3. Using a gradual nicotine reduction filter</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5">
            <a:extLst>
              <a:ext uri="{FF2B5EF4-FFF2-40B4-BE49-F238E27FC236}">
                <a16:creationId xmlns:a16="http://schemas.microsoft.com/office/drawing/2014/main" id="{9827621C-0AD9-ABED-9CB6-A64E78ABC47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13B6391-1CB3-8849-B133-C67B4437F98D}" type="slidenum">
              <a:rPr lang="en-US" altLang="en-KE">
                <a:solidFill>
                  <a:schemeClr val="bg1"/>
                </a:solidFill>
              </a:rPr>
              <a:pPr eaLnBrk="1" hangingPunct="1"/>
              <a:t>49</a:t>
            </a:fld>
            <a:endParaRPr lang="en-US" altLang="en-KE">
              <a:solidFill>
                <a:schemeClr val="bg1"/>
              </a:solidFill>
            </a:endParaRPr>
          </a:p>
        </p:txBody>
      </p:sp>
      <p:sp>
        <p:nvSpPr>
          <p:cNvPr id="52227" name="AutoShape 2">
            <a:extLst>
              <a:ext uri="{FF2B5EF4-FFF2-40B4-BE49-F238E27FC236}">
                <a16:creationId xmlns:a16="http://schemas.microsoft.com/office/drawing/2014/main" id="{F884BF14-C720-2210-6793-0D210D7B15D2}"/>
              </a:ext>
            </a:extLst>
          </p:cNvPr>
          <p:cNvSpPr>
            <a:spLocks noGrp="1" noChangeArrowheads="1"/>
          </p:cNvSpPr>
          <p:nvPr>
            <p:ph type="title"/>
          </p:nvPr>
        </p:nvSpPr>
        <p:spPr/>
        <p:txBody>
          <a:bodyPr/>
          <a:lstStyle/>
          <a:p>
            <a:pPr eaLnBrk="1" hangingPunct="1"/>
            <a:r>
              <a:rPr lang="en-US" altLang="en-KE">
                <a:solidFill>
                  <a:srgbClr val="FF0066"/>
                </a:solidFill>
              </a:rPr>
              <a:t>MARIJUANA</a:t>
            </a:r>
          </a:p>
        </p:txBody>
      </p:sp>
      <p:sp>
        <p:nvSpPr>
          <p:cNvPr id="52228" name="Rectangle 3">
            <a:extLst>
              <a:ext uri="{FF2B5EF4-FFF2-40B4-BE49-F238E27FC236}">
                <a16:creationId xmlns:a16="http://schemas.microsoft.com/office/drawing/2014/main" id="{6AABBBAD-AC15-58D5-DE60-5D9449CEFBCE}"/>
              </a:ext>
            </a:extLst>
          </p:cNvPr>
          <p:cNvSpPr>
            <a:spLocks noGrp="1" noChangeArrowheads="1"/>
          </p:cNvSpPr>
          <p:nvPr>
            <p:ph type="body" idx="1"/>
          </p:nvPr>
        </p:nvSpPr>
        <p:spPr/>
        <p:txBody>
          <a:bodyPr/>
          <a:lstStyle/>
          <a:p>
            <a:pPr eaLnBrk="1" hangingPunct="1"/>
            <a:r>
              <a:rPr lang="en-US" altLang="en-KE"/>
              <a:t>The plant Cannabis sativa is the source of both </a:t>
            </a:r>
            <a:r>
              <a:rPr lang="en-US" altLang="en-KE">
                <a:solidFill>
                  <a:srgbClr val="FF0066"/>
                </a:solidFill>
              </a:rPr>
              <a:t>Bhang, hashish and hashish oil.</a:t>
            </a:r>
            <a:r>
              <a:rPr lang="en-US" altLang="en-KE"/>
              <a:t> The leaves, flowers, and twigs of the plant are crushed to produce marijuana; its concentrated resin is hashish while an extract of hashish using vegetable oil gives hashish oil </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5">
            <a:extLst>
              <a:ext uri="{FF2B5EF4-FFF2-40B4-BE49-F238E27FC236}">
                <a16:creationId xmlns:a16="http://schemas.microsoft.com/office/drawing/2014/main" id="{286FE2E7-A0F1-4C64-2C2F-3BD89895D4C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AD7ADD3-9256-DF4A-901E-6827E5BCD19C}" type="slidenum">
              <a:rPr lang="en-US" altLang="en-KE">
                <a:solidFill>
                  <a:schemeClr val="bg1"/>
                </a:solidFill>
              </a:rPr>
              <a:pPr eaLnBrk="1" hangingPunct="1"/>
              <a:t>50</a:t>
            </a:fld>
            <a:endParaRPr lang="en-US" altLang="en-KE">
              <a:solidFill>
                <a:schemeClr val="bg1"/>
              </a:solidFill>
            </a:endParaRPr>
          </a:p>
        </p:txBody>
      </p:sp>
      <p:sp>
        <p:nvSpPr>
          <p:cNvPr id="53251" name="AutoShape 2">
            <a:extLst>
              <a:ext uri="{FF2B5EF4-FFF2-40B4-BE49-F238E27FC236}">
                <a16:creationId xmlns:a16="http://schemas.microsoft.com/office/drawing/2014/main" id="{06131214-A018-3A9C-5C8B-DF24163D060F}"/>
              </a:ext>
            </a:extLst>
          </p:cNvPr>
          <p:cNvSpPr>
            <a:spLocks noGrp="1" noChangeArrowheads="1"/>
          </p:cNvSpPr>
          <p:nvPr>
            <p:ph type="title"/>
          </p:nvPr>
        </p:nvSpPr>
        <p:spPr/>
        <p:txBody>
          <a:bodyPr/>
          <a:lstStyle/>
          <a:p>
            <a:pPr eaLnBrk="1" hangingPunct="1"/>
            <a:r>
              <a:rPr lang="en-US" altLang="en-KE">
                <a:solidFill>
                  <a:srgbClr val="FF0066"/>
                </a:solidFill>
              </a:rPr>
              <a:t>Effects of Marijuana</a:t>
            </a:r>
          </a:p>
        </p:txBody>
      </p:sp>
      <p:sp>
        <p:nvSpPr>
          <p:cNvPr id="53252" name="Rectangle 3">
            <a:extLst>
              <a:ext uri="{FF2B5EF4-FFF2-40B4-BE49-F238E27FC236}">
                <a16:creationId xmlns:a16="http://schemas.microsoft.com/office/drawing/2014/main" id="{0C9B67C4-8B9F-0CB1-DF9C-8B17F7623064}"/>
              </a:ext>
            </a:extLst>
          </p:cNvPr>
          <p:cNvSpPr>
            <a:spLocks noGrp="1" noChangeArrowheads="1"/>
          </p:cNvSpPr>
          <p:nvPr>
            <p:ph type="body" idx="1"/>
          </p:nvPr>
        </p:nvSpPr>
        <p:spPr/>
        <p:txBody>
          <a:bodyPr/>
          <a:lstStyle/>
          <a:p>
            <a:pPr eaLnBrk="1" hangingPunct="1">
              <a:lnSpc>
                <a:spcPct val="90000"/>
              </a:lnSpc>
            </a:pPr>
            <a:r>
              <a:rPr lang="en-US" altLang="en-KE"/>
              <a:t>Bhang (cannabis) contains more than 400 chemicals, many of which are harmful </a:t>
            </a:r>
          </a:p>
          <a:p>
            <a:pPr eaLnBrk="1" hangingPunct="1">
              <a:lnSpc>
                <a:spcPct val="90000"/>
              </a:lnSpc>
            </a:pPr>
            <a:r>
              <a:rPr lang="en-US" altLang="en-KE"/>
              <a:t>Bhang (Cannabis) smoke has more cancer-causing agents than cigarette smoke. </a:t>
            </a:r>
          </a:p>
          <a:p>
            <a:pPr eaLnBrk="1" hangingPunct="1">
              <a:lnSpc>
                <a:spcPct val="90000"/>
              </a:lnSpc>
            </a:pPr>
            <a:r>
              <a:rPr lang="en-US" altLang="en-KE"/>
              <a:t>The chemicals in Bhang smoke can remain in the body for up to a month. </a:t>
            </a:r>
          </a:p>
          <a:p>
            <a:pPr eaLnBrk="1" hangingPunct="1">
              <a:lnSpc>
                <a:spcPct val="90000"/>
              </a:lnSpc>
            </a:pPr>
            <a:r>
              <a:rPr lang="en-US" altLang="en-KE"/>
              <a:t>Bhang (cannabis) affects co-ordination and slows down thinking and reflexes. </a:t>
            </a:r>
          </a:p>
        </p:txBody>
      </p:sp>
      <p:sp>
        <p:nvSpPr>
          <p:cNvPr id="53253" name="Rectangle 4">
            <a:extLst>
              <a:ext uri="{FF2B5EF4-FFF2-40B4-BE49-F238E27FC236}">
                <a16:creationId xmlns:a16="http://schemas.microsoft.com/office/drawing/2014/main" id="{D7310CE6-1976-E8BB-CC14-10C8B1E754D5}"/>
              </a:ext>
            </a:extLst>
          </p:cNvPr>
          <p:cNvSpPr>
            <a:spLocks noChangeArrowheads="1"/>
          </p:cNvSpPr>
          <p:nvPr/>
        </p:nvSpPr>
        <p:spPr bwMode="auto">
          <a:xfrm>
            <a:off x="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KE"/>
          </a:p>
          <a:p>
            <a:endParaRPr lang="en-US" altLang="en-KE"/>
          </a:p>
        </p:txBody>
      </p:sp>
      <p:sp>
        <p:nvSpPr>
          <p:cNvPr id="53254" name="Rectangle 5">
            <a:extLst>
              <a:ext uri="{FF2B5EF4-FFF2-40B4-BE49-F238E27FC236}">
                <a16:creationId xmlns:a16="http://schemas.microsoft.com/office/drawing/2014/main" id="{0BA2ACDB-6B72-F7F5-ED7C-831D2F3512B4}"/>
              </a:ext>
            </a:extLst>
          </p:cNvPr>
          <p:cNvSpPr>
            <a:spLocks noChangeArrowheads="1"/>
          </p:cNvSpPr>
          <p:nvPr/>
        </p:nvSpPr>
        <p:spPr bwMode="auto">
          <a:xfrm>
            <a:off x="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KE"/>
          </a:p>
          <a:p>
            <a:endParaRPr lang="en-US" altLang="en-KE"/>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5">
            <a:extLst>
              <a:ext uri="{FF2B5EF4-FFF2-40B4-BE49-F238E27FC236}">
                <a16:creationId xmlns:a16="http://schemas.microsoft.com/office/drawing/2014/main" id="{282C6755-6A44-77F0-794A-F08185A0745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121EEC3-1914-C74B-A54D-4FF20762343D}" type="slidenum">
              <a:rPr lang="en-US" altLang="en-KE">
                <a:solidFill>
                  <a:schemeClr val="bg1"/>
                </a:solidFill>
              </a:rPr>
              <a:pPr eaLnBrk="1" hangingPunct="1"/>
              <a:t>51</a:t>
            </a:fld>
            <a:endParaRPr lang="en-US" altLang="en-KE">
              <a:solidFill>
                <a:schemeClr val="bg1"/>
              </a:solidFill>
            </a:endParaRPr>
          </a:p>
        </p:txBody>
      </p:sp>
      <p:sp>
        <p:nvSpPr>
          <p:cNvPr id="54275" name="AutoShape 2">
            <a:extLst>
              <a:ext uri="{FF2B5EF4-FFF2-40B4-BE49-F238E27FC236}">
                <a16:creationId xmlns:a16="http://schemas.microsoft.com/office/drawing/2014/main" id="{3F0FC545-FC80-E3B6-574C-5DF927CB59E9}"/>
              </a:ext>
            </a:extLst>
          </p:cNvPr>
          <p:cNvSpPr>
            <a:spLocks noGrp="1" noChangeArrowheads="1"/>
          </p:cNvSpPr>
          <p:nvPr>
            <p:ph type="title"/>
          </p:nvPr>
        </p:nvSpPr>
        <p:spPr/>
        <p:txBody>
          <a:bodyPr/>
          <a:lstStyle/>
          <a:p>
            <a:pPr eaLnBrk="1" hangingPunct="1"/>
            <a:r>
              <a:rPr lang="en-US" altLang="en-KE">
                <a:solidFill>
                  <a:srgbClr val="FF0066"/>
                </a:solidFill>
              </a:rPr>
              <a:t>Effects of Marijuana cont.</a:t>
            </a:r>
          </a:p>
        </p:txBody>
      </p:sp>
      <p:sp>
        <p:nvSpPr>
          <p:cNvPr id="54276" name="Rectangle 3">
            <a:extLst>
              <a:ext uri="{FF2B5EF4-FFF2-40B4-BE49-F238E27FC236}">
                <a16:creationId xmlns:a16="http://schemas.microsoft.com/office/drawing/2014/main" id="{5C28D05C-E65F-3B80-978B-2D9308931F34}"/>
              </a:ext>
            </a:extLst>
          </p:cNvPr>
          <p:cNvSpPr>
            <a:spLocks noGrp="1" noChangeArrowheads="1"/>
          </p:cNvSpPr>
          <p:nvPr>
            <p:ph type="body" idx="1"/>
          </p:nvPr>
        </p:nvSpPr>
        <p:spPr/>
        <p:txBody>
          <a:bodyPr/>
          <a:lstStyle/>
          <a:p>
            <a:pPr eaLnBrk="1" hangingPunct="1">
              <a:lnSpc>
                <a:spcPct val="90000"/>
              </a:lnSpc>
            </a:pPr>
            <a:r>
              <a:rPr lang="en-US" altLang="en-KE"/>
              <a:t>Bhang (cannabis) reduces people’s memory and affects comprehension. </a:t>
            </a:r>
          </a:p>
          <a:p>
            <a:pPr eaLnBrk="1" hangingPunct="1">
              <a:lnSpc>
                <a:spcPct val="90000"/>
              </a:lnSpc>
            </a:pPr>
            <a:r>
              <a:rPr lang="en-US" altLang="en-KE"/>
              <a:t>Bhang smokers often lose interest in schoolwork, sports, and other extracurricular activities </a:t>
            </a:r>
          </a:p>
          <a:p>
            <a:pPr eaLnBrk="1" hangingPunct="1">
              <a:lnSpc>
                <a:spcPct val="90000"/>
              </a:lnSpc>
            </a:pPr>
            <a:r>
              <a:rPr lang="en-US" altLang="en-KE"/>
              <a:t>Smoking Bhang is especially harmful for young people because their bodies are still growing. </a:t>
            </a:r>
          </a:p>
          <a:p>
            <a:pPr eaLnBrk="1" hangingPunct="1">
              <a:lnSpc>
                <a:spcPct val="90000"/>
              </a:lnSpc>
            </a:pPr>
            <a:r>
              <a:rPr lang="en-US" altLang="en-KE"/>
              <a:t>Bhang is psychologically addictive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5">
            <a:extLst>
              <a:ext uri="{FF2B5EF4-FFF2-40B4-BE49-F238E27FC236}">
                <a16:creationId xmlns:a16="http://schemas.microsoft.com/office/drawing/2014/main" id="{67434E58-FFEA-7AE6-8310-B8BDD1DA28F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4BADFF1-2CAF-9D4F-B226-A7C2EAA7A617}" type="slidenum">
              <a:rPr lang="en-US" altLang="en-KE">
                <a:solidFill>
                  <a:schemeClr val="bg1"/>
                </a:solidFill>
              </a:rPr>
              <a:pPr eaLnBrk="1" hangingPunct="1"/>
              <a:t>52</a:t>
            </a:fld>
            <a:endParaRPr lang="en-US" altLang="en-KE">
              <a:solidFill>
                <a:schemeClr val="bg1"/>
              </a:solidFill>
            </a:endParaRPr>
          </a:p>
        </p:txBody>
      </p:sp>
      <p:sp>
        <p:nvSpPr>
          <p:cNvPr id="55299" name="AutoShape 2">
            <a:extLst>
              <a:ext uri="{FF2B5EF4-FFF2-40B4-BE49-F238E27FC236}">
                <a16:creationId xmlns:a16="http://schemas.microsoft.com/office/drawing/2014/main" id="{071CC9CB-339F-E653-E7AC-999E8FB62FE2}"/>
              </a:ext>
            </a:extLst>
          </p:cNvPr>
          <p:cNvSpPr>
            <a:spLocks noGrp="1" noChangeArrowheads="1"/>
          </p:cNvSpPr>
          <p:nvPr>
            <p:ph type="title"/>
          </p:nvPr>
        </p:nvSpPr>
        <p:spPr/>
        <p:txBody>
          <a:bodyPr/>
          <a:lstStyle/>
          <a:p>
            <a:pPr eaLnBrk="1" hangingPunct="1"/>
            <a:r>
              <a:rPr lang="en-US" altLang="en-KE">
                <a:solidFill>
                  <a:srgbClr val="FF0066"/>
                </a:solidFill>
              </a:rPr>
              <a:t>Effects of Marijuana cont.</a:t>
            </a:r>
          </a:p>
        </p:txBody>
      </p:sp>
      <p:sp>
        <p:nvSpPr>
          <p:cNvPr id="55300" name="Rectangle 3">
            <a:extLst>
              <a:ext uri="{FF2B5EF4-FFF2-40B4-BE49-F238E27FC236}">
                <a16:creationId xmlns:a16="http://schemas.microsoft.com/office/drawing/2014/main" id="{5B7B998A-9815-6EC6-CD19-44289F16DEB0}"/>
              </a:ext>
            </a:extLst>
          </p:cNvPr>
          <p:cNvSpPr>
            <a:spLocks noGrp="1" noChangeArrowheads="1"/>
          </p:cNvSpPr>
          <p:nvPr>
            <p:ph type="body" idx="1"/>
          </p:nvPr>
        </p:nvSpPr>
        <p:spPr/>
        <p:txBody>
          <a:bodyPr/>
          <a:lstStyle/>
          <a:p>
            <a:pPr eaLnBrk="1" hangingPunct="1">
              <a:lnSpc>
                <a:spcPct val="90000"/>
              </a:lnSpc>
            </a:pPr>
            <a:r>
              <a:rPr lang="en-US" altLang="en-KE"/>
              <a:t>On the central nervous system it affects perception of time distance and speed thus upsetting coordination, causing unsteady hands, uncontrolled laughter</a:t>
            </a:r>
          </a:p>
          <a:p>
            <a:pPr eaLnBrk="1" hangingPunct="1">
              <a:lnSpc>
                <a:spcPct val="90000"/>
              </a:lnSpc>
            </a:pPr>
            <a:r>
              <a:rPr lang="en-US" altLang="en-KE"/>
              <a:t>On the respiratory system it has a tendency to cause bronchitis</a:t>
            </a:r>
          </a:p>
          <a:p>
            <a:pPr eaLnBrk="1" hangingPunct="1">
              <a:lnSpc>
                <a:spcPct val="90000"/>
              </a:lnSpc>
            </a:pPr>
            <a:r>
              <a:rPr lang="en-US" altLang="en-KE"/>
              <a:t>On the hormonal system it causes reduced levels of testosterone thus inhibiting reproductive function and decreased lipido</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5">
            <a:extLst>
              <a:ext uri="{FF2B5EF4-FFF2-40B4-BE49-F238E27FC236}">
                <a16:creationId xmlns:a16="http://schemas.microsoft.com/office/drawing/2014/main" id="{C520C216-7F5D-C6BE-A986-272B9D6CEFA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4AD5BE5-AC72-864A-94C6-CB0E1FB514BB}" type="slidenum">
              <a:rPr lang="en-US" altLang="en-KE">
                <a:solidFill>
                  <a:schemeClr val="bg1"/>
                </a:solidFill>
              </a:rPr>
              <a:pPr eaLnBrk="1" hangingPunct="1"/>
              <a:t>53</a:t>
            </a:fld>
            <a:endParaRPr lang="en-US" altLang="en-KE">
              <a:solidFill>
                <a:schemeClr val="bg1"/>
              </a:solidFill>
            </a:endParaRPr>
          </a:p>
        </p:txBody>
      </p:sp>
      <p:sp>
        <p:nvSpPr>
          <p:cNvPr id="56323" name="AutoShape 2">
            <a:extLst>
              <a:ext uri="{FF2B5EF4-FFF2-40B4-BE49-F238E27FC236}">
                <a16:creationId xmlns:a16="http://schemas.microsoft.com/office/drawing/2014/main" id="{87EE6592-0F3E-831A-DC61-F8B99C672D0D}"/>
              </a:ext>
            </a:extLst>
          </p:cNvPr>
          <p:cNvSpPr>
            <a:spLocks noGrp="1" noChangeArrowheads="1"/>
          </p:cNvSpPr>
          <p:nvPr>
            <p:ph type="title"/>
          </p:nvPr>
        </p:nvSpPr>
        <p:spPr/>
        <p:txBody>
          <a:bodyPr/>
          <a:lstStyle/>
          <a:p>
            <a:pPr eaLnBrk="1" hangingPunct="1"/>
            <a:r>
              <a:rPr lang="en-US" altLang="en-KE">
                <a:solidFill>
                  <a:srgbClr val="FF0066"/>
                </a:solidFill>
              </a:rPr>
              <a:t>Effects of marijuana cont.</a:t>
            </a:r>
          </a:p>
        </p:txBody>
      </p:sp>
      <p:sp>
        <p:nvSpPr>
          <p:cNvPr id="56324" name="Rectangle 3">
            <a:extLst>
              <a:ext uri="{FF2B5EF4-FFF2-40B4-BE49-F238E27FC236}">
                <a16:creationId xmlns:a16="http://schemas.microsoft.com/office/drawing/2014/main" id="{30A2AE93-0CB5-EDF5-B8E0-40AA0C3385D4}"/>
              </a:ext>
            </a:extLst>
          </p:cNvPr>
          <p:cNvSpPr>
            <a:spLocks noGrp="1" noChangeArrowheads="1"/>
          </p:cNvSpPr>
          <p:nvPr>
            <p:ph type="body" idx="1"/>
          </p:nvPr>
        </p:nvSpPr>
        <p:spPr/>
        <p:txBody>
          <a:bodyPr/>
          <a:lstStyle/>
          <a:p>
            <a:pPr eaLnBrk="1" hangingPunct="1"/>
            <a:r>
              <a:rPr lang="en-US" altLang="en-KE"/>
              <a:t>Abusers of psychotropic substances have a higher number of broken chromosomes hence leading to birth of malformed offspring.</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5">
            <a:extLst>
              <a:ext uri="{FF2B5EF4-FFF2-40B4-BE49-F238E27FC236}">
                <a16:creationId xmlns:a16="http://schemas.microsoft.com/office/drawing/2014/main" id="{A2A4CBB8-F31D-1315-869B-C94B042320E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8FACFF-014C-1240-BB14-292B6DDEADE7}" type="slidenum">
              <a:rPr lang="en-US" altLang="en-KE">
                <a:solidFill>
                  <a:schemeClr val="bg1"/>
                </a:solidFill>
              </a:rPr>
              <a:pPr eaLnBrk="1" hangingPunct="1"/>
              <a:t>54</a:t>
            </a:fld>
            <a:endParaRPr lang="en-US" altLang="en-KE">
              <a:solidFill>
                <a:schemeClr val="bg1"/>
              </a:solidFill>
            </a:endParaRPr>
          </a:p>
        </p:txBody>
      </p:sp>
      <p:sp>
        <p:nvSpPr>
          <p:cNvPr id="57347" name="AutoShape 2">
            <a:extLst>
              <a:ext uri="{FF2B5EF4-FFF2-40B4-BE49-F238E27FC236}">
                <a16:creationId xmlns:a16="http://schemas.microsoft.com/office/drawing/2014/main" id="{B7132FF7-0459-384D-2D21-7AA744F16C87}"/>
              </a:ext>
            </a:extLst>
          </p:cNvPr>
          <p:cNvSpPr>
            <a:spLocks noGrp="1" noChangeArrowheads="1"/>
          </p:cNvSpPr>
          <p:nvPr>
            <p:ph type="title"/>
          </p:nvPr>
        </p:nvSpPr>
        <p:spPr/>
        <p:txBody>
          <a:bodyPr/>
          <a:lstStyle/>
          <a:p>
            <a:pPr eaLnBrk="1" hangingPunct="1"/>
            <a:r>
              <a:rPr lang="en-US" altLang="en-KE">
                <a:solidFill>
                  <a:srgbClr val="FF0066"/>
                </a:solidFill>
              </a:rPr>
              <a:t>Treatment and prevention</a:t>
            </a:r>
          </a:p>
        </p:txBody>
      </p:sp>
      <p:sp>
        <p:nvSpPr>
          <p:cNvPr id="57348" name="Rectangle 3">
            <a:extLst>
              <a:ext uri="{FF2B5EF4-FFF2-40B4-BE49-F238E27FC236}">
                <a16:creationId xmlns:a16="http://schemas.microsoft.com/office/drawing/2014/main" id="{FD482B31-CB34-8FD7-EFC6-2CF6B96BE048}"/>
              </a:ext>
            </a:extLst>
          </p:cNvPr>
          <p:cNvSpPr>
            <a:spLocks noGrp="1" noChangeArrowheads="1"/>
          </p:cNvSpPr>
          <p:nvPr>
            <p:ph type="body" idx="1"/>
          </p:nvPr>
        </p:nvSpPr>
        <p:spPr/>
        <p:txBody>
          <a:bodyPr/>
          <a:lstStyle/>
          <a:p>
            <a:pPr eaLnBrk="1" hangingPunct="1"/>
            <a:r>
              <a:rPr lang="en-US" altLang="en-KE"/>
              <a:t>Follows the same principles as for tobacco </a:t>
            </a:r>
          </a:p>
          <a:p>
            <a:pPr eaLnBrk="1" hangingPunct="1">
              <a:buFont typeface="Wingdings" pitchFamily="2" charset="2"/>
              <a:buNone/>
            </a:pPr>
            <a:r>
              <a:rPr lang="en-US" altLang="en-KE"/>
              <a:t>   addiction. Which ones are these?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5">
            <a:extLst>
              <a:ext uri="{FF2B5EF4-FFF2-40B4-BE49-F238E27FC236}">
                <a16:creationId xmlns:a16="http://schemas.microsoft.com/office/drawing/2014/main" id="{42B37B63-E4D9-3206-F620-2683F8C800F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9B84F1C-F6A3-5D49-8A5C-B6151C534C8C}" type="slidenum">
              <a:rPr lang="en-US" altLang="en-KE">
                <a:solidFill>
                  <a:schemeClr val="bg1"/>
                </a:solidFill>
              </a:rPr>
              <a:pPr eaLnBrk="1" hangingPunct="1"/>
              <a:t>55</a:t>
            </a:fld>
            <a:endParaRPr lang="en-US" altLang="en-KE">
              <a:solidFill>
                <a:schemeClr val="bg1"/>
              </a:solidFill>
            </a:endParaRPr>
          </a:p>
        </p:txBody>
      </p:sp>
      <p:sp>
        <p:nvSpPr>
          <p:cNvPr id="58371" name="AutoShape 2">
            <a:extLst>
              <a:ext uri="{FF2B5EF4-FFF2-40B4-BE49-F238E27FC236}">
                <a16:creationId xmlns:a16="http://schemas.microsoft.com/office/drawing/2014/main" id="{50E65936-9B9B-788E-CFBC-4714356589BA}"/>
              </a:ext>
            </a:extLst>
          </p:cNvPr>
          <p:cNvSpPr>
            <a:spLocks noGrp="1" noChangeArrowheads="1"/>
          </p:cNvSpPr>
          <p:nvPr>
            <p:ph type="title"/>
          </p:nvPr>
        </p:nvSpPr>
        <p:spPr/>
        <p:txBody>
          <a:bodyPr/>
          <a:lstStyle/>
          <a:p>
            <a:pPr eaLnBrk="1" hangingPunct="1"/>
            <a:r>
              <a:rPr lang="en-US" altLang="en-KE">
                <a:solidFill>
                  <a:srgbClr val="FF0066"/>
                </a:solidFill>
              </a:rPr>
              <a:t>COCAINE</a:t>
            </a:r>
          </a:p>
        </p:txBody>
      </p:sp>
      <p:sp>
        <p:nvSpPr>
          <p:cNvPr id="58372" name="Rectangle 3">
            <a:extLst>
              <a:ext uri="{FF2B5EF4-FFF2-40B4-BE49-F238E27FC236}">
                <a16:creationId xmlns:a16="http://schemas.microsoft.com/office/drawing/2014/main" id="{7D3561F8-F554-38CC-88AB-3F635DA297E0}"/>
              </a:ext>
            </a:extLst>
          </p:cNvPr>
          <p:cNvSpPr>
            <a:spLocks noGrp="1" noChangeArrowheads="1"/>
          </p:cNvSpPr>
          <p:nvPr>
            <p:ph type="body" idx="1"/>
          </p:nvPr>
        </p:nvSpPr>
        <p:spPr/>
        <p:txBody>
          <a:bodyPr/>
          <a:lstStyle/>
          <a:p>
            <a:pPr eaLnBrk="1" hangingPunct="1"/>
            <a:r>
              <a:rPr lang="en-US" altLang="en-KE" sz="2400"/>
              <a:t>Cocaine is a one of the most powerfully addictive stimulant drugs. It is commonly found in powdered or crystal form. The powdered form of cocaine can be snorted or dissolved in water and then injected. Crack is the street name given to the form of cocaine that has been processed to make a rock crystal. This crystal, when heated, produces vapors that are smoked. The term “crack” refers to the crackling sound produced by the rock as it is heated </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5">
            <a:extLst>
              <a:ext uri="{FF2B5EF4-FFF2-40B4-BE49-F238E27FC236}">
                <a16:creationId xmlns:a16="http://schemas.microsoft.com/office/drawing/2014/main" id="{0E6C5F84-86A3-2CBF-3E5C-845CEAE1C16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0CDE3D3-E8D7-5040-9303-338DB0B808FA}" type="slidenum">
              <a:rPr lang="en-US" altLang="en-KE">
                <a:solidFill>
                  <a:schemeClr val="bg1"/>
                </a:solidFill>
              </a:rPr>
              <a:pPr eaLnBrk="1" hangingPunct="1"/>
              <a:t>56</a:t>
            </a:fld>
            <a:endParaRPr lang="en-US" altLang="en-KE">
              <a:solidFill>
                <a:schemeClr val="bg1"/>
              </a:solidFill>
            </a:endParaRPr>
          </a:p>
        </p:txBody>
      </p:sp>
      <p:sp>
        <p:nvSpPr>
          <p:cNvPr id="59395" name="AutoShape 2">
            <a:extLst>
              <a:ext uri="{FF2B5EF4-FFF2-40B4-BE49-F238E27FC236}">
                <a16:creationId xmlns:a16="http://schemas.microsoft.com/office/drawing/2014/main" id="{A5F325BD-CC25-AA3E-3132-4869A0C79109}"/>
              </a:ext>
            </a:extLst>
          </p:cNvPr>
          <p:cNvSpPr>
            <a:spLocks noGrp="1" noChangeArrowheads="1"/>
          </p:cNvSpPr>
          <p:nvPr>
            <p:ph type="title"/>
          </p:nvPr>
        </p:nvSpPr>
        <p:spPr/>
        <p:txBody>
          <a:bodyPr/>
          <a:lstStyle/>
          <a:p>
            <a:pPr eaLnBrk="1" hangingPunct="1"/>
            <a:r>
              <a:rPr lang="en-US" altLang="en-KE">
                <a:solidFill>
                  <a:srgbClr val="FF0066"/>
                </a:solidFill>
              </a:rPr>
              <a:t>Administration of cocaine</a:t>
            </a:r>
          </a:p>
        </p:txBody>
      </p:sp>
      <p:sp>
        <p:nvSpPr>
          <p:cNvPr id="59396" name="Rectangle 3">
            <a:extLst>
              <a:ext uri="{FF2B5EF4-FFF2-40B4-BE49-F238E27FC236}">
                <a16:creationId xmlns:a16="http://schemas.microsoft.com/office/drawing/2014/main" id="{4815D6C5-7D9C-8D63-5B33-103F2E543BCE}"/>
              </a:ext>
            </a:extLst>
          </p:cNvPr>
          <p:cNvSpPr>
            <a:spLocks noGrp="1" noChangeArrowheads="1"/>
          </p:cNvSpPr>
          <p:nvPr>
            <p:ph type="body" idx="1"/>
          </p:nvPr>
        </p:nvSpPr>
        <p:spPr/>
        <p:txBody>
          <a:bodyPr/>
          <a:lstStyle/>
          <a:p>
            <a:pPr eaLnBrk="1" hangingPunct="1">
              <a:lnSpc>
                <a:spcPct val="90000"/>
              </a:lnSpc>
            </a:pPr>
            <a:r>
              <a:rPr lang="en-US" altLang="en-KE" sz="2000"/>
              <a:t>Three routes of administration are commonly used for cocaine: snorting, injecting, and smoking. Snorting involves inhaling cocaine powder through the nose, where absorption into the bloodstream is through the nasal tissues. Injecting is where a needle and syringe is used to insert the drug directly into the bloodstream. Smoking involves inhaling cocaine vapor or smoke into the lungs, where absorption into the bloodstream is as rapid as by injection. All three methods of cocaine abuse can lead to addiction and other severe health problems, including increasing the risk of contracting HIV through needle sharing and other infectious diseases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5">
            <a:extLst>
              <a:ext uri="{FF2B5EF4-FFF2-40B4-BE49-F238E27FC236}">
                <a16:creationId xmlns:a16="http://schemas.microsoft.com/office/drawing/2014/main" id="{A9C1917D-2DA3-7376-B934-5D4B9A5E76A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539B0EE-94BC-AE4C-9863-81A6F19C72CA}" type="slidenum">
              <a:rPr lang="en-US" altLang="en-KE">
                <a:solidFill>
                  <a:schemeClr val="bg1"/>
                </a:solidFill>
              </a:rPr>
              <a:pPr eaLnBrk="1" hangingPunct="1"/>
              <a:t>57</a:t>
            </a:fld>
            <a:endParaRPr lang="en-US" altLang="en-KE">
              <a:solidFill>
                <a:schemeClr val="bg1"/>
              </a:solidFill>
            </a:endParaRPr>
          </a:p>
        </p:txBody>
      </p:sp>
      <p:sp>
        <p:nvSpPr>
          <p:cNvPr id="60419" name="AutoShape 2">
            <a:extLst>
              <a:ext uri="{FF2B5EF4-FFF2-40B4-BE49-F238E27FC236}">
                <a16:creationId xmlns:a16="http://schemas.microsoft.com/office/drawing/2014/main" id="{BAC678BF-3036-3678-06BB-ADC719B14B62}"/>
              </a:ext>
            </a:extLst>
          </p:cNvPr>
          <p:cNvSpPr>
            <a:spLocks noGrp="1" noChangeArrowheads="1"/>
          </p:cNvSpPr>
          <p:nvPr>
            <p:ph type="title"/>
          </p:nvPr>
        </p:nvSpPr>
        <p:spPr/>
        <p:txBody>
          <a:bodyPr/>
          <a:lstStyle/>
          <a:p>
            <a:pPr eaLnBrk="1" hangingPunct="1"/>
            <a:r>
              <a:rPr lang="en-US" altLang="en-KE">
                <a:solidFill>
                  <a:srgbClr val="FF0066"/>
                </a:solidFill>
              </a:rPr>
              <a:t>Effects of cocaine cont.</a:t>
            </a:r>
          </a:p>
        </p:txBody>
      </p:sp>
      <p:sp>
        <p:nvSpPr>
          <p:cNvPr id="60420" name="Rectangle 3">
            <a:extLst>
              <a:ext uri="{FF2B5EF4-FFF2-40B4-BE49-F238E27FC236}">
                <a16:creationId xmlns:a16="http://schemas.microsoft.com/office/drawing/2014/main" id="{315B48BE-13D2-4023-55AA-1FD3A4F0678C}"/>
              </a:ext>
            </a:extLst>
          </p:cNvPr>
          <p:cNvSpPr>
            <a:spLocks noGrp="1" noChangeArrowheads="1"/>
          </p:cNvSpPr>
          <p:nvPr>
            <p:ph type="body" idx="1"/>
          </p:nvPr>
        </p:nvSpPr>
        <p:spPr/>
        <p:txBody>
          <a:bodyPr/>
          <a:lstStyle/>
          <a:p>
            <a:pPr eaLnBrk="1" hangingPunct="1"/>
            <a:r>
              <a:rPr lang="en-US" altLang="en-KE" sz="2400"/>
              <a:t>Cocaine is a strong central nervous system stimulant that increases levels of dopamine, a brain chemical (or neurotransmitter) associated with pleasure and movement, in the brain’s reward circuit </a:t>
            </a:r>
          </a:p>
          <a:p>
            <a:pPr eaLnBrk="1" hangingPunct="1"/>
            <a:endParaRPr lang="en-US" altLang="en-KE" sz="2400"/>
          </a:p>
          <a:p>
            <a:pPr eaLnBrk="1" hangingPunct="1"/>
            <a:r>
              <a:rPr lang="en-US" altLang="en-KE" sz="2400"/>
              <a:t>Some users will increase their dose in an attempt to intensify and prolong the euphoria, but this can also increase the risk of adverse psychological or physiological effects.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a:extLst>
              <a:ext uri="{FF2B5EF4-FFF2-40B4-BE49-F238E27FC236}">
                <a16:creationId xmlns:a16="http://schemas.microsoft.com/office/drawing/2014/main" id="{B526C711-EC3A-8535-3127-A6716CFBF7C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A36D69D-C887-6144-8A57-B5BF311A4818}" type="slidenum">
              <a:rPr lang="en-US" altLang="en-KE">
                <a:solidFill>
                  <a:schemeClr val="bg1"/>
                </a:solidFill>
              </a:rPr>
              <a:pPr eaLnBrk="1" hangingPunct="1"/>
              <a:t>58</a:t>
            </a:fld>
            <a:endParaRPr lang="en-US" altLang="en-KE">
              <a:solidFill>
                <a:schemeClr val="bg1"/>
              </a:solidFill>
            </a:endParaRPr>
          </a:p>
        </p:txBody>
      </p:sp>
      <p:sp>
        <p:nvSpPr>
          <p:cNvPr id="61443" name="AutoShape 2">
            <a:extLst>
              <a:ext uri="{FF2B5EF4-FFF2-40B4-BE49-F238E27FC236}">
                <a16:creationId xmlns:a16="http://schemas.microsoft.com/office/drawing/2014/main" id="{5B08FF07-19BC-C8B1-F47C-EEA40C49682D}"/>
              </a:ext>
            </a:extLst>
          </p:cNvPr>
          <p:cNvSpPr>
            <a:spLocks noGrp="1" noChangeArrowheads="1"/>
          </p:cNvSpPr>
          <p:nvPr>
            <p:ph type="title"/>
          </p:nvPr>
        </p:nvSpPr>
        <p:spPr/>
        <p:txBody>
          <a:bodyPr/>
          <a:lstStyle/>
          <a:p>
            <a:pPr eaLnBrk="1" hangingPunct="1"/>
            <a:r>
              <a:rPr lang="en-US" altLang="en-KE">
                <a:solidFill>
                  <a:srgbClr val="FF0066"/>
                </a:solidFill>
              </a:rPr>
              <a:t>Effects of cocaine cont.</a:t>
            </a:r>
          </a:p>
        </p:txBody>
      </p:sp>
      <p:sp>
        <p:nvSpPr>
          <p:cNvPr id="61444" name="Rectangle 3">
            <a:extLst>
              <a:ext uri="{FF2B5EF4-FFF2-40B4-BE49-F238E27FC236}">
                <a16:creationId xmlns:a16="http://schemas.microsoft.com/office/drawing/2014/main" id="{E46A6809-E14F-3FFE-7F48-D5FB46C49EEB}"/>
              </a:ext>
            </a:extLst>
          </p:cNvPr>
          <p:cNvSpPr>
            <a:spLocks noGrp="1" noChangeArrowheads="1"/>
          </p:cNvSpPr>
          <p:nvPr>
            <p:ph type="body" idx="1"/>
          </p:nvPr>
        </p:nvSpPr>
        <p:spPr/>
        <p:txBody>
          <a:bodyPr/>
          <a:lstStyle/>
          <a:p>
            <a:pPr eaLnBrk="1" hangingPunct="1"/>
            <a:r>
              <a:rPr lang="en-US" altLang="en-KE"/>
              <a:t>For example, cocaine constricts blood vessels, dilates pupils, and increases body temperature, heart rate, and blood pressure. It can also cause headaches and gastrointestinal complications such as abdominal pain and nausea. Because cocaine tends to decrease appetite, chronic users can become malnourished as well.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5">
            <a:extLst>
              <a:ext uri="{FF2B5EF4-FFF2-40B4-BE49-F238E27FC236}">
                <a16:creationId xmlns:a16="http://schemas.microsoft.com/office/drawing/2014/main" id="{112C14C6-B2EC-BF66-D792-638531F2A9E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2821F4D-A0AC-7C45-BAA0-A787AAC1E4BD}" type="slidenum">
              <a:rPr lang="en-US" altLang="en-KE">
                <a:solidFill>
                  <a:schemeClr val="bg1"/>
                </a:solidFill>
              </a:rPr>
              <a:pPr eaLnBrk="1" hangingPunct="1"/>
              <a:t>59</a:t>
            </a:fld>
            <a:endParaRPr lang="en-US" altLang="en-KE">
              <a:solidFill>
                <a:schemeClr val="bg1"/>
              </a:solidFill>
            </a:endParaRPr>
          </a:p>
        </p:txBody>
      </p:sp>
      <p:sp>
        <p:nvSpPr>
          <p:cNvPr id="62467" name="AutoShape 2">
            <a:extLst>
              <a:ext uri="{FF2B5EF4-FFF2-40B4-BE49-F238E27FC236}">
                <a16:creationId xmlns:a16="http://schemas.microsoft.com/office/drawing/2014/main" id="{EC8D77E1-B4BE-0C97-BF92-679D4E7F43A6}"/>
              </a:ext>
            </a:extLst>
          </p:cNvPr>
          <p:cNvSpPr>
            <a:spLocks noGrp="1" noChangeArrowheads="1"/>
          </p:cNvSpPr>
          <p:nvPr>
            <p:ph type="title"/>
          </p:nvPr>
        </p:nvSpPr>
        <p:spPr/>
        <p:txBody>
          <a:bodyPr/>
          <a:lstStyle/>
          <a:p>
            <a:pPr eaLnBrk="1" hangingPunct="1"/>
            <a:r>
              <a:rPr lang="en-US" altLang="en-KE">
                <a:solidFill>
                  <a:srgbClr val="FF0066"/>
                </a:solidFill>
              </a:rPr>
              <a:t>Cocaine abusers</a:t>
            </a:r>
          </a:p>
        </p:txBody>
      </p:sp>
      <p:sp>
        <p:nvSpPr>
          <p:cNvPr id="62468" name="Rectangle 3">
            <a:extLst>
              <a:ext uri="{FF2B5EF4-FFF2-40B4-BE49-F238E27FC236}">
                <a16:creationId xmlns:a16="http://schemas.microsoft.com/office/drawing/2014/main" id="{EBB2DFCC-5D94-547F-0F83-833106A56B60}"/>
              </a:ext>
            </a:extLst>
          </p:cNvPr>
          <p:cNvSpPr>
            <a:spLocks noGrp="1" noChangeArrowheads="1"/>
          </p:cNvSpPr>
          <p:nvPr>
            <p:ph type="body" idx="1"/>
          </p:nvPr>
        </p:nvSpPr>
        <p:spPr/>
        <p:txBody>
          <a:bodyPr/>
          <a:lstStyle/>
          <a:p>
            <a:pPr eaLnBrk="1" hangingPunct="1">
              <a:lnSpc>
                <a:spcPct val="80000"/>
              </a:lnSpc>
            </a:pPr>
            <a:r>
              <a:rPr lang="en-US" altLang="en-KE" sz="2000"/>
              <a:t>Cocaine abusers can also experience </a:t>
            </a:r>
            <a:r>
              <a:rPr lang="en-US" altLang="en-KE" sz="2000" b="1"/>
              <a:t>severe paranoia</a:t>
            </a:r>
            <a:r>
              <a:rPr lang="en-US" altLang="en-KE" sz="2000"/>
              <a:t> —a temporary state of full-blown paranoid psychosis—in which they lose touch with reality and experience auditory hallucinations.</a:t>
            </a:r>
          </a:p>
          <a:p>
            <a:pPr eaLnBrk="1" hangingPunct="1">
              <a:lnSpc>
                <a:spcPct val="80000"/>
              </a:lnSpc>
            </a:pPr>
            <a:r>
              <a:rPr lang="en-US" altLang="en-KE" sz="2000" b="1"/>
              <a:t>Polydrug use</a:t>
            </a:r>
            <a:r>
              <a:rPr lang="en-US" altLang="en-KE" sz="2000"/>
              <a:t>—use of more than one drug. When people consume two or more psychoactive drugs together, such as cocaine and alcohol, they compound the danger each drug poses and unknowingly perform a complex chemical experiment within their bodies.</a:t>
            </a:r>
          </a:p>
          <a:p>
            <a:pPr eaLnBrk="1" hangingPunct="1">
              <a:lnSpc>
                <a:spcPct val="80000"/>
              </a:lnSpc>
            </a:pPr>
            <a:r>
              <a:rPr lang="en-US" altLang="en-KE" sz="2000"/>
              <a:t> Researchers have found that the human liver </a:t>
            </a:r>
            <a:r>
              <a:rPr lang="en-US" altLang="en-KE" sz="2000" b="1"/>
              <a:t>combines </a:t>
            </a:r>
            <a:r>
              <a:rPr lang="en-US" altLang="en-KE" sz="2000"/>
              <a:t>cocaine and alcohol to produce a third substance, coca ethylene, that intensifies cocaine’s euphoric effects. Coca ethylene is associated with a greater risk of sudden death than cocaine alone.</a:t>
            </a:r>
          </a:p>
          <a:p>
            <a:pPr eaLnBrk="1" hangingPunct="1">
              <a:lnSpc>
                <a:spcPct val="80000"/>
              </a:lnSpc>
            </a:pPr>
            <a:endParaRPr lang="en-US" altLang="en-KE" sz="2000"/>
          </a:p>
          <a:p>
            <a:pPr eaLnBrk="1" hangingPunct="1">
              <a:lnSpc>
                <a:spcPct val="80000"/>
              </a:lnSpc>
              <a:buFont typeface="Wingdings" pitchFamily="2" charset="2"/>
              <a:buNone/>
            </a:pPr>
            <a:endParaRPr lang="en-US" altLang="en-KE" sz="18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5">
            <a:extLst>
              <a:ext uri="{FF2B5EF4-FFF2-40B4-BE49-F238E27FC236}">
                <a16:creationId xmlns:a16="http://schemas.microsoft.com/office/drawing/2014/main" id="{B98BE002-C9DB-90C7-A950-623C2031581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B9C47D-2324-CF40-8A1A-A23632A1AF83}" type="slidenum">
              <a:rPr lang="en-US" altLang="en-KE">
                <a:solidFill>
                  <a:schemeClr val="bg1"/>
                </a:solidFill>
              </a:rPr>
              <a:pPr eaLnBrk="1" hangingPunct="1"/>
              <a:t>60</a:t>
            </a:fld>
            <a:endParaRPr lang="en-US" altLang="en-KE">
              <a:solidFill>
                <a:schemeClr val="bg1"/>
              </a:solidFill>
            </a:endParaRPr>
          </a:p>
        </p:txBody>
      </p:sp>
      <p:sp>
        <p:nvSpPr>
          <p:cNvPr id="63491" name="AutoShape 2">
            <a:extLst>
              <a:ext uri="{FF2B5EF4-FFF2-40B4-BE49-F238E27FC236}">
                <a16:creationId xmlns:a16="http://schemas.microsoft.com/office/drawing/2014/main" id="{331687AA-8545-85FA-4793-A2E954931D93}"/>
              </a:ext>
            </a:extLst>
          </p:cNvPr>
          <p:cNvSpPr>
            <a:spLocks noGrp="1" noChangeArrowheads="1"/>
          </p:cNvSpPr>
          <p:nvPr>
            <p:ph type="title"/>
          </p:nvPr>
        </p:nvSpPr>
        <p:spPr/>
        <p:txBody>
          <a:bodyPr/>
          <a:lstStyle/>
          <a:p>
            <a:pPr eaLnBrk="1" hangingPunct="1"/>
            <a:r>
              <a:rPr lang="en-US" altLang="en-KE">
                <a:solidFill>
                  <a:srgbClr val="FF0066"/>
                </a:solidFill>
              </a:rPr>
              <a:t>Treatment of cocaine dependence</a:t>
            </a:r>
          </a:p>
        </p:txBody>
      </p:sp>
      <p:sp>
        <p:nvSpPr>
          <p:cNvPr id="63492" name="Rectangle 3">
            <a:extLst>
              <a:ext uri="{FF2B5EF4-FFF2-40B4-BE49-F238E27FC236}">
                <a16:creationId xmlns:a16="http://schemas.microsoft.com/office/drawing/2014/main" id="{96F0CB87-BF32-C823-43C3-AFF67DE3CE6D}"/>
              </a:ext>
            </a:extLst>
          </p:cNvPr>
          <p:cNvSpPr>
            <a:spLocks noGrp="1" noChangeArrowheads="1"/>
          </p:cNvSpPr>
          <p:nvPr>
            <p:ph type="body" idx="1"/>
          </p:nvPr>
        </p:nvSpPr>
        <p:spPr/>
        <p:txBody>
          <a:bodyPr/>
          <a:lstStyle/>
          <a:p>
            <a:pPr eaLnBrk="1" hangingPunct="1">
              <a:lnSpc>
                <a:spcPct val="90000"/>
              </a:lnSpc>
            </a:pPr>
            <a:r>
              <a:rPr lang="en-US" altLang="en-KE"/>
              <a:t>Dependence of cocaine is largely psychological and withdrawal symptoms are depression, sleepiness and increased appetite. Treatment is therefore the management of this withdrawal symptoms with  specific medications.</a:t>
            </a:r>
          </a:p>
          <a:p>
            <a:pPr eaLnBrk="1" hangingPunct="1">
              <a:lnSpc>
                <a:spcPct val="90000"/>
              </a:lnSpc>
            </a:pPr>
            <a:r>
              <a:rPr lang="en-US" altLang="en-KE"/>
              <a:t>The general principles for tobacco treatment are also applicable. Which ones?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5">
            <a:extLst>
              <a:ext uri="{FF2B5EF4-FFF2-40B4-BE49-F238E27FC236}">
                <a16:creationId xmlns:a16="http://schemas.microsoft.com/office/drawing/2014/main" id="{FE723DB3-B19C-1696-AB0F-E27ADCDEEB9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71239DE-6E7B-C64E-85A4-F13521CC5073}" type="slidenum">
              <a:rPr lang="en-US" altLang="en-KE">
                <a:solidFill>
                  <a:schemeClr val="bg1"/>
                </a:solidFill>
              </a:rPr>
              <a:pPr eaLnBrk="1" hangingPunct="1"/>
              <a:t>61</a:t>
            </a:fld>
            <a:endParaRPr lang="en-US" altLang="en-KE">
              <a:solidFill>
                <a:schemeClr val="bg1"/>
              </a:solidFill>
            </a:endParaRPr>
          </a:p>
        </p:txBody>
      </p:sp>
      <p:sp>
        <p:nvSpPr>
          <p:cNvPr id="64515" name="AutoShape 2">
            <a:extLst>
              <a:ext uri="{FF2B5EF4-FFF2-40B4-BE49-F238E27FC236}">
                <a16:creationId xmlns:a16="http://schemas.microsoft.com/office/drawing/2014/main" id="{FC21FC9B-2C03-C7DF-19AB-4AEC7AB0F46D}"/>
              </a:ext>
            </a:extLst>
          </p:cNvPr>
          <p:cNvSpPr>
            <a:spLocks noGrp="1" noChangeArrowheads="1"/>
          </p:cNvSpPr>
          <p:nvPr>
            <p:ph type="title"/>
          </p:nvPr>
        </p:nvSpPr>
        <p:spPr/>
        <p:txBody>
          <a:bodyPr/>
          <a:lstStyle/>
          <a:p>
            <a:pPr eaLnBrk="1" hangingPunct="1"/>
            <a:r>
              <a:rPr lang="en-US" altLang="en-KE">
                <a:solidFill>
                  <a:srgbClr val="FF0066"/>
                </a:solidFill>
              </a:rPr>
              <a:t>HEROIN</a:t>
            </a:r>
          </a:p>
        </p:txBody>
      </p:sp>
      <p:sp>
        <p:nvSpPr>
          <p:cNvPr id="64516" name="Rectangle 3">
            <a:extLst>
              <a:ext uri="{FF2B5EF4-FFF2-40B4-BE49-F238E27FC236}">
                <a16:creationId xmlns:a16="http://schemas.microsoft.com/office/drawing/2014/main" id="{DF24A41A-573D-662D-BF2C-A9CDF9EA6243}"/>
              </a:ext>
            </a:extLst>
          </p:cNvPr>
          <p:cNvSpPr>
            <a:spLocks noGrp="1" noChangeArrowheads="1"/>
          </p:cNvSpPr>
          <p:nvPr>
            <p:ph type="body" idx="1"/>
          </p:nvPr>
        </p:nvSpPr>
        <p:spPr/>
        <p:txBody>
          <a:bodyPr/>
          <a:lstStyle/>
          <a:p>
            <a:pPr eaLnBrk="1" hangingPunct="1"/>
            <a:r>
              <a:rPr lang="en-US" altLang="en-KE"/>
              <a:t>Heroin, or diacetylmorphine, also known as diamorphine , is a semi-synthetic opioid drug synthesized from morphine, a derivative of the opium poppy. The white crystalline form is commonly the hydrochloride salt diacetylmorphine hydrochloride, however heroin freebase may also appear as a white powder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5">
            <a:extLst>
              <a:ext uri="{FF2B5EF4-FFF2-40B4-BE49-F238E27FC236}">
                <a16:creationId xmlns:a16="http://schemas.microsoft.com/office/drawing/2014/main" id="{AFC673D8-21F1-CFF9-ACBF-04FDA17D38F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0278485-AD91-EE46-BABE-DE622E33A338}" type="slidenum">
              <a:rPr lang="en-US" altLang="en-KE">
                <a:solidFill>
                  <a:schemeClr val="bg1"/>
                </a:solidFill>
              </a:rPr>
              <a:pPr eaLnBrk="1" hangingPunct="1"/>
              <a:t>62</a:t>
            </a:fld>
            <a:endParaRPr lang="en-US" altLang="en-KE">
              <a:solidFill>
                <a:schemeClr val="bg1"/>
              </a:solidFill>
            </a:endParaRPr>
          </a:p>
        </p:txBody>
      </p:sp>
      <p:sp>
        <p:nvSpPr>
          <p:cNvPr id="65539" name="AutoShape 2">
            <a:extLst>
              <a:ext uri="{FF2B5EF4-FFF2-40B4-BE49-F238E27FC236}">
                <a16:creationId xmlns:a16="http://schemas.microsoft.com/office/drawing/2014/main" id="{E58A85CE-3408-8A76-64F1-106164EA7319}"/>
              </a:ext>
            </a:extLst>
          </p:cNvPr>
          <p:cNvSpPr>
            <a:spLocks noGrp="1" noChangeArrowheads="1"/>
          </p:cNvSpPr>
          <p:nvPr>
            <p:ph type="title"/>
          </p:nvPr>
        </p:nvSpPr>
        <p:spPr/>
        <p:txBody>
          <a:bodyPr/>
          <a:lstStyle/>
          <a:p>
            <a:pPr eaLnBrk="1" hangingPunct="1"/>
            <a:r>
              <a:rPr lang="en-US" altLang="en-KE">
                <a:solidFill>
                  <a:srgbClr val="FF0066"/>
                </a:solidFill>
              </a:rPr>
              <a:t>Heroine cont.</a:t>
            </a:r>
          </a:p>
        </p:txBody>
      </p:sp>
      <p:sp>
        <p:nvSpPr>
          <p:cNvPr id="65540" name="Rectangle 3">
            <a:extLst>
              <a:ext uri="{FF2B5EF4-FFF2-40B4-BE49-F238E27FC236}">
                <a16:creationId xmlns:a16="http://schemas.microsoft.com/office/drawing/2014/main" id="{E984F3DA-18A4-2E3B-584F-CA373D7107B1}"/>
              </a:ext>
            </a:extLst>
          </p:cNvPr>
          <p:cNvSpPr>
            <a:spLocks noGrp="1" noChangeArrowheads="1"/>
          </p:cNvSpPr>
          <p:nvPr>
            <p:ph type="body" idx="1"/>
          </p:nvPr>
        </p:nvSpPr>
        <p:spPr/>
        <p:txBody>
          <a:bodyPr/>
          <a:lstStyle/>
          <a:p>
            <a:pPr eaLnBrk="1" hangingPunct="1">
              <a:lnSpc>
                <a:spcPct val="90000"/>
              </a:lnSpc>
            </a:pPr>
            <a:r>
              <a:rPr lang="en-US" altLang="en-KE" sz="2000"/>
              <a:t>As with other opioids, heroin is used as both a pain-killer and a recreational drug and has high potential for abuse. Frequent and regular administration is associated with tolerance, moderate physical dependence, and severe psychological dependence which often develops into addiction. Despite this, heroin has been proven to act as an extraordinary fever reducer.</a:t>
            </a:r>
          </a:p>
          <a:p>
            <a:pPr eaLnBrk="1" hangingPunct="1">
              <a:lnSpc>
                <a:spcPct val="90000"/>
              </a:lnSpc>
              <a:buFont typeface="Wingdings" pitchFamily="2" charset="2"/>
              <a:buNone/>
            </a:pPr>
            <a:br>
              <a:rPr lang="en-US" altLang="en-KE" sz="2000"/>
            </a:br>
            <a:r>
              <a:rPr lang="en-US" altLang="en-KE" sz="2000"/>
              <a:t>Internationally, heroin is controlled under Schedules I and IV of the Single Convention on Narcotic Drugs. It is illegal to manufacture, possess, or sell diacetylmorphine without a licence.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5">
            <a:extLst>
              <a:ext uri="{FF2B5EF4-FFF2-40B4-BE49-F238E27FC236}">
                <a16:creationId xmlns:a16="http://schemas.microsoft.com/office/drawing/2014/main" id="{CE9F8F00-AD35-4D73-369D-2BB81161F5D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C354884-C680-8D45-874A-946BFE66C65B}" type="slidenum">
              <a:rPr lang="en-US" altLang="en-KE">
                <a:solidFill>
                  <a:schemeClr val="bg1"/>
                </a:solidFill>
              </a:rPr>
              <a:pPr eaLnBrk="1" hangingPunct="1"/>
              <a:t>63</a:t>
            </a:fld>
            <a:endParaRPr lang="en-US" altLang="en-KE">
              <a:solidFill>
                <a:schemeClr val="bg1"/>
              </a:solidFill>
            </a:endParaRPr>
          </a:p>
        </p:txBody>
      </p:sp>
      <p:sp>
        <p:nvSpPr>
          <p:cNvPr id="66563" name="AutoShape 2">
            <a:extLst>
              <a:ext uri="{FF2B5EF4-FFF2-40B4-BE49-F238E27FC236}">
                <a16:creationId xmlns:a16="http://schemas.microsoft.com/office/drawing/2014/main" id="{6343F6C8-2040-2585-FB84-BAFFC47FC68C}"/>
              </a:ext>
            </a:extLst>
          </p:cNvPr>
          <p:cNvSpPr>
            <a:spLocks noGrp="1" noChangeArrowheads="1"/>
          </p:cNvSpPr>
          <p:nvPr>
            <p:ph type="title"/>
          </p:nvPr>
        </p:nvSpPr>
        <p:spPr/>
        <p:txBody>
          <a:bodyPr/>
          <a:lstStyle/>
          <a:p>
            <a:pPr eaLnBrk="1" hangingPunct="1"/>
            <a:r>
              <a:rPr lang="en-US" altLang="en-KE">
                <a:solidFill>
                  <a:srgbClr val="FF0066"/>
                </a:solidFill>
              </a:rPr>
              <a:t>Effects of heroine</a:t>
            </a:r>
          </a:p>
        </p:txBody>
      </p:sp>
      <p:sp>
        <p:nvSpPr>
          <p:cNvPr id="66564" name="Rectangle 3">
            <a:extLst>
              <a:ext uri="{FF2B5EF4-FFF2-40B4-BE49-F238E27FC236}">
                <a16:creationId xmlns:a16="http://schemas.microsoft.com/office/drawing/2014/main" id="{B0D60780-BB3C-8C63-CFD8-5995E3337171}"/>
              </a:ext>
            </a:extLst>
          </p:cNvPr>
          <p:cNvSpPr>
            <a:spLocks noGrp="1" noChangeArrowheads="1"/>
          </p:cNvSpPr>
          <p:nvPr>
            <p:ph type="body" idx="1"/>
          </p:nvPr>
        </p:nvSpPr>
        <p:spPr/>
        <p:txBody>
          <a:bodyPr/>
          <a:lstStyle/>
          <a:p>
            <a:pPr eaLnBrk="1" hangingPunct="1">
              <a:lnSpc>
                <a:spcPct val="90000"/>
              </a:lnSpc>
              <a:buFont typeface="Wingdings" pitchFamily="2" charset="2"/>
              <a:buNone/>
            </a:pPr>
            <a:r>
              <a:rPr lang="en-US" altLang="en-KE"/>
              <a:t> Central nervous system</a:t>
            </a:r>
          </a:p>
          <a:p>
            <a:pPr lvl="2" eaLnBrk="1" hangingPunct="1">
              <a:lnSpc>
                <a:spcPct val="90000"/>
              </a:lnSpc>
            </a:pPr>
            <a:r>
              <a:rPr lang="en-US" altLang="en-KE"/>
              <a:t>Drowsiness </a:t>
            </a:r>
          </a:p>
          <a:p>
            <a:pPr lvl="2" eaLnBrk="1" hangingPunct="1">
              <a:lnSpc>
                <a:spcPct val="90000"/>
              </a:lnSpc>
            </a:pPr>
            <a:r>
              <a:rPr lang="en-US" altLang="en-KE"/>
              <a:t>Disorientation </a:t>
            </a:r>
          </a:p>
          <a:p>
            <a:pPr lvl="2" eaLnBrk="1" hangingPunct="1">
              <a:lnSpc>
                <a:spcPct val="90000"/>
              </a:lnSpc>
            </a:pPr>
            <a:r>
              <a:rPr lang="en-US" altLang="en-KE"/>
              <a:t>Delirium</a:t>
            </a:r>
          </a:p>
          <a:p>
            <a:pPr lvl="1" eaLnBrk="1" hangingPunct="1">
              <a:lnSpc>
                <a:spcPct val="90000"/>
              </a:lnSpc>
              <a:buFontTx/>
              <a:buNone/>
            </a:pPr>
            <a:r>
              <a:rPr lang="en-US" altLang="en-KE"/>
              <a:t>Cardiovascular &amp; Respiratory </a:t>
            </a:r>
          </a:p>
          <a:p>
            <a:pPr lvl="2" eaLnBrk="1" hangingPunct="1">
              <a:lnSpc>
                <a:spcPct val="90000"/>
              </a:lnSpc>
            </a:pPr>
            <a:r>
              <a:rPr lang="en-US" altLang="en-KE"/>
              <a:t>Hypotension </a:t>
            </a:r>
          </a:p>
          <a:p>
            <a:pPr lvl="2" eaLnBrk="1" hangingPunct="1">
              <a:lnSpc>
                <a:spcPct val="90000"/>
              </a:lnSpc>
            </a:pPr>
            <a:r>
              <a:rPr lang="en-US" altLang="en-KE"/>
              <a:t>Hypoventilation </a:t>
            </a:r>
          </a:p>
          <a:p>
            <a:pPr lvl="2" eaLnBrk="1" hangingPunct="1">
              <a:lnSpc>
                <a:spcPct val="90000"/>
              </a:lnSpc>
            </a:pPr>
            <a:r>
              <a:rPr lang="en-US" altLang="en-KE"/>
              <a:t> Bradycardia </a:t>
            </a:r>
          </a:p>
          <a:p>
            <a:pPr lvl="2" eaLnBrk="1" hangingPunct="1">
              <a:lnSpc>
                <a:spcPct val="90000"/>
              </a:lnSpc>
            </a:pPr>
            <a:r>
              <a:rPr lang="en-US" altLang="en-KE"/>
              <a:t>Shallow breathing </a:t>
            </a:r>
          </a:p>
          <a:p>
            <a:pPr lvl="2" eaLnBrk="1" hangingPunct="1">
              <a:lnSpc>
                <a:spcPct val="90000"/>
              </a:lnSpc>
            </a:pPr>
            <a:r>
              <a:rPr lang="en-US" altLang="en-KE"/>
              <a:t>Respiratory depression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5">
            <a:extLst>
              <a:ext uri="{FF2B5EF4-FFF2-40B4-BE49-F238E27FC236}">
                <a16:creationId xmlns:a16="http://schemas.microsoft.com/office/drawing/2014/main" id="{FA1E6832-ABEA-8973-7B92-A3F085B357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F2AB897-C84A-F348-B832-8C836B0A9CCC}" type="slidenum">
              <a:rPr lang="en-US" altLang="en-KE">
                <a:solidFill>
                  <a:schemeClr val="bg1"/>
                </a:solidFill>
              </a:rPr>
              <a:pPr eaLnBrk="1" hangingPunct="1"/>
              <a:t>64</a:t>
            </a:fld>
            <a:endParaRPr lang="en-US" altLang="en-KE">
              <a:solidFill>
                <a:schemeClr val="bg1"/>
              </a:solidFill>
            </a:endParaRPr>
          </a:p>
        </p:txBody>
      </p:sp>
      <p:sp>
        <p:nvSpPr>
          <p:cNvPr id="67587" name="AutoShape 2">
            <a:extLst>
              <a:ext uri="{FF2B5EF4-FFF2-40B4-BE49-F238E27FC236}">
                <a16:creationId xmlns:a16="http://schemas.microsoft.com/office/drawing/2014/main" id="{DD0E6363-9B9E-6875-F072-D52A6FB61164}"/>
              </a:ext>
            </a:extLst>
          </p:cNvPr>
          <p:cNvSpPr>
            <a:spLocks noGrp="1" noChangeArrowheads="1"/>
          </p:cNvSpPr>
          <p:nvPr>
            <p:ph type="title"/>
          </p:nvPr>
        </p:nvSpPr>
        <p:spPr/>
        <p:txBody>
          <a:bodyPr/>
          <a:lstStyle/>
          <a:p>
            <a:pPr eaLnBrk="1" hangingPunct="1"/>
            <a:r>
              <a:rPr lang="en-US" altLang="en-KE">
                <a:solidFill>
                  <a:srgbClr val="FF0066"/>
                </a:solidFill>
              </a:rPr>
              <a:t>Effects of heroine cont.</a:t>
            </a:r>
          </a:p>
        </p:txBody>
      </p:sp>
      <p:sp>
        <p:nvSpPr>
          <p:cNvPr id="67588" name="Rectangle 3">
            <a:extLst>
              <a:ext uri="{FF2B5EF4-FFF2-40B4-BE49-F238E27FC236}">
                <a16:creationId xmlns:a16="http://schemas.microsoft.com/office/drawing/2014/main" id="{FED60E79-9D62-9E82-2F24-9AB57C35B64C}"/>
              </a:ext>
            </a:extLst>
          </p:cNvPr>
          <p:cNvSpPr>
            <a:spLocks noGrp="1" noChangeArrowheads="1"/>
          </p:cNvSpPr>
          <p:nvPr>
            <p:ph type="body" idx="1"/>
          </p:nvPr>
        </p:nvSpPr>
        <p:spPr/>
        <p:txBody>
          <a:bodyPr/>
          <a:lstStyle/>
          <a:p>
            <a:pPr eaLnBrk="1" hangingPunct="1">
              <a:lnSpc>
                <a:spcPct val="80000"/>
              </a:lnSpc>
              <a:buFont typeface="Wingdings" pitchFamily="2" charset="2"/>
              <a:buNone/>
            </a:pPr>
            <a:r>
              <a:rPr lang="en-US" altLang="en-KE" sz="1000"/>
              <a:t>    </a:t>
            </a:r>
            <a:r>
              <a:rPr lang="en-US" altLang="en-KE" sz="1400" b="1"/>
              <a:t>Eyes, Ears, mouth, and nose </a:t>
            </a:r>
          </a:p>
          <a:p>
            <a:pPr lvl="2" eaLnBrk="1" hangingPunct="1">
              <a:lnSpc>
                <a:spcPct val="80000"/>
              </a:lnSpc>
            </a:pPr>
            <a:r>
              <a:rPr lang="en-US" altLang="en-KE" sz="1400"/>
              <a:t>Dry mouth (Xerostomia) </a:t>
            </a:r>
          </a:p>
          <a:p>
            <a:pPr lvl="2" eaLnBrk="1" hangingPunct="1">
              <a:lnSpc>
                <a:spcPct val="80000"/>
              </a:lnSpc>
            </a:pPr>
            <a:r>
              <a:rPr lang="en-US" altLang="en-KE" sz="1400"/>
              <a:t>Miosis, or pupil constriction (”pinpoint pupils”).</a:t>
            </a:r>
          </a:p>
          <a:p>
            <a:pPr lvl="1" eaLnBrk="1" hangingPunct="1">
              <a:lnSpc>
                <a:spcPct val="80000"/>
              </a:lnSpc>
              <a:buFontTx/>
              <a:buNone/>
            </a:pPr>
            <a:r>
              <a:rPr lang="en-US" altLang="en-KE" sz="1400" b="1"/>
              <a:t>Urinary System</a:t>
            </a:r>
          </a:p>
          <a:p>
            <a:pPr lvl="2" eaLnBrk="1" hangingPunct="1">
              <a:lnSpc>
                <a:spcPct val="80000"/>
              </a:lnSpc>
              <a:buFont typeface="Wingdings" pitchFamily="2" charset="2"/>
              <a:buNone/>
            </a:pPr>
            <a:r>
              <a:rPr lang="en-US" altLang="en-KE" sz="1400"/>
              <a:t> Urinary retention</a:t>
            </a:r>
          </a:p>
          <a:p>
            <a:pPr lvl="1" eaLnBrk="1" hangingPunct="1">
              <a:lnSpc>
                <a:spcPct val="80000"/>
              </a:lnSpc>
              <a:buFontTx/>
              <a:buNone/>
            </a:pPr>
            <a:r>
              <a:rPr lang="en-US" altLang="en-KE" sz="1400"/>
              <a:t> </a:t>
            </a:r>
            <a:r>
              <a:rPr lang="en-US" altLang="en-KE" sz="1400" b="1"/>
              <a:t>Musculoskeletal</a:t>
            </a:r>
          </a:p>
          <a:p>
            <a:pPr lvl="2" eaLnBrk="1" hangingPunct="1">
              <a:lnSpc>
                <a:spcPct val="80000"/>
              </a:lnSpc>
            </a:pPr>
            <a:r>
              <a:rPr lang="en-US" altLang="en-KE" sz="1400"/>
              <a:t>Analgesia </a:t>
            </a:r>
          </a:p>
          <a:p>
            <a:pPr lvl="2" eaLnBrk="1" hangingPunct="1">
              <a:lnSpc>
                <a:spcPct val="80000"/>
              </a:lnSpc>
            </a:pPr>
            <a:r>
              <a:rPr lang="en-US" altLang="en-KE" sz="1400"/>
              <a:t>Ataxia </a:t>
            </a:r>
          </a:p>
          <a:p>
            <a:pPr lvl="2" eaLnBrk="1" hangingPunct="1">
              <a:lnSpc>
                <a:spcPct val="80000"/>
              </a:lnSpc>
            </a:pPr>
            <a:r>
              <a:rPr lang="en-US" altLang="en-KE" sz="1400"/>
              <a:t>Muscle spasticity</a:t>
            </a:r>
          </a:p>
          <a:p>
            <a:pPr lvl="1" eaLnBrk="1" hangingPunct="1">
              <a:lnSpc>
                <a:spcPct val="80000"/>
              </a:lnSpc>
              <a:buFontTx/>
              <a:buNone/>
            </a:pPr>
            <a:r>
              <a:rPr lang="en-US" altLang="en-KE" sz="1400"/>
              <a:t> </a:t>
            </a:r>
            <a:r>
              <a:rPr lang="en-US" altLang="en-KE" sz="1400" b="1"/>
              <a:t>Neurological</a:t>
            </a:r>
          </a:p>
          <a:p>
            <a:pPr lvl="2" eaLnBrk="1" hangingPunct="1">
              <a:lnSpc>
                <a:spcPct val="80000"/>
              </a:lnSpc>
            </a:pPr>
            <a:r>
              <a:rPr lang="en-US" altLang="en-KE" sz="1400"/>
              <a:t>Analgesia </a:t>
            </a:r>
          </a:p>
          <a:p>
            <a:pPr lvl="2" eaLnBrk="1" hangingPunct="1">
              <a:lnSpc>
                <a:spcPct val="80000"/>
              </a:lnSpc>
            </a:pPr>
            <a:r>
              <a:rPr lang="en-US" altLang="en-KE" sz="1400"/>
              <a:t>Physical dependence</a:t>
            </a:r>
          </a:p>
          <a:p>
            <a:pPr lvl="1" eaLnBrk="1" hangingPunct="1">
              <a:lnSpc>
                <a:spcPct val="80000"/>
              </a:lnSpc>
              <a:buFontTx/>
              <a:buNone/>
            </a:pPr>
            <a:r>
              <a:rPr lang="en-US" altLang="en-KE" sz="1400"/>
              <a:t> </a:t>
            </a:r>
            <a:r>
              <a:rPr lang="en-US" altLang="en-KE" sz="1400" b="1"/>
              <a:t>Skin</a:t>
            </a:r>
          </a:p>
          <a:p>
            <a:pPr lvl="2" eaLnBrk="1" hangingPunct="1">
              <a:lnSpc>
                <a:spcPct val="80000"/>
              </a:lnSpc>
            </a:pPr>
            <a:r>
              <a:rPr lang="en-US" altLang="en-KE" sz="1400" b="1"/>
              <a:t> </a:t>
            </a:r>
            <a:r>
              <a:rPr lang="en-US" altLang="en-KE" sz="1400"/>
              <a:t>Itching </a:t>
            </a:r>
          </a:p>
          <a:p>
            <a:pPr lvl="2" eaLnBrk="1" hangingPunct="1">
              <a:lnSpc>
                <a:spcPct val="80000"/>
              </a:lnSpc>
            </a:pPr>
            <a:r>
              <a:rPr lang="en-US" altLang="en-KE" sz="1400"/>
              <a:t>Flushing/Rash </a:t>
            </a:r>
          </a:p>
          <a:p>
            <a:pPr lvl="2" eaLnBrk="1" hangingPunct="1">
              <a:lnSpc>
                <a:spcPct val="80000"/>
              </a:lnSpc>
            </a:pPr>
            <a:endParaRPr lang="en-US" altLang="en-KE" sz="1400"/>
          </a:p>
          <a:p>
            <a:pPr lvl="1" eaLnBrk="1" hangingPunct="1">
              <a:lnSpc>
                <a:spcPct val="80000"/>
              </a:lnSpc>
            </a:pPr>
            <a:endParaRPr lang="en-US" altLang="en-KE" sz="1200"/>
          </a:p>
          <a:p>
            <a:pPr lvl="1" eaLnBrk="1" hangingPunct="1">
              <a:lnSpc>
                <a:spcPct val="80000"/>
              </a:lnSpc>
              <a:buFontTx/>
              <a:buNone/>
            </a:pPr>
            <a:r>
              <a:rPr lang="en-US" altLang="en-KE" sz="900"/>
              <a:t> </a:t>
            </a:r>
          </a:p>
        </p:txBody>
      </p:sp>
      <p:sp>
        <p:nvSpPr>
          <p:cNvPr id="67589" name="Rectangle 4">
            <a:extLst>
              <a:ext uri="{FF2B5EF4-FFF2-40B4-BE49-F238E27FC236}">
                <a16:creationId xmlns:a16="http://schemas.microsoft.com/office/drawing/2014/main" id="{E0519981-1CA2-8AE3-AEDC-B6219E021ED9}"/>
              </a:ext>
            </a:extLst>
          </p:cNvPr>
          <p:cNvSpPr>
            <a:spLocks noChangeArrowheads="1"/>
          </p:cNvSpPr>
          <p:nvPr/>
        </p:nvSpPr>
        <p:spPr bwMode="auto">
          <a:xfrm>
            <a:off x="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KE"/>
          </a:p>
          <a:p>
            <a:endParaRPr lang="en-US" altLang="en-KE"/>
          </a:p>
        </p:txBody>
      </p:sp>
      <p:sp>
        <p:nvSpPr>
          <p:cNvPr id="67590" name="Rectangle 5">
            <a:extLst>
              <a:ext uri="{FF2B5EF4-FFF2-40B4-BE49-F238E27FC236}">
                <a16:creationId xmlns:a16="http://schemas.microsoft.com/office/drawing/2014/main" id="{FAA3F009-0352-3100-4C13-82AED4597F8A}"/>
              </a:ext>
            </a:extLst>
          </p:cNvPr>
          <p:cNvSpPr>
            <a:spLocks noChangeArrowheads="1"/>
          </p:cNvSpPr>
          <p:nvPr/>
        </p:nvSpPr>
        <p:spPr bwMode="auto">
          <a:xfrm>
            <a:off x="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KE"/>
          </a:p>
          <a:p>
            <a:endParaRPr lang="en-US" altLang="en-KE"/>
          </a:p>
        </p:txBody>
      </p:sp>
      <p:sp>
        <p:nvSpPr>
          <p:cNvPr id="67591" name="Rectangle 6">
            <a:extLst>
              <a:ext uri="{FF2B5EF4-FFF2-40B4-BE49-F238E27FC236}">
                <a16:creationId xmlns:a16="http://schemas.microsoft.com/office/drawing/2014/main" id="{7A5EC114-9E6A-3B3D-7299-D1B3F5147C0E}"/>
              </a:ext>
            </a:extLst>
          </p:cNvPr>
          <p:cNvSpPr>
            <a:spLocks noChangeArrowheads="1"/>
          </p:cNvSpPr>
          <p:nvPr/>
        </p:nvSpPr>
        <p:spPr bwMode="auto">
          <a:xfrm>
            <a:off x="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KE"/>
          </a:p>
          <a:p>
            <a:endParaRPr lang="en-US" altLang="en-KE"/>
          </a:p>
        </p:txBody>
      </p:sp>
      <p:sp>
        <p:nvSpPr>
          <p:cNvPr id="67592" name="Rectangle 7">
            <a:extLst>
              <a:ext uri="{FF2B5EF4-FFF2-40B4-BE49-F238E27FC236}">
                <a16:creationId xmlns:a16="http://schemas.microsoft.com/office/drawing/2014/main" id="{BCE93302-B0C0-658F-C117-49229B9421EE}"/>
              </a:ext>
            </a:extLst>
          </p:cNvPr>
          <p:cNvSpPr>
            <a:spLocks noChangeArrowheads="1"/>
          </p:cNvSpPr>
          <p:nvPr/>
        </p:nvSpPr>
        <p:spPr bwMode="auto">
          <a:xfrm>
            <a:off x="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KE"/>
          </a:p>
          <a:p>
            <a:endParaRPr lang="en-US" altLang="en-KE"/>
          </a:p>
        </p:txBody>
      </p:sp>
      <p:sp>
        <p:nvSpPr>
          <p:cNvPr id="67593" name="Rectangle 8">
            <a:extLst>
              <a:ext uri="{FF2B5EF4-FFF2-40B4-BE49-F238E27FC236}">
                <a16:creationId xmlns:a16="http://schemas.microsoft.com/office/drawing/2014/main" id="{35668790-EA89-CFE9-4FE7-41F502E22FB9}"/>
              </a:ext>
            </a:extLst>
          </p:cNvPr>
          <p:cNvSpPr>
            <a:spLocks noChangeArrowheads="1"/>
          </p:cNvSpPr>
          <p:nvPr/>
        </p:nvSpPr>
        <p:spPr bwMode="auto">
          <a:xfrm>
            <a:off x="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KE"/>
          </a:p>
          <a:p>
            <a:endParaRPr lang="en-US" altLang="en-KE"/>
          </a:p>
        </p:txBody>
      </p:sp>
      <p:sp>
        <p:nvSpPr>
          <p:cNvPr id="67594" name="Rectangle 9">
            <a:extLst>
              <a:ext uri="{FF2B5EF4-FFF2-40B4-BE49-F238E27FC236}">
                <a16:creationId xmlns:a16="http://schemas.microsoft.com/office/drawing/2014/main" id="{E7C31D0A-B8C4-F849-AD23-C50D7D22ED62}"/>
              </a:ext>
            </a:extLst>
          </p:cNvPr>
          <p:cNvSpPr>
            <a:spLocks noChangeArrowheads="1"/>
          </p:cNvSpPr>
          <p:nvPr/>
        </p:nvSpPr>
        <p:spPr bwMode="auto">
          <a:xfrm>
            <a:off x="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KE"/>
          </a:p>
          <a:p>
            <a:endParaRPr lang="en-US" altLang="en-KE"/>
          </a:p>
        </p:txBody>
      </p:sp>
      <p:sp>
        <p:nvSpPr>
          <p:cNvPr id="67595" name="Rectangle 10">
            <a:extLst>
              <a:ext uri="{FF2B5EF4-FFF2-40B4-BE49-F238E27FC236}">
                <a16:creationId xmlns:a16="http://schemas.microsoft.com/office/drawing/2014/main" id="{4B26FA28-9B99-19B6-864E-252AF7E72D2B}"/>
              </a:ext>
            </a:extLst>
          </p:cNvPr>
          <p:cNvSpPr>
            <a:spLocks noChangeArrowheads="1"/>
          </p:cNvSpPr>
          <p:nvPr/>
        </p:nvSpPr>
        <p:spPr bwMode="auto">
          <a:xfrm>
            <a:off x="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KE"/>
          </a:p>
          <a:p>
            <a:endParaRPr lang="en-US" altLang="en-KE"/>
          </a:p>
        </p:txBody>
      </p:sp>
      <p:sp>
        <p:nvSpPr>
          <p:cNvPr id="67596" name="Rectangle 11">
            <a:extLst>
              <a:ext uri="{FF2B5EF4-FFF2-40B4-BE49-F238E27FC236}">
                <a16:creationId xmlns:a16="http://schemas.microsoft.com/office/drawing/2014/main" id="{93EA2009-0A35-1393-BD5C-D1D40C2D8EA6}"/>
              </a:ext>
            </a:extLst>
          </p:cNvPr>
          <p:cNvSpPr>
            <a:spLocks noChangeArrowheads="1"/>
          </p:cNvSpPr>
          <p:nvPr/>
        </p:nvSpPr>
        <p:spPr bwMode="auto">
          <a:xfrm>
            <a:off x="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KE"/>
          </a:p>
          <a:p>
            <a:endParaRPr lang="en-US" altLang="en-KE"/>
          </a:p>
        </p:txBody>
      </p:sp>
      <p:sp>
        <p:nvSpPr>
          <p:cNvPr id="67597" name="Rectangle 12">
            <a:extLst>
              <a:ext uri="{FF2B5EF4-FFF2-40B4-BE49-F238E27FC236}">
                <a16:creationId xmlns:a16="http://schemas.microsoft.com/office/drawing/2014/main" id="{03897C05-C87D-FB51-D900-85DC9F2DE2E6}"/>
              </a:ext>
            </a:extLst>
          </p:cNvPr>
          <p:cNvSpPr>
            <a:spLocks noChangeArrowheads="1"/>
          </p:cNvSpPr>
          <p:nvPr/>
        </p:nvSpPr>
        <p:spPr bwMode="auto">
          <a:xfrm>
            <a:off x="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KE"/>
          </a:p>
          <a:p>
            <a:endParaRPr lang="en-US" altLang="en-KE"/>
          </a:p>
        </p:txBody>
      </p:sp>
      <p:sp>
        <p:nvSpPr>
          <p:cNvPr id="67598" name="Rectangle 13">
            <a:extLst>
              <a:ext uri="{FF2B5EF4-FFF2-40B4-BE49-F238E27FC236}">
                <a16:creationId xmlns:a16="http://schemas.microsoft.com/office/drawing/2014/main" id="{AF0A9D9A-FAB0-F877-15E9-79B6A6BB4016}"/>
              </a:ext>
            </a:extLst>
          </p:cNvPr>
          <p:cNvSpPr>
            <a:spLocks noChangeArrowheads="1"/>
          </p:cNvSpPr>
          <p:nvPr/>
        </p:nvSpPr>
        <p:spPr bwMode="auto">
          <a:xfrm>
            <a:off x="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KE"/>
          </a:p>
          <a:p>
            <a:endParaRPr lang="en-US" altLang="en-KE"/>
          </a:p>
        </p:txBody>
      </p:sp>
      <p:sp>
        <p:nvSpPr>
          <p:cNvPr id="67599" name="Rectangle 14">
            <a:extLst>
              <a:ext uri="{FF2B5EF4-FFF2-40B4-BE49-F238E27FC236}">
                <a16:creationId xmlns:a16="http://schemas.microsoft.com/office/drawing/2014/main" id="{FC37CD82-C558-1A41-479D-3179EC96C349}"/>
              </a:ext>
            </a:extLst>
          </p:cNvPr>
          <p:cNvSpPr>
            <a:spLocks noChangeArrowheads="1"/>
          </p:cNvSpPr>
          <p:nvPr/>
        </p:nvSpPr>
        <p:spPr bwMode="auto">
          <a:xfrm>
            <a:off x="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KE"/>
          </a:p>
          <a:p>
            <a:endParaRPr lang="en-US" altLang="en-KE"/>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5">
            <a:extLst>
              <a:ext uri="{FF2B5EF4-FFF2-40B4-BE49-F238E27FC236}">
                <a16:creationId xmlns:a16="http://schemas.microsoft.com/office/drawing/2014/main" id="{8049172C-C008-8FBA-4B64-76F8DAFA299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980BFEF-4789-6F42-B249-B5DB9392672A}" type="slidenum">
              <a:rPr lang="en-US" altLang="en-KE">
                <a:solidFill>
                  <a:schemeClr val="bg1"/>
                </a:solidFill>
              </a:rPr>
              <a:pPr eaLnBrk="1" hangingPunct="1"/>
              <a:t>65</a:t>
            </a:fld>
            <a:endParaRPr lang="en-US" altLang="en-KE">
              <a:solidFill>
                <a:schemeClr val="bg1"/>
              </a:solidFill>
            </a:endParaRPr>
          </a:p>
        </p:txBody>
      </p:sp>
      <p:sp>
        <p:nvSpPr>
          <p:cNvPr id="68611" name="AutoShape 2">
            <a:extLst>
              <a:ext uri="{FF2B5EF4-FFF2-40B4-BE49-F238E27FC236}">
                <a16:creationId xmlns:a16="http://schemas.microsoft.com/office/drawing/2014/main" id="{9F150734-295C-2712-4710-267979B92821}"/>
              </a:ext>
            </a:extLst>
          </p:cNvPr>
          <p:cNvSpPr>
            <a:spLocks noGrp="1" noChangeArrowheads="1"/>
          </p:cNvSpPr>
          <p:nvPr>
            <p:ph type="title"/>
          </p:nvPr>
        </p:nvSpPr>
        <p:spPr/>
        <p:txBody>
          <a:bodyPr/>
          <a:lstStyle/>
          <a:p>
            <a:pPr eaLnBrk="1" hangingPunct="1"/>
            <a:r>
              <a:rPr lang="en-US" altLang="en-KE">
                <a:solidFill>
                  <a:srgbClr val="FF0066"/>
                </a:solidFill>
              </a:rPr>
              <a:t>Effects of heroine cont.</a:t>
            </a:r>
          </a:p>
        </p:txBody>
      </p:sp>
      <p:sp>
        <p:nvSpPr>
          <p:cNvPr id="68612" name="Rectangle 3">
            <a:extLst>
              <a:ext uri="{FF2B5EF4-FFF2-40B4-BE49-F238E27FC236}">
                <a16:creationId xmlns:a16="http://schemas.microsoft.com/office/drawing/2014/main" id="{375AF1BA-DEF4-A2A6-E543-2B8AB61F5022}"/>
              </a:ext>
            </a:extLst>
          </p:cNvPr>
          <p:cNvSpPr>
            <a:spLocks noGrp="1" noChangeArrowheads="1"/>
          </p:cNvSpPr>
          <p:nvPr>
            <p:ph type="body" idx="1"/>
          </p:nvPr>
        </p:nvSpPr>
        <p:spPr/>
        <p:txBody>
          <a:bodyPr/>
          <a:lstStyle/>
          <a:p>
            <a:pPr eaLnBrk="1" hangingPunct="1">
              <a:lnSpc>
                <a:spcPct val="90000"/>
              </a:lnSpc>
              <a:buFont typeface="Wingdings" pitchFamily="2" charset="2"/>
              <a:buNone/>
            </a:pPr>
            <a:r>
              <a:rPr lang="en-US" altLang="en-KE" sz="2000" b="1"/>
              <a:t>Gastrointestinal</a:t>
            </a:r>
          </a:p>
          <a:p>
            <a:pPr lvl="1" eaLnBrk="1" hangingPunct="1">
              <a:lnSpc>
                <a:spcPct val="90000"/>
              </a:lnSpc>
            </a:pPr>
            <a:r>
              <a:rPr lang="en-US" altLang="en-KE" sz="2000" b="1"/>
              <a:t>Nausea </a:t>
            </a:r>
          </a:p>
          <a:p>
            <a:pPr lvl="1" eaLnBrk="1" hangingPunct="1">
              <a:lnSpc>
                <a:spcPct val="90000"/>
              </a:lnSpc>
            </a:pPr>
            <a:r>
              <a:rPr lang="en-US" altLang="en-KE" sz="2000" b="1"/>
              <a:t>Vomiting (protracted) </a:t>
            </a:r>
          </a:p>
          <a:p>
            <a:pPr lvl="1" eaLnBrk="1" hangingPunct="1">
              <a:lnSpc>
                <a:spcPct val="90000"/>
              </a:lnSpc>
            </a:pPr>
            <a:r>
              <a:rPr lang="en-US" altLang="en-KE" sz="2000" b="1"/>
              <a:t>Constipation </a:t>
            </a:r>
          </a:p>
          <a:p>
            <a:pPr lvl="1" eaLnBrk="1" hangingPunct="1">
              <a:lnSpc>
                <a:spcPct val="90000"/>
              </a:lnSpc>
            </a:pPr>
            <a:r>
              <a:rPr lang="en-US" altLang="en-KE" sz="2000" b="1"/>
              <a:t>Dyspepsia</a:t>
            </a:r>
          </a:p>
          <a:p>
            <a:pPr eaLnBrk="1" hangingPunct="1">
              <a:lnSpc>
                <a:spcPct val="90000"/>
              </a:lnSpc>
              <a:buFont typeface="Wingdings" pitchFamily="2" charset="2"/>
              <a:buNone/>
            </a:pPr>
            <a:r>
              <a:rPr lang="en-US" altLang="en-KE" sz="2000"/>
              <a:t> </a:t>
            </a:r>
            <a:r>
              <a:rPr lang="en-US" altLang="en-KE" sz="2000" b="1"/>
              <a:t>Psychological</a:t>
            </a:r>
          </a:p>
          <a:p>
            <a:pPr lvl="1" eaLnBrk="1" hangingPunct="1">
              <a:lnSpc>
                <a:spcPct val="90000"/>
              </a:lnSpc>
            </a:pPr>
            <a:r>
              <a:rPr lang="en-US" altLang="en-KE" sz="2000" b="1"/>
              <a:t>Anxiolysis </a:t>
            </a:r>
          </a:p>
          <a:p>
            <a:pPr lvl="1" eaLnBrk="1" hangingPunct="1">
              <a:lnSpc>
                <a:spcPct val="90000"/>
              </a:lnSpc>
            </a:pPr>
            <a:r>
              <a:rPr lang="en-US" altLang="en-KE" sz="2000" b="1"/>
              <a:t>Confusion </a:t>
            </a:r>
          </a:p>
          <a:p>
            <a:pPr lvl="1" eaLnBrk="1" hangingPunct="1">
              <a:lnSpc>
                <a:spcPct val="90000"/>
              </a:lnSpc>
            </a:pPr>
            <a:r>
              <a:rPr lang="en-US" altLang="en-KE" sz="2000" b="1"/>
              <a:t>Euphoria </a:t>
            </a:r>
          </a:p>
          <a:p>
            <a:pPr lvl="1" eaLnBrk="1" hangingPunct="1">
              <a:lnSpc>
                <a:spcPct val="90000"/>
              </a:lnSpc>
            </a:pPr>
            <a:r>
              <a:rPr lang="en-US" altLang="en-KE" sz="2000" b="1"/>
              <a:t>Psychological dependence</a:t>
            </a:r>
            <a:r>
              <a:rPr lang="en-US" altLang="en-KE" sz="1800"/>
              <a:t> </a:t>
            </a:r>
          </a:p>
          <a:p>
            <a:pPr lvl="1" eaLnBrk="1" hangingPunct="1">
              <a:lnSpc>
                <a:spcPct val="90000"/>
              </a:lnSpc>
            </a:pPr>
            <a:r>
              <a:rPr lang="en-US" altLang="en-KE" sz="1800" b="1"/>
              <a:t>Somnolence</a:t>
            </a:r>
          </a:p>
          <a:p>
            <a:pPr lvl="1" eaLnBrk="1" hangingPunct="1">
              <a:lnSpc>
                <a:spcPct val="90000"/>
              </a:lnSpc>
            </a:pPr>
            <a:endParaRPr lang="en-US" altLang="en-KE" sz="1800" b="1"/>
          </a:p>
        </p:txBody>
      </p:sp>
      <p:sp>
        <p:nvSpPr>
          <p:cNvPr id="68613" name="Rectangle 4">
            <a:extLst>
              <a:ext uri="{FF2B5EF4-FFF2-40B4-BE49-F238E27FC236}">
                <a16:creationId xmlns:a16="http://schemas.microsoft.com/office/drawing/2014/main" id="{DEE82D95-6F5B-CA39-8CA1-4C9FB668FC0C}"/>
              </a:ext>
            </a:extLst>
          </p:cNvPr>
          <p:cNvSpPr>
            <a:spLocks noChangeArrowheads="1"/>
          </p:cNvSpPr>
          <p:nvPr/>
        </p:nvSpPr>
        <p:spPr bwMode="auto">
          <a:xfrm>
            <a:off x="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KE"/>
          </a:p>
          <a:p>
            <a:endParaRPr lang="en-US" altLang="en-KE"/>
          </a:p>
        </p:txBody>
      </p:sp>
      <p:sp>
        <p:nvSpPr>
          <p:cNvPr id="68614" name="Rectangle 5">
            <a:extLst>
              <a:ext uri="{FF2B5EF4-FFF2-40B4-BE49-F238E27FC236}">
                <a16:creationId xmlns:a16="http://schemas.microsoft.com/office/drawing/2014/main" id="{F0706B66-D4F3-2C5E-5E6E-85DDED85AD8A}"/>
              </a:ext>
            </a:extLst>
          </p:cNvPr>
          <p:cNvSpPr>
            <a:spLocks noChangeArrowheads="1"/>
          </p:cNvSpPr>
          <p:nvPr/>
        </p:nvSpPr>
        <p:spPr bwMode="auto">
          <a:xfrm>
            <a:off x="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KE"/>
          </a:p>
          <a:p>
            <a:endParaRPr lang="en-US" altLang="en-KE"/>
          </a:p>
        </p:txBody>
      </p:sp>
      <p:sp>
        <p:nvSpPr>
          <p:cNvPr id="68615" name="Rectangle 6">
            <a:extLst>
              <a:ext uri="{FF2B5EF4-FFF2-40B4-BE49-F238E27FC236}">
                <a16:creationId xmlns:a16="http://schemas.microsoft.com/office/drawing/2014/main" id="{3BCE955E-F188-AEB4-3DB9-E922AC5B14AF}"/>
              </a:ext>
            </a:extLst>
          </p:cNvPr>
          <p:cNvSpPr>
            <a:spLocks noChangeArrowheads="1"/>
          </p:cNvSpPr>
          <p:nvPr/>
        </p:nvSpPr>
        <p:spPr bwMode="auto">
          <a:xfrm>
            <a:off x="0" y="0"/>
            <a:ext cx="184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KE"/>
          </a:p>
          <a:p>
            <a:endParaRPr lang="en-US" altLang="en-KE"/>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5">
            <a:extLst>
              <a:ext uri="{FF2B5EF4-FFF2-40B4-BE49-F238E27FC236}">
                <a16:creationId xmlns:a16="http://schemas.microsoft.com/office/drawing/2014/main" id="{A2685652-03F4-B531-901C-57EAAF4EEA4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A6A2AB2-CDAF-F541-BF4F-2FE33DDB9490}" type="slidenum">
              <a:rPr lang="en-US" altLang="en-KE">
                <a:solidFill>
                  <a:schemeClr val="bg1"/>
                </a:solidFill>
              </a:rPr>
              <a:pPr eaLnBrk="1" hangingPunct="1"/>
              <a:t>66</a:t>
            </a:fld>
            <a:endParaRPr lang="en-US" altLang="en-KE">
              <a:solidFill>
                <a:schemeClr val="bg1"/>
              </a:solidFill>
            </a:endParaRPr>
          </a:p>
        </p:txBody>
      </p:sp>
      <p:sp>
        <p:nvSpPr>
          <p:cNvPr id="69635" name="AutoShape 2">
            <a:extLst>
              <a:ext uri="{FF2B5EF4-FFF2-40B4-BE49-F238E27FC236}">
                <a16:creationId xmlns:a16="http://schemas.microsoft.com/office/drawing/2014/main" id="{34FD6148-281B-D2F5-4AAB-30B061E3CE33}"/>
              </a:ext>
            </a:extLst>
          </p:cNvPr>
          <p:cNvSpPr>
            <a:spLocks noGrp="1" noChangeArrowheads="1"/>
          </p:cNvSpPr>
          <p:nvPr>
            <p:ph type="title"/>
          </p:nvPr>
        </p:nvSpPr>
        <p:spPr/>
        <p:txBody>
          <a:bodyPr/>
          <a:lstStyle/>
          <a:p>
            <a:pPr eaLnBrk="1" hangingPunct="1"/>
            <a:r>
              <a:rPr lang="en-US" altLang="en-KE">
                <a:solidFill>
                  <a:srgbClr val="FF0066"/>
                </a:solidFill>
              </a:rPr>
              <a:t>Treatment of Heroine dependence</a:t>
            </a:r>
          </a:p>
        </p:txBody>
      </p:sp>
      <p:sp>
        <p:nvSpPr>
          <p:cNvPr id="69636" name="Rectangle 3">
            <a:extLst>
              <a:ext uri="{FF2B5EF4-FFF2-40B4-BE49-F238E27FC236}">
                <a16:creationId xmlns:a16="http://schemas.microsoft.com/office/drawing/2014/main" id="{18B78969-C190-B3B8-F020-0A2046784315}"/>
              </a:ext>
            </a:extLst>
          </p:cNvPr>
          <p:cNvSpPr>
            <a:spLocks noGrp="1" noChangeArrowheads="1"/>
          </p:cNvSpPr>
          <p:nvPr>
            <p:ph type="body" idx="1"/>
          </p:nvPr>
        </p:nvSpPr>
        <p:spPr/>
        <p:txBody>
          <a:bodyPr/>
          <a:lstStyle/>
          <a:p>
            <a:pPr eaLnBrk="1" hangingPunct="1">
              <a:lnSpc>
                <a:spcPct val="90000"/>
              </a:lnSpc>
            </a:pPr>
            <a:r>
              <a:rPr lang="en-US" altLang="en-KE"/>
              <a:t>The basic aims of treatment are to keep the craving for drugs and the unpleasant withdrawal symptoms at bay so that the patient does not seek to obtain heroine or morphine illegally</a:t>
            </a:r>
          </a:p>
          <a:p>
            <a:pPr eaLnBrk="1" hangingPunct="1">
              <a:lnSpc>
                <a:spcPct val="90000"/>
              </a:lnSpc>
            </a:pPr>
            <a:r>
              <a:rPr lang="en-US" altLang="en-KE"/>
              <a:t>Drugs used to treat opiod dependence are</a:t>
            </a:r>
          </a:p>
          <a:p>
            <a:pPr eaLnBrk="1" hangingPunct="1">
              <a:lnSpc>
                <a:spcPct val="90000"/>
              </a:lnSpc>
              <a:buFont typeface="Wingdings" pitchFamily="2" charset="2"/>
              <a:buNone/>
            </a:pPr>
            <a:r>
              <a:rPr lang="en-US" altLang="en-KE"/>
              <a:t>   methadone,</a:t>
            </a:r>
          </a:p>
          <a:p>
            <a:pPr eaLnBrk="1" hangingPunct="1">
              <a:lnSpc>
                <a:spcPct val="90000"/>
              </a:lnSpc>
              <a:buFont typeface="Wingdings" pitchFamily="2" charset="2"/>
              <a:buNone/>
            </a:pPr>
            <a:r>
              <a:rPr lang="en-US" altLang="en-KE"/>
              <a:t>    clonidine,buprenorphine,naltrexone,and lofexidine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5">
            <a:extLst>
              <a:ext uri="{FF2B5EF4-FFF2-40B4-BE49-F238E27FC236}">
                <a16:creationId xmlns:a16="http://schemas.microsoft.com/office/drawing/2014/main" id="{66CC2D70-842C-611F-0E18-577BCEFEAB8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C008FC1-3415-3E40-B107-9D29F30DA557}" type="slidenum">
              <a:rPr lang="en-US" altLang="en-KE">
                <a:solidFill>
                  <a:schemeClr val="bg1"/>
                </a:solidFill>
              </a:rPr>
              <a:pPr eaLnBrk="1" hangingPunct="1"/>
              <a:t>67</a:t>
            </a:fld>
            <a:endParaRPr lang="en-US" altLang="en-KE">
              <a:solidFill>
                <a:schemeClr val="bg1"/>
              </a:solidFill>
            </a:endParaRPr>
          </a:p>
        </p:txBody>
      </p:sp>
      <p:sp>
        <p:nvSpPr>
          <p:cNvPr id="70659" name="AutoShape 2">
            <a:extLst>
              <a:ext uri="{FF2B5EF4-FFF2-40B4-BE49-F238E27FC236}">
                <a16:creationId xmlns:a16="http://schemas.microsoft.com/office/drawing/2014/main" id="{D82500AB-3790-2577-B9C5-B593678E80D9}"/>
              </a:ext>
            </a:extLst>
          </p:cNvPr>
          <p:cNvSpPr>
            <a:spLocks noGrp="1" noChangeArrowheads="1"/>
          </p:cNvSpPr>
          <p:nvPr>
            <p:ph type="title"/>
          </p:nvPr>
        </p:nvSpPr>
        <p:spPr/>
        <p:txBody>
          <a:bodyPr/>
          <a:lstStyle/>
          <a:p>
            <a:pPr eaLnBrk="1" hangingPunct="1"/>
            <a:r>
              <a:rPr lang="en-US" altLang="en-KE">
                <a:solidFill>
                  <a:srgbClr val="FF0066"/>
                </a:solidFill>
              </a:rPr>
              <a:t>KHAT (MIRAA)</a:t>
            </a:r>
          </a:p>
        </p:txBody>
      </p:sp>
      <p:sp>
        <p:nvSpPr>
          <p:cNvPr id="70660" name="Rectangle 3">
            <a:extLst>
              <a:ext uri="{FF2B5EF4-FFF2-40B4-BE49-F238E27FC236}">
                <a16:creationId xmlns:a16="http://schemas.microsoft.com/office/drawing/2014/main" id="{F5E71C80-1C63-19F3-463D-1AF7C6A33EF1}"/>
              </a:ext>
            </a:extLst>
          </p:cNvPr>
          <p:cNvSpPr>
            <a:spLocks noGrp="1" noChangeArrowheads="1"/>
          </p:cNvSpPr>
          <p:nvPr>
            <p:ph type="body" idx="1"/>
          </p:nvPr>
        </p:nvSpPr>
        <p:spPr/>
        <p:txBody>
          <a:bodyPr/>
          <a:lstStyle/>
          <a:p>
            <a:pPr eaLnBrk="1" hangingPunct="1"/>
            <a:r>
              <a:rPr lang="en-US" altLang="en-KE" sz="2400"/>
              <a:t>Khat contains the alkaloid called cathinone, an amphetamine-like stimulant which is said to cause excitement, loss of appetite and euphoria. In 1980 the World Health Organization classified khat as a drug of abuse that can produce mild to moderate psychological dependence</a:t>
            </a:r>
          </a:p>
          <a:p>
            <a:pPr eaLnBrk="1" hangingPunct="1"/>
            <a:endParaRPr lang="en-US" altLang="en-KE" sz="2400"/>
          </a:p>
          <a:p>
            <a:pPr eaLnBrk="1" hangingPunct="1"/>
            <a:r>
              <a:rPr lang="en-US" altLang="en-KE" sz="2400"/>
              <a:t>Traditionally, khat has been used as a socializing drug.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5">
            <a:extLst>
              <a:ext uri="{FF2B5EF4-FFF2-40B4-BE49-F238E27FC236}">
                <a16:creationId xmlns:a16="http://schemas.microsoft.com/office/drawing/2014/main" id="{B09D781C-B7B8-85D0-88C9-A5D2734DC04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6F51EA8-7EAD-004E-91BF-83436FECA1BB}" type="slidenum">
              <a:rPr lang="en-US" altLang="en-KE">
                <a:solidFill>
                  <a:schemeClr val="bg1"/>
                </a:solidFill>
              </a:rPr>
              <a:pPr eaLnBrk="1" hangingPunct="1"/>
              <a:t>68</a:t>
            </a:fld>
            <a:endParaRPr lang="en-US" altLang="en-KE">
              <a:solidFill>
                <a:schemeClr val="bg1"/>
              </a:solidFill>
            </a:endParaRPr>
          </a:p>
        </p:txBody>
      </p:sp>
      <p:sp>
        <p:nvSpPr>
          <p:cNvPr id="71683" name="AutoShape 2">
            <a:extLst>
              <a:ext uri="{FF2B5EF4-FFF2-40B4-BE49-F238E27FC236}">
                <a16:creationId xmlns:a16="http://schemas.microsoft.com/office/drawing/2014/main" id="{9FFF7897-EA54-AA93-55F6-BF1477C3EC4C}"/>
              </a:ext>
            </a:extLst>
          </p:cNvPr>
          <p:cNvSpPr>
            <a:spLocks noGrp="1" noChangeArrowheads="1"/>
          </p:cNvSpPr>
          <p:nvPr>
            <p:ph type="title"/>
          </p:nvPr>
        </p:nvSpPr>
        <p:spPr/>
        <p:txBody>
          <a:bodyPr/>
          <a:lstStyle/>
          <a:p>
            <a:pPr eaLnBrk="1" hangingPunct="1"/>
            <a:r>
              <a:rPr lang="en-US" altLang="en-KE">
                <a:solidFill>
                  <a:srgbClr val="FF0066"/>
                </a:solidFill>
              </a:rPr>
              <a:t>Effects of Khat.</a:t>
            </a:r>
          </a:p>
        </p:txBody>
      </p:sp>
      <p:sp>
        <p:nvSpPr>
          <p:cNvPr id="71684" name="Rectangle 3">
            <a:extLst>
              <a:ext uri="{FF2B5EF4-FFF2-40B4-BE49-F238E27FC236}">
                <a16:creationId xmlns:a16="http://schemas.microsoft.com/office/drawing/2014/main" id="{0CF7959A-C000-D722-4317-3944B7AE1247}"/>
              </a:ext>
            </a:extLst>
          </p:cNvPr>
          <p:cNvSpPr>
            <a:spLocks noGrp="1" noChangeArrowheads="1"/>
          </p:cNvSpPr>
          <p:nvPr>
            <p:ph type="body" idx="1"/>
          </p:nvPr>
        </p:nvSpPr>
        <p:spPr/>
        <p:txBody>
          <a:bodyPr/>
          <a:lstStyle/>
          <a:p>
            <a:pPr eaLnBrk="1" hangingPunct="1">
              <a:lnSpc>
                <a:spcPct val="90000"/>
              </a:lnSpc>
            </a:pPr>
            <a:r>
              <a:rPr lang="en-US" altLang="en-KE" sz="2400"/>
              <a:t>Long-term use can precipitate the following effects: negative impact on liver function, permanent tooth darkening (of a greenish tinge), susceptibility to ulcers, and diminished sex drive. Those who abuse the drug generally cannot stay without it for more than 4–5 days, feeling tired and having difficulty concentrating.</a:t>
            </a:r>
          </a:p>
          <a:p>
            <a:pPr eaLnBrk="1" hangingPunct="1">
              <a:lnSpc>
                <a:spcPct val="90000"/>
              </a:lnSpc>
            </a:pPr>
            <a:r>
              <a:rPr lang="en-US" altLang="en-KE" sz="2400"/>
              <a:t> Occasionally a psychosis can result, resembling a hypomanic state in presentation.</a:t>
            </a:r>
          </a:p>
          <a:p>
            <a:pPr eaLnBrk="1" hangingPunct="1">
              <a:lnSpc>
                <a:spcPct val="90000"/>
              </a:lnSpc>
            </a:pPr>
            <a:r>
              <a:rPr lang="en-US" altLang="en-KE" sz="2400"/>
              <a:t> It is estimated that several million people are frequent users of khat.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Number Placeholder 5">
            <a:extLst>
              <a:ext uri="{FF2B5EF4-FFF2-40B4-BE49-F238E27FC236}">
                <a16:creationId xmlns:a16="http://schemas.microsoft.com/office/drawing/2014/main" id="{4E093199-129F-80E2-FD2F-F8C9B5AB185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E371714-1A0A-DB42-BAC6-27BF4F80B819}" type="slidenum">
              <a:rPr lang="en-US" altLang="en-KE">
                <a:solidFill>
                  <a:schemeClr val="bg1"/>
                </a:solidFill>
              </a:rPr>
              <a:pPr eaLnBrk="1" hangingPunct="1"/>
              <a:t>69</a:t>
            </a:fld>
            <a:endParaRPr lang="en-US" altLang="en-KE">
              <a:solidFill>
                <a:schemeClr val="bg1"/>
              </a:solidFill>
            </a:endParaRPr>
          </a:p>
        </p:txBody>
      </p:sp>
      <p:sp>
        <p:nvSpPr>
          <p:cNvPr id="72707" name="AutoShape 2">
            <a:extLst>
              <a:ext uri="{FF2B5EF4-FFF2-40B4-BE49-F238E27FC236}">
                <a16:creationId xmlns:a16="http://schemas.microsoft.com/office/drawing/2014/main" id="{4A2CCBB6-4EBE-1EFF-0B88-79A4F0CE7CA0}"/>
              </a:ext>
            </a:extLst>
          </p:cNvPr>
          <p:cNvSpPr>
            <a:spLocks noGrp="1" noChangeArrowheads="1"/>
          </p:cNvSpPr>
          <p:nvPr>
            <p:ph type="title"/>
          </p:nvPr>
        </p:nvSpPr>
        <p:spPr/>
        <p:txBody>
          <a:bodyPr/>
          <a:lstStyle/>
          <a:p>
            <a:pPr eaLnBrk="1" hangingPunct="1"/>
            <a:r>
              <a:rPr lang="en-US" altLang="en-KE">
                <a:solidFill>
                  <a:srgbClr val="FF0066"/>
                </a:solidFill>
              </a:rPr>
              <a:t>INHALANTS AND SOLVENTS</a:t>
            </a:r>
          </a:p>
        </p:txBody>
      </p:sp>
      <p:sp>
        <p:nvSpPr>
          <p:cNvPr id="72708" name="Rectangle 3">
            <a:extLst>
              <a:ext uri="{FF2B5EF4-FFF2-40B4-BE49-F238E27FC236}">
                <a16:creationId xmlns:a16="http://schemas.microsoft.com/office/drawing/2014/main" id="{44A94B14-BB88-0C37-163A-7CF4CAA2567B}"/>
              </a:ext>
            </a:extLst>
          </p:cNvPr>
          <p:cNvSpPr>
            <a:spLocks noGrp="1" noChangeArrowheads="1"/>
          </p:cNvSpPr>
          <p:nvPr>
            <p:ph type="body" idx="1"/>
          </p:nvPr>
        </p:nvSpPr>
        <p:spPr/>
        <p:txBody>
          <a:bodyPr/>
          <a:lstStyle/>
          <a:p>
            <a:pPr eaLnBrk="1" hangingPunct="1"/>
            <a:r>
              <a:rPr lang="en-US" altLang="en-KE"/>
              <a:t>These are ordinary household products that are inhaled or sniffed by an abuser to get high</a:t>
            </a:r>
          </a:p>
          <a:p>
            <a:pPr eaLnBrk="1" hangingPunct="1"/>
            <a:r>
              <a:rPr lang="en-US" altLang="en-KE"/>
              <a:t>Examples include airplane glue,nail polish, cleaning fluids,gasoline,spray paint,fabric protector,air conditioner fluid.</a:t>
            </a:r>
          </a:p>
        </p:txBody>
      </p:sp>
      <p:sp>
        <p:nvSpPr>
          <p:cNvPr id="72709" name="Rectangle 4">
            <a:extLst>
              <a:ext uri="{FF2B5EF4-FFF2-40B4-BE49-F238E27FC236}">
                <a16:creationId xmlns:a16="http://schemas.microsoft.com/office/drawing/2014/main" id="{35693441-FEFF-081D-F182-2FA4295C3AF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KE" altLang="en-KE"/>
          </a:p>
        </p:txBody>
      </p:sp>
      <p:sp>
        <p:nvSpPr>
          <p:cNvPr id="72710" name="Rectangle 5">
            <a:extLst>
              <a:ext uri="{FF2B5EF4-FFF2-40B4-BE49-F238E27FC236}">
                <a16:creationId xmlns:a16="http://schemas.microsoft.com/office/drawing/2014/main" id="{63F8A3FB-72BE-A1C0-41E9-95447F1376E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KE" altLang="en-KE"/>
          </a:p>
        </p:txBody>
      </p:sp>
      <p:sp>
        <p:nvSpPr>
          <p:cNvPr id="72711" name="Rectangle 6">
            <a:extLst>
              <a:ext uri="{FF2B5EF4-FFF2-40B4-BE49-F238E27FC236}">
                <a16:creationId xmlns:a16="http://schemas.microsoft.com/office/drawing/2014/main" id="{D91557A4-BCBA-0F78-39AD-C3667652C2C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KE" altLang="en-KE"/>
          </a:p>
        </p:txBody>
      </p:sp>
      <p:sp>
        <p:nvSpPr>
          <p:cNvPr id="72712" name="Rectangle 7">
            <a:extLst>
              <a:ext uri="{FF2B5EF4-FFF2-40B4-BE49-F238E27FC236}">
                <a16:creationId xmlns:a16="http://schemas.microsoft.com/office/drawing/2014/main" id="{9A2D8E89-6ABE-24CF-4EFA-6FC31A722EF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KE" altLang="en-KE"/>
          </a:p>
        </p:txBody>
      </p:sp>
      <p:sp>
        <p:nvSpPr>
          <p:cNvPr id="72713" name="Rectangle 8">
            <a:extLst>
              <a:ext uri="{FF2B5EF4-FFF2-40B4-BE49-F238E27FC236}">
                <a16:creationId xmlns:a16="http://schemas.microsoft.com/office/drawing/2014/main" id="{3CF9138D-DE70-3341-39B0-8A02025C077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KE" altLang="en-KE"/>
          </a:p>
        </p:txBody>
      </p:sp>
      <p:sp>
        <p:nvSpPr>
          <p:cNvPr id="72714" name="Rectangle 9">
            <a:extLst>
              <a:ext uri="{FF2B5EF4-FFF2-40B4-BE49-F238E27FC236}">
                <a16:creationId xmlns:a16="http://schemas.microsoft.com/office/drawing/2014/main" id="{D20245D1-9319-4387-89A5-6D7A7E31B7C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KE" altLang="en-KE"/>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5">
            <a:extLst>
              <a:ext uri="{FF2B5EF4-FFF2-40B4-BE49-F238E27FC236}">
                <a16:creationId xmlns:a16="http://schemas.microsoft.com/office/drawing/2014/main" id="{68153E5A-2023-A5E7-7056-726DA2B7B98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B98F33E-4844-344C-83C0-B9A1C01B17B6}" type="slidenum">
              <a:rPr lang="en-US" altLang="en-KE">
                <a:solidFill>
                  <a:schemeClr val="bg1"/>
                </a:solidFill>
              </a:rPr>
              <a:pPr eaLnBrk="1" hangingPunct="1"/>
              <a:t>70</a:t>
            </a:fld>
            <a:endParaRPr lang="en-US" altLang="en-KE">
              <a:solidFill>
                <a:schemeClr val="bg1"/>
              </a:solidFill>
            </a:endParaRPr>
          </a:p>
        </p:txBody>
      </p:sp>
      <p:sp>
        <p:nvSpPr>
          <p:cNvPr id="73731" name="AutoShape 2">
            <a:extLst>
              <a:ext uri="{FF2B5EF4-FFF2-40B4-BE49-F238E27FC236}">
                <a16:creationId xmlns:a16="http://schemas.microsoft.com/office/drawing/2014/main" id="{539C183D-5F64-560C-DE10-023D3CC03055}"/>
              </a:ext>
            </a:extLst>
          </p:cNvPr>
          <p:cNvSpPr>
            <a:spLocks noGrp="1" noChangeArrowheads="1"/>
          </p:cNvSpPr>
          <p:nvPr>
            <p:ph type="title"/>
          </p:nvPr>
        </p:nvSpPr>
        <p:spPr/>
        <p:txBody>
          <a:bodyPr/>
          <a:lstStyle/>
          <a:p>
            <a:pPr eaLnBrk="1" hangingPunct="1"/>
            <a:r>
              <a:rPr lang="en-US" altLang="en-KE">
                <a:solidFill>
                  <a:schemeClr val="tx1"/>
                </a:solidFill>
              </a:rPr>
              <a:t>Inhalants and Solvents</a:t>
            </a:r>
          </a:p>
        </p:txBody>
      </p:sp>
      <p:sp>
        <p:nvSpPr>
          <p:cNvPr id="73732" name="Rectangle 3">
            <a:extLst>
              <a:ext uri="{FF2B5EF4-FFF2-40B4-BE49-F238E27FC236}">
                <a16:creationId xmlns:a16="http://schemas.microsoft.com/office/drawing/2014/main" id="{86B5036B-6052-ACDD-4243-35727A5F6679}"/>
              </a:ext>
            </a:extLst>
          </p:cNvPr>
          <p:cNvSpPr>
            <a:spLocks noGrp="1" noChangeArrowheads="1"/>
          </p:cNvSpPr>
          <p:nvPr>
            <p:ph type="body" idx="1"/>
          </p:nvPr>
        </p:nvSpPr>
        <p:spPr/>
        <p:txBody>
          <a:bodyPr/>
          <a:lstStyle/>
          <a:p>
            <a:pPr eaLnBrk="1" hangingPunct="1"/>
            <a:r>
              <a:rPr lang="en-US" altLang="en-KE"/>
              <a:t>Example of abuse.</a:t>
            </a:r>
          </a:p>
        </p:txBody>
      </p:sp>
      <p:sp>
        <p:nvSpPr>
          <p:cNvPr id="73733" name="Rectangle 5">
            <a:extLst>
              <a:ext uri="{FF2B5EF4-FFF2-40B4-BE49-F238E27FC236}">
                <a16:creationId xmlns:a16="http://schemas.microsoft.com/office/drawing/2014/main" id="{94ACB393-C127-ED17-BBC7-D0FC58FB50F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KE" altLang="en-KE"/>
          </a:p>
        </p:txBody>
      </p:sp>
      <p:sp>
        <p:nvSpPr>
          <p:cNvPr id="73734" name="Rectangle 6">
            <a:extLst>
              <a:ext uri="{FF2B5EF4-FFF2-40B4-BE49-F238E27FC236}">
                <a16:creationId xmlns:a16="http://schemas.microsoft.com/office/drawing/2014/main" id="{BBD5FD7A-A56B-6D2D-5CA7-7B164C009390}"/>
              </a:ext>
            </a:extLst>
          </p:cNvPr>
          <p:cNvSpPr>
            <a:spLocks noChangeArrowheads="1"/>
          </p:cNvSpPr>
          <p:nvPr/>
        </p:nvSpPr>
        <p:spPr bwMode="auto">
          <a:xfrm>
            <a:off x="0" y="0"/>
            <a:ext cx="247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KE"/>
              <a:t> </a:t>
            </a:r>
          </a:p>
        </p:txBody>
      </p:sp>
      <p:sp>
        <p:nvSpPr>
          <p:cNvPr id="73735" name="Rectangle 7">
            <a:extLst>
              <a:ext uri="{FF2B5EF4-FFF2-40B4-BE49-F238E27FC236}">
                <a16:creationId xmlns:a16="http://schemas.microsoft.com/office/drawing/2014/main" id="{1D0642CA-AABE-919E-F973-7258B17AC8E5}"/>
              </a:ext>
            </a:extLst>
          </p:cNvPr>
          <p:cNvSpPr>
            <a:spLocks noChangeArrowheads="1"/>
          </p:cNvSpPr>
          <p:nvPr/>
        </p:nvSpPr>
        <p:spPr bwMode="auto">
          <a:xfrm>
            <a:off x="0" y="0"/>
            <a:ext cx="247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KE"/>
              <a:t> </a:t>
            </a:r>
          </a:p>
        </p:txBody>
      </p:sp>
      <p:sp>
        <p:nvSpPr>
          <p:cNvPr id="73736" name="Rectangle 8">
            <a:extLst>
              <a:ext uri="{FF2B5EF4-FFF2-40B4-BE49-F238E27FC236}">
                <a16:creationId xmlns:a16="http://schemas.microsoft.com/office/drawing/2014/main" id="{E9C712C3-28D1-AAC5-CE4D-BE11CE76699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KE" altLang="en-KE"/>
          </a:p>
        </p:txBody>
      </p:sp>
      <p:sp>
        <p:nvSpPr>
          <p:cNvPr id="73737" name="Rectangle 9">
            <a:extLst>
              <a:ext uri="{FF2B5EF4-FFF2-40B4-BE49-F238E27FC236}">
                <a16:creationId xmlns:a16="http://schemas.microsoft.com/office/drawing/2014/main" id="{0C0E1A97-B030-7679-3E27-6AA1CCBBB88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KE" altLang="en-KE"/>
          </a:p>
        </p:txBody>
      </p:sp>
      <p:sp>
        <p:nvSpPr>
          <p:cNvPr id="73738" name="Rectangle 10">
            <a:extLst>
              <a:ext uri="{FF2B5EF4-FFF2-40B4-BE49-F238E27FC236}">
                <a16:creationId xmlns:a16="http://schemas.microsoft.com/office/drawing/2014/main" id="{742872A8-7417-A2F1-D7BC-F7A44126953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KE" altLang="en-KE"/>
          </a:p>
        </p:txBody>
      </p:sp>
      <p:sp>
        <p:nvSpPr>
          <p:cNvPr id="73739" name="Rectangle 11">
            <a:extLst>
              <a:ext uri="{FF2B5EF4-FFF2-40B4-BE49-F238E27FC236}">
                <a16:creationId xmlns:a16="http://schemas.microsoft.com/office/drawing/2014/main" id="{AC624AB6-675F-2369-3775-723E608C613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KE" altLang="en-KE"/>
          </a:p>
        </p:txBody>
      </p:sp>
      <p:pic>
        <p:nvPicPr>
          <p:cNvPr id="73740" name="Picture 13" descr="inhalant3">
            <a:extLst>
              <a:ext uri="{FF2B5EF4-FFF2-40B4-BE49-F238E27FC236}">
                <a16:creationId xmlns:a16="http://schemas.microsoft.com/office/drawing/2014/main" id="{B2777875-B996-4743-F02D-95CAE8E694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048000"/>
            <a:ext cx="60198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Number Placeholder 5">
            <a:extLst>
              <a:ext uri="{FF2B5EF4-FFF2-40B4-BE49-F238E27FC236}">
                <a16:creationId xmlns:a16="http://schemas.microsoft.com/office/drawing/2014/main" id="{BFEDDDDF-7AF0-D2E1-3DBD-62A33988927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CDE2F1F-B2EF-764C-AB4C-04079AEC2218}" type="slidenum">
              <a:rPr lang="en-US" altLang="en-KE">
                <a:solidFill>
                  <a:schemeClr val="bg1"/>
                </a:solidFill>
              </a:rPr>
              <a:pPr eaLnBrk="1" hangingPunct="1"/>
              <a:t>71</a:t>
            </a:fld>
            <a:endParaRPr lang="en-US" altLang="en-KE">
              <a:solidFill>
                <a:schemeClr val="bg1"/>
              </a:solidFill>
            </a:endParaRPr>
          </a:p>
        </p:txBody>
      </p:sp>
      <p:sp>
        <p:nvSpPr>
          <p:cNvPr id="74755" name="AutoShape 2">
            <a:extLst>
              <a:ext uri="{FF2B5EF4-FFF2-40B4-BE49-F238E27FC236}">
                <a16:creationId xmlns:a16="http://schemas.microsoft.com/office/drawing/2014/main" id="{4269E050-0EBE-3580-A1F9-F461E40F3C87}"/>
              </a:ext>
            </a:extLst>
          </p:cNvPr>
          <p:cNvSpPr>
            <a:spLocks noGrp="1" noChangeArrowheads="1"/>
          </p:cNvSpPr>
          <p:nvPr>
            <p:ph type="title"/>
          </p:nvPr>
        </p:nvSpPr>
        <p:spPr/>
        <p:txBody>
          <a:bodyPr/>
          <a:lstStyle/>
          <a:p>
            <a:pPr eaLnBrk="1" hangingPunct="1"/>
            <a:r>
              <a:rPr lang="en-US" altLang="en-KE"/>
              <a:t>Effects of solvents and inhalants </a:t>
            </a:r>
          </a:p>
        </p:txBody>
      </p:sp>
      <p:sp>
        <p:nvSpPr>
          <p:cNvPr id="74756" name="Rectangle 3">
            <a:extLst>
              <a:ext uri="{FF2B5EF4-FFF2-40B4-BE49-F238E27FC236}">
                <a16:creationId xmlns:a16="http://schemas.microsoft.com/office/drawing/2014/main" id="{43A08335-B3EF-70E3-85E4-2903755BA5BE}"/>
              </a:ext>
            </a:extLst>
          </p:cNvPr>
          <p:cNvSpPr>
            <a:spLocks noGrp="1" noChangeArrowheads="1"/>
          </p:cNvSpPr>
          <p:nvPr>
            <p:ph type="body" idx="1"/>
          </p:nvPr>
        </p:nvSpPr>
        <p:spPr/>
        <p:txBody>
          <a:bodyPr/>
          <a:lstStyle/>
          <a:p>
            <a:pPr eaLnBrk="1" hangingPunct="1"/>
            <a:r>
              <a:rPr lang="en-US" altLang="en-KE" sz="2400"/>
              <a:t>Short term effects include intoxication similar to alcohol. Which ones? </a:t>
            </a:r>
          </a:p>
          <a:p>
            <a:pPr eaLnBrk="1" hangingPunct="1">
              <a:buFont typeface="Wingdings" pitchFamily="2" charset="2"/>
              <a:buNone/>
            </a:pPr>
            <a:r>
              <a:rPr lang="en-US" altLang="en-KE" sz="2400"/>
              <a:t>   Slurred speech,inabilty to coordinate movements,diziness,confusion,delirium,nausea vomiting.</a:t>
            </a:r>
          </a:p>
          <a:p>
            <a:pPr eaLnBrk="1" hangingPunct="1">
              <a:buFont typeface="Wingdings" pitchFamily="2" charset="2"/>
              <a:buNone/>
            </a:pPr>
            <a:r>
              <a:rPr lang="en-US" altLang="en-KE" sz="2400"/>
              <a:t>    Long term effects include compulsive use, mild withdrawal syndrome, weight loss, muscle weakness,irritability,depression,lossof consciousness and even death.</a:t>
            </a:r>
          </a:p>
        </p:txBody>
      </p:sp>
      <p:sp>
        <p:nvSpPr>
          <p:cNvPr id="74757" name="Rectangle 4">
            <a:extLst>
              <a:ext uri="{FF2B5EF4-FFF2-40B4-BE49-F238E27FC236}">
                <a16:creationId xmlns:a16="http://schemas.microsoft.com/office/drawing/2014/main" id="{60F1BE04-F52F-205C-C852-21864C15FB2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KE" altLang="en-KE"/>
          </a:p>
        </p:txBody>
      </p:sp>
      <p:sp>
        <p:nvSpPr>
          <p:cNvPr id="74758" name="Rectangle 5">
            <a:extLst>
              <a:ext uri="{FF2B5EF4-FFF2-40B4-BE49-F238E27FC236}">
                <a16:creationId xmlns:a16="http://schemas.microsoft.com/office/drawing/2014/main" id="{289B4927-78AB-56FA-47B0-F36C870AD82E}"/>
              </a:ext>
            </a:extLst>
          </p:cNvPr>
          <p:cNvSpPr>
            <a:spLocks noChangeArrowheads="1"/>
          </p:cNvSpPr>
          <p:nvPr/>
        </p:nvSpPr>
        <p:spPr bwMode="auto">
          <a:xfrm>
            <a:off x="0" y="3429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KE" altLang="en-KE"/>
          </a:p>
        </p:txBody>
      </p:sp>
      <p:sp>
        <p:nvSpPr>
          <p:cNvPr id="74759" name="Rectangle 6">
            <a:extLst>
              <a:ext uri="{FF2B5EF4-FFF2-40B4-BE49-F238E27FC236}">
                <a16:creationId xmlns:a16="http://schemas.microsoft.com/office/drawing/2014/main" id="{E205DC5B-A887-4177-2F75-11025867561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KE" altLang="en-KE"/>
          </a:p>
        </p:txBody>
      </p:sp>
      <p:sp>
        <p:nvSpPr>
          <p:cNvPr id="74760" name="Rectangle 7">
            <a:extLst>
              <a:ext uri="{FF2B5EF4-FFF2-40B4-BE49-F238E27FC236}">
                <a16:creationId xmlns:a16="http://schemas.microsoft.com/office/drawing/2014/main" id="{3355188C-2360-9A71-9018-7A7B285D411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KE" altLang="en-KE"/>
          </a:p>
        </p:txBody>
      </p:sp>
      <p:sp>
        <p:nvSpPr>
          <p:cNvPr id="74761" name="Rectangle 8">
            <a:extLst>
              <a:ext uri="{FF2B5EF4-FFF2-40B4-BE49-F238E27FC236}">
                <a16:creationId xmlns:a16="http://schemas.microsoft.com/office/drawing/2014/main" id="{56225667-2772-603D-F8E4-1914E4F6FEA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KE" altLang="en-KE"/>
          </a:p>
        </p:txBody>
      </p:sp>
      <p:sp>
        <p:nvSpPr>
          <p:cNvPr id="74762" name="Rectangle 9">
            <a:extLst>
              <a:ext uri="{FF2B5EF4-FFF2-40B4-BE49-F238E27FC236}">
                <a16:creationId xmlns:a16="http://schemas.microsoft.com/office/drawing/2014/main" id="{C91B674C-9D7D-4394-E439-4E0A0FFF621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KE" altLang="en-KE"/>
          </a:p>
        </p:txBody>
      </p:sp>
      <p:sp>
        <p:nvSpPr>
          <p:cNvPr id="74763" name="Rectangle 10">
            <a:extLst>
              <a:ext uri="{FF2B5EF4-FFF2-40B4-BE49-F238E27FC236}">
                <a16:creationId xmlns:a16="http://schemas.microsoft.com/office/drawing/2014/main" id="{06572C95-891D-C88F-91F8-2B08E0F94CF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KE" altLang="en-KE"/>
          </a:p>
        </p:txBody>
      </p:sp>
      <p:sp>
        <p:nvSpPr>
          <p:cNvPr id="74764" name="Rectangle 11">
            <a:extLst>
              <a:ext uri="{FF2B5EF4-FFF2-40B4-BE49-F238E27FC236}">
                <a16:creationId xmlns:a16="http://schemas.microsoft.com/office/drawing/2014/main" id="{E45B8975-DC89-2B46-32B9-A8C5E9E2E8F9}"/>
              </a:ext>
            </a:extLst>
          </p:cNvPr>
          <p:cNvSpPr>
            <a:spLocks noChangeArrowheads="1"/>
          </p:cNvSpPr>
          <p:nvPr/>
        </p:nvSpPr>
        <p:spPr bwMode="auto">
          <a:xfrm>
            <a:off x="0" y="0"/>
            <a:ext cx="247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KE"/>
              <a:t>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5">
            <a:extLst>
              <a:ext uri="{FF2B5EF4-FFF2-40B4-BE49-F238E27FC236}">
                <a16:creationId xmlns:a16="http://schemas.microsoft.com/office/drawing/2014/main" id="{EAB4BCF2-CFC6-5B8F-4633-DDE931F4B86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D672175-03E7-0548-B20F-36168CB619AE}" type="slidenum">
              <a:rPr lang="en-US" altLang="en-KE">
                <a:solidFill>
                  <a:schemeClr val="bg1"/>
                </a:solidFill>
              </a:rPr>
              <a:pPr eaLnBrk="1" hangingPunct="1"/>
              <a:t>72</a:t>
            </a:fld>
            <a:endParaRPr lang="en-US" altLang="en-KE">
              <a:solidFill>
                <a:schemeClr val="bg1"/>
              </a:solidFill>
            </a:endParaRPr>
          </a:p>
        </p:txBody>
      </p:sp>
      <p:sp>
        <p:nvSpPr>
          <p:cNvPr id="75779" name="AutoShape 2">
            <a:extLst>
              <a:ext uri="{FF2B5EF4-FFF2-40B4-BE49-F238E27FC236}">
                <a16:creationId xmlns:a16="http://schemas.microsoft.com/office/drawing/2014/main" id="{2D30C600-321B-C41A-B441-3C57FA4CDCF0}"/>
              </a:ext>
            </a:extLst>
          </p:cNvPr>
          <p:cNvSpPr>
            <a:spLocks noGrp="1" noChangeArrowheads="1"/>
          </p:cNvSpPr>
          <p:nvPr>
            <p:ph type="title"/>
          </p:nvPr>
        </p:nvSpPr>
        <p:spPr/>
        <p:txBody>
          <a:bodyPr/>
          <a:lstStyle/>
          <a:p>
            <a:pPr eaLnBrk="1" hangingPunct="1"/>
            <a:r>
              <a:rPr lang="en-US" altLang="en-KE"/>
              <a:t>Prevention, Treatment &amp; Control</a:t>
            </a:r>
          </a:p>
        </p:txBody>
      </p:sp>
      <p:sp>
        <p:nvSpPr>
          <p:cNvPr id="75780" name="Rectangle 3">
            <a:extLst>
              <a:ext uri="{FF2B5EF4-FFF2-40B4-BE49-F238E27FC236}">
                <a16:creationId xmlns:a16="http://schemas.microsoft.com/office/drawing/2014/main" id="{B473F4B1-D8C6-362B-A4DB-6F2A18D70EB6}"/>
              </a:ext>
            </a:extLst>
          </p:cNvPr>
          <p:cNvSpPr>
            <a:spLocks noGrp="1" noChangeArrowheads="1"/>
          </p:cNvSpPr>
          <p:nvPr>
            <p:ph type="body" idx="1"/>
          </p:nvPr>
        </p:nvSpPr>
        <p:spPr/>
        <p:txBody>
          <a:bodyPr/>
          <a:lstStyle/>
          <a:p>
            <a:pPr eaLnBrk="1" hangingPunct="1"/>
            <a:r>
              <a:rPr lang="en-US" altLang="en-KE"/>
              <a:t>Similar to alcohol. Why?</a:t>
            </a:r>
          </a:p>
          <a:p>
            <a:pPr eaLnBrk="1" hangingPunct="1"/>
            <a:r>
              <a:rPr lang="en-US" altLang="en-KE"/>
              <a:t>Because the solvents are similar to alcohol chemically.</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Number Placeholder 5">
            <a:extLst>
              <a:ext uri="{FF2B5EF4-FFF2-40B4-BE49-F238E27FC236}">
                <a16:creationId xmlns:a16="http://schemas.microsoft.com/office/drawing/2014/main" id="{E9FAC0B6-6032-BA28-3693-3305E574C9E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520967D-5972-C345-8343-6A2AC9A5C46E}" type="slidenum">
              <a:rPr lang="en-US" altLang="en-KE">
                <a:solidFill>
                  <a:schemeClr val="bg1"/>
                </a:solidFill>
              </a:rPr>
              <a:pPr eaLnBrk="1" hangingPunct="1"/>
              <a:t>73</a:t>
            </a:fld>
            <a:endParaRPr lang="en-US" altLang="en-KE">
              <a:solidFill>
                <a:schemeClr val="bg1"/>
              </a:solidFill>
            </a:endParaRPr>
          </a:p>
        </p:txBody>
      </p:sp>
      <p:sp>
        <p:nvSpPr>
          <p:cNvPr id="76803" name="AutoShape 2">
            <a:extLst>
              <a:ext uri="{FF2B5EF4-FFF2-40B4-BE49-F238E27FC236}">
                <a16:creationId xmlns:a16="http://schemas.microsoft.com/office/drawing/2014/main" id="{53F7F739-29A4-25C5-283F-EB9F0A7AA762}"/>
              </a:ext>
            </a:extLst>
          </p:cNvPr>
          <p:cNvSpPr>
            <a:spLocks noGrp="1" noChangeArrowheads="1"/>
          </p:cNvSpPr>
          <p:nvPr>
            <p:ph type="title"/>
          </p:nvPr>
        </p:nvSpPr>
        <p:spPr/>
        <p:txBody>
          <a:bodyPr/>
          <a:lstStyle/>
          <a:p>
            <a:pPr eaLnBrk="1" hangingPunct="1"/>
            <a:r>
              <a:rPr lang="en-US" altLang="en-KE">
                <a:solidFill>
                  <a:srgbClr val="FF0066"/>
                </a:solidFill>
              </a:rPr>
              <a:t>HIV/AIDS &amp; DRUG ABUSE</a:t>
            </a:r>
          </a:p>
        </p:txBody>
      </p:sp>
      <p:sp>
        <p:nvSpPr>
          <p:cNvPr id="76804" name="Rectangle 3">
            <a:extLst>
              <a:ext uri="{FF2B5EF4-FFF2-40B4-BE49-F238E27FC236}">
                <a16:creationId xmlns:a16="http://schemas.microsoft.com/office/drawing/2014/main" id="{E5CFA047-8487-CAEF-2768-D10A6798BE6C}"/>
              </a:ext>
            </a:extLst>
          </p:cNvPr>
          <p:cNvSpPr>
            <a:spLocks noGrp="1" noChangeArrowheads="1"/>
          </p:cNvSpPr>
          <p:nvPr>
            <p:ph type="body" idx="1"/>
          </p:nvPr>
        </p:nvSpPr>
        <p:spPr/>
        <p:txBody>
          <a:bodyPr/>
          <a:lstStyle/>
          <a:p>
            <a:pPr eaLnBrk="1" hangingPunct="1"/>
            <a:r>
              <a:rPr lang="en-US" altLang="en-KE"/>
              <a:t>Drug abuse and addiction have been closely linked with HIV/AIDS since the beginning of the epidemic.</a:t>
            </a:r>
          </a:p>
          <a:p>
            <a:pPr eaLnBrk="1" hangingPunct="1"/>
            <a:r>
              <a:rPr lang="en-US" altLang="en-KE"/>
              <a:t> Although injection drug use is well known in this regard, the role that non-injection drug abuse plays  in the spread of HIV is less recognized </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Number Placeholder 5">
            <a:extLst>
              <a:ext uri="{FF2B5EF4-FFF2-40B4-BE49-F238E27FC236}">
                <a16:creationId xmlns:a16="http://schemas.microsoft.com/office/drawing/2014/main" id="{62DDCC5C-2BD0-EF68-9B2C-20C5B738EF8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8B3441E-F63C-EE4D-B878-DC1FE21753B9}" type="slidenum">
              <a:rPr lang="en-US" altLang="en-KE">
                <a:solidFill>
                  <a:schemeClr val="bg1"/>
                </a:solidFill>
              </a:rPr>
              <a:pPr eaLnBrk="1" hangingPunct="1"/>
              <a:t>74</a:t>
            </a:fld>
            <a:endParaRPr lang="en-US" altLang="en-KE">
              <a:solidFill>
                <a:schemeClr val="bg1"/>
              </a:solidFill>
            </a:endParaRPr>
          </a:p>
        </p:txBody>
      </p:sp>
      <p:sp>
        <p:nvSpPr>
          <p:cNvPr id="77827" name="AutoShape 2">
            <a:extLst>
              <a:ext uri="{FF2B5EF4-FFF2-40B4-BE49-F238E27FC236}">
                <a16:creationId xmlns:a16="http://schemas.microsoft.com/office/drawing/2014/main" id="{53EDD2D9-89A8-839B-FD3E-A0EEF85D6864}"/>
              </a:ext>
            </a:extLst>
          </p:cNvPr>
          <p:cNvSpPr>
            <a:spLocks noGrp="1" noChangeArrowheads="1"/>
          </p:cNvSpPr>
          <p:nvPr>
            <p:ph type="title"/>
          </p:nvPr>
        </p:nvSpPr>
        <p:spPr/>
        <p:txBody>
          <a:bodyPr/>
          <a:lstStyle/>
          <a:p>
            <a:pPr eaLnBrk="1" hangingPunct="1"/>
            <a:r>
              <a:rPr lang="en-US" altLang="en-KE">
                <a:solidFill>
                  <a:srgbClr val="FF0066"/>
                </a:solidFill>
              </a:rPr>
              <a:t>HIV/AIDS &amp; DRUG ABUSE</a:t>
            </a:r>
          </a:p>
        </p:txBody>
      </p:sp>
      <p:sp>
        <p:nvSpPr>
          <p:cNvPr id="77828" name="Rectangle 3">
            <a:extLst>
              <a:ext uri="{FF2B5EF4-FFF2-40B4-BE49-F238E27FC236}">
                <a16:creationId xmlns:a16="http://schemas.microsoft.com/office/drawing/2014/main" id="{5CE88CCC-E1A3-E6EB-CF7B-564AD275FCB4}"/>
              </a:ext>
            </a:extLst>
          </p:cNvPr>
          <p:cNvSpPr>
            <a:spLocks noGrp="1" noChangeArrowheads="1"/>
          </p:cNvSpPr>
          <p:nvPr>
            <p:ph type="body" idx="1"/>
          </p:nvPr>
        </p:nvSpPr>
        <p:spPr/>
        <p:txBody>
          <a:bodyPr/>
          <a:lstStyle/>
          <a:p>
            <a:pPr eaLnBrk="1" hangingPunct="1">
              <a:lnSpc>
                <a:spcPct val="80000"/>
              </a:lnSpc>
            </a:pPr>
            <a:r>
              <a:rPr lang="en-US" altLang="en-KE" sz="2400"/>
              <a:t> People typically associate drug abuse and HIV/AIDS with injection drug use and needle sharing. Injection drug use refers to when a drug is injected into a tissue or vein with a needle. When injection drug users </a:t>
            </a:r>
            <a:r>
              <a:rPr lang="en-US" altLang="en-KE" sz="2400">
                <a:solidFill>
                  <a:srgbClr val="FF0066"/>
                </a:solidFill>
              </a:rPr>
              <a:t>share “equipment</a:t>
            </a:r>
            <a:r>
              <a:rPr lang="en-US" altLang="en-KE" sz="2400"/>
              <a:t>”—such as needles, syringes, and other drug injection paraphernalia—HIV can be transmitted between users.</a:t>
            </a:r>
          </a:p>
          <a:p>
            <a:pPr eaLnBrk="1" hangingPunct="1">
              <a:lnSpc>
                <a:spcPct val="80000"/>
              </a:lnSpc>
            </a:pPr>
            <a:r>
              <a:rPr lang="en-US" altLang="en-KE" sz="2400"/>
              <a:t> Other infections—such as hepatitis C—can also be spread this way. Hepatitis C can cause liver disease and permanent liver damage.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Number Placeholder 5">
            <a:extLst>
              <a:ext uri="{FF2B5EF4-FFF2-40B4-BE49-F238E27FC236}">
                <a16:creationId xmlns:a16="http://schemas.microsoft.com/office/drawing/2014/main" id="{F6994ED2-023E-7E2A-C0D6-27F0C98B63D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A667ABD-1BE1-5748-A329-D74E3A20D912}" type="slidenum">
              <a:rPr lang="en-US" altLang="en-KE">
                <a:solidFill>
                  <a:schemeClr val="bg1"/>
                </a:solidFill>
              </a:rPr>
              <a:pPr eaLnBrk="1" hangingPunct="1"/>
              <a:t>75</a:t>
            </a:fld>
            <a:endParaRPr lang="en-US" altLang="en-KE">
              <a:solidFill>
                <a:schemeClr val="bg1"/>
              </a:solidFill>
            </a:endParaRPr>
          </a:p>
        </p:txBody>
      </p:sp>
      <p:sp>
        <p:nvSpPr>
          <p:cNvPr id="78851" name="AutoShape 2">
            <a:extLst>
              <a:ext uri="{FF2B5EF4-FFF2-40B4-BE49-F238E27FC236}">
                <a16:creationId xmlns:a16="http://schemas.microsoft.com/office/drawing/2014/main" id="{E6A84B8D-E1E6-B46D-9698-BF66985B80B2}"/>
              </a:ext>
            </a:extLst>
          </p:cNvPr>
          <p:cNvSpPr>
            <a:spLocks noGrp="1" noChangeArrowheads="1"/>
          </p:cNvSpPr>
          <p:nvPr>
            <p:ph type="title"/>
          </p:nvPr>
        </p:nvSpPr>
        <p:spPr/>
        <p:txBody>
          <a:bodyPr/>
          <a:lstStyle/>
          <a:p>
            <a:pPr eaLnBrk="1" hangingPunct="1"/>
            <a:r>
              <a:rPr lang="en-US" altLang="en-KE">
                <a:solidFill>
                  <a:srgbClr val="FF0066"/>
                </a:solidFill>
              </a:rPr>
              <a:t>HIV/AIDS &amp;DRUG ABUSE</a:t>
            </a:r>
          </a:p>
        </p:txBody>
      </p:sp>
      <p:sp>
        <p:nvSpPr>
          <p:cNvPr id="78852" name="Rectangle 3">
            <a:extLst>
              <a:ext uri="{FF2B5EF4-FFF2-40B4-BE49-F238E27FC236}">
                <a16:creationId xmlns:a16="http://schemas.microsoft.com/office/drawing/2014/main" id="{BF673666-8B1B-3A7D-77B5-90D2C1EF9B59}"/>
              </a:ext>
            </a:extLst>
          </p:cNvPr>
          <p:cNvSpPr>
            <a:spLocks noGrp="1" noChangeArrowheads="1"/>
          </p:cNvSpPr>
          <p:nvPr>
            <p:ph type="body" idx="1"/>
          </p:nvPr>
        </p:nvSpPr>
        <p:spPr/>
        <p:txBody>
          <a:bodyPr/>
          <a:lstStyle/>
          <a:p>
            <a:pPr eaLnBrk="1" hangingPunct="1"/>
            <a:r>
              <a:rPr lang="en-US" altLang="en-KE" sz="2400"/>
              <a:t>. Drug abuse by any method (not just injection) can put a person at risk for contracting HIV. Drug and alcohol intoxication affect the way a person makes </a:t>
            </a:r>
            <a:r>
              <a:rPr lang="en-US" altLang="en-KE" sz="2400">
                <a:solidFill>
                  <a:srgbClr val="FF0066"/>
                </a:solidFill>
              </a:rPr>
              <a:t>decisions </a:t>
            </a:r>
            <a:r>
              <a:rPr lang="en-US" altLang="en-KE" sz="2400"/>
              <a:t>and can lead to unsafe sexual practices, which puts them at risk for getting HIV or transmitting it to someone else</a:t>
            </a:r>
          </a:p>
          <a:p>
            <a:pPr eaLnBrk="1" hangingPunct="1">
              <a:buFont typeface="Wingdings" pitchFamily="2" charset="2"/>
              <a:buNone/>
            </a:pPr>
            <a:endParaRPr lang="en-US" altLang="en-KE" sz="2400"/>
          </a:p>
          <a:p>
            <a:pPr eaLnBrk="1" hangingPunct="1"/>
            <a:r>
              <a:rPr lang="en-US" altLang="en-KE" sz="2400"/>
              <a:t>HIV/AIDS therapy drugs mixed in local brew. (Citizen TV news August 2012).</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5">
            <a:extLst>
              <a:ext uri="{FF2B5EF4-FFF2-40B4-BE49-F238E27FC236}">
                <a16:creationId xmlns:a16="http://schemas.microsoft.com/office/drawing/2014/main" id="{9B627D85-B0DE-5A69-0708-8E9273101F1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AEA5350-BA5E-9A45-8F57-0A6ECD1C9274}" type="slidenum">
              <a:rPr lang="en-US" altLang="en-KE">
                <a:solidFill>
                  <a:schemeClr val="bg1"/>
                </a:solidFill>
              </a:rPr>
              <a:pPr eaLnBrk="1" hangingPunct="1"/>
              <a:t>76</a:t>
            </a:fld>
            <a:endParaRPr lang="en-US" altLang="en-KE">
              <a:solidFill>
                <a:schemeClr val="bg1"/>
              </a:solidFill>
            </a:endParaRPr>
          </a:p>
        </p:txBody>
      </p:sp>
      <p:sp>
        <p:nvSpPr>
          <p:cNvPr id="79875" name="AutoShape 2">
            <a:extLst>
              <a:ext uri="{FF2B5EF4-FFF2-40B4-BE49-F238E27FC236}">
                <a16:creationId xmlns:a16="http://schemas.microsoft.com/office/drawing/2014/main" id="{BE4212F1-8714-36C6-7BBB-873348EE6D13}"/>
              </a:ext>
            </a:extLst>
          </p:cNvPr>
          <p:cNvSpPr>
            <a:spLocks noGrp="1" noChangeArrowheads="1"/>
          </p:cNvSpPr>
          <p:nvPr>
            <p:ph type="title"/>
          </p:nvPr>
        </p:nvSpPr>
        <p:spPr/>
        <p:txBody>
          <a:bodyPr/>
          <a:lstStyle/>
          <a:p>
            <a:pPr eaLnBrk="1" hangingPunct="1"/>
            <a:r>
              <a:rPr lang="en-US" altLang="en-KE">
                <a:solidFill>
                  <a:srgbClr val="FF0066"/>
                </a:solidFill>
              </a:rPr>
              <a:t>HIV/AIDS &amp; DRUG ABUSE</a:t>
            </a:r>
          </a:p>
        </p:txBody>
      </p:sp>
      <p:sp>
        <p:nvSpPr>
          <p:cNvPr id="79876" name="Rectangle 3">
            <a:extLst>
              <a:ext uri="{FF2B5EF4-FFF2-40B4-BE49-F238E27FC236}">
                <a16:creationId xmlns:a16="http://schemas.microsoft.com/office/drawing/2014/main" id="{DC26DF52-C97B-3BC3-655B-A128D7CA9DD5}"/>
              </a:ext>
            </a:extLst>
          </p:cNvPr>
          <p:cNvSpPr>
            <a:spLocks noGrp="1" noChangeArrowheads="1"/>
          </p:cNvSpPr>
          <p:nvPr>
            <p:ph type="body" idx="1"/>
          </p:nvPr>
        </p:nvSpPr>
        <p:spPr/>
        <p:txBody>
          <a:bodyPr/>
          <a:lstStyle/>
          <a:p>
            <a:pPr eaLnBrk="1" hangingPunct="1"/>
            <a:r>
              <a:rPr lang="en-US" altLang="en-KE" sz="2400"/>
              <a:t>. Drug abuse and addiction can affect a person’s overall health, making them more susceptible to HIV or, in people with HIV, worsen the progression of HIV and its consequences, especially in the brain. For example, research has shown that </a:t>
            </a:r>
            <a:r>
              <a:rPr lang="en-US" altLang="en-KE" sz="2400">
                <a:solidFill>
                  <a:srgbClr val="FF0066"/>
                </a:solidFill>
              </a:rPr>
              <a:t>HIV causes more harm to nerve cells</a:t>
            </a:r>
            <a:r>
              <a:rPr lang="en-US" altLang="en-KE" sz="2400"/>
              <a:t> in the brain and greater cognitive damage among methamphetamine abusers than among people with HIV who do not abuse drugs.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Number Placeholder 5">
            <a:extLst>
              <a:ext uri="{FF2B5EF4-FFF2-40B4-BE49-F238E27FC236}">
                <a16:creationId xmlns:a16="http://schemas.microsoft.com/office/drawing/2014/main" id="{9F4BEECC-8637-C35C-C6F3-65A0CEBCD5E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845C43D-62D7-7C44-B409-9ABF96B591E8}" type="slidenum">
              <a:rPr lang="en-US" altLang="en-KE">
                <a:solidFill>
                  <a:schemeClr val="bg1"/>
                </a:solidFill>
              </a:rPr>
              <a:pPr eaLnBrk="1" hangingPunct="1"/>
              <a:t>77</a:t>
            </a:fld>
            <a:endParaRPr lang="en-US" altLang="en-KE">
              <a:solidFill>
                <a:schemeClr val="bg1"/>
              </a:solidFill>
            </a:endParaRPr>
          </a:p>
        </p:txBody>
      </p:sp>
      <p:sp>
        <p:nvSpPr>
          <p:cNvPr id="80899" name="AutoShape 2">
            <a:extLst>
              <a:ext uri="{FF2B5EF4-FFF2-40B4-BE49-F238E27FC236}">
                <a16:creationId xmlns:a16="http://schemas.microsoft.com/office/drawing/2014/main" id="{B32E85FE-1C0E-C44E-EA66-547BA9F6B22C}"/>
              </a:ext>
            </a:extLst>
          </p:cNvPr>
          <p:cNvSpPr>
            <a:spLocks noGrp="1" noChangeArrowheads="1"/>
          </p:cNvSpPr>
          <p:nvPr>
            <p:ph type="title"/>
          </p:nvPr>
        </p:nvSpPr>
        <p:spPr/>
        <p:txBody>
          <a:bodyPr/>
          <a:lstStyle/>
          <a:p>
            <a:pPr eaLnBrk="1" hangingPunct="1"/>
            <a:r>
              <a:rPr lang="en-US" altLang="en-KE">
                <a:solidFill>
                  <a:srgbClr val="FF0066"/>
                </a:solidFill>
              </a:rPr>
              <a:t>HIV/AIDS &amp; DRUG ABUSE</a:t>
            </a:r>
          </a:p>
        </p:txBody>
      </p:sp>
      <p:sp>
        <p:nvSpPr>
          <p:cNvPr id="80900" name="Rectangle 3">
            <a:extLst>
              <a:ext uri="{FF2B5EF4-FFF2-40B4-BE49-F238E27FC236}">
                <a16:creationId xmlns:a16="http://schemas.microsoft.com/office/drawing/2014/main" id="{4BF1E28A-1C5E-427A-3CDA-978BC05BD08F}"/>
              </a:ext>
            </a:extLst>
          </p:cNvPr>
          <p:cNvSpPr>
            <a:spLocks noGrp="1" noChangeArrowheads="1"/>
          </p:cNvSpPr>
          <p:nvPr>
            <p:ph type="body" idx="1"/>
          </p:nvPr>
        </p:nvSpPr>
        <p:spPr/>
        <p:txBody>
          <a:bodyPr/>
          <a:lstStyle/>
          <a:p>
            <a:pPr eaLnBrk="1" hangingPunct="1">
              <a:lnSpc>
                <a:spcPct val="90000"/>
              </a:lnSpc>
            </a:pPr>
            <a:r>
              <a:rPr lang="en-US" altLang="en-KE" sz="2400"/>
              <a:t>. Since the late 1980s, researchers found that if you treat drug abuse you can prevent the spread of HIV. Drug abusers in treatment stop or reduce their drug use and related </a:t>
            </a:r>
            <a:r>
              <a:rPr lang="en-US" altLang="en-KE" sz="2400">
                <a:solidFill>
                  <a:srgbClr val="FF0066"/>
                </a:solidFill>
              </a:rPr>
              <a:t>risk behaviors, including drug injection and unsafe sexual practices</a:t>
            </a:r>
            <a:r>
              <a:rPr lang="en-US" altLang="en-KE" sz="2400"/>
              <a:t>. Drug treatment programs also serve an important role in getting out good information on HIV/AIDS and related diseases, providing counseling and testing services, and offering referrals for medical and social services.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Number Placeholder 5">
            <a:extLst>
              <a:ext uri="{FF2B5EF4-FFF2-40B4-BE49-F238E27FC236}">
                <a16:creationId xmlns:a16="http://schemas.microsoft.com/office/drawing/2014/main" id="{B67EBA62-87A0-E342-EA31-D656AA510B2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B86176-C4F4-6145-A9CD-D4F5AB0811A1}" type="slidenum">
              <a:rPr lang="en-US" altLang="en-KE">
                <a:solidFill>
                  <a:schemeClr val="bg1"/>
                </a:solidFill>
              </a:rPr>
              <a:pPr eaLnBrk="1" hangingPunct="1"/>
              <a:t>78</a:t>
            </a:fld>
            <a:endParaRPr lang="en-US" altLang="en-KE">
              <a:solidFill>
                <a:schemeClr val="bg1"/>
              </a:solidFill>
            </a:endParaRPr>
          </a:p>
        </p:txBody>
      </p:sp>
      <p:sp>
        <p:nvSpPr>
          <p:cNvPr id="81923" name="AutoShape 2">
            <a:extLst>
              <a:ext uri="{FF2B5EF4-FFF2-40B4-BE49-F238E27FC236}">
                <a16:creationId xmlns:a16="http://schemas.microsoft.com/office/drawing/2014/main" id="{9B2BC3A0-8F1D-D7E5-B60F-F8DC9CD116FF}"/>
              </a:ext>
            </a:extLst>
          </p:cNvPr>
          <p:cNvSpPr>
            <a:spLocks noGrp="1" noChangeArrowheads="1"/>
          </p:cNvSpPr>
          <p:nvPr>
            <p:ph type="title"/>
          </p:nvPr>
        </p:nvSpPr>
        <p:spPr/>
        <p:txBody>
          <a:bodyPr/>
          <a:lstStyle/>
          <a:p>
            <a:pPr eaLnBrk="1" hangingPunct="1"/>
            <a:r>
              <a:rPr lang="en-US" altLang="en-KE" sz="3200">
                <a:solidFill>
                  <a:srgbClr val="FF0066"/>
                </a:solidFill>
              </a:rPr>
              <a:t>EFFECTS ON HEALTH &amp; SOCIAL LIFE</a:t>
            </a:r>
          </a:p>
        </p:txBody>
      </p:sp>
      <p:sp>
        <p:nvSpPr>
          <p:cNvPr id="81924" name="Rectangle 3">
            <a:extLst>
              <a:ext uri="{FF2B5EF4-FFF2-40B4-BE49-F238E27FC236}">
                <a16:creationId xmlns:a16="http://schemas.microsoft.com/office/drawing/2014/main" id="{80720C3C-A43E-022A-5FA3-FEF30BC944B6}"/>
              </a:ext>
            </a:extLst>
          </p:cNvPr>
          <p:cNvSpPr>
            <a:spLocks noGrp="1" noChangeArrowheads="1"/>
          </p:cNvSpPr>
          <p:nvPr>
            <p:ph type="body" idx="1"/>
          </p:nvPr>
        </p:nvSpPr>
        <p:spPr/>
        <p:txBody>
          <a:bodyPr/>
          <a:lstStyle/>
          <a:p>
            <a:pPr eaLnBrk="1" hangingPunct="1"/>
            <a:r>
              <a:rPr lang="en-US" altLang="en-KE" sz="2400"/>
              <a:t>may be important to point out here that the effects of drug abuse are vast. Many as they are, these effects also depend on other factors,. Some of these factors are listed below:-</a:t>
            </a:r>
          </a:p>
          <a:p>
            <a:pPr eaLnBrk="1" hangingPunct="1"/>
            <a:r>
              <a:rPr lang="en-US" altLang="en-KE" sz="2400"/>
              <a:t> The physical and chemical properties of the     substance of abuse </a:t>
            </a:r>
          </a:p>
          <a:p>
            <a:pPr eaLnBrk="1" hangingPunct="1"/>
            <a:r>
              <a:rPr lang="en-US" altLang="en-KE" sz="2400"/>
              <a:t>The user’s personality </a:t>
            </a:r>
          </a:p>
          <a:p>
            <a:pPr eaLnBrk="1" hangingPunct="1"/>
            <a:r>
              <a:rPr lang="en-US" altLang="en-KE" sz="2400"/>
              <a:t>The mode of the drug  administration. </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Number Placeholder 5">
            <a:extLst>
              <a:ext uri="{FF2B5EF4-FFF2-40B4-BE49-F238E27FC236}">
                <a16:creationId xmlns:a16="http://schemas.microsoft.com/office/drawing/2014/main" id="{5E3AF187-AB0E-755B-4557-3D806B4454B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A39746E-1122-2746-8273-19AE94476C13}" type="slidenum">
              <a:rPr lang="en-US" altLang="en-KE">
                <a:solidFill>
                  <a:schemeClr val="bg1"/>
                </a:solidFill>
              </a:rPr>
              <a:pPr eaLnBrk="1" hangingPunct="1"/>
              <a:t>79</a:t>
            </a:fld>
            <a:endParaRPr lang="en-US" altLang="en-KE">
              <a:solidFill>
                <a:schemeClr val="bg1"/>
              </a:solidFill>
            </a:endParaRPr>
          </a:p>
        </p:txBody>
      </p:sp>
      <p:sp>
        <p:nvSpPr>
          <p:cNvPr id="82947" name="AutoShape 2">
            <a:extLst>
              <a:ext uri="{FF2B5EF4-FFF2-40B4-BE49-F238E27FC236}">
                <a16:creationId xmlns:a16="http://schemas.microsoft.com/office/drawing/2014/main" id="{836D571A-5FC0-CB63-9101-B9AFEEE882E8}"/>
              </a:ext>
            </a:extLst>
          </p:cNvPr>
          <p:cNvSpPr>
            <a:spLocks noGrp="1" noChangeArrowheads="1"/>
          </p:cNvSpPr>
          <p:nvPr>
            <p:ph type="title"/>
          </p:nvPr>
        </p:nvSpPr>
        <p:spPr/>
        <p:txBody>
          <a:bodyPr/>
          <a:lstStyle/>
          <a:p>
            <a:pPr eaLnBrk="1" hangingPunct="1"/>
            <a:r>
              <a:rPr lang="en-US" altLang="en-KE">
                <a:solidFill>
                  <a:srgbClr val="FF0066"/>
                </a:solidFill>
              </a:rPr>
              <a:t>Effect on Health &amp;Social life cont.</a:t>
            </a:r>
          </a:p>
        </p:txBody>
      </p:sp>
      <p:sp>
        <p:nvSpPr>
          <p:cNvPr id="82948" name="Rectangle 3">
            <a:extLst>
              <a:ext uri="{FF2B5EF4-FFF2-40B4-BE49-F238E27FC236}">
                <a16:creationId xmlns:a16="http://schemas.microsoft.com/office/drawing/2014/main" id="{6CA4B42A-B351-9356-0562-7620E8EB1D32}"/>
              </a:ext>
            </a:extLst>
          </p:cNvPr>
          <p:cNvSpPr>
            <a:spLocks noGrp="1" noChangeArrowheads="1"/>
          </p:cNvSpPr>
          <p:nvPr>
            <p:ph type="body" idx="1"/>
          </p:nvPr>
        </p:nvSpPr>
        <p:spPr/>
        <p:txBody>
          <a:bodyPr/>
          <a:lstStyle/>
          <a:p>
            <a:pPr eaLnBrk="1" hangingPunct="1">
              <a:lnSpc>
                <a:spcPct val="90000"/>
              </a:lnSpc>
            </a:pPr>
            <a:r>
              <a:rPr lang="en-US" altLang="en-KE"/>
              <a:t>The environment or the area where the victim uses it </a:t>
            </a:r>
          </a:p>
          <a:p>
            <a:pPr eaLnBrk="1" hangingPunct="1">
              <a:lnSpc>
                <a:spcPct val="90000"/>
              </a:lnSpc>
            </a:pPr>
            <a:r>
              <a:rPr lang="en-US" altLang="en-KE"/>
              <a:t>The aim, goal or purpose for the use </a:t>
            </a:r>
          </a:p>
          <a:p>
            <a:pPr eaLnBrk="1" hangingPunct="1">
              <a:lnSpc>
                <a:spcPct val="90000"/>
              </a:lnSpc>
            </a:pPr>
            <a:r>
              <a:rPr lang="en-US" altLang="en-KE"/>
              <a:t>The cultural attitudes and feelings of the community where the user is based </a:t>
            </a:r>
          </a:p>
          <a:p>
            <a:pPr eaLnBrk="1" hangingPunct="1">
              <a:lnSpc>
                <a:spcPct val="90000"/>
              </a:lnSpc>
            </a:pPr>
            <a:r>
              <a:rPr lang="en-US" altLang="en-KE"/>
              <a:t>The law and the rules of the land </a:t>
            </a:r>
          </a:p>
          <a:p>
            <a:pPr eaLnBrk="1" hangingPunct="1">
              <a:lnSpc>
                <a:spcPct val="90000"/>
              </a:lnSpc>
            </a:pPr>
            <a:r>
              <a:rPr lang="en-US" altLang="en-KE"/>
              <a:t>The genetic (hereditary) factors </a:t>
            </a:r>
          </a:p>
          <a:p>
            <a:pPr eaLnBrk="1" hangingPunct="1">
              <a:lnSpc>
                <a:spcPct val="90000"/>
              </a:lnSpc>
            </a:pPr>
            <a:r>
              <a:rPr lang="en-US" altLang="en-KE"/>
              <a:t>The public control mechanisms </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Number Placeholder 5">
            <a:extLst>
              <a:ext uri="{FF2B5EF4-FFF2-40B4-BE49-F238E27FC236}">
                <a16:creationId xmlns:a16="http://schemas.microsoft.com/office/drawing/2014/main" id="{56480D5E-0066-D7C9-3AC3-97D47D96298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809AD0E-B46A-FB42-B517-12CB28DA3EF8}" type="slidenum">
              <a:rPr lang="en-US" altLang="en-KE">
                <a:solidFill>
                  <a:schemeClr val="bg1"/>
                </a:solidFill>
              </a:rPr>
              <a:pPr eaLnBrk="1" hangingPunct="1"/>
              <a:t>80</a:t>
            </a:fld>
            <a:endParaRPr lang="en-US" altLang="en-KE">
              <a:solidFill>
                <a:schemeClr val="bg1"/>
              </a:solidFill>
            </a:endParaRPr>
          </a:p>
        </p:txBody>
      </p:sp>
      <p:sp>
        <p:nvSpPr>
          <p:cNvPr id="83971" name="AutoShape 2">
            <a:extLst>
              <a:ext uri="{FF2B5EF4-FFF2-40B4-BE49-F238E27FC236}">
                <a16:creationId xmlns:a16="http://schemas.microsoft.com/office/drawing/2014/main" id="{71F64178-7A04-569C-ECF0-ED3DEB8C2350}"/>
              </a:ext>
            </a:extLst>
          </p:cNvPr>
          <p:cNvSpPr>
            <a:spLocks noGrp="1" noChangeArrowheads="1"/>
          </p:cNvSpPr>
          <p:nvPr>
            <p:ph type="title"/>
          </p:nvPr>
        </p:nvSpPr>
        <p:spPr/>
        <p:txBody>
          <a:bodyPr/>
          <a:lstStyle/>
          <a:p>
            <a:pPr eaLnBrk="1" hangingPunct="1"/>
            <a:r>
              <a:rPr lang="en-US" altLang="en-KE">
                <a:solidFill>
                  <a:srgbClr val="FF0066"/>
                </a:solidFill>
              </a:rPr>
              <a:t>Effect on Health &amp;Social life cont</a:t>
            </a:r>
            <a:r>
              <a:rPr lang="en-US" altLang="en-KE"/>
              <a:t>.</a:t>
            </a:r>
          </a:p>
        </p:txBody>
      </p:sp>
      <p:sp>
        <p:nvSpPr>
          <p:cNvPr id="83972" name="Rectangle 3">
            <a:extLst>
              <a:ext uri="{FF2B5EF4-FFF2-40B4-BE49-F238E27FC236}">
                <a16:creationId xmlns:a16="http://schemas.microsoft.com/office/drawing/2014/main" id="{454D3565-6302-C19F-0D7C-7DB4CC5E8533}"/>
              </a:ext>
            </a:extLst>
          </p:cNvPr>
          <p:cNvSpPr>
            <a:spLocks noGrp="1" noChangeArrowheads="1"/>
          </p:cNvSpPr>
          <p:nvPr>
            <p:ph type="body" idx="1"/>
          </p:nvPr>
        </p:nvSpPr>
        <p:spPr/>
        <p:txBody>
          <a:bodyPr/>
          <a:lstStyle/>
          <a:p>
            <a:pPr eaLnBrk="1" hangingPunct="1">
              <a:buFont typeface="Wingdings" pitchFamily="2" charset="2"/>
              <a:buNone/>
            </a:pPr>
            <a:r>
              <a:rPr lang="en-US" altLang="en-KE"/>
              <a:t>   Effects of drug abuse are manifested at;</a:t>
            </a:r>
          </a:p>
          <a:p>
            <a:pPr eaLnBrk="1" hangingPunct="1"/>
            <a:r>
              <a:rPr lang="en-US" altLang="en-KE"/>
              <a:t>The individual </a:t>
            </a:r>
          </a:p>
          <a:p>
            <a:pPr eaLnBrk="1" hangingPunct="1"/>
            <a:r>
              <a:rPr lang="en-US" altLang="en-KE"/>
              <a:t>The family </a:t>
            </a:r>
          </a:p>
          <a:p>
            <a:pPr eaLnBrk="1" hangingPunct="1"/>
            <a:r>
              <a:rPr lang="en-US" altLang="en-KE"/>
              <a:t>The community  </a:t>
            </a:r>
          </a:p>
          <a:p>
            <a:pPr eaLnBrk="1" hangingPunct="1"/>
            <a:r>
              <a:rPr lang="en-US" altLang="en-KE"/>
              <a:t>The Nation as a whole </a:t>
            </a:r>
          </a:p>
          <a:p>
            <a:pPr eaLnBrk="1" hangingPunct="1"/>
            <a:r>
              <a:rPr lang="en-US" altLang="en-KE"/>
              <a:t>Community of nations </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Number Placeholder 5">
            <a:extLst>
              <a:ext uri="{FF2B5EF4-FFF2-40B4-BE49-F238E27FC236}">
                <a16:creationId xmlns:a16="http://schemas.microsoft.com/office/drawing/2014/main" id="{B006A736-2660-242E-3B25-0481C473329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55BB47-A936-F447-B0C7-0D14FBE0D037}" type="slidenum">
              <a:rPr lang="en-US" altLang="en-KE">
                <a:solidFill>
                  <a:schemeClr val="bg1"/>
                </a:solidFill>
              </a:rPr>
              <a:pPr eaLnBrk="1" hangingPunct="1"/>
              <a:t>81</a:t>
            </a:fld>
            <a:endParaRPr lang="en-US" altLang="en-KE">
              <a:solidFill>
                <a:schemeClr val="bg1"/>
              </a:solidFill>
            </a:endParaRPr>
          </a:p>
        </p:txBody>
      </p:sp>
      <p:sp>
        <p:nvSpPr>
          <p:cNvPr id="84995" name="AutoShape 2">
            <a:extLst>
              <a:ext uri="{FF2B5EF4-FFF2-40B4-BE49-F238E27FC236}">
                <a16:creationId xmlns:a16="http://schemas.microsoft.com/office/drawing/2014/main" id="{1867D4CF-B419-F00B-5827-BC61CABB1E60}"/>
              </a:ext>
            </a:extLst>
          </p:cNvPr>
          <p:cNvSpPr>
            <a:spLocks noGrp="1" noChangeArrowheads="1"/>
          </p:cNvSpPr>
          <p:nvPr>
            <p:ph type="title"/>
          </p:nvPr>
        </p:nvSpPr>
        <p:spPr/>
        <p:txBody>
          <a:bodyPr/>
          <a:lstStyle/>
          <a:p>
            <a:pPr eaLnBrk="1" hangingPunct="1"/>
            <a:r>
              <a:rPr lang="en-US" altLang="en-KE">
                <a:solidFill>
                  <a:srgbClr val="FF0066"/>
                </a:solidFill>
              </a:rPr>
              <a:t>Health concerns</a:t>
            </a:r>
          </a:p>
        </p:txBody>
      </p:sp>
      <p:sp>
        <p:nvSpPr>
          <p:cNvPr id="84996" name="Rectangle 3">
            <a:extLst>
              <a:ext uri="{FF2B5EF4-FFF2-40B4-BE49-F238E27FC236}">
                <a16:creationId xmlns:a16="http://schemas.microsoft.com/office/drawing/2014/main" id="{7E813C31-4B99-25EA-7FD5-B996239B7EA6}"/>
              </a:ext>
            </a:extLst>
          </p:cNvPr>
          <p:cNvSpPr>
            <a:spLocks noGrp="1" noChangeArrowheads="1"/>
          </p:cNvSpPr>
          <p:nvPr>
            <p:ph type="body" idx="1"/>
          </p:nvPr>
        </p:nvSpPr>
        <p:spPr/>
        <p:txBody>
          <a:bodyPr/>
          <a:lstStyle/>
          <a:p>
            <a:pPr eaLnBrk="1" hangingPunct="1">
              <a:lnSpc>
                <a:spcPct val="90000"/>
              </a:lnSpc>
              <a:buFont typeface="Wingdings" pitchFamily="2" charset="2"/>
              <a:buNone/>
            </a:pPr>
            <a:r>
              <a:rPr lang="en-US" altLang="en-KE"/>
              <a:t>   Organs affected by drug abuse are</a:t>
            </a:r>
          </a:p>
          <a:p>
            <a:pPr eaLnBrk="1" hangingPunct="1">
              <a:lnSpc>
                <a:spcPct val="90000"/>
              </a:lnSpc>
            </a:pPr>
            <a:r>
              <a:rPr lang="en-US" altLang="en-KE"/>
              <a:t>The liver </a:t>
            </a:r>
          </a:p>
          <a:p>
            <a:pPr eaLnBrk="1" hangingPunct="1">
              <a:lnSpc>
                <a:spcPct val="90000"/>
              </a:lnSpc>
            </a:pPr>
            <a:r>
              <a:rPr lang="en-US" altLang="en-KE"/>
              <a:t>The kidneys </a:t>
            </a:r>
          </a:p>
          <a:p>
            <a:pPr eaLnBrk="1" hangingPunct="1">
              <a:lnSpc>
                <a:spcPct val="90000"/>
              </a:lnSpc>
            </a:pPr>
            <a:r>
              <a:rPr lang="en-US" altLang="en-KE"/>
              <a:t>The heart </a:t>
            </a:r>
          </a:p>
          <a:p>
            <a:pPr eaLnBrk="1" hangingPunct="1">
              <a:lnSpc>
                <a:spcPct val="90000"/>
              </a:lnSpc>
            </a:pPr>
            <a:r>
              <a:rPr lang="en-US" altLang="en-KE"/>
              <a:t>The lungs </a:t>
            </a:r>
          </a:p>
          <a:p>
            <a:pPr eaLnBrk="1" hangingPunct="1">
              <a:lnSpc>
                <a:spcPct val="90000"/>
              </a:lnSpc>
            </a:pPr>
            <a:r>
              <a:rPr lang="en-US" altLang="en-KE"/>
              <a:t>The central nervous system with the brain as the center </a:t>
            </a:r>
          </a:p>
          <a:p>
            <a:pPr eaLnBrk="1" hangingPunct="1">
              <a:lnSpc>
                <a:spcPct val="90000"/>
              </a:lnSpc>
            </a:pPr>
            <a:r>
              <a:rPr lang="en-US" altLang="en-KE"/>
              <a:t>The reproductive organs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Number Placeholder 5">
            <a:extLst>
              <a:ext uri="{FF2B5EF4-FFF2-40B4-BE49-F238E27FC236}">
                <a16:creationId xmlns:a16="http://schemas.microsoft.com/office/drawing/2014/main" id="{6081950C-2DD7-6A55-0601-27BFD2DD679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3F18694-E45C-644D-83C7-BC5DCB4B1F6B}" type="slidenum">
              <a:rPr lang="en-US" altLang="en-KE">
                <a:solidFill>
                  <a:schemeClr val="bg1"/>
                </a:solidFill>
              </a:rPr>
              <a:pPr eaLnBrk="1" hangingPunct="1"/>
              <a:t>82</a:t>
            </a:fld>
            <a:endParaRPr lang="en-US" altLang="en-KE">
              <a:solidFill>
                <a:schemeClr val="bg1"/>
              </a:solidFill>
            </a:endParaRPr>
          </a:p>
        </p:txBody>
      </p:sp>
      <p:sp>
        <p:nvSpPr>
          <p:cNvPr id="86019" name="AutoShape 2">
            <a:extLst>
              <a:ext uri="{FF2B5EF4-FFF2-40B4-BE49-F238E27FC236}">
                <a16:creationId xmlns:a16="http://schemas.microsoft.com/office/drawing/2014/main" id="{7B3F02B4-CFF2-3799-7E26-999F74E7F3A9}"/>
              </a:ext>
            </a:extLst>
          </p:cNvPr>
          <p:cNvSpPr>
            <a:spLocks noGrp="1" noChangeArrowheads="1"/>
          </p:cNvSpPr>
          <p:nvPr>
            <p:ph type="title"/>
          </p:nvPr>
        </p:nvSpPr>
        <p:spPr/>
        <p:txBody>
          <a:bodyPr/>
          <a:lstStyle/>
          <a:p>
            <a:pPr eaLnBrk="1" hangingPunct="1"/>
            <a:r>
              <a:rPr lang="en-US" altLang="en-KE">
                <a:solidFill>
                  <a:srgbClr val="FF0066"/>
                </a:solidFill>
              </a:rPr>
              <a:t>Social concerns.</a:t>
            </a:r>
          </a:p>
        </p:txBody>
      </p:sp>
      <p:sp>
        <p:nvSpPr>
          <p:cNvPr id="86020" name="Rectangle 3">
            <a:extLst>
              <a:ext uri="{FF2B5EF4-FFF2-40B4-BE49-F238E27FC236}">
                <a16:creationId xmlns:a16="http://schemas.microsoft.com/office/drawing/2014/main" id="{AC34A61A-00F7-3FF2-01C5-359B6E75A846}"/>
              </a:ext>
            </a:extLst>
          </p:cNvPr>
          <p:cNvSpPr>
            <a:spLocks noGrp="1" noChangeArrowheads="1"/>
          </p:cNvSpPr>
          <p:nvPr>
            <p:ph type="body" idx="1"/>
          </p:nvPr>
        </p:nvSpPr>
        <p:spPr/>
        <p:txBody>
          <a:bodyPr/>
          <a:lstStyle/>
          <a:p>
            <a:pPr eaLnBrk="1" hangingPunct="1">
              <a:buFont typeface="Wingdings" pitchFamily="2" charset="2"/>
              <a:buNone/>
            </a:pPr>
            <a:r>
              <a:rPr lang="en-US" altLang="en-KE"/>
              <a:t>   Generally the following may occur</a:t>
            </a:r>
          </a:p>
          <a:p>
            <a:pPr eaLnBrk="1" hangingPunct="1"/>
            <a:r>
              <a:rPr lang="en-US" altLang="en-KE"/>
              <a:t>Being solitary </a:t>
            </a:r>
          </a:p>
          <a:p>
            <a:pPr eaLnBrk="1" hangingPunct="1"/>
            <a:r>
              <a:rPr lang="en-US" altLang="en-KE"/>
              <a:t>Irresponsible and erratic attitudes and behavior (sometimes moron-like, sometimes violent, suicidal tendencies, etc.) </a:t>
            </a:r>
          </a:p>
          <a:p>
            <a:pPr eaLnBrk="1" hangingPunct="1"/>
            <a:r>
              <a:rPr lang="en-US" altLang="en-KE"/>
              <a:t>Personality deterioration </a:t>
            </a:r>
          </a:p>
          <a:p>
            <a:pPr eaLnBrk="1" hangingPunct="1"/>
            <a:r>
              <a:rPr lang="en-US" altLang="en-KE"/>
              <a:t>Prone to accidents </a:t>
            </a:r>
          </a:p>
          <a:p>
            <a:pPr eaLnBrk="1" hangingPunct="1"/>
            <a:endParaRPr lang="en-US" altLang="en-KE"/>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Number Placeholder 5">
            <a:extLst>
              <a:ext uri="{FF2B5EF4-FFF2-40B4-BE49-F238E27FC236}">
                <a16:creationId xmlns:a16="http://schemas.microsoft.com/office/drawing/2014/main" id="{D33BB738-F7C6-93C4-3336-A3C4EEC81D4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A68AEA9-8838-C543-90C4-FD1F038905BB}" type="slidenum">
              <a:rPr lang="en-US" altLang="en-KE">
                <a:solidFill>
                  <a:schemeClr val="bg1"/>
                </a:solidFill>
              </a:rPr>
              <a:pPr eaLnBrk="1" hangingPunct="1"/>
              <a:t>83</a:t>
            </a:fld>
            <a:endParaRPr lang="en-US" altLang="en-KE">
              <a:solidFill>
                <a:schemeClr val="bg1"/>
              </a:solidFill>
            </a:endParaRPr>
          </a:p>
        </p:txBody>
      </p:sp>
      <p:sp>
        <p:nvSpPr>
          <p:cNvPr id="87043" name="AutoShape 2">
            <a:extLst>
              <a:ext uri="{FF2B5EF4-FFF2-40B4-BE49-F238E27FC236}">
                <a16:creationId xmlns:a16="http://schemas.microsoft.com/office/drawing/2014/main" id="{F15C488B-A9DD-3026-F990-DB821167710D}"/>
              </a:ext>
            </a:extLst>
          </p:cNvPr>
          <p:cNvSpPr>
            <a:spLocks noGrp="1" noChangeArrowheads="1"/>
          </p:cNvSpPr>
          <p:nvPr>
            <p:ph type="title"/>
          </p:nvPr>
        </p:nvSpPr>
        <p:spPr/>
        <p:txBody>
          <a:bodyPr/>
          <a:lstStyle/>
          <a:p>
            <a:pPr eaLnBrk="1" hangingPunct="1"/>
            <a:r>
              <a:rPr lang="en-US" altLang="en-KE">
                <a:solidFill>
                  <a:srgbClr val="FF0066"/>
                </a:solidFill>
              </a:rPr>
              <a:t>Security and Economic concerns</a:t>
            </a:r>
          </a:p>
        </p:txBody>
      </p:sp>
      <p:sp>
        <p:nvSpPr>
          <p:cNvPr id="87044" name="Rectangle 3">
            <a:extLst>
              <a:ext uri="{FF2B5EF4-FFF2-40B4-BE49-F238E27FC236}">
                <a16:creationId xmlns:a16="http://schemas.microsoft.com/office/drawing/2014/main" id="{B5CCEAB7-EE54-191C-C9EC-69A58AAA8E78}"/>
              </a:ext>
            </a:extLst>
          </p:cNvPr>
          <p:cNvSpPr>
            <a:spLocks noGrp="1" noChangeArrowheads="1"/>
          </p:cNvSpPr>
          <p:nvPr>
            <p:ph type="body" idx="1"/>
          </p:nvPr>
        </p:nvSpPr>
        <p:spPr/>
        <p:txBody>
          <a:bodyPr/>
          <a:lstStyle/>
          <a:p>
            <a:pPr eaLnBrk="1" hangingPunct="1">
              <a:lnSpc>
                <a:spcPct val="90000"/>
              </a:lnSpc>
              <a:buFont typeface="Wingdings" pitchFamily="2" charset="2"/>
              <a:buNone/>
            </a:pPr>
            <a:r>
              <a:rPr lang="en-US" altLang="en-KE" sz="2000"/>
              <a:t>   Drug and substance abuse may lead to;</a:t>
            </a:r>
          </a:p>
          <a:p>
            <a:pPr eaLnBrk="1" hangingPunct="1">
              <a:lnSpc>
                <a:spcPct val="90000"/>
              </a:lnSpc>
            </a:pPr>
            <a:r>
              <a:rPr lang="en-US" altLang="en-KE" sz="2000"/>
              <a:t>Reduced family earnings </a:t>
            </a:r>
          </a:p>
          <a:p>
            <a:pPr eaLnBrk="1" hangingPunct="1">
              <a:lnSpc>
                <a:spcPct val="90000"/>
              </a:lnSpc>
            </a:pPr>
            <a:r>
              <a:rPr lang="en-US" altLang="en-KE" sz="2000"/>
              <a:t>Decline in economic production </a:t>
            </a:r>
          </a:p>
          <a:p>
            <a:pPr eaLnBrk="1" hangingPunct="1">
              <a:lnSpc>
                <a:spcPct val="90000"/>
              </a:lnSpc>
            </a:pPr>
            <a:r>
              <a:rPr lang="en-US" altLang="en-KE" sz="2000"/>
              <a:t>Increased cost of running and maintaining health care </a:t>
            </a:r>
          </a:p>
          <a:p>
            <a:pPr eaLnBrk="1" hangingPunct="1">
              <a:lnSpc>
                <a:spcPct val="90000"/>
              </a:lnSpc>
            </a:pPr>
            <a:r>
              <a:rPr lang="en-US" altLang="en-KE" sz="2000"/>
              <a:t>Increased cost of running and maintaining schools and other institutions </a:t>
            </a:r>
          </a:p>
          <a:p>
            <a:pPr eaLnBrk="1" hangingPunct="1">
              <a:lnSpc>
                <a:spcPct val="90000"/>
              </a:lnSpc>
            </a:pPr>
            <a:r>
              <a:rPr lang="en-US" altLang="en-KE" sz="2000"/>
              <a:t>Crime increases and general insecurity increases rapidly </a:t>
            </a:r>
          </a:p>
          <a:p>
            <a:pPr eaLnBrk="1" hangingPunct="1">
              <a:lnSpc>
                <a:spcPct val="90000"/>
              </a:lnSpc>
            </a:pPr>
            <a:r>
              <a:rPr lang="en-US" altLang="en-KE" sz="2000"/>
              <a:t>Rebels are led by substance of abuse </a:t>
            </a:r>
          </a:p>
          <a:p>
            <a:pPr eaLnBrk="1" hangingPunct="1">
              <a:lnSpc>
                <a:spcPct val="90000"/>
              </a:lnSpc>
            </a:pPr>
            <a:r>
              <a:rPr lang="en-US" altLang="en-KE" sz="2000"/>
              <a:t>Political equation changes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Number Placeholder 5">
            <a:extLst>
              <a:ext uri="{FF2B5EF4-FFF2-40B4-BE49-F238E27FC236}">
                <a16:creationId xmlns:a16="http://schemas.microsoft.com/office/drawing/2014/main" id="{CE382534-0B8E-CE04-7D58-64CE2C0DABF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920659B-D4C4-2B40-8C27-92838A8EF921}" type="slidenum">
              <a:rPr lang="en-US" altLang="en-KE">
                <a:solidFill>
                  <a:schemeClr val="bg1"/>
                </a:solidFill>
              </a:rPr>
              <a:pPr eaLnBrk="1" hangingPunct="1"/>
              <a:t>84</a:t>
            </a:fld>
            <a:endParaRPr lang="en-US" altLang="en-KE">
              <a:solidFill>
                <a:schemeClr val="bg1"/>
              </a:solidFill>
            </a:endParaRPr>
          </a:p>
        </p:txBody>
      </p:sp>
      <p:sp>
        <p:nvSpPr>
          <p:cNvPr id="88067" name="AutoShape 2">
            <a:extLst>
              <a:ext uri="{FF2B5EF4-FFF2-40B4-BE49-F238E27FC236}">
                <a16:creationId xmlns:a16="http://schemas.microsoft.com/office/drawing/2014/main" id="{7641AB57-95C0-5331-F5B3-CBA96518ED99}"/>
              </a:ext>
            </a:extLst>
          </p:cNvPr>
          <p:cNvSpPr>
            <a:spLocks noGrp="1" noChangeArrowheads="1"/>
          </p:cNvSpPr>
          <p:nvPr>
            <p:ph type="title"/>
          </p:nvPr>
        </p:nvSpPr>
        <p:spPr/>
        <p:txBody>
          <a:bodyPr/>
          <a:lstStyle/>
          <a:p>
            <a:pPr eaLnBrk="1" hangingPunct="1"/>
            <a:r>
              <a:rPr lang="en-US" altLang="en-KE">
                <a:solidFill>
                  <a:srgbClr val="FF0066"/>
                </a:solidFill>
              </a:rPr>
              <a:t>GOVERNMENT POLICY</a:t>
            </a:r>
          </a:p>
        </p:txBody>
      </p:sp>
      <p:sp>
        <p:nvSpPr>
          <p:cNvPr id="88068" name="Rectangle 3">
            <a:extLst>
              <a:ext uri="{FF2B5EF4-FFF2-40B4-BE49-F238E27FC236}">
                <a16:creationId xmlns:a16="http://schemas.microsoft.com/office/drawing/2014/main" id="{01D12C1C-C358-FFBF-7B19-F641E337BA6B}"/>
              </a:ext>
            </a:extLst>
          </p:cNvPr>
          <p:cNvSpPr>
            <a:spLocks noGrp="1" noChangeArrowheads="1"/>
          </p:cNvSpPr>
          <p:nvPr>
            <p:ph type="body" idx="1"/>
          </p:nvPr>
        </p:nvSpPr>
        <p:spPr/>
        <p:txBody>
          <a:bodyPr/>
          <a:lstStyle/>
          <a:p>
            <a:pPr eaLnBrk="1" hangingPunct="1">
              <a:lnSpc>
                <a:spcPct val="80000"/>
              </a:lnSpc>
              <a:buFont typeface="Wingdings" pitchFamily="2" charset="2"/>
              <a:buNone/>
            </a:pPr>
            <a:r>
              <a:rPr lang="en-US" altLang="en-KE" sz="2000"/>
              <a:t>Acts of Parliament;</a:t>
            </a:r>
          </a:p>
          <a:p>
            <a:pPr eaLnBrk="1" hangingPunct="1">
              <a:lnSpc>
                <a:spcPct val="80000"/>
              </a:lnSpc>
              <a:buFont typeface="Wingdings" pitchFamily="2" charset="2"/>
              <a:buNone/>
            </a:pPr>
            <a:r>
              <a:rPr lang="en-US" altLang="en-KE" sz="2000"/>
              <a:t>       -Alcoholic drinks control Act 2010</a:t>
            </a:r>
          </a:p>
          <a:p>
            <a:pPr eaLnBrk="1" hangingPunct="1">
              <a:lnSpc>
                <a:spcPct val="80000"/>
              </a:lnSpc>
              <a:buFont typeface="Wingdings" pitchFamily="2" charset="2"/>
              <a:buNone/>
            </a:pPr>
            <a:r>
              <a:rPr lang="en-US" altLang="en-KE" sz="2000"/>
              <a:t>       -Narcotic drugs and Psychotropic Substances (Control) Act   1994  </a:t>
            </a:r>
          </a:p>
          <a:p>
            <a:pPr eaLnBrk="1" hangingPunct="1">
              <a:lnSpc>
                <a:spcPct val="80000"/>
              </a:lnSpc>
              <a:buFont typeface="Wingdings" pitchFamily="2" charset="2"/>
              <a:buNone/>
            </a:pPr>
            <a:r>
              <a:rPr lang="en-US" altLang="en-KE" sz="2000"/>
              <a:t>       -Traditional Liquor Licensing Act</a:t>
            </a:r>
          </a:p>
          <a:p>
            <a:pPr eaLnBrk="1" hangingPunct="1">
              <a:lnSpc>
                <a:spcPct val="80000"/>
              </a:lnSpc>
              <a:buFont typeface="Wingdings" pitchFamily="2" charset="2"/>
              <a:buNone/>
            </a:pPr>
            <a:r>
              <a:rPr lang="en-US" altLang="en-KE" sz="2000"/>
              <a:t>Agencies to handle;</a:t>
            </a:r>
          </a:p>
          <a:p>
            <a:pPr eaLnBrk="1" hangingPunct="1">
              <a:lnSpc>
                <a:spcPct val="80000"/>
              </a:lnSpc>
              <a:buFont typeface="Wingdings" pitchFamily="2" charset="2"/>
              <a:buNone/>
            </a:pPr>
            <a:r>
              <a:rPr lang="en-US" altLang="en-KE" sz="2000"/>
              <a:t>      - National Agency Campaign Against Drug  Abuse (NACADA).</a:t>
            </a:r>
          </a:p>
          <a:p>
            <a:pPr eaLnBrk="1" hangingPunct="1">
              <a:lnSpc>
                <a:spcPct val="80000"/>
              </a:lnSpc>
              <a:buFont typeface="Wingdings" pitchFamily="2" charset="2"/>
              <a:buNone/>
            </a:pPr>
            <a:r>
              <a:rPr lang="en-US" altLang="en-KE" sz="2000"/>
              <a:t>      - Anti Narcotics Police Unit</a:t>
            </a:r>
          </a:p>
          <a:p>
            <a:pPr eaLnBrk="1" hangingPunct="1">
              <a:lnSpc>
                <a:spcPct val="80000"/>
              </a:lnSpc>
              <a:buFont typeface="Wingdings" pitchFamily="2" charset="2"/>
              <a:buNone/>
            </a:pPr>
            <a:endParaRPr lang="en-US" altLang="en-KE" sz="2000"/>
          </a:p>
          <a:p>
            <a:pPr eaLnBrk="1" hangingPunct="1">
              <a:lnSpc>
                <a:spcPct val="80000"/>
              </a:lnSpc>
              <a:buFont typeface="Wingdings" pitchFamily="2" charset="2"/>
              <a:buNone/>
            </a:pPr>
            <a:r>
              <a:rPr lang="en-US" altLang="en-KE" sz="2000">
                <a:solidFill>
                  <a:srgbClr val="FF0066"/>
                </a:solidFill>
              </a:rPr>
              <a:t> Add other efforts?</a:t>
            </a:r>
          </a:p>
          <a:p>
            <a:pPr eaLnBrk="1" hangingPunct="1">
              <a:lnSpc>
                <a:spcPct val="80000"/>
              </a:lnSpc>
              <a:buFont typeface="Wingdings" pitchFamily="2" charset="2"/>
              <a:buNone/>
            </a:pPr>
            <a:endParaRPr lang="en-US" altLang="en-KE" sz="2000">
              <a:solidFill>
                <a:srgbClr val="FF0066"/>
              </a:solidFill>
            </a:endParaRPr>
          </a:p>
          <a:p>
            <a:pPr eaLnBrk="1" hangingPunct="1">
              <a:lnSpc>
                <a:spcPct val="80000"/>
              </a:lnSpc>
              <a:buFont typeface="Wingdings" pitchFamily="2" charset="2"/>
              <a:buNone/>
            </a:pPr>
            <a:r>
              <a:rPr lang="en-US" altLang="en-KE" sz="1800"/>
              <a:t>        </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Number Placeholder 5">
            <a:extLst>
              <a:ext uri="{FF2B5EF4-FFF2-40B4-BE49-F238E27FC236}">
                <a16:creationId xmlns:a16="http://schemas.microsoft.com/office/drawing/2014/main" id="{6BD30605-A8E9-8F18-3DB0-DE08248EE7E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CFABD8-D20E-034F-9740-661D97EC7D0B}" type="slidenum">
              <a:rPr lang="en-US" altLang="en-KE">
                <a:solidFill>
                  <a:schemeClr val="bg1"/>
                </a:solidFill>
              </a:rPr>
              <a:pPr eaLnBrk="1" hangingPunct="1"/>
              <a:t>85</a:t>
            </a:fld>
            <a:endParaRPr lang="en-US" altLang="en-KE">
              <a:solidFill>
                <a:schemeClr val="bg1"/>
              </a:solidFill>
            </a:endParaRPr>
          </a:p>
        </p:txBody>
      </p:sp>
      <p:sp>
        <p:nvSpPr>
          <p:cNvPr id="89091" name="AutoShape 2">
            <a:extLst>
              <a:ext uri="{FF2B5EF4-FFF2-40B4-BE49-F238E27FC236}">
                <a16:creationId xmlns:a16="http://schemas.microsoft.com/office/drawing/2014/main" id="{809F014B-AA4A-3DA5-D5F2-5C1BCBBA8D85}"/>
              </a:ext>
            </a:extLst>
          </p:cNvPr>
          <p:cNvSpPr>
            <a:spLocks noGrp="1" noChangeArrowheads="1"/>
          </p:cNvSpPr>
          <p:nvPr>
            <p:ph type="title"/>
          </p:nvPr>
        </p:nvSpPr>
        <p:spPr/>
        <p:txBody>
          <a:bodyPr/>
          <a:lstStyle/>
          <a:p>
            <a:pPr eaLnBrk="1" hangingPunct="1"/>
            <a:r>
              <a:rPr lang="en-US" altLang="en-KE" sz="3200" i="1"/>
              <a:t>The Alcoholic Drinks Control Act, 2010</a:t>
            </a:r>
          </a:p>
        </p:txBody>
      </p:sp>
      <p:sp>
        <p:nvSpPr>
          <p:cNvPr id="89092" name="Rectangle 3">
            <a:extLst>
              <a:ext uri="{FF2B5EF4-FFF2-40B4-BE49-F238E27FC236}">
                <a16:creationId xmlns:a16="http://schemas.microsoft.com/office/drawing/2014/main" id="{8F79E218-0AB9-6E32-1EEF-8729090BDA5B}"/>
              </a:ext>
            </a:extLst>
          </p:cNvPr>
          <p:cNvSpPr>
            <a:spLocks noGrp="1" noChangeArrowheads="1"/>
          </p:cNvSpPr>
          <p:nvPr>
            <p:ph type="body" idx="1"/>
          </p:nvPr>
        </p:nvSpPr>
        <p:spPr/>
        <p:txBody>
          <a:bodyPr/>
          <a:lstStyle/>
          <a:p>
            <a:pPr eaLnBrk="1" hangingPunct="1"/>
            <a:r>
              <a:rPr lang="en-US" altLang="en-KE"/>
              <a:t>The object and purpose of this Act is to provide for the control of the production, sale, and use of alcoholic drinks. </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5">
            <a:extLst>
              <a:ext uri="{FF2B5EF4-FFF2-40B4-BE49-F238E27FC236}">
                <a16:creationId xmlns:a16="http://schemas.microsoft.com/office/drawing/2014/main" id="{DDEDC705-7226-A170-7064-D86B38A3302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5C36E2A-0105-E34A-B76B-6B1315BD604C}" type="slidenum">
              <a:rPr lang="en-US" altLang="en-KE">
                <a:solidFill>
                  <a:schemeClr val="bg1"/>
                </a:solidFill>
              </a:rPr>
              <a:pPr eaLnBrk="1" hangingPunct="1"/>
              <a:t>86</a:t>
            </a:fld>
            <a:endParaRPr lang="en-US" altLang="en-KE">
              <a:solidFill>
                <a:schemeClr val="bg1"/>
              </a:solidFill>
            </a:endParaRPr>
          </a:p>
        </p:txBody>
      </p:sp>
      <p:sp>
        <p:nvSpPr>
          <p:cNvPr id="90115" name="AutoShape 2">
            <a:extLst>
              <a:ext uri="{FF2B5EF4-FFF2-40B4-BE49-F238E27FC236}">
                <a16:creationId xmlns:a16="http://schemas.microsoft.com/office/drawing/2014/main" id="{65982911-D438-0802-2138-E1069B966856}"/>
              </a:ext>
            </a:extLst>
          </p:cNvPr>
          <p:cNvSpPr>
            <a:spLocks noGrp="1" noChangeArrowheads="1"/>
          </p:cNvSpPr>
          <p:nvPr>
            <p:ph type="title"/>
          </p:nvPr>
        </p:nvSpPr>
        <p:spPr/>
        <p:txBody>
          <a:bodyPr/>
          <a:lstStyle/>
          <a:p>
            <a:pPr eaLnBrk="1" hangingPunct="1"/>
            <a:r>
              <a:rPr lang="en-US" altLang="en-KE">
                <a:solidFill>
                  <a:srgbClr val="FF0066"/>
                </a:solidFill>
              </a:rPr>
              <a:t>Multisectoral Collaboration</a:t>
            </a:r>
          </a:p>
        </p:txBody>
      </p:sp>
      <p:sp>
        <p:nvSpPr>
          <p:cNvPr id="90116" name="Rectangle 3">
            <a:extLst>
              <a:ext uri="{FF2B5EF4-FFF2-40B4-BE49-F238E27FC236}">
                <a16:creationId xmlns:a16="http://schemas.microsoft.com/office/drawing/2014/main" id="{6264B9B3-5413-05A6-F035-EE700C78CABD}"/>
              </a:ext>
            </a:extLst>
          </p:cNvPr>
          <p:cNvSpPr>
            <a:spLocks noGrp="1" noChangeArrowheads="1"/>
          </p:cNvSpPr>
          <p:nvPr>
            <p:ph type="body" idx="1"/>
          </p:nvPr>
        </p:nvSpPr>
        <p:spPr/>
        <p:txBody>
          <a:bodyPr/>
          <a:lstStyle/>
          <a:p>
            <a:pPr eaLnBrk="1" hangingPunct="1"/>
            <a:r>
              <a:rPr lang="en-US" altLang="en-KE"/>
              <a:t>Kenya Institute Of Education (Curriculum)</a:t>
            </a:r>
          </a:p>
          <a:p>
            <a:pPr eaLnBrk="1" hangingPunct="1"/>
            <a:r>
              <a:rPr lang="en-US" altLang="en-KE"/>
              <a:t>Kenya Music Festival (Awareness)</a:t>
            </a:r>
          </a:p>
          <a:p>
            <a:pPr eaLnBrk="1" hangingPunct="1"/>
            <a:r>
              <a:rPr lang="en-US" altLang="en-KE"/>
              <a:t>Religious Organizations</a:t>
            </a:r>
          </a:p>
          <a:p>
            <a:pPr eaLnBrk="1" hangingPunct="1"/>
            <a:r>
              <a:rPr lang="en-US" altLang="en-KE"/>
              <a:t>Non Governmental Organizations</a:t>
            </a:r>
          </a:p>
          <a:p>
            <a:pPr eaLnBrk="1" hangingPunct="1"/>
            <a:r>
              <a:rPr lang="en-US" altLang="en-KE"/>
              <a:t>Media Sector (example Citizen TV on HIV/AIDS Drugs adulterating local brew).</a:t>
            </a:r>
          </a:p>
          <a:p>
            <a:pPr eaLnBrk="1" hangingPunct="1"/>
            <a:r>
              <a:rPr lang="en-US" altLang="en-KE">
                <a:solidFill>
                  <a:srgbClr val="FF0066"/>
                </a:solidFill>
              </a:rPr>
              <a:t>Yourself</a:t>
            </a:r>
          </a:p>
          <a:p>
            <a:pPr eaLnBrk="1" hangingPunct="1"/>
            <a:endParaRPr lang="en-US" altLang="en-KE">
              <a:solidFill>
                <a:srgbClr val="FF0066"/>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Number Placeholder 5">
            <a:extLst>
              <a:ext uri="{FF2B5EF4-FFF2-40B4-BE49-F238E27FC236}">
                <a16:creationId xmlns:a16="http://schemas.microsoft.com/office/drawing/2014/main" id="{5AF00978-607F-CD53-791A-53CD8CB6473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B94821-B0D2-4D40-A04D-C317D10CB47A}" type="slidenum">
              <a:rPr lang="en-US" altLang="en-KE">
                <a:solidFill>
                  <a:schemeClr val="bg1"/>
                </a:solidFill>
              </a:rPr>
              <a:pPr eaLnBrk="1" hangingPunct="1"/>
              <a:t>87</a:t>
            </a:fld>
            <a:endParaRPr lang="en-US" altLang="en-KE">
              <a:solidFill>
                <a:schemeClr val="bg1"/>
              </a:solidFill>
            </a:endParaRPr>
          </a:p>
        </p:txBody>
      </p:sp>
      <p:sp>
        <p:nvSpPr>
          <p:cNvPr id="91139" name="AutoShape 2">
            <a:extLst>
              <a:ext uri="{FF2B5EF4-FFF2-40B4-BE49-F238E27FC236}">
                <a16:creationId xmlns:a16="http://schemas.microsoft.com/office/drawing/2014/main" id="{3B56532E-F507-5F0F-6F28-789D22C81EDC}"/>
              </a:ext>
            </a:extLst>
          </p:cNvPr>
          <p:cNvSpPr>
            <a:spLocks noGrp="1" noChangeArrowheads="1"/>
          </p:cNvSpPr>
          <p:nvPr>
            <p:ph type="title"/>
          </p:nvPr>
        </p:nvSpPr>
        <p:spPr/>
        <p:txBody>
          <a:bodyPr/>
          <a:lstStyle/>
          <a:p>
            <a:pPr eaLnBrk="1" hangingPunct="1"/>
            <a:r>
              <a:rPr lang="en-US" altLang="en-KE"/>
              <a:t>                        </a:t>
            </a:r>
            <a:r>
              <a:rPr lang="en-US" altLang="en-KE">
                <a:solidFill>
                  <a:srgbClr val="FF0066"/>
                </a:solidFill>
              </a:rPr>
              <a:t>END</a:t>
            </a:r>
          </a:p>
        </p:txBody>
      </p:sp>
      <p:sp>
        <p:nvSpPr>
          <p:cNvPr id="91140" name="Rectangle 3">
            <a:extLst>
              <a:ext uri="{FF2B5EF4-FFF2-40B4-BE49-F238E27FC236}">
                <a16:creationId xmlns:a16="http://schemas.microsoft.com/office/drawing/2014/main" id="{F5149093-1EB8-670C-20B5-524085AAF440}"/>
              </a:ext>
            </a:extLst>
          </p:cNvPr>
          <p:cNvSpPr>
            <a:spLocks noGrp="1" noChangeArrowheads="1"/>
          </p:cNvSpPr>
          <p:nvPr>
            <p:ph type="body" idx="1"/>
          </p:nvPr>
        </p:nvSpPr>
        <p:spPr/>
        <p:txBody>
          <a:bodyPr/>
          <a:lstStyle/>
          <a:p>
            <a:pPr eaLnBrk="1" hangingPunct="1">
              <a:buFont typeface="Wingdings" pitchFamily="2" charset="2"/>
              <a:buNone/>
            </a:pPr>
            <a:endParaRPr lang="en-US" altLang="en-KE"/>
          </a:p>
          <a:p>
            <a:pPr eaLnBrk="1" hangingPunct="1">
              <a:buFont typeface="Wingdings" pitchFamily="2" charset="2"/>
              <a:buNone/>
            </a:pPr>
            <a:endParaRPr lang="en-US" altLang="en-KE"/>
          </a:p>
          <a:p>
            <a:pPr eaLnBrk="1" hangingPunct="1">
              <a:buFont typeface="Wingdings" pitchFamily="2" charset="2"/>
              <a:buNone/>
            </a:pPr>
            <a:endParaRPr lang="en-US" altLang="en-KE"/>
          </a:p>
          <a:p>
            <a:pPr eaLnBrk="1" hangingPunct="1">
              <a:buFont typeface="Wingdings" pitchFamily="2" charset="2"/>
              <a:buNone/>
            </a:pPr>
            <a:endParaRPr lang="en-US" altLang="en-KE"/>
          </a:p>
          <a:p>
            <a:pPr eaLnBrk="1" hangingPunct="1">
              <a:buFont typeface="Wingdings" pitchFamily="2" charset="2"/>
              <a:buNone/>
            </a:pPr>
            <a:r>
              <a:rPr lang="en-US" altLang="en-KE"/>
              <a:t>                       </a:t>
            </a:r>
            <a:r>
              <a:rPr lang="en-US" altLang="en-KE" sz="3200"/>
              <a:t>THANK YOU</a:t>
            </a:r>
          </a:p>
        </p:txBody>
      </p:sp>
    </p:spTree>
  </p:cSld>
  <p:clrMapOvr>
    <a:masterClrMapping/>
  </p:clrMapOvr>
</p:sld>
</file>

<file path=ppt/theme/theme1.xml><?xml version="1.0" encoding="utf-8"?>
<a:theme xmlns:a="http://schemas.openxmlformats.org/drawingml/2006/main" name="Capsules">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Capsules</Template>
  <TotalTime>1045</TotalTime>
  <Words>4905</Words>
  <Application>Microsoft Macintosh PowerPoint</Application>
  <PresentationFormat>On-screen Show (4:3)</PresentationFormat>
  <Paragraphs>514</Paragraphs>
  <Slides>87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87</vt:i4>
      </vt:variant>
    </vt:vector>
  </HeadingPairs>
  <TitlesOfParts>
    <vt:vector size="91" baseType="lpstr">
      <vt:lpstr>Arial</vt:lpstr>
      <vt:lpstr>Times New Roman</vt:lpstr>
      <vt:lpstr>Wingdings</vt:lpstr>
      <vt:lpstr>Capsules</vt:lpstr>
      <vt:lpstr>HEALTH  EDUCATION</vt:lpstr>
      <vt:lpstr>HEALTH  EDUCATION</vt:lpstr>
      <vt:lpstr>MODULES IN HEALTH EDUCATION</vt:lpstr>
      <vt:lpstr>DRUG AND SUBSTANCE ABUSE</vt:lpstr>
      <vt:lpstr>Objectives</vt:lpstr>
      <vt:lpstr>Objectives</vt:lpstr>
      <vt:lpstr> Definition</vt:lpstr>
      <vt:lpstr>Drug dependence and abuse</vt:lpstr>
      <vt:lpstr>Withdrawal Symptoms</vt:lpstr>
      <vt:lpstr>Commonly abused drugs &amp; Substances</vt:lpstr>
      <vt:lpstr>General reasons for drug abuse</vt:lpstr>
      <vt:lpstr>Reasons  for drug abuse Cont.</vt:lpstr>
      <vt:lpstr>ALCOHOL</vt:lpstr>
      <vt:lpstr>Effects of Alcohol cont.</vt:lpstr>
      <vt:lpstr>Effects of alcohol cont.</vt:lpstr>
      <vt:lpstr>4.Personality changes</vt:lpstr>
      <vt:lpstr>5.Loss of problem solving skills</vt:lpstr>
      <vt:lpstr>6.Communication problems</vt:lpstr>
      <vt:lpstr>7.Alcohol abuse and HIV/AIDS</vt:lpstr>
      <vt:lpstr>8.Alcohol abuse and pregnancy</vt:lpstr>
      <vt:lpstr>9. Alcohol and Work</vt:lpstr>
      <vt:lpstr>10.Binge drinking</vt:lpstr>
      <vt:lpstr>CONTROL  OF ALCOHOLISM</vt:lpstr>
      <vt:lpstr>Prevention</vt:lpstr>
      <vt:lpstr>Prevention cont.</vt:lpstr>
      <vt:lpstr>Prevention cont.</vt:lpstr>
      <vt:lpstr>Prevention cont.</vt:lpstr>
      <vt:lpstr>Treatment</vt:lpstr>
      <vt:lpstr>Treatment cont.</vt:lpstr>
      <vt:lpstr>TOBACCO</vt:lpstr>
      <vt:lpstr>Presentations</vt:lpstr>
      <vt:lpstr>Types of Tobacco</vt:lpstr>
      <vt:lpstr>Modes of administering tobacco</vt:lpstr>
      <vt:lpstr>Types of smokers</vt:lpstr>
      <vt:lpstr>Greatest at risk to heart problems</vt:lpstr>
      <vt:lpstr>Reasons for Tobacco abuse</vt:lpstr>
      <vt:lpstr>Reasons for Tobacco abuse cont.</vt:lpstr>
      <vt:lpstr>Signs of Tobacco abuse</vt:lpstr>
      <vt:lpstr>Chemical contents of Tobacco</vt:lpstr>
      <vt:lpstr>Effects of nicotine</vt:lpstr>
      <vt:lpstr>Effects of nicotine cont.</vt:lpstr>
      <vt:lpstr>Effects of tar</vt:lpstr>
      <vt:lpstr>Effects of nitrogen dioxide</vt:lpstr>
      <vt:lpstr>Effects of ammonia </vt:lpstr>
      <vt:lpstr> To stop tobacco addiction</vt:lpstr>
      <vt:lpstr>To Stop tobacco addiction cont.</vt:lpstr>
      <vt:lpstr>Stop tobacco addiction cont.</vt:lpstr>
      <vt:lpstr>Treatment</vt:lpstr>
      <vt:lpstr>MARIJUANA</vt:lpstr>
      <vt:lpstr>Effects of Marijuana</vt:lpstr>
      <vt:lpstr>Effects of Marijuana cont.</vt:lpstr>
      <vt:lpstr>Effects of Marijuana cont.</vt:lpstr>
      <vt:lpstr>Effects of marijuana cont.</vt:lpstr>
      <vt:lpstr>Treatment and prevention</vt:lpstr>
      <vt:lpstr>COCAINE</vt:lpstr>
      <vt:lpstr>Administration of cocaine</vt:lpstr>
      <vt:lpstr>Effects of cocaine cont.</vt:lpstr>
      <vt:lpstr>Effects of cocaine cont.</vt:lpstr>
      <vt:lpstr>Cocaine abusers</vt:lpstr>
      <vt:lpstr>Treatment of cocaine dependence</vt:lpstr>
      <vt:lpstr>HEROIN</vt:lpstr>
      <vt:lpstr>Heroine cont.</vt:lpstr>
      <vt:lpstr>Effects of heroine</vt:lpstr>
      <vt:lpstr>Effects of heroine cont.</vt:lpstr>
      <vt:lpstr>Effects of heroine cont.</vt:lpstr>
      <vt:lpstr>Treatment of Heroine dependence</vt:lpstr>
      <vt:lpstr>KHAT (MIRAA)</vt:lpstr>
      <vt:lpstr>Effects of Khat.</vt:lpstr>
      <vt:lpstr>INHALANTS AND SOLVENTS</vt:lpstr>
      <vt:lpstr>Inhalants and Solvents</vt:lpstr>
      <vt:lpstr>Effects of solvents and inhalants </vt:lpstr>
      <vt:lpstr>Prevention, Treatment &amp; Control</vt:lpstr>
      <vt:lpstr>HIV/AIDS &amp; DRUG ABUSE</vt:lpstr>
      <vt:lpstr>HIV/AIDS &amp; DRUG ABUSE</vt:lpstr>
      <vt:lpstr>HIV/AIDS &amp;DRUG ABUSE</vt:lpstr>
      <vt:lpstr>HIV/AIDS &amp; DRUG ABUSE</vt:lpstr>
      <vt:lpstr>HIV/AIDS &amp; DRUG ABUSE</vt:lpstr>
      <vt:lpstr>EFFECTS ON HEALTH &amp; SOCIAL LIFE</vt:lpstr>
      <vt:lpstr>Effect on Health &amp;Social life cont.</vt:lpstr>
      <vt:lpstr>Effect on Health &amp;Social life cont.</vt:lpstr>
      <vt:lpstr>Health concerns</vt:lpstr>
      <vt:lpstr>Social concerns.</vt:lpstr>
      <vt:lpstr>Security and Economic concerns</vt:lpstr>
      <vt:lpstr>GOVERNMENT POLICY</vt:lpstr>
      <vt:lpstr>The Alcoholic Drinks Control Act, 2010</vt:lpstr>
      <vt:lpstr>Multisectoral Collaboration</vt:lpstr>
      <vt:lpstr>                        END</vt:lpstr>
    </vt:vector>
  </TitlesOfParts>
  <Company>lenovo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DRUG AND SUBSTANCE ABUSE  </dc:title>
  <dc:creator>Dr Mokaya</dc:creator>
  <cp:lastModifiedBy>Lydia Oriko</cp:lastModifiedBy>
  <cp:revision>18</cp:revision>
  <dcterms:created xsi:type="dcterms:W3CDTF">2012-09-06T07:22:00Z</dcterms:created>
  <dcterms:modified xsi:type="dcterms:W3CDTF">2026-03-09T15:12:39Z</dcterms:modified>
</cp:coreProperties>
</file>
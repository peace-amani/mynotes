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7.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85" r:id="rId3"/>
    <p:sldMasterId id="2147483698" r:id="rId4"/>
    <p:sldMasterId id="2147483710" r:id="rId5"/>
    <p:sldMasterId id="2147483728" r:id="rId6"/>
    <p:sldMasterId id="2147483740" r:id="rId7"/>
    <p:sldMasterId id="2147483758" r:id="rId8"/>
  </p:sldMasterIdLst>
  <p:notesMasterIdLst>
    <p:notesMasterId r:id="rId106"/>
  </p:notesMasterIdLst>
  <p:sldIdLst>
    <p:sldId id="257" r:id="rId9"/>
    <p:sldId id="258" r:id="rId10"/>
    <p:sldId id="289" r:id="rId11"/>
    <p:sldId id="290" r:id="rId12"/>
    <p:sldId id="299" r:id="rId13"/>
    <p:sldId id="362" r:id="rId14"/>
    <p:sldId id="291" r:id="rId15"/>
    <p:sldId id="295" r:id="rId16"/>
    <p:sldId id="296" r:id="rId17"/>
    <p:sldId id="294" r:id="rId18"/>
    <p:sldId id="297" r:id="rId19"/>
    <p:sldId id="292" r:id="rId20"/>
    <p:sldId id="293" r:id="rId21"/>
    <p:sldId id="298" r:id="rId22"/>
    <p:sldId id="357" r:id="rId23"/>
    <p:sldId id="259" r:id="rId24"/>
    <p:sldId id="350" r:id="rId25"/>
    <p:sldId id="352" r:id="rId26"/>
    <p:sldId id="351" r:id="rId27"/>
    <p:sldId id="300" r:id="rId28"/>
    <p:sldId id="306" r:id="rId29"/>
    <p:sldId id="307" r:id="rId30"/>
    <p:sldId id="308" r:id="rId31"/>
    <p:sldId id="309" r:id="rId32"/>
    <p:sldId id="358" r:id="rId33"/>
    <p:sldId id="359" r:id="rId34"/>
    <p:sldId id="360" r:id="rId35"/>
    <p:sldId id="361" r:id="rId36"/>
    <p:sldId id="287" r:id="rId37"/>
    <p:sldId id="288" r:id="rId38"/>
    <p:sldId id="356" r:id="rId39"/>
    <p:sldId id="256" r:id="rId40"/>
    <p:sldId id="280" r:id="rId41"/>
    <p:sldId id="281" r:id="rId42"/>
    <p:sldId id="282" r:id="rId43"/>
    <p:sldId id="283" r:id="rId44"/>
    <p:sldId id="284" r:id="rId45"/>
    <p:sldId id="285" r:id="rId46"/>
    <p:sldId id="286" r:id="rId47"/>
    <p:sldId id="363" r:id="rId48"/>
    <p:sldId id="364" r:id="rId49"/>
    <p:sldId id="365" r:id="rId50"/>
    <p:sldId id="366" r:id="rId51"/>
    <p:sldId id="276" r:id="rId52"/>
    <p:sldId id="367" r:id="rId53"/>
    <p:sldId id="279" r:id="rId54"/>
    <p:sldId id="368" r:id="rId55"/>
    <p:sldId id="369"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70" r:id="rId70"/>
    <p:sldId id="371" r:id="rId71"/>
    <p:sldId id="372" r:id="rId72"/>
    <p:sldId id="373" r:id="rId73"/>
    <p:sldId id="374" r:id="rId74"/>
    <p:sldId id="375" r:id="rId75"/>
    <p:sldId id="376" r:id="rId76"/>
    <p:sldId id="377" r:id="rId77"/>
    <p:sldId id="260" r:id="rId78"/>
    <p:sldId id="261" r:id="rId79"/>
    <p:sldId id="262" r:id="rId80"/>
    <p:sldId id="263" r:id="rId81"/>
    <p:sldId id="264" r:id="rId82"/>
    <p:sldId id="265" r:id="rId83"/>
    <p:sldId id="266" r:id="rId84"/>
    <p:sldId id="267" r:id="rId85"/>
    <p:sldId id="268" r:id="rId86"/>
    <p:sldId id="269" r:id="rId87"/>
    <p:sldId id="270" r:id="rId88"/>
    <p:sldId id="271" r:id="rId89"/>
    <p:sldId id="272" r:id="rId90"/>
    <p:sldId id="273" r:id="rId91"/>
    <p:sldId id="274" r:id="rId92"/>
    <p:sldId id="275" r:id="rId93"/>
    <p:sldId id="378" r:id="rId94"/>
    <p:sldId id="277" r:id="rId95"/>
    <p:sldId id="278" r:id="rId96"/>
    <p:sldId id="379" r:id="rId97"/>
    <p:sldId id="380" r:id="rId98"/>
    <p:sldId id="381" r:id="rId99"/>
    <p:sldId id="382" r:id="rId100"/>
    <p:sldId id="383" r:id="rId101"/>
    <p:sldId id="384" r:id="rId102"/>
    <p:sldId id="385" r:id="rId103"/>
    <p:sldId id="386" r:id="rId104"/>
    <p:sldId id="387" r:id="rId105"/>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4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6" Type="http://schemas.openxmlformats.org/officeDocument/2006/relationships/slide" Target="slides/slide8.xml"/><Relationship Id="rId107" Type="http://schemas.openxmlformats.org/officeDocument/2006/relationships/presProps" Target="presProps.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slide" Target="slides/slide94.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viewProps" Target="viewProps.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6" Type="http://schemas.openxmlformats.org/officeDocument/2006/relationships/notesMaster" Target="notesMasters/notesMaster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theme" Target="theme/theme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tableStyles" Target="tableStyles.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3" Type="http://schemas.openxmlformats.org/officeDocument/2006/relationships/slideMaster" Target="slideMasters/slideMaster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8486F6-59AD-4181-8E06-7546C8986F1C}"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GB"/>
        </a:p>
      </dgm:t>
    </dgm:pt>
    <dgm:pt modelId="{1211D064-C0B5-4E15-949D-CB4A0D85EB5C}">
      <dgm:prSet phldrT="[Text]" custT="1"/>
      <dgm:spPr>
        <a:solidFill>
          <a:srgbClr val="00B050"/>
        </a:solidFill>
      </dgm:spPr>
      <dgm:t>
        <a:bodyPr/>
        <a:lstStyle/>
        <a:p>
          <a:r>
            <a:rPr lang="en-GB" sz="2400" b="1" dirty="0"/>
            <a:t>Reservoir</a:t>
          </a:r>
        </a:p>
      </dgm:t>
    </dgm:pt>
    <dgm:pt modelId="{4FB7BE69-B5B4-4351-8322-29944CCE6FC1}" type="parTrans" cxnId="{07C3CE30-19EA-4AB1-9E52-47CCD1B6902B}">
      <dgm:prSet/>
      <dgm:spPr/>
      <dgm:t>
        <a:bodyPr/>
        <a:lstStyle/>
        <a:p>
          <a:endParaRPr lang="en-GB"/>
        </a:p>
      </dgm:t>
    </dgm:pt>
    <dgm:pt modelId="{9E3A746B-8989-44EC-82AF-A5ED74562FAB}" type="sibTrans" cxnId="{07C3CE30-19EA-4AB1-9E52-47CCD1B6902B}">
      <dgm:prSet/>
      <dgm:spPr>
        <a:solidFill>
          <a:schemeClr val="tx1">
            <a:lumMod val="65000"/>
            <a:lumOff val="35000"/>
          </a:schemeClr>
        </a:solidFill>
      </dgm:spPr>
      <dgm:t>
        <a:bodyPr/>
        <a:lstStyle/>
        <a:p>
          <a:endParaRPr lang="en-GB"/>
        </a:p>
      </dgm:t>
    </dgm:pt>
    <dgm:pt modelId="{73A96666-F2A1-4520-9E60-9C1DD866C18E}">
      <dgm:prSet phldrT="[Text]" custT="1"/>
      <dgm:spPr>
        <a:solidFill>
          <a:schemeClr val="accent3">
            <a:lumMod val="75000"/>
          </a:schemeClr>
        </a:solidFill>
      </dgm:spPr>
      <dgm:t>
        <a:bodyPr/>
        <a:lstStyle/>
        <a:p>
          <a:r>
            <a:rPr lang="en-GB" sz="1800" dirty="0"/>
            <a:t>Portal of exit</a:t>
          </a:r>
        </a:p>
      </dgm:t>
    </dgm:pt>
    <dgm:pt modelId="{2B911FA2-EF5B-490B-B3FD-EB5667AEC7E9}" type="parTrans" cxnId="{15680CFF-A68D-4CA7-8DEE-543C9EE49054}">
      <dgm:prSet/>
      <dgm:spPr/>
      <dgm:t>
        <a:bodyPr/>
        <a:lstStyle/>
        <a:p>
          <a:endParaRPr lang="en-GB"/>
        </a:p>
      </dgm:t>
    </dgm:pt>
    <dgm:pt modelId="{8D252CBA-F129-4675-AD19-16F1A091B7B0}" type="sibTrans" cxnId="{15680CFF-A68D-4CA7-8DEE-543C9EE49054}">
      <dgm:prSet/>
      <dgm:spPr>
        <a:solidFill>
          <a:schemeClr val="tx1">
            <a:lumMod val="65000"/>
            <a:lumOff val="35000"/>
          </a:schemeClr>
        </a:solidFill>
      </dgm:spPr>
      <dgm:t>
        <a:bodyPr/>
        <a:lstStyle/>
        <a:p>
          <a:endParaRPr lang="en-GB"/>
        </a:p>
      </dgm:t>
    </dgm:pt>
    <dgm:pt modelId="{791F5389-BF44-4A08-B88C-2D25BF66CA60}">
      <dgm:prSet phldrT="[Text]" custT="1"/>
      <dgm:spPr>
        <a:solidFill>
          <a:srgbClr val="FF6600"/>
        </a:solidFill>
      </dgm:spPr>
      <dgm:t>
        <a:bodyPr/>
        <a:lstStyle/>
        <a:p>
          <a:r>
            <a:rPr lang="en-GB" sz="2400" b="1" dirty="0"/>
            <a:t>Susceptible host</a:t>
          </a:r>
        </a:p>
      </dgm:t>
    </dgm:pt>
    <dgm:pt modelId="{BA8B7C1C-7EE0-4852-86D9-EEFD6E2980E6}" type="parTrans" cxnId="{38F898C9-D867-4912-99C9-298410282078}">
      <dgm:prSet/>
      <dgm:spPr/>
      <dgm:t>
        <a:bodyPr/>
        <a:lstStyle/>
        <a:p>
          <a:endParaRPr lang="en-GB"/>
        </a:p>
      </dgm:t>
    </dgm:pt>
    <dgm:pt modelId="{3ABF5D54-169F-4F66-A121-252B172CB859}" type="sibTrans" cxnId="{38F898C9-D867-4912-99C9-298410282078}">
      <dgm:prSet/>
      <dgm:spPr>
        <a:solidFill>
          <a:schemeClr val="tx1">
            <a:lumMod val="65000"/>
            <a:lumOff val="35000"/>
          </a:schemeClr>
        </a:solidFill>
      </dgm:spPr>
      <dgm:t>
        <a:bodyPr/>
        <a:lstStyle/>
        <a:p>
          <a:endParaRPr lang="en-GB"/>
        </a:p>
      </dgm:t>
    </dgm:pt>
    <dgm:pt modelId="{AC971814-D37F-4C9B-907D-05463A17C7A7}">
      <dgm:prSet phldrT="[Text]" custT="1"/>
      <dgm:spPr>
        <a:solidFill>
          <a:srgbClr val="C00000"/>
        </a:solidFill>
      </dgm:spPr>
      <dgm:t>
        <a:bodyPr/>
        <a:lstStyle/>
        <a:p>
          <a:r>
            <a:rPr lang="en-GB" sz="1800" dirty="0"/>
            <a:t>Person-to-person transmission</a:t>
          </a:r>
        </a:p>
      </dgm:t>
    </dgm:pt>
    <dgm:pt modelId="{DA9BA11D-A8E7-4DEC-BD9C-555E210DDF4F}" type="parTrans" cxnId="{EEB4CAAA-5066-454A-ABE3-046BD890111B}">
      <dgm:prSet/>
      <dgm:spPr/>
      <dgm:t>
        <a:bodyPr/>
        <a:lstStyle/>
        <a:p>
          <a:endParaRPr lang="en-GB"/>
        </a:p>
      </dgm:t>
    </dgm:pt>
    <dgm:pt modelId="{A86431F5-6C79-42DC-B617-C7322A25ED85}" type="sibTrans" cxnId="{EEB4CAAA-5066-454A-ABE3-046BD890111B}">
      <dgm:prSet/>
      <dgm:spPr>
        <a:solidFill>
          <a:schemeClr val="tx1">
            <a:lumMod val="65000"/>
            <a:lumOff val="35000"/>
          </a:schemeClr>
        </a:solidFill>
      </dgm:spPr>
      <dgm:t>
        <a:bodyPr/>
        <a:lstStyle/>
        <a:p>
          <a:endParaRPr lang="en-GB"/>
        </a:p>
      </dgm:t>
    </dgm:pt>
    <dgm:pt modelId="{41BCDB94-F20A-4ED3-824A-547D51F44284}">
      <dgm:prSet phldrT="[Text]" custT="1"/>
      <dgm:spPr>
        <a:solidFill>
          <a:schemeClr val="accent6">
            <a:lumMod val="50000"/>
          </a:schemeClr>
        </a:solidFill>
      </dgm:spPr>
      <dgm:t>
        <a:bodyPr/>
        <a:lstStyle/>
        <a:p>
          <a:r>
            <a:rPr lang="en-GB" sz="1800" dirty="0"/>
            <a:t>Portal of entry</a:t>
          </a:r>
        </a:p>
      </dgm:t>
    </dgm:pt>
    <dgm:pt modelId="{C17BD189-0FE3-4DD7-B2FF-B494B5A3BB5C}" type="parTrans" cxnId="{8F1CC10B-E557-42BA-A713-BF7612EA55E5}">
      <dgm:prSet/>
      <dgm:spPr/>
      <dgm:t>
        <a:bodyPr/>
        <a:lstStyle/>
        <a:p>
          <a:endParaRPr lang="en-GB"/>
        </a:p>
      </dgm:t>
    </dgm:pt>
    <dgm:pt modelId="{E417B144-B9B3-47D6-922B-21B182DF9862}" type="sibTrans" cxnId="{8F1CC10B-E557-42BA-A713-BF7612EA55E5}">
      <dgm:prSet/>
      <dgm:spPr>
        <a:solidFill>
          <a:schemeClr val="tx1">
            <a:lumMod val="65000"/>
            <a:lumOff val="35000"/>
          </a:schemeClr>
        </a:solidFill>
      </dgm:spPr>
      <dgm:t>
        <a:bodyPr/>
        <a:lstStyle/>
        <a:p>
          <a:endParaRPr lang="en-GB"/>
        </a:p>
      </dgm:t>
    </dgm:pt>
    <dgm:pt modelId="{95B72E6C-E09F-4C18-9CCB-AECA0F93260E}">
      <dgm:prSet phldrT="[Text]" custT="1"/>
      <dgm:spPr>
        <a:solidFill>
          <a:schemeClr val="tx1"/>
        </a:solidFill>
      </dgm:spPr>
      <dgm:t>
        <a:bodyPr/>
        <a:lstStyle/>
        <a:p>
          <a:r>
            <a:rPr lang="en-GB" sz="2400" b="1" dirty="0"/>
            <a:t>Agent</a:t>
          </a:r>
        </a:p>
      </dgm:t>
    </dgm:pt>
    <dgm:pt modelId="{E5DBFCB2-8A60-423D-B506-D6EB8C4AB1D4}" type="parTrans" cxnId="{F485F5B6-A78D-4BAD-8128-D4A21950202F}">
      <dgm:prSet/>
      <dgm:spPr/>
      <dgm:t>
        <a:bodyPr/>
        <a:lstStyle/>
        <a:p>
          <a:endParaRPr lang="en-GB"/>
        </a:p>
      </dgm:t>
    </dgm:pt>
    <dgm:pt modelId="{FF955342-40C2-4836-B365-927597C52AF5}" type="sibTrans" cxnId="{F485F5B6-A78D-4BAD-8128-D4A21950202F}">
      <dgm:prSet/>
      <dgm:spPr>
        <a:solidFill>
          <a:schemeClr val="tx1">
            <a:lumMod val="65000"/>
            <a:lumOff val="35000"/>
          </a:schemeClr>
        </a:solidFill>
      </dgm:spPr>
      <dgm:t>
        <a:bodyPr/>
        <a:lstStyle/>
        <a:p>
          <a:endParaRPr lang="en-GB"/>
        </a:p>
      </dgm:t>
    </dgm:pt>
    <dgm:pt modelId="{B1985E6C-433A-45CB-B581-34583BA7B896}" type="pres">
      <dgm:prSet presAssocID="{E58486F6-59AD-4181-8E06-7546C8986F1C}" presName="cycle" presStyleCnt="0">
        <dgm:presLayoutVars>
          <dgm:dir/>
          <dgm:resizeHandles val="exact"/>
        </dgm:presLayoutVars>
      </dgm:prSet>
      <dgm:spPr/>
      <dgm:t>
        <a:bodyPr/>
        <a:lstStyle/>
        <a:p>
          <a:endParaRPr lang="en-US"/>
        </a:p>
      </dgm:t>
    </dgm:pt>
    <dgm:pt modelId="{01711254-2627-4E07-957B-49E3DDC2FB14}" type="pres">
      <dgm:prSet presAssocID="{1211D064-C0B5-4E15-949D-CB4A0D85EB5C}" presName="node" presStyleLbl="node1" presStyleIdx="0" presStyleCnt="6" custScaleX="147799" custScaleY="133045" custRadScaleRad="100264" custRadScaleInc="13851">
        <dgm:presLayoutVars>
          <dgm:bulletEnabled val="1"/>
        </dgm:presLayoutVars>
      </dgm:prSet>
      <dgm:spPr/>
      <dgm:t>
        <a:bodyPr/>
        <a:lstStyle/>
        <a:p>
          <a:endParaRPr lang="en-US"/>
        </a:p>
      </dgm:t>
    </dgm:pt>
    <dgm:pt modelId="{EAE51F6E-7343-4CB4-A417-3F245075D1E7}" type="pres">
      <dgm:prSet presAssocID="{9E3A746B-8989-44EC-82AF-A5ED74562FAB}" presName="sibTrans" presStyleLbl="sibTrans2D1" presStyleIdx="0" presStyleCnt="6"/>
      <dgm:spPr/>
      <dgm:t>
        <a:bodyPr/>
        <a:lstStyle/>
        <a:p>
          <a:endParaRPr lang="en-US"/>
        </a:p>
      </dgm:t>
    </dgm:pt>
    <dgm:pt modelId="{748B650F-8950-4FB1-A43C-F09740195562}" type="pres">
      <dgm:prSet presAssocID="{9E3A746B-8989-44EC-82AF-A5ED74562FAB}" presName="connectorText" presStyleLbl="sibTrans2D1" presStyleIdx="0" presStyleCnt="6"/>
      <dgm:spPr/>
      <dgm:t>
        <a:bodyPr/>
        <a:lstStyle/>
        <a:p>
          <a:endParaRPr lang="en-US"/>
        </a:p>
      </dgm:t>
    </dgm:pt>
    <dgm:pt modelId="{7154E4FC-94B4-4078-9BB6-BF8F195DC6E2}" type="pres">
      <dgm:prSet presAssocID="{73A96666-F2A1-4520-9E60-9C1DD866C18E}" presName="node" presStyleLbl="node1" presStyleIdx="1" presStyleCnt="6" custScaleX="90390" custScaleY="54998" custRadScaleRad="116741" custRadScaleInc="7363">
        <dgm:presLayoutVars>
          <dgm:bulletEnabled val="1"/>
        </dgm:presLayoutVars>
      </dgm:prSet>
      <dgm:spPr/>
      <dgm:t>
        <a:bodyPr/>
        <a:lstStyle/>
        <a:p>
          <a:endParaRPr lang="en-US"/>
        </a:p>
      </dgm:t>
    </dgm:pt>
    <dgm:pt modelId="{C75EB711-83F2-4B23-94C5-644348736863}" type="pres">
      <dgm:prSet presAssocID="{8D252CBA-F129-4675-AD19-16F1A091B7B0}" presName="sibTrans" presStyleLbl="sibTrans2D1" presStyleIdx="1" presStyleCnt="6"/>
      <dgm:spPr/>
      <dgm:t>
        <a:bodyPr/>
        <a:lstStyle/>
        <a:p>
          <a:endParaRPr lang="en-US"/>
        </a:p>
      </dgm:t>
    </dgm:pt>
    <dgm:pt modelId="{16502125-1765-4584-93B0-4A5EE91F72BF}" type="pres">
      <dgm:prSet presAssocID="{8D252CBA-F129-4675-AD19-16F1A091B7B0}" presName="connectorText" presStyleLbl="sibTrans2D1" presStyleIdx="1" presStyleCnt="6"/>
      <dgm:spPr/>
      <dgm:t>
        <a:bodyPr/>
        <a:lstStyle/>
        <a:p>
          <a:endParaRPr lang="en-US"/>
        </a:p>
      </dgm:t>
    </dgm:pt>
    <dgm:pt modelId="{BDA203E9-C426-4C12-85EB-3E6AB8B7422A}" type="pres">
      <dgm:prSet presAssocID="{95B72E6C-E09F-4C18-9CCB-AECA0F93260E}" presName="node" presStyleLbl="node1" presStyleIdx="2" presStyleCnt="6" custScaleX="125995" custScaleY="107048" custRadScaleRad="111201" custRadScaleInc="-10931">
        <dgm:presLayoutVars>
          <dgm:bulletEnabled val="1"/>
        </dgm:presLayoutVars>
      </dgm:prSet>
      <dgm:spPr/>
      <dgm:t>
        <a:bodyPr/>
        <a:lstStyle/>
        <a:p>
          <a:endParaRPr lang="en-US"/>
        </a:p>
      </dgm:t>
    </dgm:pt>
    <dgm:pt modelId="{2D02F389-DC01-440B-9C9D-EE548B33D6BF}" type="pres">
      <dgm:prSet presAssocID="{FF955342-40C2-4836-B365-927597C52AF5}" presName="sibTrans" presStyleLbl="sibTrans2D1" presStyleIdx="2" presStyleCnt="6"/>
      <dgm:spPr/>
      <dgm:t>
        <a:bodyPr/>
        <a:lstStyle/>
        <a:p>
          <a:endParaRPr lang="en-US"/>
        </a:p>
      </dgm:t>
    </dgm:pt>
    <dgm:pt modelId="{9B6113B1-4B88-4E94-B299-7D7C708EA354}" type="pres">
      <dgm:prSet presAssocID="{FF955342-40C2-4836-B365-927597C52AF5}" presName="connectorText" presStyleLbl="sibTrans2D1" presStyleIdx="2" presStyleCnt="6"/>
      <dgm:spPr/>
      <dgm:t>
        <a:bodyPr/>
        <a:lstStyle/>
        <a:p>
          <a:endParaRPr lang="en-US"/>
        </a:p>
      </dgm:t>
    </dgm:pt>
    <dgm:pt modelId="{386B4AD5-B231-412D-8953-6E9D6B6C2F75}" type="pres">
      <dgm:prSet presAssocID="{41BCDB94-F20A-4ED3-824A-547D51F44284}" presName="node" presStyleLbl="node1" presStyleIdx="3" presStyleCnt="6" custScaleX="83472" custScaleY="62774">
        <dgm:presLayoutVars>
          <dgm:bulletEnabled val="1"/>
        </dgm:presLayoutVars>
      </dgm:prSet>
      <dgm:spPr/>
      <dgm:t>
        <a:bodyPr/>
        <a:lstStyle/>
        <a:p>
          <a:endParaRPr lang="en-US"/>
        </a:p>
      </dgm:t>
    </dgm:pt>
    <dgm:pt modelId="{28C3E251-3D8A-4E95-B633-FFA6C03ECB24}" type="pres">
      <dgm:prSet presAssocID="{E417B144-B9B3-47D6-922B-21B182DF9862}" presName="sibTrans" presStyleLbl="sibTrans2D1" presStyleIdx="3" presStyleCnt="6"/>
      <dgm:spPr/>
      <dgm:t>
        <a:bodyPr/>
        <a:lstStyle/>
        <a:p>
          <a:endParaRPr lang="en-US"/>
        </a:p>
      </dgm:t>
    </dgm:pt>
    <dgm:pt modelId="{F72254D7-1D1F-40D2-ACB1-E7CD52864E8D}" type="pres">
      <dgm:prSet presAssocID="{E417B144-B9B3-47D6-922B-21B182DF9862}" presName="connectorText" presStyleLbl="sibTrans2D1" presStyleIdx="3" presStyleCnt="6"/>
      <dgm:spPr/>
      <dgm:t>
        <a:bodyPr/>
        <a:lstStyle/>
        <a:p>
          <a:endParaRPr lang="en-US"/>
        </a:p>
      </dgm:t>
    </dgm:pt>
    <dgm:pt modelId="{0F866BF2-3E19-4D95-A761-1197F760E019}" type="pres">
      <dgm:prSet presAssocID="{791F5389-BF44-4A08-B88C-2D25BF66CA60}" presName="node" presStyleLbl="node1" presStyleIdx="4" presStyleCnt="6" custScaleX="164745" custScaleY="117879" custRadScaleRad="111201" custRadScaleInc="10931">
        <dgm:presLayoutVars>
          <dgm:bulletEnabled val="1"/>
        </dgm:presLayoutVars>
      </dgm:prSet>
      <dgm:spPr/>
      <dgm:t>
        <a:bodyPr/>
        <a:lstStyle/>
        <a:p>
          <a:endParaRPr lang="en-US"/>
        </a:p>
      </dgm:t>
    </dgm:pt>
    <dgm:pt modelId="{F2646692-617D-4AB4-9DAF-7AF865F2B590}" type="pres">
      <dgm:prSet presAssocID="{3ABF5D54-169F-4F66-A121-252B172CB859}" presName="sibTrans" presStyleLbl="sibTrans2D1" presStyleIdx="4" presStyleCnt="6"/>
      <dgm:spPr/>
      <dgm:t>
        <a:bodyPr/>
        <a:lstStyle/>
        <a:p>
          <a:endParaRPr lang="en-US"/>
        </a:p>
      </dgm:t>
    </dgm:pt>
    <dgm:pt modelId="{132D775C-3499-4EF5-945A-23BCDBA32FB1}" type="pres">
      <dgm:prSet presAssocID="{3ABF5D54-169F-4F66-A121-252B172CB859}" presName="connectorText" presStyleLbl="sibTrans2D1" presStyleIdx="4" presStyleCnt="6"/>
      <dgm:spPr/>
      <dgm:t>
        <a:bodyPr/>
        <a:lstStyle/>
        <a:p>
          <a:endParaRPr lang="en-US"/>
        </a:p>
      </dgm:t>
    </dgm:pt>
    <dgm:pt modelId="{BBC18817-410C-4F3B-8B9F-26BBBBE5FFD0}" type="pres">
      <dgm:prSet presAssocID="{AC971814-D37F-4C9B-907D-05463A17C7A7}" presName="node" presStyleLbl="node1" presStyleIdx="5" presStyleCnt="6" custScaleX="150664" custScaleY="106635" custRadScaleRad="126315" custRadScaleInc="-17891">
        <dgm:presLayoutVars>
          <dgm:bulletEnabled val="1"/>
        </dgm:presLayoutVars>
      </dgm:prSet>
      <dgm:spPr/>
      <dgm:t>
        <a:bodyPr/>
        <a:lstStyle/>
        <a:p>
          <a:endParaRPr lang="en-US"/>
        </a:p>
      </dgm:t>
    </dgm:pt>
    <dgm:pt modelId="{304603DB-89D1-45D3-8522-B059B9889604}" type="pres">
      <dgm:prSet presAssocID="{A86431F5-6C79-42DC-B617-C7322A25ED85}" presName="sibTrans" presStyleLbl="sibTrans2D1" presStyleIdx="5" presStyleCnt="6"/>
      <dgm:spPr/>
      <dgm:t>
        <a:bodyPr/>
        <a:lstStyle/>
        <a:p>
          <a:endParaRPr lang="en-US"/>
        </a:p>
      </dgm:t>
    </dgm:pt>
    <dgm:pt modelId="{4C8768F6-4BE8-42DB-860C-8D048123CEEF}" type="pres">
      <dgm:prSet presAssocID="{A86431F5-6C79-42DC-B617-C7322A25ED85}" presName="connectorText" presStyleLbl="sibTrans2D1" presStyleIdx="5" presStyleCnt="6"/>
      <dgm:spPr/>
      <dgm:t>
        <a:bodyPr/>
        <a:lstStyle/>
        <a:p>
          <a:endParaRPr lang="en-US"/>
        </a:p>
      </dgm:t>
    </dgm:pt>
  </dgm:ptLst>
  <dgm:cxnLst>
    <dgm:cxn modelId="{29FC1D6E-71A3-4AD7-BF91-53F75F561F92}" type="presOf" srcId="{1211D064-C0B5-4E15-949D-CB4A0D85EB5C}" destId="{01711254-2627-4E07-957B-49E3DDC2FB14}" srcOrd="0" destOrd="0" presId="urn:microsoft.com/office/officeart/2005/8/layout/cycle2"/>
    <dgm:cxn modelId="{EEB4CAAA-5066-454A-ABE3-046BD890111B}" srcId="{E58486F6-59AD-4181-8E06-7546C8986F1C}" destId="{AC971814-D37F-4C9B-907D-05463A17C7A7}" srcOrd="5" destOrd="0" parTransId="{DA9BA11D-A8E7-4DEC-BD9C-555E210DDF4F}" sibTransId="{A86431F5-6C79-42DC-B617-C7322A25ED85}"/>
    <dgm:cxn modelId="{408E9D2D-BF8D-40B6-8481-CD1950178DD3}" type="presOf" srcId="{3ABF5D54-169F-4F66-A121-252B172CB859}" destId="{F2646692-617D-4AB4-9DAF-7AF865F2B590}" srcOrd="0" destOrd="0" presId="urn:microsoft.com/office/officeart/2005/8/layout/cycle2"/>
    <dgm:cxn modelId="{BC8214FD-9333-45B3-AF57-E92FCEEB357E}" type="presOf" srcId="{8D252CBA-F129-4675-AD19-16F1A091B7B0}" destId="{16502125-1765-4584-93B0-4A5EE91F72BF}" srcOrd="1" destOrd="0" presId="urn:microsoft.com/office/officeart/2005/8/layout/cycle2"/>
    <dgm:cxn modelId="{15680CFF-A68D-4CA7-8DEE-543C9EE49054}" srcId="{E58486F6-59AD-4181-8E06-7546C8986F1C}" destId="{73A96666-F2A1-4520-9E60-9C1DD866C18E}" srcOrd="1" destOrd="0" parTransId="{2B911FA2-EF5B-490B-B3FD-EB5667AEC7E9}" sibTransId="{8D252CBA-F129-4675-AD19-16F1A091B7B0}"/>
    <dgm:cxn modelId="{36B6476F-6AEA-4B08-95FF-7A6325D48472}" type="presOf" srcId="{FF955342-40C2-4836-B365-927597C52AF5}" destId="{2D02F389-DC01-440B-9C9D-EE548B33D6BF}" srcOrd="0" destOrd="0" presId="urn:microsoft.com/office/officeart/2005/8/layout/cycle2"/>
    <dgm:cxn modelId="{C50DE9C0-E5E7-4B8D-9EC0-D258628A26C8}" type="presOf" srcId="{A86431F5-6C79-42DC-B617-C7322A25ED85}" destId="{4C8768F6-4BE8-42DB-860C-8D048123CEEF}" srcOrd="1" destOrd="0" presId="urn:microsoft.com/office/officeart/2005/8/layout/cycle2"/>
    <dgm:cxn modelId="{85B299C1-BB64-4747-B52D-2BABF7D14522}" type="presOf" srcId="{E58486F6-59AD-4181-8E06-7546C8986F1C}" destId="{B1985E6C-433A-45CB-B581-34583BA7B896}" srcOrd="0" destOrd="0" presId="urn:microsoft.com/office/officeart/2005/8/layout/cycle2"/>
    <dgm:cxn modelId="{75545B11-EA03-44F2-AA7F-A9B0269F2167}" type="presOf" srcId="{3ABF5D54-169F-4F66-A121-252B172CB859}" destId="{132D775C-3499-4EF5-945A-23BCDBA32FB1}" srcOrd="1" destOrd="0" presId="urn:microsoft.com/office/officeart/2005/8/layout/cycle2"/>
    <dgm:cxn modelId="{38F898C9-D867-4912-99C9-298410282078}" srcId="{E58486F6-59AD-4181-8E06-7546C8986F1C}" destId="{791F5389-BF44-4A08-B88C-2D25BF66CA60}" srcOrd="4" destOrd="0" parTransId="{BA8B7C1C-7EE0-4852-86D9-EEFD6E2980E6}" sibTransId="{3ABF5D54-169F-4F66-A121-252B172CB859}"/>
    <dgm:cxn modelId="{8F1CC10B-E557-42BA-A713-BF7612EA55E5}" srcId="{E58486F6-59AD-4181-8E06-7546C8986F1C}" destId="{41BCDB94-F20A-4ED3-824A-547D51F44284}" srcOrd="3" destOrd="0" parTransId="{C17BD189-0FE3-4DD7-B2FF-B494B5A3BB5C}" sibTransId="{E417B144-B9B3-47D6-922B-21B182DF9862}"/>
    <dgm:cxn modelId="{5C88B70C-3E70-4773-BB15-30A5F794D426}" type="presOf" srcId="{FF955342-40C2-4836-B365-927597C52AF5}" destId="{9B6113B1-4B88-4E94-B299-7D7C708EA354}" srcOrd="1" destOrd="0" presId="urn:microsoft.com/office/officeart/2005/8/layout/cycle2"/>
    <dgm:cxn modelId="{07C3CE30-19EA-4AB1-9E52-47CCD1B6902B}" srcId="{E58486F6-59AD-4181-8E06-7546C8986F1C}" destId="{1211D064-C0B5-4E15-949D-CB4A0D85EB5C}" srcOrd="0" destOrd="0" parTransId="{4FB7BE69-B5B4-4351-8322-29944CCE6FC1}" sibTransId="{9E3A746B-8989-44EC-82AF-A5ED74562FAB}"/>
    <dgm:cxn modelId="{27334D1A-155D-4DD3-8ECF-9E1E3982F900}" type="presOf" srcId="{A86431F5-6C79-42DC-B617-C7322A25ED85}" destId="{304603DB-89D1-45D3-8522-B059B9889604}" srcOrd="0" destOrd="0" presId="urn:microsoft.com/office/officeart/2005/8/layout/cycle2"/>
    <dgm:cxn modelId="{19F4CB54-9E51-4B6E-9470-C7C783B02A48}" type="presOf" srcId="{8D252CBA-F129-4675-AD19-16F1A091B7B0}" destId="{C75EB711-83F2-4B23-94C5-644348736863}" srcOrd="0" destOrd="0" presId="urn:microsoft.com/office/officeart/2005/8/layout/cycle2"/>
    <dgm:cxn modelId="{D28BFFC5-60D7-46EC-A330-A5FA12F8EEE2}" type="presOf" srcId="{73A96666-F2A1-4520-9E60-9C1DD866C18E}" destId="{7154E4FC-94B4-4078-9BB6-BF8F195DC6E2}" srcOrd="0" destOrd="0" presId="urn:microsoft.com/office/officeart/2005/8/layout/cycle2"/>
    <dgm:cxn modelId="{47E24908-51AF-4732-9AC9-93B0515D471E}" type="presOf" srcId="{AC971814-D37F-4C9B-907D-05463A17C7A7}" destId="{BBC18817-410C-4F3B-8B9F-26BBBBE5FFD0}" srcOrd="0" destOrd="0" presId="urn:microsoft.com/office/officeart/2005/8/layout/cycle2"/>
    <dgm:cxn modelId="{51776CC8-1D23-4283-B7FC-2931D5D58E8D}" type="presOf" srcId="{791F5389-BF44-4A08-B88C-2D25BF66CA60}" destId="{0F866BF2-3E19-4D95-A761-1197F760E019}" srcOrd="0" destOrd="0" presId="urn:microsoft.com/office/officeart/2005/8/layout/cycle2"/>
    <dgm:cxn modelId="{6826D30C-A5D2-4B10-AE31-1CC9F5DBDDA0}" type="presOf" srcId="{E417B144-B9B3-47D6-922B-21B182DF9862}" destId="{28C3E251-3D8A-4E95-B633-FFA6C03ECB24}" srcOrd="0" destOrd="0" presId="urn:microsoft.com/office/officeart/2005/8/layout/cycle2"/>
    <dgm:cxn modelId="{ADD065E1-8D01-4915-AABF-8C145688EB12}" type="presOf" srcId="{95B72E6C-E09F-4C18-9CCB-AECA0F93260E}" destId="{BDA203E9-C426-4C12-85EB-3E6AB8B7422A}" srcOrd="0" destOrd="0" presId="urn:microsoft.com/office/officeart/2005/8/layout/cycle2"/>
    <dgm:cxn modelId="{CF9EB326-68D9-4C7B-97F7-295B246F9F80}" type="presOf" srcId="{9E3A746B-8989-44EC-82AF-A5ED74562FAB}" destId="{748B650F-8950-4FB1-A43C-F09740195562}" srcOrd="1" destOrd="0" presId="urn:microsoft.com/office/officeart/2005/8/layout/cycle2"/>
    <dgm:cxn modelId="{1B4ABC9F-87B4-4A64-B07F-8932F78B0101}" type="presOf" srcId="{9E3A746B-8989-44EC-82AF-A5ED74562FAB}" destId="{EAE51F6E-7343-4CB4-A417-3F245075D1E7}" srcOrd="0" destOrd="0" presId="urn:microsoft.com/office/officeart/2005/8/layout/cycle2"/>
    <dgm:cxn modelId="{F485F5B6-A78D-4BAD-8128-D4A21950202F}" srcId="{E58486F6-59AD-4181-8E06-7546C8986F1C}" destId="{95B72E6C-E09F-4C18-9CCB-AECA0F93260E}" srcOrd="2" destOrd="0" parTransId="{E5DBFCB2-8A60-423D-B506-D6EB8C4AB1D4}" sibTransId="{FF955342-40C2-4836-B365-927597C52AF5}"/>
    <dgm:cxn modelId="{E3C38E44-01C0-4CC8-BF44-02646553469C}" type="presOf" srcId="{E417B144-B9B3-47D6-922B-21B182DF9862}" destId="{F72254D7-1D1F-40D2-ACB1-E7CD52864E8D}" srcOrd="1" destOrd="0" presId="urn:microsoft.com/office/officeart/2005/8/layout/cycle2"/>
    <dgm:cxn modelId="{C1BAACC2-70C2-499D-B4A6-6A356600C7D3}" type="presOf" srcId="{41BCDB94-F20A-4ED3-824A-547D51F44284}" destId="{386B4AD5-B231-412D-8953-6E9D6B6C2F75}" srcOrd="0" destOrd="0" presId="urn:microsoft.com/office/officeart/2005/8/layout/cycle2"/>
    <dgm:cxn modelId="{986C1537-0061-4B93-8D85-8D9ADD21E11C}" type="presParOf" srcId="{B1985E6C-433A-45CB-B581-34583BA7B896}" destId="{01711254-2627-4E07-957B-49E3DDC2FB14}" srcOrd="0" destOrd="0" presId="urn:microsoft.com/office/officeart/2005/8/layout/cycle2"/>
    <dgm:cxn modelId="{F4FB714C-4D62-48B8-949F-5B7D583C9013}" type="presParOf" srcId="{B1985E6C-433A-45CB-B581-34583BA7B896}" destId="{EAE51F6E-7343-4CB4-A417-3F245075D1E7}" srcOrd="1" destOrd="0" presId="urn:microsoft.com/office/officeart/2005/8/layout/cycle2"/>
    <dgm:cxn modelId="{D1AED37B-BF75-4F52-B142-0A33B564E1BB}" type="presParOf" srcId="{EAE51F6E-7343-4CB4-A417-3F245075D1E7}" destId="{748B650F-8950-4FB1-A43C-F09740195562}" srcOrd="0" destOrd="0" presId="urn:microsoft.com/office/officeart/2005/8/layout/cycle2"/>
    <dgm:cxn modelId="{28F4E14E-BB06-42A4-93A1-BEDEC584664F}" type="presParOf" srcId="{B1985E6C-433A-45CB-B581-34583BA7B896}" destId="{7154E4FC-94B4-4078-9BB6-BF8F195DC6E2}" srcOrd="2" destOrd="0" presId="urn:microsoft.com/office/officeart/2005/8/layout/cycle2"/>
    <dgm:cxn modelId="{479E1A69-C799-4638-9AD7-C56DE3454193}" type="presParOf" srcId="{B1985E6C-433A-45CB-B581-34583BA7B896}" destId="{C75EB711-83F2-4B23-94C5-644348736863}" srcOrd="3" destOrd="0" presId="urn:microsoft.com/office/officeart/2005/8/layout/cycle2"/>
    <dgm:cxn modelId="{87748CA2-4563-466D-851A-11DF6885A407}" type="presParOf" srcId="{C75EB711-83F2-4B23-94C5-644348736863}" destId="{16502125-1765-4584-93B0-4A5EE91F72BF}" srcOrd="0" destOrd="0" presId="urn:microsoft.com/office/officeart/2005/8/layout/cycle2"/>
    <dgm:cxn modelId="{F137ED7B-BDD0-4F68-93CE-C4EA86465E35}" type="presParOf" srcId="{B1985E6C-433A-45CB-B581-34583BA7B896}" destId="{BDA203E9-C426-4C12-85EB-3E6AB8B7422A}" srcOrd="4" destOrd="0" presId="urn:microsoft.com/office/officeart/2005/8/layout/cycle2"/>
    <dgm:cxn modelId="{5B5852FF-4B68-485A-B7B7-9D3403350D8B}" type="presParOf" srcId="{B1985E6C-433A-45CB-B581-34583BA7B896}" destId="{2D02F389-DC01-440B-9C9D-EE548B33D6BF}" srcOrd="5" destOrd="0" presId="urn:microsoft.com/office/officeart/2005/8/layout/cycle2"/>
    <dgm:cxn modelId="{E3032C31-9E6E-4050-B8C4-030DAE72F80A}" type="presParOf" srcId="{2D02F389-DC01-440B-9C9D-EE548B33D6BF}" destId="{9B6113B1-4B88-4E94-B299-7D7C708EA354}" srcOrd="0" destOrd="0" presId="urn:microsoft.com/office/officeart/2005/8/layout/cycle2"/>
    <dgm:cxn modelId="{B09F7A2C-84F6-4D19-95C8-AF5545FF81D1}" type="presParOf" srcId="{B1985E6C-433A-45CB-B581-34583BA7B896}" destId="{386B4AD5-B231-412D-8953-6E9D6B6C2F75}" srcOrd="6" destOrd="0" presId="urn:microsoft.com/office/officeart/2005/8/layout/cycle2"/>
    <dgm:cxn modelId="{AA7DB141-37B2-4937-8211-1FB4B7E6809C}" type="presParOf" srcId="{B1985E6C-433A-45CB-B581-34583BA7B896}" destId="{28C3E251-3D8A-4E95-B633-FFA6C03ECB24}" srcOrd="7" destOrd="0" presId="urn:microsoft.com/office/officeart/2005/8/layout/cycle2"/>
    <dgm:cxn modelId="{0B99F4BA-0B86-4DE3-B5A0-19054F5F7F84}" type="presParOf" srcId="{28C3E251-3D8A-4E95-B633-FFA6C03ECB24}" destId="{F72254D7-1D1F-40D2-ACB1-E7CD52864E8D}" srcOrd="0" destOrd="0" presId="urn:microsoft.com/office/officeart/2005/8/layout/cycle2"/>
    <dgm:cxn modelId="{8912FB2C-C1F8-40EA-A917-ADB27666D257}" type="presParOf" srcId="{B1985E6C-433A-45CB-B581-34583BA7B896}" destId="{0F866BF2-3E19-4D95-A761-1197F760E019}" srcOrd="8" destOrd="0" presId="urn:microsoft.com/office/officeart/2005/8/layout/cycle2"/>
    <dgm:cxn modelId="{DEEEF5F4-92B4-47E1-851A-BB75AA1253BD}" type="presParOf" srcId="{B1985E6C-433A-45CB-B581-34583BA7B896}" destId="{F2646692-617D-4AB4-9DAF-7AF865F2B590}" srcOrd="9" destOrd="0" presId="urn:microsoft.com/office/officeart/2005/8/layout/cycle2"/>
    <dgm:cxn modelId="{C2D51323-1D88-4919-8311-5B33D94EF603}" type="presParOf" srcId="{F2646692-617D-4AB4-9DAF-7AF865F2B590}" destId="{132D775C-3499-4EF5-945A-23BCDBA32FB1}" srcOrd="0" destOrd="0" presId="urn:microsoft.com/office/officeart/2005/8/layout/cycle2"/>
    <dgm:cxn modelId="{708505BF-A0F0-4A49-B852-B340B11263C0}" type="presParOf" srcId="{B1985E6C-433A-45CB-B581-34583BA7B896}" destId="{BBC18817-410C-4F3B-8B9F-26BBBBE5FFD0}" srcOrd="10" destOrd="0" presId="urn:microsoft.com/office/officeart/2005/8/layout/cycle2"/>
    <dgm:cxn modelId="{79E94DEA-6E36-478D-864E-BC8983345BF6}" type="presParOf" srcId="{B1985E6C-433A-45CB-B581-34583BA7B896}" destId="{304603DB-89D1-45D3-8522-B059B9889604}" srcOrd="11" destOrd="0" presId="urn:microsoft.com/office/officeart/2005/8/layout/cycle2"/>
    <dgm:cxn modelId="{B87823F2-80FF-4388-A305-B85E9C4C95E9}" type="presParOf" srcId="{304603DB-89D1-45D3-8522-B059B9889604}" destId="{4C8768F6-4BE8-42DB-860C-8D048123CEEF}"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711254-2627-4E07-957B-49E3DDC2FB14}">
      <dsp:nvSpPr>
        <dsp:cNvPr id="0" name=""/>
        <dsp:cNvSpPr/>
      </dsp:nvSpPr>
      <dsp:spPr>
        <a:xfrm>
          <a:off x="3862854" y="14212"/>
          <a:ext cx="1966500" cy="1770194"/>
        </a:xfrm>
        <a:prstGeom prst="ellips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GB" sz="2400" b="1" kern="1200" dirty="0"/>
            <a:t>Reservoir</a:t>
          </a:r>
        </a:p>
      </dsp:txBody>
      <dsp:txXfrm>
        <a:off x="4150841" y="273451"/>
        <a:ext cx="1390526" cy="1251716"/>
      </dsp:txXfrm>
    </dsp:sp>
    <dsp:sp modelId="{EAE51F6E-7343-4CB4-A417-3F245075D1E7}">
      <dsp:nvSpPr>
        <dsp:cNvPr id="0" name=""/>
        <dsp:cNvSpPr/>
      </dsp:nvSpPr>
      <dsp:spPr>
        <a:xfrm rot="1523446">
          <a:off x="5826081" y="1219986"/>
          <a:ext cx="337387" cy="449051"/>
        </a:xfrm>
        <a:prstGeom prst="rightArrow">
          <a:avLst>
            <a:gd name="adj1" fmla="val 60000"/>
            <a:gd name="adj2" fmla="val 50000"/>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GB" sz="1900" kern="1200"/>
        </a:p>
      </dsp:txBody>
      <dsp:txXfrm>
        <a:off x="5830970" y="1288096"/>
        <a:ext cx="236171" cy="269431"/>
      </dsp:txXfrm>
    </dsp:sp>
    <dsp:sp modelId="{7154E4FC-94B4-4078-9BB6-BF8F195DC6E2}">
      <dsp:nvSpPr>
        <dsp:cNvPr id="0" name=""/>
        <dsp:cNvSpPr/>
      </dsp:nvSpPr>
      <dsp:spPr>
        <a:xfrm>
          <a:off x="6163748" y="1444247"/>
          <a:ext cx="1202660" cy="731761"/>
        </a:xfrm>
        <a:prstGeom prst="ellipse">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GB" sz="1800" kern="1200" dirty="0"/>
            <a:t>Portal of exit</a:t>
          </a:r>
        </a:p>
      </dsp:txBody>
      <dsp:txXfrm>
        <a:off x="6339873" y="1551411"/>
        <a:ext cx="850410" cy="517433"/>
      </dsp:txXfrm>
    </dsp:sp>
    <dsp:sp modelId="{C75EB711-83F2-4B23-94C5-644348736863}">
      <dsp:nvSpPr>
        <dsp:cNvPr id="0" name=""/>
        <dsp:cNvSpPr/>
      </dsp:nvSpPr>
      <dsp:spPr>
        <a:xfrm rot="5529954">
          <a:off x="6464957" y="2441098"/>
          <a:ext cx="535532" cy="449051"/>
        </a:xfrm>
        <a:prstGeom prst="rightArrow">
          <a:avLst>
            <a:gd name="adj1" fmla="val 60000"/>
            <a:gd name="adj2" fmla="val 50000"/>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GB" sz="1900" kern="1200"/>
        </a:p>
      </dsp:txBody>
      <dsp:txXfrm rot="10800000">
        <a:off x="6534860" y="2463599"/>
        <a:ext cx="400817" cy="269431"/>
      </dsp:txXfrm>
    </dsp:sp>
    <dsp:sp modelId="{BDA203E9-C426-4C12-85EB-3E6AB8B7422A}">
      <dsp:nvSpPr>
        <dsp:cNvPr id="0" name=""/>
        <dsp:cNvSpPr/>
      </dsp:nvSpPr>
      <dsp:spPr>
        <a:xfrm>
          <a:off x="5847941" y="3185261"/>
          <a:ext cx="1676393" cy="1424298"/>
        </a:xfrm>
        <a:prstGeom prst="ellipse">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GB" sz="2400" b="1" kern="1200" dirty="0"/>
            <a:t>Agent</a:t>
          </a:r>
        </a:p>
      </dsp:txBody>
      <dsp:txXfrm>
        <a:off x="6093443" y="3393845"/>
        <a:ext cx="1185389" cy="1007130"/>
      </dsp:txXfrm>
    </dsp:sp>
    <dsp:sp modelId="{2D02F389-DC01-440B-9C9D-EE548B33D6BF}">
      <dsp:nvSpPr>
        <dsp:cNvPr id="0" name=""/>
        <dsp:cNvSpPr/>
      </dsp:nvSpPr>
      <dsp:spPr>
        <a:xfrm rot="9196792">
          <a:off x="5337595" y="4231853"/>
          <a:ext cx="476261" cy="449051"/>
        </a:xfrm>
        <a:prstGeom prst="rightArrow">
          <a:avLst>
            <a:gd name="adj1" fmla="val 60000"/>
            <a:gd name="adj2" fmla="val 50000"/>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GB" sz="1900" kern="1200"/>
        </a:p>
      </dsp:txBody>
      <dsp:txXfrm rot="10800000">
        <a:off x="5465117" y="4291377"/>
        <a:ext cx="341546" cy="269431"/>
      </dsp:txXfrm>
    </dsp:sp>
    <dsp:sp modelId="{386B4AD5-B231-412D-8953-6E9D6B6C2F75}">
      <dsp:nvSpPr>
        <dsp:cNvPr id="0" name=""/>
        <dsp:cNvSpPr/>
      </dsp:nvSpPr>
      <dsp:spPr>
        <a:xfrm>
          <a:off x="4145587" y="4479147"/>
          <a:ext cx="1110614" cy="835222"/>
        </a:xfrm>
        <a:prstGeom prst="ellipse">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GB" sz="1800" kern="1200" dirty="0"/>
            <a:t>Portal of entry</a:t>
          </a:r>
        </a:p>
      </dsp:txBody>
      <dsp:txXfrm>
        <a:off x="4308233" y="4601462"/>
        <a:ext cx="785322" cy="590592"/>
      </dsp:txXfrm>
    </dsp:sp>
    <dsp:sp modelId="{28C3E251-3D8A-4E95-B633-FFA6C03ECB24}">
      <dsp:nvSpPr>
        <dsp:cNvPr id="0" name=""/>
        <dsp:cNvSpPr/>
      </dsp:nvSpPr>
      <dsp:spPr>
        <a:xfrm rot="12403208">
          <a:off x="3749003" y="4286761"/>
          <a:ext cx="372273" cy="449051"/>
        </a:xfrm>
        <a:prstGeom prst="rightArrow">
          <a:avLst>
            <a:gd name="adj1" fmla="val 60000"/>
            <a:gd name="adj2" fmla="val 50000"/>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GB" sz="1900" kern="1200"/>
        </a:p>
      </dsp:txBody>
      <dsp:txXfrm rot="10800000">
        <a:off x="3854722" y="4401679"/>
        <a:ext cx="260591" cy="269431"/>
      </dsp:txXfrm>
    </dsp:sp>
    <dsp:sp modelId="{0F866BF2-3E19-4D95-A761-1197F760E019}">
      <dsp:nvSpPr>
        <dsp:cNvPr id="0" name=""/>
        <dsp:cNvSpPr/>
      </dsp:nvSpPr>
      <dsp:spPr>
        <a:xfrm>
          <a:off x="1619665" y="3113207"/>
          <a:ext cx="2191970" cy="1568407"/>
        </a:xfrm>
        <a:prstGeom prst="ellipse">
          <a:avLst/>
        </a:prstGeom>
        <a:solidFill>
          <a:srgbClr val="FF66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GB" sz="2400" b="1" kern="1200" dirty="0"/>
            <a:t>Susceptible host</a:t>
          </a:r>
        </a:p>
      </dsp:txBody>
      <dsp:txXfrm>
        <a:off x="1940672" y="3342895"/>
        <a:ext cx="1549956" cy="1109031"/>
      </dsp:txXfrm>
    </dsp:sp>
    <dsp:sp modelId="{F2646692-617D-4AB4-9DAF-7AF865F2B590}">
      <dsp:nvSpPr>
        <dsp:cNvPr id="0" name=""/>
        <dsp:cNvSpPr/>
      </dsp:nvSpPr>
      <dsp:spPr>
        <a:xfrm rot="15684974">
          <a:off x="2404632" y="2618413"/>
          <a:ext cx="303700" cy="449051"/>
        </a:xfrm>
        <a:prstGeom prst="rightArrow">
          <a:avLst>
            <a:gd name="adj1" fmla="val 60000"/>
            <a:gd name="adj2" fmla="val 50000"/>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GB" sz="1900" kern="1200"/>
        </a:p>
      </dsp:txBody>
      <dsp:txXfrm rot="10800000">
        <a:off x="2456986" y="2753268"/>
        <a:ext cx="212590" cy="269431"/>
      </dsp:txXfrm>
    </dsp:sp>
    <dsp:sp modelId="{BBC18817-410C-4F3B-8B9F-26BBBBE5FFD0}">
      <dsp:nvSpPr>
        <dsp:cNvPr id="0" name=""/>
        <dsp:cNvSpPr/>
      </dsp:nvSpPr>
      <dsp:spPr>
        <a:xfrm>
          <a:off x="1403651" y="1136350"/>
          <a:ext cx="2004619" cy="1418803"/>
        </a:xfrm>
        <a:prstGeom prst="ellipse">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GB" sz="1800" kern="1200" dirty="0"/>
            <a:t>Person-to-person transmission</a:t>
          </a:r>
        </a:p>
      </dsp:txBody>
      <dsp:txXfrm>
        <a:off x="1697221" y="1344129"/>
        <a:ext cx="1417479" cy="1003245"/>
      </dsp:txXfrm>
    </dsp:sp>
    <dsp:sp modelId="{304603DB-89D1-45D3-8522-B059B9889604}">
      <dsp:nvSpPr>
        <dsp:cNvPr id="0" name=""/>
        <dsp:cNvSpPr/>
      </dsp:nvSpPr>
      <dsp:spPr>
        <a:xfrm rot="20328033">
          <a:off x="3417076" y="1156492"/>
          <a:ext cx="374150" cy="449051"/>
        </a:xfrm>
        <a:prstGeom prst="rightArrow">
          <a:avLst>
            <a:gd name="adj1" fmla="val 60000"/>
            <a:gd name="adj2" fmla="val 50000"/>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a:lnSpc>
              <a:spcPct val="90000"/>
            </a:lnSpc>
            <a:spcBef>
              <a:spcPct val="0"/>
            </a:spcBef>
            <a:spcAft>
              <a:spcPct val="35000"/>
            </a:spcAft>
          </a:pPr>
          <a:endParaRPr lang="en-GB" sz="1900" kern="1200"/>
        </a:p>
      </dsp:txBody>
      <dsp:txXfrm>
        <a:off x="3420874" y="1266597"/>
        <a:ext cx="261905" cy="269431"/>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B3C88-F7D1-4694-AA4B-84C039C0091C}" type="datetimeFigureOut">
              <a:rPr lang="en-KE" smtClean="0"/>
              <a:t>10/25/2024</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BA9B6B-FA66-46E5-93B0-3E1FD051B0AC}" type="slidenum">
              <a:rPr lang="en-KE" smtClean="0"/>
              <a:t>‹#›</a:t>
            </a:fld>
            <a:endParaRPr lang="en-KE"/>
          </a:p>
        </p:txBody>
      </p:sp>
    </p:spTree>
    <p:extLst>
      <p:ext uri="{BB962C8B-B14F-4D97-AF65-F5344CB8AC3E}">
        <p14:creationId xmlns:p14="http://schemas.microsoft.com/office/powerpoint/2010/main" val="4213424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50862A-CBA4-4615-94D8-E5B6AA1B4C5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52886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r>
              <a:rPr lang="en-US">
                <a:solidFill>
                  <a:prstClr val="black">
                    <a:tint val="75000"/>
                  </a:prstClr>
                </a:solidFill>
              </a:rPr>
              <a:t>02/02/2021</a:t>
            </a:r>
            <a:endParaRPr lang="en-GB">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GB">
                <a:solidFill>
                  <a:prstClr val="black">
                    <a:tint val="75000"/>
                  </a:prstClr>
                </a:solidFill>
              </a:rPr>
              <a:t>Dr. E. Mwaniki</a:t>
            </a:r>
          </a:p>
        </p:txBody>
      </p:sp>
      <p:sp>
        <p:nvSpPr>
          <p:cNvPr id="6" name="Slide Number Placeholder 5"/>
          <p:cNvSpPr>
            <a:spLocks noGrp="1"/>
          </p:cNvSpPr>
          <p:nvPr>
            <p:ph type="sldNum" sz="quarter" idx="12"/>
          </p:nvPr>
        </p:nvSpPr>
        <p:spPr/>
        <p:txBody>
          <a:bodyPr/>
          <a:lstStyle>
            <a:lvl1pPr>
              <a:defRPr/>
            </a:lvl1pPr>
          </a:lstStyle>
          <a:p>
            <a:pPr>
              <a:defRPr/>
            </a:pPr>
            <a:fld id="{6485B399-7F3E-4024-80F3-F9E96263A334}" type="slidenum">
              <a:rPr lang="en-GB">
                <a:solidFill>
                  <a:prstClr val="black">
                    <a:tint val="75000"/>
                  </a:prstClr>
                </a:solidFill>
              </a:rPr>
              <a:pPr>
                <a:defRPr/>
              </a:pPr>
              <a:t>‹#›</a:t>
            </a:fld>
            <a:endParaRPr lang="en-GB">
              <a:solidFill>
                <a:prstClr val="black">
                  <a:tint val="75000"/>
                </a:prstClr>
              </a:solidFill>
            </a:endParaRPr>
          </a:p>
        </p:txBody>
      </p:sp>
    </p:spTree>
    <p:extLst>
      <p:ext uri="{BB962C8B-B14F-4D97-AF65-F5344CB8AC3E}">
        <p14:creationId xmlns:p14="http://schemas.microsoft.com/office/powerpoint/2010/main" val="2524506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r>
              <a:rPr lang="en-US">
                <a:solidFill>
                  <a:prstClr val="black">
                    <a:tint val="75000"/>
                  </a:prstClr>
                </a:solidFill>
              </a:rPr>
              <a:t>02/02/2021</a:t>
            </a:r>
            <a:endParaRPr lang="en-GB">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GB">
                <a:solidFill>
                  <a:prstClr val="black">
                    <a:tint val="75000"/>
                  </a:prstClr>
                </a:solidFill>
              </a:rPr>
              <a:t>Dr. E. Mwaniki</a:t>
            </a:r>
          </a:p>
        </p:txBody>
      </p:sp>
      <p:sp>
        <p:nvSpPr>
          <p:cNvPr id="6" name="Slide Number Placeholder 5"/>
          <p:cNvSpPr>
            <a:spLocks noGrp="1"/>
          </p:cNvSpPr>
          <p:nvPr>
            <p:ph type="sldNum" sz="quarter" idx="12"/>
          </p:nvPr>
        </p:nvSpPr>
        <p:spPr/>
        <p:txBody>
          <a:bodyPr/>
          <a:lstStyle>
            <a:lvl1pPr>
              <a:defRPr/>
            </a:lvl1pPr>
          </a:lstStyle>
          <a:p>
            <a:pPr>
              <a:defRPr/>
            </a:pPr>
            <a:fld id="{025D53A5-7841-4BAF-8863-4208A706F4CA}" type="slidenum">
              <a:rPr lang="en-GB">
                <a:solidFill>
                  <a:prstClr val="black">
                    <a:tint val="75000"/>
                  </a:prstClr>
                </a:solidFill>
              </a:rPr>
              <a:pPr>
                <a:defRPr/>
              </a:pPr>
              <a:t>‹#›</a:t>
            </a:fld>
            <a:endParaRPr lang="en-GB">
              <a:solidFill>
                <a:prstClr val="black">
                  <a:tint val="75000"/>
                </a:prstClr>
              </a:solidFill>
            </a:endParaRPr>
          </a:p>
        </p:txBody>
      </p:sp>
    </p:spTree>
    <p:extLst>
      <p:ext uri="{BB962C8B-B14F-4D97-AF65-F5344CB8AC3E}">
        <p14:creationId xmlns:p14="http://schemas.microsoft.com/office/powerpoint/2010/main" val="921906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solidFill>
                  <a:prstClr val="black">
                    <a:tint val="75000"/>
                  </a:prstClr>
                </a:solidFill>
              </a:rPr>
              <a:t>02/02/2021</a:t>
            </a:r>
            <a:endParaRPr lang="en-GB">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GB">
                <a:solidFill>
                  <a:prstClr val="black">
                    <a:tint val="75000"/>
                  </a:prstClr>
                </a:solidFill>
              </a:rPr>
              <a:t>Dr. E. Mwaniki</a:t>
            </a:r>
          </a:p>
        </p:txBody>
      </p:sp>
      <p:sp>
        <p:nvSpPr>
          <p:cNvPr id="6" name="Slide Number Placeholder 5"/>
          <p:cNvSpPr>
            <a:spLocks noGrp="1"/>
          </p:cNvSpPr>
          <p:nvPr>
            <p:ph type="sldNum" sz="quarter" idx="12"/>
          </p:nvPr>
        </p:nvSpPr>
        <p:spPr/>
        <p:txBody>
          <a:bodyPr/>
          <a:lstStyle>
            <a:lvl1pPr>
              <a:defRPr/>
            </a:lvl1pPr>
          </a:lstStyle>
          <a:p>
            <a:pPr>
              <a:defRPr/>
            </a:pPr>
            <a:fld id="{A80CDEB2-FDBD-4728-84D0-1298C9C2DA05}" type="slidenum">
              <a:rPr lang="en-GB">
                <a:solidFill>
                  <a:prstClr val="black">
                    <a:tint val="75000"/>
                  </a:prstClr>
                </a:solidFill>
              </a:rPr>
              <a:pPr>
                <a:defRPr/>
              </a:pPr>
              <a:t>‹#›</a:t>
            </a:fld>
            <a:endParaRPr lang="en-GB">
              <a:solidFill>
                <a:prstClr val="black">
                  <a:tint val="75000"/>
                </a:prstClr>
              </a:solidFill>
            </a:endParaRPr>
          </a:p>
        </p:txBody>
      </p:sp>
    </p:spTree>
    <p:extLst>
      <p:ext uri="{BB962C8B-B14F-4D97-AF65-F5344CB8AC3E}">
        <p14:creationId xmlns:p14="http://schemas.microsoft.com/office/powerpoint/2010/main" val="2544813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r>
              <a:rPr lang="en-US">
                <a:solidFill>
                  <a:prstClr val="black">
                    <a:tint val="75000"/>
                  </a:prstClr>
                </a:solidFill>
              </a:rPr>
              <a:t>02/02/2021</a:t>
            </a:r>
            <a:endParaRPr lang="en-GB">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GB">
                <a:solidFill>
                  <a:prstClr val="black">
                    <a:tint val="75000"/>
                  </a:prstClr>
                </a:solidFill>
              </a:rPr>
              <a:t>Dr. E. Mwaniki</a:t>
            </a:r>
          </a:p>
        </p:txBody>
      </p:sp>
      <p:sp>
        <p:nvSpPr>
          <p:cNvPr id="7" name="Slide Number Placeholder 5"/>
          <p:cNvSpPr>
            <a:spLocks noGrp="1"/>
          </p:cNvSpPr>
          <p:nvPr>
            <p:ph type="sldNum" sz="quarter" idx="12"/>
          </p:nvPr>
        </p:nvSpPr>
        <p:spPr/>
        <p:txBody>
          <a:bodyPr/>
          <a:lstStyle>
            <a:lvl1pPr>
              <a:defRPr/>
            </a:lvl1pPr>
          </a:lstStyle>
          <a:p>
            <a:pPr>
              <a:defRPr/>
            </a:pPr>
            <a:fld id="{749255B5-A964-424D-A056-F40B4AABB6AD}" type="slidenum">
              <a:rPr lang="en-GB">
                <a:solidFill>
                  <a:prstClr val="black">
                    <a:tint val="75000"/>
                  </a:prstClr>
                </a:solidFill>
              </a:rPr>
              <a:pPr>
                <a:defRPr/>
              </a:pPr>
              <a:t>‹#›</a:t>
            </a:fld>
            <a:endParaRPr lang="en-GB">
              <a:solidFill>
                <a:prstClr val="black">
                  <a:tint val="75000"/>
                </a:prstClr>
              </a:solidFill>
            </a:endParaRPr>
          </a:p>
        </p:txBody>
      </p:sp>
    </p:spTree>
    <p:extLst>
      <p:ext uri="{BB962C8B-B14F-4D97-AF65-F5344CB8AC3E}">
        <p14:creationId xmlns:p14="http://schemas.microsoft.com/office/powerpoint/2010/main" val="3026425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p:cNvSpPr>
            <a:spLocks noGrp="1"/>
          </p:cNvSpPr>
          <p:nvPr>
            <p:ph type="dt" sz="half" idx="10"/>
          </p:nvPr>
        </p:nvSpPr>
        <p:spPr/>
        <p:txBody>
          <a:bodyPr/>
          <a:lstStyle>
            <a:lvl1pPr>
              <a:defRPr/>
            </a:lvl1pPr>
          </a:lstStyle>
          <a:p>
            <a:pPr>
              <a:defRPr/>
            </a:pPr>
            <a:r>
              <a:rPr lang="en-US">
                <a:solidFill>
                  <a:prstClr val="black">
                    <a:tint val="75000"/>
                  </a:prstClr>
                </a:solidFill>
              </a:rPr>
              <a:t>02/02/2021</a:t>
            </a:r>
            <a:endParaRPr lang="en-GB">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r>
              <a:rPr lang="en-GB">
                <a:solidFill>
                  <a:prstClr val="black">
                    <a:tint val="75000"/>
                  </a:prstClr>
                </a:solidFill>
              </a:rPr>
              <a:t>Dr. E. Mwaniki</a:t>
            </a:r>
          </a:p>
        </p:txBody>
      </p:sp>
      <p:sp>
        <p:nvSpPr>
          <p:cNvPr id="9" name="Slide Number Placeholder 5"/>
          <p:cNvSpPr>
            <a:spLocks noGrp="1"/>
          </p:cNvSpPr>
          <p:nvPr>
            <p:ph type="sldNum" sz="quarter" idx="12"/>
          </p:nvPr>
        </p:nvSpPr>
        <p:spPr/>
        <p:txBody>
          <a:bodyPr/>
          <a:lstStyle>
            <a:lvl1pPr>
              <a:defRPr/>
            </a:lvl1pPr>
          </a:lstStyle>
          <a:p>
            <a:pPr>
              <a:defRPr/>
            </a:pPr>
            <a:fld id="{106F1493-D7DC-462B-AD36-9CE28AC9DDB0}" type="slidenum">
              <a:rPr lang="en-GB">
                <a:solidFill>
                  <a:prstClr val="black">
                    <a:tint val="75000"/>
                  </a:prstClr>
                </a:solidFill>
              </a:rPr>
              <a:pPr>
                <a:defRPr/>
              </a:pPr>
              <a:t>‹#›</a:t>
            </a:fld>
            <a:endParaRPr lang="en-GB">
              <a:solidFill>
                <a:prstClr val="black">
                  <a:tint val="75000"/>
                </a:prstClr>
              </a:solidFill>
            </a:endParaRPr>
          </a:p>
        </p:txBody>
      </p:sp>
    </p:spTree>
    <p:extLst>
      <p:ext uri="{BB962C8B-B14F-4D97-AF65-F5344CB8AC3E}">
        <p14:creationId xmlns:p14="http://schemas.microsoft.com/office/powerpoint/2010/main" val="498149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r>
              <a:rPr lang="en-US">
                <a:solidFill>
                  <a:prstClr val="black">
                    <a:tint val="75000"/>
                  </a:prstClr>
                </a:solidFill>
              </a:rPr>
              <a:t>02/02/2021</a:t>
            </a:r>
            <a:endParaRPr lang="en-GB">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GB">
                <a:solidFill>
                  <a:prstClr val="black">
                    <a:tint val="75000"/>
                  </a:prstClr>
                </a:solidFill>
              </a:rPr>
              <a:t>Dr. E. Mwaniki</a:t>
            </a:r>
          </a:p>
        </p:txBody>
      </p:sp>
      <p:sp>
        <p:nvSpPr>
          <p:cNvPr id="5" name="Slide Number Placeholder 5"/>
          <p:cNvSpPr>
            <a:spLocks noGrp="1"/>
          </p:cNvSpPr>
          <p:nvPr>
            <p:ph type="sldNum" sz="quarter" idx="12"/>
          </p:nvPr>
        </p:nvSpPr>
        <p:spPr/>
        <p:txBody>
          <a:bodyPr/>
          <a:lstStyle>
            <a:lvl1pPr>
              <a:defRPr/>
            </a:lvl1pPr>
          </a:lstStyle>
          <a:p>
            <a:pPr>
              <a:defRPr/>
            </a:pPr>
            <a:fld id="{F399E199-255D-43D9-9AF5-857057BE0A70}" type="slidenum">
              <a:rPr lang="en-GB">
                <a:solidFill>
                  <a:prstClr val="black">
                    <a:tint val="75000"/>
                  </a:prstClr>
                </a:solidFill>
              </a:rPr>
              <a:pPr>
                <a:defRPr/>
              </a:pPr>
              <a:t>‹#›</a:t>
            </a:fld>
            <a:endParaRPr lang="en-GB">
              <a:solidFill>
                <a:prstClr val="black">
                  <a:tint val="75000"/>
                </a:prstClr>
              </a:solidFill>
            </a:endParaRPr>
          </a:p>
        </p:txBody>
      </p:sp>
    </p:spTree>
    <p:extLst>
      <p:ext uri="{BB962C8B-B14F-4D97-AF65-F5344CB8AC3E}">
        <p14:creationId xmlns:p14="http://schemas.microsoft.com/office/powerpoint/2010/main" val="589687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a:solidFill>
                  <a:prstClr val="black">
                    <a:tint val="75000"/>
                  </a:prstClr>
                </a:solidFill>
              </a:rPr>
              <a:t>02/02/2021</a:t>
            </a:r>
            <a:endParaRPr lang="en-GB">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r>
              <a:rPr lang="en-GB">
                <a:solidFill>
                  <a:prstClr val="black">
                    <a:tint val="75000"/>
                  </a:prstClr>
                </a:solidFill>
              </a:rPr>
              <a:t>Dr. E. Mwaniki</a:t>
            </a:r>
          </a:p>
        </p:txBody>
      </p:sp>
      <p:sp>
        <p:nvSpPr>
          <p:cNvPr id="4" name="Slide Number Placeholder 5"/>
          <p:cNvSpPr>
            <a:spLocks noGrp="1"/>
          </p:cNvSpPr>
          <p:nvPr>
            <p:ph type="sldNum" sz="quarter" idx="12"/>
          </p:nvPr>
        </p:nvSpPr>
        <p:spPr/>
        <p:txBody>
          <a:bodyPr/>
          <a:lstStyle>
            <a:lvl1pPr>
              <a:defRPr/>
            </a:lvl1pPr>
          </a:lstStyle>
          <a:p>
            <a:pPr>
              <a:defRPr/>
            </a:pPr>
            <a:fld id="{FA37FD64-AD1A-4AD4-8689-AA64B4B03741}" type="slidenum">
              <a:rPr lang="en-GB">
                <a:solidFill>
                  <a:prstClr val="black">
                    <a:tint val="75000"/>
                  </a:prstClr>
                </a:solidFill>
              </a:rPr>
              <a:pPr>
                <a:defRPr/>
              </a:pPr>
              <a:t>‹#›</a:t>
            </a:fld>
            <a:endParaRPr lang="en-GB">
              <a:solidFill>
                <a:prstClr val="black">
                  <a:tint val="75000"/>
                </a:prstClr>
              </a:solidFill>
            </a:endParaRPr>
          </a:p>
        </p:txBody>
      </p:sp>
    </p:spTree>
    <p:extLst>
      <p:ext uri="{BB962C8B-B14F-4D97-AF65-F5344CB8AC3E}">
        <p14:creationId xmlns:p14="http://schemas.microsoft.com/office/powerpoint/2010/main" val="3059973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solidFill>
                  <a:prstClr val="black">
                    <a:tint val="75000"/>
                  </a:prstClr>
                </a:solidFill>
              </a:rPr>
              <a:t>02/02/2021</a:t>
            </a:r>
            <a:endParaRPr lang="en-GB">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GB">
                <a:solidFill>
                  <a:prstClr val="black">
                    <a:tint val="75000"/>
                  </a:prstClr>
                </a:solidFill>
              </a:rPr>
              <a:t>Dr. E. Mwaniki</a:t>
            </a:r>
          </a:p>
        </p:txBody>
      </p:sp>
      <p:sp>
        <p:nvSpPr>
          <p:cNvPr id="7" name="Slide Number Placeholder 5"/>
          <p:cNvSpPr>
            <a:spLocks noGrp="1"/>
          </p:cNvSpPr>
          <p:nvPr>
            <p:ph type="sldNum" sz="quarter" idx="12"/>
          </p:nvPr>
        </p:nvSpPr>
        <p:spPr/>
        <p:txBody>
          <a:bodyPr/>
          <a:lstStyle>
            <a:lvl1pPr>
              <a:defRPr/>
            </a:lvl1pPr>
          </a:lstStyle>
          <a:p>
            <a:pPr>
              <a:defRPr/>
            </a:pPr>
            <a:fld id="{42A5352E-F66C-4711-82BC-D6588534E283}" type="slidenum">
              <a:rPr lang="en-GB">
                <a:solidFill>
                  <a:prstClr val="black">
                    <a:tint val="75000"/>
                  </a:prstClr>
                </a:solidFill>
              </a:rPr>
              <a:pPr>
                <a:defRPr/>
              </a:pPr>
              <a:t>‹#›</a:t>
            </a:fld>
            <a:endParaRPr lang="en-GB">
              <a:solidFill>
                <a:prstClr val="black">
                  <a:tint val="75000"/>
                </a:prstClr>
              </a:solidFill>
            </a:endParaRPr>
          </a:p>
        </p:txBody>
      </p:sp>
    </p:spTree>
    <p:extLst>
      <p:ext uri="{BB962C8B-B14F-4D97-AF65-F5344CB8AC3E}">
        <p14:creationId xmlns:p14="http://schemas.microsoft.com/office/powerpoint/2010/main" val="2422366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solidFill>
                  <a:prstClr val="black">
                    <a:tint val="75000"/>
                  </a:prstClr>
                </a:solidFill>
              </a:rPr>
              <a:t>02/02/2021</a:t>
            </a:r>
            <a:endParaRPr lang="en-GB">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GB">
                <a:solidFill>
                  <a:prstClr val="black">
                    <a:tint val="75000"/>
                  </a:prstClr>
                </a:solidFill>
              </a:rPr>
              <a:t>Dr. E. Mwaniki</a:t>
            </a:r>
          </a:p>
        </p:txBody>
      </p:sp>
      <p:sp>
        <p:nvSpPr>
          <p:cNvPr id="7" name="Slide Number Placeholder 5"/>
          <p:cNvSpPr>
            <a:spLocks noGrp="1"/>
          </p:cNvSpPr>
          <p:nvPr>
            <p:ph type="sldNum" sz="quarter" idx="12"/>
          </p:nvPr>
        </p:nvSpPr>
        <p:spPr/>
        <p:txBody>
          <a:bodyPr/>
          <a:lstStyle>
            <a:lvl1pPr>
              <a:defRPr/>
            </a:lvl1pPr>
          </a:lstStyle>
          <a:p>
            <a:pPr>
              <a:defRPr/>
            </a:pPr>
            <a:fld id="{41F571D8-D8BA-4FC6-9734-FCC0B617DAA8}" type="slidenum">
              <a:rPr lang="en-GB">
                <a:solidFill>
                  <a:prstClr val="black">
                    <a:tint val="75000"/>
                  </a:prstClr>
                </a:solidFill>
              </a:rPr>
              <a:pPr>
                <a:defRPr/>
              </a:pPr>
              <a:t>‹#›</a:t>
            </a:fld>
            <a:endParaRPr lang="en-GB">
              <a:solidFill>
                <a:prstClr val="black">
                  <a:tint val="75000"/>
                </a:prstClr>
              </a:solidFill>
            </a:endParaRPr>
          </a:p>
        </p:txBody>
      </p:sp>
    </p:spTree>
    <p:extLst>
      <p:ext uri="{BB962C8B-B14F-4D97-AF65-F5344CB8AC3E}">
        <p14:creationId xmlns:p14="http://schemas.microsoft.com/office/powerpoint/2010/main" val="3577709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r>
              <a:rPr lang="en-US">
                <a:solidFill>
                  <a:prstClr val="black">
                    <a:tint val="75000"/>
                  </a:prstClr>
                </a:solidFill>
              </a:rPr>
              <a:t>02/02/2021</a:t>
            </a:r>
            <a:endParaRPr lang="en-GB">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GB">
                <a:solidFill>
                  <a:prstClr val="black">
                    <a:tint val="75000"/>
                  </a:prstClr>
                </a:solidFill>
              </a:rPr>
              <a:t>Dr. E. Mwaniki</a:t>
            </a:r>
          </a:p>
        </p:txBody>
      </p:sp>
      <p:sp>
        <p:nvSpPr>
          <p:cNvPr id="6" name="Slide Number Placeholder 5"/>
          <p:cNvSpPr>
            <a:spLocks noGrp="1"/>
          </p:cNvSpPr>
          <p:nvPr>
            <p:ph type="sldNum" sz="quarter" idx="12"/>
          </p:nvPr>
        </p:nvSpPr>
        <p:spPr/>
        <p:txBody>
          <a:bodyPr/>
          <a:lstStyle>
            <a:lvl1pPr>
              <a:defRPr/>
            </a:lvl1pPr>
          </a:lstStyle>
          <a:p>
            <a:pPr>
              <a:defRPr/>
            </a:pPr>
            <a:fld id="{B914B613-C5FA-4A45-B54D-628674742C7E}" type="slidenum">
              <a:rPr lang="en-GB">
                <a:solidFill>
                  <a:prstClr val="black">
                    <a:tint val="75000"/>
                  </a:prstClr>
                </a:solidFill>
              </a:rPr>
              <a:pPr>
                <a:defRPr/>
              </a:pPr>
              <a:t>‹#›</a:t>
            </a:fld>
            <a:endParaRPr lang="en-GB">
              <a:solidFill>
                <a:prstClr val="black">
                  <a:tint val="75000"/>
                </a:prstClr>
              </a:solidFill>
            </a:endParaRPr>
          </a:p>
        </p:txBody>
      </p:sp>
    </p:spTree>
    <p:extLst>
      <p:ext uri="{BB962C8B-B14F-4D97-AF65-F5344CB8AC3E}">
        <p14:creationId xmlns:p14="http://schemas.microsoft.com/office/powerpoint/2010/main" val="382175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r>
              <a:rPr lang="en-US">
                <a:solidFill>
                  <a:prstClr val="black">
                    <a:tint val="75000"/>
                  </a:prstClr>
                </a:solidFill>
              </a:rPr>
              <a:t>02/02/2021</a:t>
            </a:r>
            <a:endParaRPr lang="en-GB">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GB">
                <a:solidFill>
                  <a:prstClr val="black">
                    <a:tint val="75000"/>
                  </a:prstClr>
                </a:solidFill>
              </a:rPr>
              <a:t>Dr. E. Mwaniki</a:t>
            </a:r>
          </a:p>
        </p:txBody>
      </p:sp>
      <p:sp>
        <p:nvSpPr>
          <p:cNvPr id="6" name="Slide Number Placeholder 5"/>
          <p:cNvSpPr>
            <a:spLocks noGrp="1"/>
          </p:cNvSpPr>
          <p:nvPr>
            <p:ph type="sldNum" sz="quarter" idx="12"/>
          </p:nvPr>
        </p:nvSpPr>
        <p:spPr/>
        <p:txBody>
          <a:bodyPr/>
          <a:lstStyle>
            <a:lvl1pPr>
              <a:defRPr/>
            </a:lvl1pPr>
          </a:lstStyle>
          <a:p>
            <a:pPr>
              <a:defRPr/>
            </a:pPr>
            <a:fld id="{90B37679-CB95-41F3-A3C4-F2C52958E75F}" type="slidenum">
              <a:rPr lang="en-GB">
                <a:solidFill>
                  <a:prstClr val="black">
                    <a:tint val="75000"/>
                  </a:prstClr>
                </a:solidFill>
              </a:rPr>
              <a:pPr>
                <a:defRPr/>
              </a:pPr>
              <a:t>‹#›</a:t>
            </a:fld>
            <a:endParaRPr lang="en-GB">
              <a:solidFill>
                <a:prstClr val="black">
                  <a:tint val="75000"/>
                </a:prstClr>
              </a:solidFill>
            </a:endParaRPr>
          </a:p>
        </p:txBody>
      </p:sp>
    </p:spTree>
    <p:extLst>
      <p:ext uri="{BB962C8B-B14F-4D97-AF65-F5344CB8AC3E}">
        <p14:creationId xmlns:p14="http://schemas.microsoft.com/office/powerpoint/2010/main" val="660976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39185" y="790575"/>
            <a:ext cx="11618383" cy="838200"/>
          </a:xfrm>
        </p:spPr>
        <p:txBody>
          <a:bodyPr/>
          <a:lstStyle/>
          <a:p>
            <a:r>
              <a:rPr lang="en-US"/>
              <a:t>Click to edit Master title style</a:t>
            </a:r>
            <a:endParaRPr lang="en-GB"/>
          </a:p>
        </p:txBody>
      </p:sp>
      <p:sp>
        <p:nvSpPr>
          <p:cNvPr id="3" name="Table Placeholder 2"/>
          <p:cNvSpPr>
            <a:spLocks noGrp="1"/>
          </p:cNvSpPr>
          <p:nvPr>
            <p:ph type="tbl" idx="1"/>
          </p:nvPr>
        </p:nvSpPr>
        <p:spPr>
          <a:xfrm>
            <a:off x="914400" y="1844676"/>
            <a:ext cx="10363200" cy="4752975"/>
          </a:xfrm>
        </p:spPr>
        <p:txBody>
          <a:bodyPr rtlCol="0">
            <a:normAutofit/>
          </a:bodyPr>
          <a:lstStyle/>
          <a:p>
            <a:pPr lvl="0"/>
            <a:endParaRPr lang="en-GB" noProof="0"/>
          </a:p>
        </p:txBody>
      </p:sp>
    </p:spTree>
    <p:extLst>
      <p:ext uri="{BB962C8B-B14F-4D97-AF65-F5344CB8AC3E}">
        <p14:creationId xmlns:p14="http://schemas.microsoft.com/office/powerpoint/2010/main" val="38607717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8DCB59F-3CA4-4354-833D-94EC6CD4EF05}" type="datetimeFigureOut">
              <a:rPr lang="en-US" smtClean="0">
                <a:solidFill>
                  <a:prstClr val="black">
                    <a:tint val="75000"/>
                  </a:prstClr>
                </a:solidFill>
              </a:rPr>
              <a:pPr/>
              <a:t>10/25/2024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8D20E24-F4DF-4CC0-82C0-FA10746B1EA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23982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DCB59F-3CA4-4354-833D-94EC6CD4EF05}" type="datetimeFigureOut">
              <a:rPr lang="en-US" smtClean="0">
                <a:solidFill>
                  <a:prstClr val="black">
                    <a:tint val="75000"/>
                  </a:prstClr>
                </a:solidFill>
              </a:rPr>
              <a:pPr/>
              <a:t>10/25/2024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8D20E24-F4DF-4CC0-82C0-FA10746B1EA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231494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DCB59F-3CA4-4354-833D-94EC6CD4EF05}" type="datetimeFigureOut">
              <a:rPr lang="en-US" smtClean="0">
                <a:solidFill>
                  <a:prstClr val="black">
                    <a:tint val="75000"/>
                  </a:prstClr>
                </a:solidFill>
              </a:rPr>
              <a:pPr/>
              <a:t>10/25/2024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8D20E24-F4DF-4CC0-82C0-FA10746B1EA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29009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8DCB59F-3CA4-4354-833D-94EC6CD4EF05}" type="datetimeFigureOut">
              <a:rPr lang="en-US" smtClean="0">
                <a:solidFill>
                  <a:prstClr val="black">
                    <a:tint val="75000"/>
                  </a:prstClr>
                </a:solidFill>
              </a:rPr>
              <a:pPr/>
              <a:t>10/25/2024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8D20E24-F4DF-4CC0-82C0-FA10746B1EA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74076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DCB59F-3CA4-4354-833D-94EC6CD4EF05}" type="datetimeFigureOut">
              <a:rPr lang="en-US" smtClean="0">
                <a:solidFill>
                  <a:prstClr val="black">
                    <a:tint val="75000"/>
                  </a:prstClr>
                </a:solidFill>
              </a:rPr>
              <a:pPr/>
              <a:t>10/25/2024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8D20E24-F4DF-4CC0-82C0-FA10746B1EA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838563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8DCB59F-3CA4-4354-833D-94EC6CD4EF05}" type="datetimeFigureOut">
              <a:rPr lang="en-US" smtClean="0">
                <a:solidFill>
                  <a:prstClr val="black">
                    <a:tint val="75000"/>
                  </a:prstClr>
                </a:solidFill>
              </a:rPr>
              <a:pPr/>
              <a:t>10/25/2024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8D20E24-F4DF-4CC0-82C0-FA10746B1EA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913424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DCB59F-3CA4-4354-833D-94EC6CD4EF05}" type="datetimeFigureOut">
              <a:rPr lang="en-US" smtClean="0">
                <a:solidFill>
                  <a:prstClr val="black">
                    <a:tint val="75000"/>
                  </a:prstClr>
                </a:solidFill>
              </a:rPr>
              <a:pPr/>
              <a:t>10/25/2024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8D20E24-F4DF-4CC0-82C0-FA10746B1EA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415274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DCB59F-3CA4-4354-833D-94EC6CD4EF05}" type="datetimeFigureOut">
              <a:rPr lang="en-US" smtClean="0">
                <a:solidFill>
                  <a:prstClr val="black">
                    <a:tint val="75000"/>
                  </a:prstClr>
                </a:solidFill>
              </a:rPr>
              <a:pPr/>
              <a:t>10/25/2024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8D20E24-F4DF-4CC0-82C0-FA10746B1EA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723406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DCB59F-3CA4-4354-833D-94EC6CD4EF05}" type="datetimeFigureOut">
              <a:rPr lang="en-US" smtClean="0">
                <a:solidFill>
                  <a:prstClr val="black">
                    <a:tint val="75000"/>
                  </a:prstClr>
                </a:solidFill>
              </a:rPr>
              <a:pPr/>
              <a:t>10/25/2024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8D20E24-F4DF-4CC0-82C0-FA10746B1EA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261798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DCB59F-3CA4-4354-833D-94EC6CD4EF05}" type="datetimeFigureOut">
              <a:rPr lang="en-US" smtClean="0">
                <a:solidFill>
                  <a:prstClr val="black">
                    <a:tint val="75000"/>
                  </a:prstClr>
                </a:solidFill>
              </a:rPr>
              <a:pPr/>
              <a:t>10/25/2024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8D20E24-F4DF-4CC0-82C0-FA10746B1EA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017877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DCB59F-3CA4-4354-833D-94EC6CD4EF05}" type="datetimeFigureOut">
              <a:rPr lang="en-US" smtClean="0">
                <a:solidFill>
                  <a:prstClr val="black">
                    <a:tint val="75000"/>
                  </a:prstClr>
                </a:solidFill>
              </a:rPr>
              <a:pPr/>
              <a:t>10/25/2024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8D20E24-F4DF-4CC0-82C0-FA10746B1EA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252302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451E1202-F662-450C-A8C5-E801359530DB}" type="datetime1">
              <a:rPr lang="en-GB">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lvl1pPr>
              <a:defRPr/>
            </a:lvl1pPr>
          </a:lstStyle>
          <a:p>
            <a:pPr>
              <a:defRPr/>
            </a:pPr>
            <a:fld id="{31E1A081-C28D-46BD-BEAE-B044A076104E}" type="slidenum">
              <a:rPr lang="en-GB">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37388753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C0CF0181-554A-47A6-80EF-76259888DD58}" type="datetime1">
              <a:rPr lang="en-GB">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lvl1pPr>
              <a:defRPr/>
            </a:lvl1pPr>
          </a:lstStyle>
          <a:p>
            <a:pPr>
              <a:defRPr/>
            </a:pPr>
            <a:fld id="{066B77ED-A3C3-4699-8853-9922BCA5375D}" type="slidenum">
              <a:rPr lang="en-GB">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22204160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39593174-941A-4160-AEF0-EA51700874C4}" type="datetime1">
              <a:rPr lang="en-GB">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lvl1pPr>
              <a:defRPr/>
            </a:lvl1pPr>
          </a:lstStyle>
          <a:p>
            <a:pPr>
              <a:defRPr/>
            </a:pPr>
            <a:fld id="{F2DEE00C-448C-46A8-9774-FD91C02E8B26}" type="slidenum">
              <a:rPr lang="en-GB">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31400445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E5DDCDCC-7A41-48E6-8E72-682EFB945303}" type="datetime1">
              <a:rPr lang="en-GB">
                <a:solidFill>
                  <a:prstClr val="white">
                    <a:tint val="75000"/>
                  </a:prstClr>
                </a:solidFill>
              </a:rPr>
              <a:pPr>
                <a:defRPr/>
              </a:pPr>
              <a:t>25/10/2024</a:t>
            </a:fld>
            <a:endParaRPr lang="en-GB">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GB">
                <a:solidFill>
                  <a:prstClr val="white">
                    <a:tint val="75000"/>
                  </a:prstClr>
                </a:solidFill>
              </a:rPr>
              <a:t>Dr. Mwaniki</a:t>
            </a:r>
          </a:p>
        </p:txBody>
      </p:sp>
      <p:sp>
        <p:nvSpPr>
          <p:cNvPr id="7" name="Slide Number Placeholder 5"/>
          <p:cNvSpPr>
            <a:spLocks noGrp="1"/>
          </p:cNvSpPr>
          <p:nvPr>
            <p:ph type="sldNum" sz="quarter" idx="12"/>
          </p:nvPr>
        </p:nvSpPr>
        <p:spPr/>
        <p:txBody>
          <a:bodyPr/>
          <a:lstStyle>
            <a:lvl1pPr>
              <a:defRPr/>
            </a:lvl1pPr>
          </a:lstStyle>
          <a:p>
            <a:pPr>
              <a:defRPr/>
            </a:pPr>
            <a:fld id="{90C66DC5-211F-4034-B995-4AE6648E8DE1}" type="slidenum">
              <a:rPr lang="en-GB">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39451812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p:cNvSpPr>
            <a:spLocks noGrp="1"/>
          </p:cNvSpPr>
          <p:nvPr>
            <p:ph type="dt" sz="half" idx="10"/>
          </p:nvPr>
        </p:nvSpPr>
        <p:spPr/>
        <p:txBody>
          <a:bodyPr/>
          <a:lstStyle>
            <a:lvl1pPr>
              <a:defRPr/>
            </a:lvl1pPr>
          </a:lstStyle>
          <a:p>
            <a:pPr>
              <a:defRPr/>
            </a:pPr>
            <a:fld id="{12C93048-E34C-44F7-9600-A486A9E3062B}" type="datetime1">
              <a:rPr lang="en-GB">
                <a:solidFill>
                  <a:prstClr val="white">
                    <a:tint val="75000"/>
                  </a:prstClr>
                </a:solidFill>
              </a:rPr>
              <a:pPr>
                <a:defRPr/>
              </a:pPr>
              <a:t>25/10/2024</a:t>
            </a:fld>
            <a:endParaRPr lang="en-GB">
              <a:solidFill>
                <a:prstClr val="white">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r>
              <a:rPr lang="en-GB">
                <a:solidFill>
                  <a:prstClr val="white">
                    <a:tint val="75000"/>
                  </a:prstClr>
                </a:solidFill>
              </a:rPr>
              <a:t>Dr. Mwaniki</a:t>
            </a:r>
          </a:p>
        </p:txBody>
      </p:sp>
      <p:sp>
        <p:nvSpPr>
          <p:cNvPr id="9" name="Slide Number Placeholder 5"/>
          <p:cNvSpPr>
            <a:spLocks noGrp="1"/>
          </p:cNvSpPr>
          <p:nvPr>
            <p:ph type="sldNum" sz="quarter" idx="12"/>
          </p:nvPr>
        </p:nvSpPr>
        <p:spPr/>
        <p:txBody>
          <a:bodyPr/>
          <a:lstStyle>
            <a:lvl1pPr>
              <a:defRPr/>
            </a:lvl1pPr>
          </a:lstStyle>
          <a:p>
            <a:pPr>
              <a:defRPr/>
            </a:pPr>
            <a:fld id="{08F0DE50-D91B-464B-8B2A-07CF6205E2B2}" type="slidenum">
              <a:rPr lang="en-GB">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925985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0A347FBC-5E4A-4234-B542-172BA8B7F9FA}" type="datetime1">
              <a:rPr lang="en-GB">
                <a:solidFill>
                  <a:prstClr val="white">
                    <a:tint val="75000"/>
                  </a:prstClr>
                </a:solidFill>
              </a:rPr>
              <a:pPr>
                <a:defRPr/>
              </a:pPr>
              <a:t>25/10/2024</a:t>
            </a:fld>
            <a:endParaRPr lang="en-GB">
              <a:solidFill>
                <a:prstClr val="white">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GB">
                <a:solidFill>
                  <a:prstClr val="white">
                    <a:tint val="75000"/>
                  </a:prstClr>
                </a:solidFill>
              </a:rPr>
              <a:t>Dr. Mwaniki</a:t>
            </a:r>
          </a:p>
        </p:txBody>
      </p:sp>
      <p:sp>
        <p:nvSpPr>
          <p:cNvPr id="5" name="Slide Number Placeholder 5"/>
          <p:cNvSpPr>
            <a:spLocks noGrp="1"/>
          </p:cNvSpPr>
          <p:nvPr>
            <p:ph type="sldNum" sz="quarter" idx="12"/>
          </p:nvPr>
        </p:nvSpPr>
        <p:spPr/>
        <p:txBody>
          <a:bodyPr/>
          <a:lstStyle>
            <a:lvl1pPr>
              <a:defRPr/>
            </a:lvl1pPr>
          </a:lstStyle>
          <a:p>
            <a:pPr>
              <a:defRPr/>
            </a:pPr>
            <a:fld id="{A93A881C-8C91-4425-A0BC-09776EA0C2BD}" type="slidenum">
              <a:rPr lang="en-GB">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10022126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E217895-B5B2-4C8D-A01B-1887F11DB004}" type="datetime1">
              <a:rPr lang="en-GB">
                <a:solidFill>
                  <a:prstClr val="white">
                    <a:tint val="75000"/>
                  </a:prstClr>
                </a:solidFill>
              </a:rPr>
              <a:pPr>
                <a:defRPr/>
              </a:pPr>
              <a:t>25/10/2024</a:t>
            </a:fld>
            <a:endParaRPr lang="en-GB">
              <a:solidFill>
                <a:prstClr val="white">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r>
              <a:rPr lang="en-GB">
                <a:solidFill>
                  <a:prstClr val="white">
                    <a:tint val="75000"/>
                  </a:prstClr>
                </a:solidFill>
              </a:rPr>
              <a:t>Dr. Mwaniki</a:t>
            </a:r>
          </a:p>
        </p:txBody>
      </p:sp>
      <p:sp>
        <p:nvSpPr>
          <p:cNvPr id="4" name="Slide Number Placeholder 5"/>
          <p:cNvSpPr>
            <a:spLocks noGrp="1"/>
          </p:cNvSpPr>
          <p:nvPr>
            <p:ph type="sldNum" sz="quarter" idx="12"/>
          </p:nvPr>
        </p:nvSpPr>
        <p:spPr/>
        <p:txBody>
          <a:bodyPr/>
          <a:lstStyle>
            <a:lvl1pPr>
              <a:defRPr/>
            </a:lvl1pPr>
          </a:lstStyle>
          <a:p>
            <a:pPr>
              <a:defRPr/>
            </a:pPr>
            <a:fld id="{2D8731DF-3FB7-4B10-9134-0598EF23455A}" type="slidenum">
              <a:rPr lang="en-GB">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13671989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F77911A-307B-48C1-8710-4601FD9C2A7D}" type="datetime1">
              <a:rPr lang="en-GB">
                <a:solidFill>
                  <a:prstClr val="white">
                    <a:tint val="75000"/>
                  </a:prstClr>
                </a:solidFill>
              </a:rPr>
              <a:pPr>
                <a:defRPr/>
              </a:pPr>
              <a:t>25/10/2024</a:t>
            </a:fld>
            <a:endParaRPr lang="en-GB">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GB">
                <a:solidFill>
                  <a:prstClr val="white">
                    <a:tint val="75000"/>
                  </a:prstClr>
                </a:solidFill>
              </a:rPr>
              <a:t>Dr. Mwaniki</a:t>
            </a:r>
          </a:p>
        </p:txBody>
      </p:sp>
      <p:sp>
        <p:nvSpPr>
          <p:cNvPr id="7" name="Slide Number Placeholder 5"/>
          <p:cNvSpPr>
            <a:spLocks noGrp="1"/>
          </p:cNvSpPr>
          <p:nvPr>
            <p:ph type="sldNum" sz="quarter" idx="12"/>
          </p:nvPr>
        </p:nvSpPr>
        <p:spPr/>
        <p:txBody>
          <a:bodyPr/>
          <a:lstStyle>
            <a:lvl1pPr>
              <a:defRPr/>
            </a:lvl1pPr>
          </a:lstStyle>
          <a:p>
            <a:pPr>
              <a:defRPr/>
            </a:pPr>
            <a:fld id="{BF8B567C-5674-4470-88F7-34AEBEDCA649}" type="slidenum">
              <a:rPr lang="en-GB">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30390096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9BCF786-685D-48AC-9A09-AB5365FBE11D}" type="datetime1">
              <a:rPr lang="en-GB">
                <a:solidFill>
                  <a:prstClr val="white">
                    <a:tint val="75000"/>
                  </a:prstClr>
                </a:solidFill>
              </a:rPr>
              <a:pPr>
                <a:defRPr/>
              </a:pPr>
              <a:t>25/10/2024</a:t>
            </a:fld>
            <a:endParaRPr lang="en-GB">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GB">
                <a:solidFill>
                  <a:prstClr val="white">
                    <a:tint val="75000"/>
                  </a:prstClr>
                </a:solidFill>
              </a:rPr>
              <a:t>Dr. Mwaniki</a:t>
            </a:r>
          </a:p>
        </p:txBody>
      </p:sp>
      <p:sp>
        <p:nvSpPr>
          <p:cNvPr id="7" name="Slide Number Placeholder 5"/>
          <p:cNvSpPr>
            <a:spLocks noGrp="1"/>
          </p:cNvSpPr>
          <p:nvPr>
            <p:ph type="sldNum" sz="quarter" idx="12"/>
          </p:nvPr>
        </p:nvSpPr>
        <p:spPr/>
        <p:txBody>
          <a:bodyPr/>
          <a:lstStyle>
            <a:lvl1pPr>
              <a:defRPr/>
            </a:lvl1pPr>
          </a:lstStyle>
          <a:p>
            <a:pPr>
              <a:defRPr/>
            </a:pPr>
            <a:fld id="{15F4F304-5515-472D-8C40-90C14FB621CE}" type="slidenum">
              <a:rPr lang="en-GB">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6882701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29688D74-E6D4-4AF5-9BFF-A04FFC6C51EB}" type="datetime1">
              <a:rPr lang="en-GB">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lvl1pPr>
              <a:defRPr/>
            </a:lvl1pPr>
          </a:lstStyle>
          <a:p>
            <a:pPr>
              <a:defRPr/>
            </a:pPr>
            <a:fld id="{6A205B2A-55C5-411B-86CC-EA1DC8003444}" type="slidenum">
              <a:rPr lang="en-GB">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33452704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3F40067E-0C39-49A4-820F-E971BE7ACCC1}" type="datetime1">
              <a:rPr lang="en-GB">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lvl1pPr>
              <a:defRPr/>
            </a:lvl1pPr>
          </a:lstStyle>
          <a:p>
            <a:pPr>
              <a:defRPr/>
            </a:pPr>
            <a:fld id="{7E560FE4-CE2A-4F38-9E0D-1406E18474D4}" type="slidenum">
              <a:rPr lang="en-GB">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23944345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US"/>
              <a:t>Click to edit Master title style</a:t>
            </a:r>
          </a:p>
        </p:txBody>
      </p:sp>
      <p:sp>
        <p:nvSpPr>
          <p:cNvPr id="3" name="Content Placeholder 2"/>
          <p:cNvSpPr>
            <a:spLocks noGrp="1"/>
          </p:cNvSpPr>
          <p:nvPr>
            <p:ph sz="quarter" idx="1"/>
          </p:nvPr>
        </p:nvSpPr>
        <p:spPr>
          <a:xfrm>
            <a:off x="9144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9144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vl1pPr>
          </a:lstStyle>
          <a:p>
            <a:pPr>
              <a:defRPr/>
            </a:pPr>
            <a:fld id="{F384A07E-116E-4B62-8AEE-0B47359477BA}" type="datetime1">
              <a:rPr lang="en-GB">
                <a:solidFill>
                  <a:prstClr val="white">
                    <a:tint val="75000"/>
                  </a:prstClr>
                </a:solidFill>
              </a:rPr>
              <a:pPr>
                <a:defRPr/>
              </a:pPr>
              <a:t>25/10/2024</a:t>
            </a:fld>
            <a:endParaRPr lang="en-US">
              <a:solidFill>
                <a:prstClr val="white">
                  <a:tint val="75000"/>
                </a:prstClr>
              </a:solidFill>
            </a:endParaRPr>
          </a:p>
        </p:txBody>
      </p:sp>
      <p:sp>
        <p:nvSpPr>
          <p:cNvPr id="8" name="Rectangle 5"/>
          <p:cNvSpPr>
            <a:spLocks noGrp="1" noChangeArrowheads="1"/>
          </p:cNvSpPr>
          <p:nvPr>
            <p:ph type="ftr" sz="quarter" idx="11"/>
          </p:nvPr>
        </p:nvSpPr>
        <p:spPr/>
        <p:txBody>
          <a:bodyPr/>
          <a:lstStyle>
            <a:lvl1pPr>
              <a:defRPr/>
            </a:lvl1pPr>
          </a:lstStyle>
          <a:p>
            <a:pPr>
              <a:defRPr/>
            </a:pPr>
            <a:r>
              <a:rPr lang="en-US">
                <a:solidFill>
                  <a:prstClr val="white">
                    <a:tint val="75000"/>
                  </a:prstClr>
                </a:solidFill>
              </a:rPr>
              <a:t>Dr. Mwaniki</a:t>
            </a:r>
          </a:p>
        </p:txBody>
      </p:sp>
      <p:sp>
        <p:nvSpPr>
          <p:cNvPr id="9" name="Rectangle 6"/>
          <p:cNvSpPr>
            <a:spLocks noGrp="1" noChangeArrowheads="1"/>
          </p:cNvSpPr>
          <p:nvPr>
            <p:ph type="sldNum" sz="quarter" idx="12"/>
          </p:nvPr>
        </p:nvSpPr>
        <p:spPr/>
        <p:txBody>
          <a:bodyPr/>
          <a:lstStyle>
            <a:lvl1pPr>
              <a:defRPr/>
            </a:lvl1pPr>
          </a:lstStyle>
          <a:p>
            <a:pPr>
              <a:defRPr/>
            </a:pPr>
            <a:fld id="{8A669D51-7A22-41FE-8DF4-79CFA23633C7}" type="slidenum">
              <a:rPr lang="en-US">
                <a:solidFill>
                  <a:prstClr val="white">
                    <a:tint val="75000"/>
                  </a:prstClr>
                </a:solidFill>
              </a:rPr>
              <a:pPr>
                <a:defRPr/>
              </a:pPr>
              <a:t>‹#›</a:t>
            </a:fld>
            <a:endParaRPr lang="en-US">
              <a:solidFill>
                <a:prstClr val="white">
                  <a:tint val="75000"/>
                </a:prstClr>
              </a:solidFill>
            </a:endParaRPr>
          </a:p>
        </p:txBody>
      </p:sp>
    </p:spTree>
    <p:extLst>
      <p:ext uri="{BB962C8B-B14F-4D97-AF65-F5344CB8AC3E}">
        <p14:creationId xmlns:p14="http://schemas.microsoft.com/office/powerpoint/2010/main" val="14496043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46414-47E1-4843-AEC5-F601662FBC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E"/>
          </a:p>
        </p:txBody>
      </p:sp>
      <p:sp>
        <p:nvSpPr>
          <p:cNvPr id="3" name="Subtitle 2">
            <a:extLst>
              <a:ext uri="{FF2B5EF4-FFF2-40B4-BE49-F238E27FC236}">
                <a16:creationId xmlns:a16="http://schemas.microsoft.com/office/drawing/2014/main" id="{677BC142-86EC-4167-9219-A165A60931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E"/>
          </a:p>
        </p:txBody>
      </p:sp>
      <p:sp>
        <p:nvSpPr>
          <p:cNvPr id="4" name="Date Placeholder 3">
            <a:extLst>
              <a:ext uri="{FF2B5EF4-FFF2-40B4-BE49-F238E27FC236}">
                <a16:creationId xmlns:a16="http://schemas.microsoft.com/office/drawing/2014/main" id="{9850F311-0B6F-4048-9ED5-D061C6B8B759}"/>
              </a:ext>
            </a:extLst>
          </p:cNvPr>
          <p:cNvSpPr>
            <a:spLocks noGrp="1"/>
          </p:cNvSpPr>
          <p:nvPr>
            <p:ph type="dt" sz="half" idx="10"/>
          </p:nvPr>
        </p:nvSpPr>
        <p:spPr/>
        <p:txBody>
          <a:bodyPr/>
          <a:lstStyle/>
          <a:p>
            <a:fld id="{52F848E7-0E42-4170-B5E6-7CC98B6B5F4A}" type="datetimeFigureOut">
              <a:rPr lang="en-KE" smtClean="0"/>
              <a:t>10/25/2024</a:t>
            </a:fld>
            <a:endParaRPr lang="en-KE"/>
          </a:p>
        </p:txBody>
      </p:sp>
      <p:sp>
        <p:nvSpPr>
          <p:cNvPr id="5" name="Footer Placeholder 4">
            <a:extLst>
              <a:ext uri="{FF2B5EF4-FFF2-40B4-BE49-F238E27FC236}">
                <a16:creationId xmlns:a16="http://schemas.microsoft.com/office/drawing/2014/main" id="{B4E567BB-0854-4D49-848B-A934223A95CB}"/>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331343BD-C296-413F-A437-082CCE0AD14E}"/>
              </a:ext>
            </a:extLst>
          </p:cNvPr>
          <p:cNvSpPr>
            <a:spLocks noGrp="1"/>
          </p:cNvSpPr>
          <p:nvPr>
            <p:ph type="sldNum" sz="quarter" idx="12"/>
          </p:nvPr>
        </p:nvSpPr>
        <p:spPr/>
        <p:txBody>
          <a:bodyPr/>
          <a:lstStyle/>
          <a:p>
            <a:fld id="{422EC251-6D9C-41E4-85B2-AE85706C1F14}" type="slidenum">
              <a:rPr lang="en-KE" smtClean="0"/>
              <a:t>‹#›</a:t>
            </a:fld>
            <a:endParaRPr lang="en-KE"/>
          </a:p>
        </p:txBody>
      </p:sp>
    </p:spTree>
    <p:extLst>
      <p:ext uri="{BB962C8B-B14F-4D97-AF65-F5344CB8AC3E}">
        <p14:creationId xmlns:p14="http://schemas.microsoft.com/office/powerpoint/2010/main" val="8986031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17316-AB2E-469E-B04D-70CBF05990D4}"/>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0E40807B-D714-4A8A-96E9-B72EBDF53CF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19ED5BE0-A00A-4907-95BE-9FD33A1FB107}"/>
              </a:ext>
            </a:extLst>
          </p:cNvPr>
          <p:cNvSpPr>
            <a:spLocks noGrp="1"/>
          </p:cNvSpPr>
          <p:nvPr>
            <p:ph type="dt" sz="half" idx="10"/>
          </p:nvPr>
        </p:nvSpPr>
        <p:spPr/>
        <p:txBody>
          <a:bodyPr/>
          <a:lstStyle/>
          <a:p>
            <a:fld id="{52F848E7-0E42-4170-B5E6-7CC98B6B5F4A}" type="datetimeFigureOut">
              <a:rPr lang="en-KE" smtClean="0"/>
              <a:t>10/25/2024</a:t>
            </a:fld>
            <a:endParaRPr lang="en-KE"/>
          </a:p>
        </p:txBody>
      </p:sp>
      <p:sp>
        <p:nvSpPr>
          <p:cNvPr id="5" name="Footer Placeholder 4">
            <a:extLst>
              <a:ext uri="{FF2B5EF4-FFF2-40B4-BE49-F238E27FC236}">
                <a16:creationId xmlns:a16="http://schemas.microsoft.com/office/drawing/2014/main" id="{6E4DE878-D941-4407-9048-DF09FF928E3D}"/>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429DF785-2A45-44DA-BB3E-5F3133492088}"/>
              </a:ext>
            </a:extLst>
          </p:cNvPr>
          <p:cNvSpPr>
            <a:spLocks noGrp="1"/>
          </p:cNvSpPr>
          <p:nvPr>
            <p:ph type="sldNum" sz="quarter" idx="12"/>
          </p:nvPr>
        </p:nvSpPr>
        <p:spPr/>
        <p:txBody>
          <a:bodyPr/>
          <a:lstStyle/>
          <a:p>
            <a:fld id="{422EC251-6D9C-41E4-85B2-AE85706C1F14}" type="slidenum">
              <a:rPr lang="en-KE" smtClean="0"/>
              <a:t>‹#›</a:t>
            </a:fld>
            <a:endParaRPr lang="en-KE"/>
          </a:p>
        </p:txBody>
      </p:sp>
    </p:spTree>
    <p:extLst>
      <p:ext uri="{BB962C8B-B14F-4D97-AF65-F5344CB8AC3E}">
        <p14:creationId xmlns:p14="http://schemas.microsoft.com/office/powerpoint/2010/main" val="6619228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59D65-AE00-41EE-B62F-9A2A5FDFA6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A1FF93BB-318C-4A94-849B-151C1A8812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5C12063-6B82-4472-B58C-4B474881ECE2}"/>
              </a:ext>
            </a:extLst>
          </p:cNvPr>
          <p:cNvSpPr>
            <a:spLocks noGrp="1"/>
          </p:cNvSpPr>
          <p:nvPr>
            <p:ph type="dt" sz="half" idx="10"/>
          </p:nvPr>
        </p:nvSpPr>
        <p:spPr/>
        <p:txBody>
          <a:bodyPr/>
          <a:lstStyle/>
          <a:p>
            <a:fld id="{52F848E7-0E42-4170-B5E6-7CC98B6B5F4A}" type="datetimeFigureOut">
              <a:rPr lang="en-KE" smtClean="0"/>
              <a:t>10/25/2024</a:t>
            </a:fld>
            <a:endParaRPr lang="en-KE"/>
          </a:p>
        </p:txBody>
      </p:sp>
      <p:sp>
        <p:nvSpPr>
          <p:cNvPr id="5" name="Footer Placeholder 4">
            <a:extLst>
              <a:ext uri="{FF2B5EF4-FFF2-40B4-BE49-F238E27FC236}">
                <a16:creationId xmlns:a16="http://schemas.microsoft.com/office/drawing/2014/main" id="{162C2EA0-056E-403D-A195-097FF8790CB8}"/>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31839C45-1D49-4A8E-9376-51CB74484E6A}"/>
              </a:ext>
            </a:extLst>
          </p:cNvPr>
          <p:cNvSpPr>
            <a:spLocks noGrp="1"/>
          </p:cNvSpPr>
          <p:nvPr>
            <p:ph type="sldNum" sz="quarter" idx="12"/>
          </p:nvPr>
        </p:nvSpPr>
        <p:spPr/>
        <p:txBody>
          <a:bodyPr/>
          <a:lstStyle/>
          <a:p>
            <a:fld id="{422EC251-6D9C-41E4-85B2-AE85706C1F14}" type="slidenum">
              <a:rPr lang="en-KE" smtClean="0"/>
              <a:t>‹#›</a:t>
            </a:fld>
            <a:endParaRPr lang="en-KE"/>
          </a:p>
        </p:txBody>
      </p:sp>
    </p:spTree>
    <p:extLst>
      <p:ext uri="{BB962C8B-B14F-4D97-AF65-F5344CB8AC3E}">
        <p14:creationId xmlns:p14="http://schemas.microsoft.com/office/powerpoint/2010/main" val="1575662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E05C1-E7BF-4C14-90D9-972778554D33}"/>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CA2536F0-C891-47BB-B2FE-385952C01D3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F88EF739-9EF1-4DBC-9405-9BB60ECDD2F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13A0071D-DE51-4557-9381-1E0ED75CB1DB}"/>
              </a:ext>
            </a:extLst>
          </p:cNvPr>
          <p:cNvSpPr>
            <a:spLocks noGrp="1"/>
          </p:cNvSpPr>
          <p:nvPr>
            <p:ph type="dt" sz="half" idx="10"/>
          </p:nvPr>
        </p:nvSpPr>
        <p:spPr/>
        <p:txBody>
          <a:bodyPr/>
          <a:lstStyle/>
          <a:p>
            <a:fld id="{52F848E7-0E42-4170-B5E6-7CC98B6B5F4A}" type="datetimeFigureOut">
              <a:rPr lang="en-KE" smtClean="0"/>
              <a:t>10/25/2024</a:t>
            </a:fld>
            <a:endParaRPr lang="en-KE"/>
          </a:p>
        </p:txBody>
      </p:sp>
      <p:sp>
        <p:nvSpPr>
          <p:cNvPr id="6" name="Footer Placeholder 5">
            <a:extLst>
              <a:ext uri="{FF2B5EF4-FFF2-40B4-BE49-F238E27FC236}">
                <a16:creationId xmlns:a16="http://schemas.microsoft.com/office/drawing/2014/main" id="{EC4D89FB-1E58-4F44-9396-F3E88EB39074}"/>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D54E6104-934E-4E94-92C9-AB1120CA593B}"/>
              </a:ext>
            </a:extLst>
          </p:cNvPr>
          <p:cNvSpPr>
            <a:spLocks noGrp="1"/>
          </p:cNvSpPr>
          <p:nvPr>
            <p:ph type="sldNum" sz="quarter" idx="12"/>
          </p:nvPr>
        </p:nvSpPr>
        <p:spPr/>
        <p:txBody>
          <a:bodyPr/>
          <a:lstStyle/>
          <a:p>
            <a:fld id="{422EC251-6D9C-41E4-85B2-AE85706C1F14}" type="slidenum">
              <a:rPr lang="en-KE" smtClean="0"/>
              <a:t>‹#›</a:t>
            </a:fld>
            <a:endParaRPr lang="en-KE"/>
          </a:p>
        </p:txBody>
      </p:sp>
    </p:spTree>
    <p:extLst>
      <p:ext uri="{BB962C8B-B14F-4D97-AF65-F5344CB8AC3E}">
        <p14:creationId xmlns:p14="http://schemas.microsoft.com/office/powerpoint/2010/main" val="35229784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7BA73-B765-4A80-BB00-6176D0009CBD}"/>
              </a:ext>
            </a:extLst>
          </p:cNvPr>
          <p:cNvSpPr>
            <a:spLocks noGrp="1"/>
          </p:cNvSpPr>
          <p:nvPr>
            <p:ph type="title"/>
          </p:nvPr>
        </p:nvSpPr>
        <p:spPr>
          <a:xfrm>
            <a:off x="839788" y="365125"/>
            <a:ext cx="10515600" cy="1325563"/>
          </a:xfrm>
        </p:spPr>
        <p:txBody>
          <a:bodyPr/>
          <a:lstStyle/>
          <a:p>
            <a:r>
              <a:rPr lang="en-US"/>
              <a:t>Click to edit Master title style</a:t>
            </a:r>
            <a:endParaRPr lang="en-KE"/>
          </a:p>
        </p:txBody>
      </p:sp>
      <p:sp>
        <p:nvSpPr>
          <p:cNvPr id="3" name="Text Placeholder 2">
            <a:extLst>
              <a:ext uri="{FF2B5EF4-FFF2-40B4-BE49-F238E27FC236}">
                <a16:creationId xmlns:a16="http://schemas.microsoft.com/office/drawing/2014/main" id="{26761FBF-6039-4ADF-9CD4-9C0DB93338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215FBAA-281A-442A-AF02-9AE19FB1499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3577F6A6-F8C9-4945-896E-F15DE624CD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A2FBFF2-4191-4A01-87B1-3B730DAA408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53E6CDF2-98B7-49C7-81CD-3AB555A33E56}"/>
              </a:ext>
            </a:extLst>
          </p:cNvPr>
          <p:cNvSpPr>
            <a:spLocks noGrp="1"/>
          </p:cNvSpPr>
          <p:nvPr>
            <p:ph type="dt" sz="half" idx="10"/>
          </p:nvPr>
        </p:nvSpPr>
        <p:spPr/>
        <p:txBody>
          <a:bodyPr/>
          <a:lstStyle/>
          <a:p>
            <a:fld id="{52F848E7-0E42-4170-B5E6-7CC98B6B5F4A}" type="datetimeFigureOut">
              <a:rPr lang="en-KE" smtClean="0"/>
              <a:t>10/25/2024</a:t>
            </a:fld>
            <a:endParaRPr lang="en-KE"/>
          </a:p>
        </p:txBody>
      </p:sp>
      <p:sp>
        <p:nvSpPr>
          <p:cNvPr id="8" name="Footer Placeholder 7">
            <a:extLst>
              <a:ext uri="{FF2B5EF4-FFF2-40B4-BE49-F238E27FC236}">
                <a16:creationId xmlns:a16="http://schemas.microsoft.com/office/drawing/2014/main" id="{A40A6EA6-7729-465B-8B19-A56187B0F37E}"/>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A98B8B7A-A501-430D-99C5-8C917030D063}"/>
              </a:ext>
            </a:extLst>
          </p:cNvPr>
          <p:cNvSpPr>
            <a:spLocks noGrp="1"/>
          </p:cNvSpPr>
          <p:nvPr>
            <p:ph type="sldNum" sz="quarter" idx="12"/>
          </p:nvPr>
        </p:nvSpPr>
        <p:spPr/>
        <p:txBody>
          <a:bodyPr/>
          <a:lstStyle/>
          <a:p>
            <a:fld id="{422EC251-6D9C-41E4-85B2-AE85706C1F14}" type="slidenum">
              <a:rPr lang="en-KE" smtClean="0"/>
              <a:t>‹#›</a:t>
            </a:fld>
            <a:endParaRPr lang="en-KE"/>
          </a:p>
        </p:txBody>
      </p:sp>
    </p:spTree>
    <p:extLst>
      <p:ext uri="{BB962C8B-B14F-4D97-AF65-F5344CB8AC3E}">
        <p14:creationId xmlns:p14="http://schemas.microsoft.com/office/powerpoint/2010/main" val="11811983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FF6AE-0C25-4F04-B9A5-8EBD4936A506}"/>
              </a:ext>
            </a:extLst>
          </p:cNvPr>
          <p:cNvSpPr>
            <a:spLocks noGrp="1"/>
          </p:cNvSpPr>
          <p:nvPr>
            <p:ph type="title"/>
          </p:nvPr>
        </p:nvSpPr>
        <p:spPr/>
        <p:txBody>
          <a:bodyPr/>
          <a:lstStyle/>
          <a:p>
            <a:r>
              <a:rPr lang="en-US"/>
              <a:t>Click to edit Master title style</a:t>
            </a:r>
            <a:endParaRPr lang="en-KE"/>
          </a:p>
        </p:txBody>
      </p:sp>
      <p:sp>
        <p:nvSpPr>
          <p:cNvPr id="3" name="Date Placeholder 2">
            <a:extLst>
              <a:ext uri="{FF2B5EF4-FFF2-40B4-BE49-F238E27FC236}">
                <a16:creationId xmlns:a16="http://schemas.microsoft.com/office/drawing/2014/main" id="{5BE81340-F6D4-4CB7-95B9-583456CFF44F}"/>
              </a:ext>
            </a:extLst>
          </p:cNvPr>
          <p:cNvSpPr>
            <a:spLocks noGrp="1"/>
          </p:cNvSpPr>
          <p:nvPr>
            <p:ph type="dt" sz="half" idx="10"/>
          </p:nvPr>
        </p:nvSpPr>
        <p:spPr/>
        <p:txBody>
          <a:bodyPr/>
          <a:lstStyle/>
          <a:p>
            <a:fld id="{52F848E7-0E42-4170-B5E6-7CC98B6B5F4A}" type="datetimeFigureOut">
              <a:rPr lang="en-KE" smtClean="0"/>
              <a:t>10/25/2024</a:t>
            </a:fld>
            <a:endParaRPr lang="en-KE"/>
          </a:p>
        </p:txBody>
      </p:sp>
      <p:sp>
        <p:nvSpPr>
          <p:cNvPr id="4" name="Footer Placeholder 3">
            <a:extLst>
              <a:ext uri="{FF2B5EF4-FFF2-40B4-BE49-F238E27FC236}">
                <a16:creationId xmlns:a16="http://schemas.microsoft.com/office/drawing/2014/main" id="{309EC127-89F2-4F57-978F-A3B8518B9385}"/>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310ED906-B369-4BCE-84F5-E0AC7AA82A17}"/>
              </a:ext>
            </a:extLst>
          </p:cNvPr>
          <p:cNvSpPr>
            <a:spLocks noGrp="1"/>
          </p:cNvSpPr>
          <p:nvPr>
            <p:ph type="sldNum" sz="quarter" idx="12"/>
          </p:nvPr>
        </p:nvSpPr>
        <p:spPr/>
        <p:txBody>
          <a:bodyPr/>
          <a:lstStyle/>
          <a:p>
            <a:fld id="{422EC251-6D9C-41E4-85B2-AE85706C1F14}" type="slidenum">
              <a:rPr lang="en-KE" smtClean="0"/>
              <a:t>‹#›</a:t>
            </a:fld>
            <a:endParaRPr lang="en-KE"/>
          </a:p>
        </p:txBody>
      </p:sp>
    </p:spTree>
    <p:extLst>
      <p:ext uri="{BB962C8B-B14F-4D97-AF65-F5344CB8AC3E}">
        <p14:creationId xmlns:p14="http://schemas.microsoft.com/office/powerpoint/2010/main" val="12179707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DF5290-2004-4AB9-BBC1-170864D0731C}"/>
              </a:ext>
            </a:extLst>
          </p:cNvPr>
          <p:cNvSpPr>
            <a:spLocks noGrp="1"/>
          </p:cNvSpPr>
          <p:nvPr>
            <p:ph type="dt" sz="half" idx="10"/>
          </p:nvPr>
        </p:nvSpPr>
        <p:spPr/>
        <p:txBody>
          <a:bodyPr/>
          <a:lstStyle/>
          <a:p>
            <a:fld id="{52F848E7-0E42-4170-B5E6-7CC98B6B5F4A}" type="datetimeFigureOut">
              <a:rPr lang="en-KE" smtClean="0"/>
              <a:t>10/25/2024</a:t>
            </a:fld>
            <a:endParaRPr lang="en-KE"/>
          </a:p>
        </p:txBody>
      </p:sp>
      <p:sp>
        <p:nvSpPr>
          <p:cNvPr id="3" name="Footer Placeholder 2">
            <a:extLst>
              <a:ext uri="{FF2B5EF4-FFF2-40B4-BE49-F238E27FC236}">
                <a16:creationId xmlns:a16="http://schemas.microsoft.com/office/drawing/2014/main" id="{3C7E5263-991D-466D-8C2D-29544A78FB8F}"/>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B4E3832E-AE02-42B6-8B98-4BDF5A6503E1}"/>
              </a:ext>
            </a:extLst>
          </p:cNvPr>
          <p:cNvSpPr>
            <a:spLocks noGrp="1"/>
          </p:cNvSpPr>
          <p:nvPr>
            <p:ph type="sldNum" sz="quarter" idx="12"/>
          </p:nvPr>
        </p:nvSpPr>
        <p:spPr/>
        <p:txBody>
          <a:bodyPr/>
          <a:lstStyle/>
          <a:p>
            <a:fld id="{422EC251-6D9C-41E4-85B2-AE85706C1F14}" type="slidenum">
              <a:rPr lang="en-KE" smtClean="0"/>
              <a:t>‹#›</a:t>
            </a:fld>
            <a:endParaRPr lang="en-KE"/>
          </a:p>
        </p:txBody>
      </p:sp>
    </p:spTree>
    <p:extLst>
      <p:ext uri="{BB962C8B-B14F-4D97-AF65-F5344CB8AC3E}">
        <p14:creationId xmlns:p14="http://schemas.microsoft.com/office/powerpoint/2010/main" val="12764650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DC6D4-0252-4021-8D64-96CC451B5D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493C6A23-A434-4D37-A117-0423D18E32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682770F8-B786-4765-B60A-E0E7BE324D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4077804-522D-4806-B348-5971558DE1B3}"/>
              </a:ext>
            </a:extLst>
          </p:cNvPr>
          <p:cNvSpPr>
            <a:spLocks noGrp="1"/>
          </p:cNvSpPr>
          <p:nvPr>
            <p:ph type="dt" sz="half" idx="10"/>
          </p:nvPr>
        </p:nvSpPr>
        <p:spPr/>
        <p:txBody>
          <a:bodyPr/>
          <a:lstStyle/>
          <a:p>
            <a:fld id="{52F848E7-0E42-4170-B5E6-7CC98B6B5F4A}" type="datetimeFigureOut">
              <a:rPr lang="en-KE" smtClean="0"/>
              <a:t>10/25/2024</a:t>
            </a:fld>
            <a:endParaRPr lang="en-KE"/>
          </a:p>
        </p:txBody>
      </p:sp>
      <p:sp>
        <p:nvSpPr>
          <p:cNvPr id="6" name="Footer Placeholder 5">
            <a:extLst>
              <a:ext uri="{FF2B5EF4-FFF2-40B4-BE49-F238E27FC236}">
                <a16:creationId xmlns:a16="http://schemas.microsoft.com/office/drawing/2014/main" id="{814DC7EF-C2FF-41F0-9459-BC6B15DB43A6}"/>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074483FE-8AB5-4BEA-923B-F6B47CB456F4}"/>
              </a:ext>
            </a:extLst>
          </p:cNvPr>
          <p:cNvSpPr>
            <a:spLocks noGrp="1"/>
          </p:cNvSpPr>
          <p:nvPr>
            <p:ph type="sldNum" sz="quarter" idx="12"/>
          </p:nvPr>
        </p:nvSpPr>
        <p:spPr/>
        <p:txBody>
          <a:bodyPr/>
          <a:lstStyle/>
          <a:p>
            <a:fld id="{422EC251-6D9C-41E4-85B2-AE85706C1F14}" type="slidenum">
              <a:rPr lang="en-KE" smtClean="0"/>
              <a:t>‹#›</a:t>
            </a:fld>
            <a:endParaRPr lang="en-KE"/>
          </a:p>
        </p:txBody>
      </p:sp>
    </p:spTree>
    <p:extLst>
      <p:ext uri="{BB962C8B-B14F-4D97-AF65-F5344CB8AC3E}">
        <p14:creationId xmlns:p14="http://schemas.microsoft.com/office/powerpoint/2010/main" val="3450992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DEBD9-3024-4F7C-8446-1D98AEAB8E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C7EEE7D8-86B3-4D76-B508-70E98B3DE9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2BD792E3-4644-4AA4-9171-7F9B4DE3CE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2915284-71BA-423B-B589-DAD0DEA79245}"/>
              </a:ext>
            </a:extLst>
          </p:cNvPr>
          <p:cNvSpPr>
            <a:spLocks noGrp="1"/>
          </p:cNvSpPr>
          <p:nvPr>
            <p:ph type="dt" sz="half" idx="10"/>
          </p:nvPr>
        </p:nvSpPr>
        <p:spPr/>
        <p:txBody>
          <a:bodyPr/>
          <a:lstStyle/>
          <a:p>
            <a:fld id="{52F848E7-0E42-4170-B5E6-7CC98B6B5F4A}" type="datetimeFigureOut">
              <a:rPr lang="en-KE" smtClean="0"/>
              <a:t>10/25/2024</a:t>
            </a:fld>
            <a:endParaRPr lang="en-KE"/>
          </a:p>
        </p:txBody>
      </p:sp>
      <p:sp>
        <p:nvSpPr>
          <p:cNvPr id="6" name="Footer Placeholder 5">
            <a:extLst>
              <a:ext uri="{FF2B5EF4-FFF2-40B4-BE49-F238E27FC236}">
                <a16:creationId xmlns:a16="http://schemas.microsoft.com/office/drawing/2014/main" id="{7E3CD7A1-F501-4603-9F9D-0ECA29691516}"/>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40EAA38F-5939-4A1A-BCCD-49FF27FDA287}"/>
              </a:ext>
            </a:extLst>
          </p:cNvPr>
          <p:cNvSpPr>
            <a:spLocks noGrp="1"/>
          </p:cNvSpPr>
          <p:nvPr>
            <p:ph type="sldNum" sz="quarter" idx="12"/>
          </p:nvPr>
        </p:nvSpPr>
        <p:spPr/>
        <p:txBody>
          <a:bodyPr/>
          <a:lstStyle/>
          <a:p>
            <a:fld id="{422EC251-6D9C-41E4-85B2-AE85706C1F14}" type="slidenum">
              <a:rPr lang="en-KE" smtClean="0"/>
              <a:t>‹#›</a:t>
            </a:fld>
            <a:endParaRPr lang="en-KE"/>
          </a:p>
        </p:txBody>
      </p:sp>
    </p:spTree>
    <p:extLst>
      <p:ext uri="{BB962C8B-B14F-4D97-AF65-F5344CB8AC3E}">
        <p14:creationId xmlns:p14="http://schemas.microsoft.com/office/powerpoint/2010/main" val="94817878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0C82E-A11D-4FA9-ACC2-8FC6AC578251}"/>
              </a:ext>
            </a:extLst>
          </p:cNvPr>
          <p:cNvSpPr>
            <a:spLocks noGrp="1"/>
          </p:cNvSpPr>
          <p:nvPr>
            <p:ph type="title"/>
          </p:nvPr>
        </p:nvSpPr>
        <p:spPr/>
        <p:txBody>
          <a:bodyPr/>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C0A4B4BE-058C-4C86-ACC5-51BCEC13E1F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7934DDCB-AA9F-4EF7-A662-F4C08D275F39}"/>
              </a:ext>
            </a:extLst>
          </p:cNvPr>
          <p:cNvSpPr>
            <a:spLocks noGrp="1"/>
          </p:cNvSpPr>
          <p:nvPr>
            <p:ph type="dt" sz="half" idx="10"/>
          </p:nvPr>
        </p:nvSpPr>
        <p:spPr/>
        <p:txBody>
          <a:bodyPr/>
          <a:lstStyle/>
          <a:p>
            <a:fld id="{52F848E7-0E42-4170-B5E6-7CC98B6B5F4A}" type="datetimeFigureOut">
              <a:rPr lang="en-KE" smtClean="0"/>
              <a:t>10/25/2024</a:t>
            </a:fld>
            <a:endParaRPr lang="en-KE"/>
          </a:p>
        </p:txBody>
      </p:sp>
      <p:sp>
        <p:nvSpPr>
          <p:cNvPr id="5" name="Footer Placeholder 4">
            <a:extLst>
              <a:ext uri="{FF2B5EF4-FFF2-40B4-BE49-F238E27FC236}">
                <a16:creationId xmlns:a16="http://schemas.microsoft.com/office/drawing/2014/main" id="{BF8E2460-3BC7-4571-A9F0-92B9E57C5876}"/>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81974A97-F759-4726-A19E-CF2645114E20}"/>
              </a:ext>
            </a:extLst>
          </p:cNvPr>
          <p:cNvSpPr>
            <a:spLocks noGrp="1"/>
          </p:cNvSpPr>
          <p:nvPr>
            <p:ph type="sldNum" sz="quarter" idx="12"/>
          </p:nvPr>
        </p:nvSpPr>
        <p:spPr/>
        <p:txBody>
          <a:bodyPr/>
          <a:lstStyle/>
          <a:p>
            <a:fld id="{422EC251-6D9C-41E4-85B2-AE85706C1F14}" type="slidenum">
              <a:rPr lang="en-KE" smtClean="0"/>
              <a:t>‹#›</a:t>
            </a:fld>
            <a:endParaRPr lang="en-KE"/>
          </a:p>
        </p:txBody>
      </p:sp>
    </p:spTree>
    <p:extLst>
      <p:ext uri="{BB962C8B-B14F-4D97-AF65-F5344CB8AC3E}">
        <p14:creationId xmlns:p14="http://schemas.microsoft.com/office/powerpoint/2010/main" val="9351098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641827-260B-4A47-9BB2-23B1D22199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24F38AEA-D2F3-4275-8E3F-17C62CAE6EA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117F0963-0249-4C2C-AADB-4858005B4C78}"/>
              </a:ext>
            </a:extLst>
          </p:cNvPr>
          <p:cNvSpPr>
            <a:spLocks noGrp="1"/>
          </p:cNvSpPr>
          <p:nvPr>
            <p:ph type="dt" sz="half" idx="10"/>
          </p:nvPr>
        </p:nvSpPr>
        <p:spPr/>
        <p:txBody>
          <a:bodyPr/>
          <a:lstStyle/>
          <a:p>
            <a:fld id="{52F848E7-0E42-4170-B5E6-7CC98B6B5F4A}" type="datetimeFigureOut">
              <a:rPr lang="en-KE" smtClean="0"/>
              <a:t>10/25/2024</a:t>
            </a:fld>
            <a:endParaRPr lang="en-KE"/>
          </a:p>
        </p:txBody>
      </p:sp>
      <p:sp>
        <p:nvSpPr>
          <p:cNvPr id="5" name="Footer Placeholder 4">
            <a:extLst>
              <a:ext uri="{FF2B5EF4-FFF2-40B4-BE49-F238E27FC236}">
                <a16:creationId xmlns:a16="http://schemas.microsoft.com/office/drawing/2014/main" id="{2F4EBC3A-0B73-4807-8C80-CE0EABD3E6DE}"/>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F68437C5-4531-4C24-86C6-97C2D938887F}"/>
              </a:ext>
            </a:extLst>
          </p:cNvPr>
          <p:cNvSpPr>
            <a:spLocks noGrp="1"/>
          </p:cNvSpPr>
          <p:nvPr>
            <p:ph type="sldNum" sz="quarter" idx="12"/>
          </p:nvPr>
        </p:nvSpPr>
        <p:spPr/>
        <p:txBody>
          <a:bodyPr/>
          <a:lstStyle/>
          <a:p>
            <a:fld id="{422EC251-6D9C-41E4-85B2-AE85706C1F14}" type="slidenum">
              <a:rPr lang="en-KE" smtClean="0"/>
              <a:t>‹#›</a:t>
            </a:fld>
            <a:endParaRPr lang="en-KE"/>
          </a:p>
        </p:txBody>
      </p:sp>
    </p:spTree>
    <p:extLst>
      <p:ext uri="{BB962C8B-B14F-4D97-AF65-F5344CB8AC3E}">
        <p14:creationId xmlns:p14="http://schemas.microsoft.com/office/powerpoint/2010/main" val="36705859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3EE7C0D2-5BBF-478E-A728-49B6CB6413DE}"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p>
            <a:pPr>
              <a:defRPr/>
            </a:pPr>
            <a:fld id="{F2A76DFE-62A8-4EB3-B985-021CA95DA9CB}"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108200271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pPr>
              <a:defRPr/>
            </a:pPr>
            <a:fld id="{C460B1B5-CD1F-40F6-8CB5-564EEE65EF5B}"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p>
            <a:pPr>
              <a:defRPr/>
            </a:pPr>
            <a:fld id="{DA505544-CCE8-4A0E-A9B1-8C5A8F98CB1B}"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16239724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1799C31C-A992-487A-A0D1-3E66AACF500E}"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p>
            <a:pPr>
              <a:defRPr/>
            </a:pPr>
            <a:fld id="{0FD20D14-8812-4A4D-8252-A429AC2E7CD2}"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401317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538B5832-22E7-461A-A81D-C101C717021E}" type="datetime1">
              <a:rPr lang="en-GB" smtClean="0">
                <a:solidFill>
                  <a:prstClr val="white">
                    <a:tint val="75000"/>
                  </a:prstClr>
                </a:solidFill>
              </a:rPr>
              <a:pPr>
                <a:defRPr/>
              </a:pPr>
              <a:t>25/10/2024</a:t>
            </a:fld>
            <a:endParaRPr lang="en-GB">
              <a:solidFill>
                <a:prstClr val="white">
                  <a:tint val="75000"/>
                </a:prstClr>
              </a:solidFill>
            </a:endParaRPr>
          </a:p>
        </p:txBody>
      </p:sp>
      <p:sp>
        <p:nvSpPr>
          <p:cNvPr id="6" name="Footer Placeholder 5"/>
          <p:cNvSpPr>
            <a:spLocks noGrp="1"/>
          </p:cNvSpPr>
          <p:nvPr>
            <p:ph type="ftr" sz="quarter" idx="11"/>
          </p:nvPr>
        </p:nvSpPr>
        <p:spPr/>
        <p:txBody>
          <a:bodyPr/>
          <a:lstStyle/>
          <a:p>
            <a:pPr>
              <a:defRPr/>
            </a:pPr>
            <a:r>
              <a:rPr lang="en-GB">
                <a:solidFill>
                  <a:prstClr val="white">
                    <a:tint val="75000"/>
                  </a:prstClr>
                </a:solidFill>
              </a:rPr>
              <a:t>Dr. Mwaniki</a:t>
            </a:r>
          </a:p>
        </p:txBody>
      </p:sp>
      <p:sp>
        <p:nvSpPr>
          <p:cNvPr id="7" name="Slide Number Placeholder 6"/>
          <p:cNvSpPr>
            <a:spLocks noGrp="1"/>
          </p:cNvSpPr>
          <p:nvPr>
            <p:ph type="sldNum" sz="quarter" idx="12"/>
          </p:nvPr>
        </p:nvSpPr>
        <p:spPr/>
        <p:txBody>
          <a:bodyPr/>
          <a:lstStyle/>
          <a:p>
            <a:pPr>
              <a:defRPr/>
            </a:pPr>
            <a:fld id="{601780CA-8D89-489C-BD9A-95410CCB061A}"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39628476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CE30445D-25B2-4FBC-A071-26F7CA8BF0E1}" type="datetime1">
              <a:rPr lang="en-GB" smtClean="0">
                <a:solidFill>
                  <a:prstClr val="white">
                    <a:tint val="75000"/>
                  </a:prstClr>
                </a:solidFill>
              </a:rPr>
              <a:pPr>
                <a:defRPr/>
              </a:pPr>
              <a:t>25/10/2024</a:t>
            </a:fld>
            <a:endParaRPr lang="en-GB">
              <a:solidFill>
                <a:prstClr val="white">
                  <a:tint val="75000"/>
                </a:prstClr>
              </a:solidFill>
            </a:endParaRPr>
          </a:p>
        </p:txBody>
      </p:sp>
      <p:sp>
        <p:nvSpPr>
          <p:cNvPr id="8" name="Footer Placeholder 7"/>
          <p:cNvSpPr>
            <a:spLocks noGrp="1"/>
          </p:cNvSpPr>
          <p:nvPr>
            <p:ph type="ftr" sz="quarter" idx="11"/>
          </p:nvPr>
        </p:nvSpPr>
        <p:spPr/>
        <p:txBody>
          <a:bodyPr/>
          <a:lstStyle/>
          <a:p>
            <a:pPr>
              <a:defRPr/>
            </a:pPr>
            <a:r>
              <a:rPr lang="en-GB">
                <a:solidFill>
                  <a:prstClr val="white">
                    <a:tint val="75000"/>
                  </a:prstClr>
                </a:solidFill>
              </a:rPr>
              <a:t>Dr. Mwaniki</a:t>
            </a:r>
          </a:p>
        </p:txBody>
      </p:sp>
      <p:sp>
        <p:nvSpPr>
          <p:cNvPr id="9" name="Slide Number Placeholder 8"/>
          <p:cNvSpPr>
            <a:spLocks noGrp="1"/>
          </p:cNvSpPr>
          <p:nvPr>
            <p:ph type="sldNum" sz="quarter" idx="12"/>
          </p:nvPr>
        </p:nvSpPr>
        <p:spPr/>
        <p:txBody>
          <a:bodyPr/>
          <a:lstStyle/>
          <a:p>
            <a:pPr>
              <a:defRPr/>
            </a:pPr>
            <a:fld id="{FF2381C7-CDF6-4A8E-AEF7-6BA519D20864}"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6751550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pPr>
              <a:defRPr/>
            </a:pPr>
            <a:fld id="{CCC7E0D7-D813-49F9-B3D0-C3D7FE902DFC}"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3"/>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4"/>
          <p:cNvSpPr>
            <a:spLocks noGrp="1"/>
          </p:cNvSpPr>
          <p:nvPr>
            <p:ph type="sldNum" sz="quarter" idx="12"/>
          </p:nvPr>
        </p:nvSpPr>
        <p:spPr/>
        <p:txBody>
          <a:bodyPr/>
          <a:lstStyle/>
          <a:p>
            <a:pPr>
              <a:defRPr/>
            </a:pPr>
            <a:fld id="{445ADA90-5F9B-4233-B4B8-B44B39738713}"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22035994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a:defRPr/>
            </a:pPr>
            <a:fld id="{AE07354B-EB3E-46D0-9DA0-728D91E1CB15}"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2"/>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3"/>
          <p:cNvSpPr>
            <a:spLocks noGrp="1"/>
          </p:cNvSpPr>
          <p:nvPr>
            <p:ph type="sldNum" sz="quarter" idx="12"/>
          </p:nvPr>
        </p:nvSpPr>
        <p:spPr/>
        <p:txBody>
          <a:bodyPr/>
          <a:lstStyle/>
          <a:p>
            <a:pPr>
              <a:defRPr/>
            </a:pPr>
            <a:fld id="{11CC9F52-21B0-4D54-8651-9ECF278DF8E9}"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87271278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pPr>
              <a:defRPr/>
            </a:pPr>
            <a:fld id="{1796EAB9-97B7-4A1B-9DA4-4B2F5A4CAD73}"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5"/>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6"/>
          <p:cNvSpPr>
            <a:spLocks noGrp="1"/>
          </p:cNvSpPr>
          <p:nvPr>
            <p:ph type="sldNum" sz="quarter" idx="12"/>
          </p:nvPr>
        </p:nvSpPr>
        <p:spPr/>
        <p:txBody>
          <a:bodyPr/>
          <a:lstStyle/>
          <a:p>
            <a:pPr>
              <a:defRPr/>
            </a:pPr>
            <a:fld id="{55622A07-09A5-41EE-A6C7-096ACF1E2A7B}"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32239823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BD48983C-FD9E-4446-9001-5158BC242714}" type="datetime1">
              <a:rPr lang="en-GB" smtClean="0">
                <a:solidFill>
                  <a:prstClr val="white">
                    <a:tint val="75000"/>
                  </a:prstClr>
                </a:solidFill>
              </a:rPr>
              <a:pPr>
                <a:defRPr/>
              </a:pPr>
              <a:t>25/10/2024</a:t>
            </a:fld>
            <a:endParaRPr lang="en-GB">
              <a:solidFill>
                <a:prstClr val="white">
                  <a:tint val="75000"/>
                </a:prstClr>
              </a:solidFill>
            </a:endParaRPr>
          </a:p>
        </p:txBody>
      </p:sp>
      <p:sp>
        <p:nvSpPr>
          <p:cNvPr id="6" name="Footer Placeholder 5"/>
          <p:cNvSpPr>
            <a:spLocks noGrp="1"/>
          </p:cNvSpPr>
          <p:nvPr>
            <p:ph type="ftr" sz="quarter" idx="11"/>
          </p:nvPr>
        </p:nvSpPr>
        <p:spPr/>
        <p:txBody>
          <a:bodyPr/>
          <a:lstStyle/>
          <a:p>
            <a:pPr>
              <a:defRPr/>
            </a:pPr>
            <a:r>
              <a:rPr lang="en-GB">
                <a:solidFill>
                  <a:prstClr val="white">
                    <a:tint val="75000"/>
                  </a:prstClr>
                </a:solidFill>
              </a:rPr>
              <a:t>Dr. Mwaniki</a:t>
            </a:r>
          </a:p>
        </p:txBody>
      </p:sp>
      <p:sp>
        <p:nvSpPr>
          <p:cNvPr id="7" name="Slide Number Placeholder 6"/>
          <p:cNvSpPr>
            <a:spLocks noGrp="1"/>
          </p:cNvSpPr>
          <p:nvPr>
            <p:ph type="sldNum" sz="quarter" idx="12"/>
          </p:nvPr>
        </p:nvSpPr>
        <p:spPr/>
        <p:txBody>
          <a:bodyPr/>
          <a:lstStyle/>
          <a:p>
            <a:pPr>
              <a:defRPr/>
            </a:pPr>
            <a:fld id="{523589CB-2834-42F9-A912-908BD08CF0F4}"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188834740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7CD7EA24-2097-4682-ADBE-09EE528B39EF}" type="datetime1">
              <a:rPr lang="en-GB" smtClean="0">
                <a:solidFill>
                  <a:prstClr val="white">
                    <a:tint val="75000"/>
                  </a:prstClr>
                </a:solidFill>
              </a:rPr>
              <a:pPr>
                <a:defRPr/>
              </a:pPr>
              <a:t>25/10/2024</a:t>
            </a:fld>
            <a:endParaRPr lang="en-GB">
              <a:solidFill>
                <a:prstClr val="white">
                  <a:tint val="75000"/>
                </a:prstClr>
              </a:solidFill>
            </a:endParaRPr>
          </a:p>
        </p:txBody>
      </p:sp>
      <p:sp>
        <p:nvSpPr>
          <p:cNvPr id="6" name="Footer Placeholder 5"/>
          <p:cNvSpPr>
            <a:spLocks noGrp="1"/>
          </p:cNvSpPr>
          <p:nvPr>
            <p:ph type="ftr" sz="quarter" idx="11"/>
          </p:nvPr>
        </p:nvSpPr>
        <p:spPr/>
        <p:txBody>
          <a:bodyPr/>
          <a:lstStyle/>
          <a:p>
            <a:pPr>
              <a:defRPr/>
            </a:pPr>
            <a:r>
              <a:rPr lang="en-GB">
                <a:solidFill>
                  <a:prstClr val="white">
                    <a:tint val="75000"/>
                  </a:prstClr>
                </a:solidFill>
              </a:rPr>
              <a:t>Dr. Mwaniki</a:t>
            </a:r>
          </a:p>
        </p:txBody>
      </p:sp>
      <p:sp>
        <p:nvSpPr>
          <p:cNvPr id="7" name="Slide Number Placeholder 6"/>
          <p:cNvSpPr>
            <a:spLocks noGrp="1"/>
          </p:cNvSpPr>
          <p:nvPr>
            <p:ph type="sldNum" sz="quarter" idx="12"/>
          </p:nvPr>
        </p:nvSpPr>
        <p:spPr/>
        <p:txBody>
          <a:bodyPr/>
          <a:lstStyle/>
          <a:p>
            <a:pPr>
              <a:defRPr/>
            </a:pPr>
            <a:fld id="{6E024286-930A-44ED-A9B9-00ED5C6E2942}"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394042734"/>
      </p:ext>
    </p:extLst>
  </p:cSld>
  <p:clrMapOvr>
    <a:masterClrMapping/>
  </p:clrMapOvr>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7CD7EA24-2097-4682-ADBE-09EE528B39EF}"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p>
            <a:pPr>
              <a:defRPr/>
            </a:pPr>
            <a:fld id="{6E024286-930A-44ED-A9B9-00ED5C6E2942}"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1066130640"/>
      </p:ext>
    </p:extLst>
  </p:cSld>
  <p:clrMapOvr>
    <a:masterClrMapping/>
  </p:clrMapOvr>
  <p:hf hdr="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7CD7EA24-2097-4682-ADBE-09EE528B39EF}"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p>
            <a:pPr>
              <a:defRPr/>
            </a:pPr>
            <a:fld id="{6E024286-930A-44ED-A9B9-00ED5C6E2942}" type="slidenum">
              <a:rPr lang="en-GB" smtClean="0">
                <a:solidFill>
                  <a:prstClr val="white">
                    <a:tint val="75000"/>
                  </a:prstClr>
                </a:solidFill>
              </a:rPr>
              <a:pPr>
                <a:defRPr/>
              </a:pPr>
              <a:t>‹#›</a:t>
            </a:fld>
            <a:endParaRPr lang="en-GB">
              <a:solidFill>
                <a:prstClr val="white">
                  <a:tint val="75000"/>
                </a:prstClr>
              </a:solidFill>
            </a:endParaRP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218681153"/>
      </p:ext>
    </p:extLst>
  </p:cSld>
  <p:clrMapOvr>
    <a:masterClrMapping/>
  </p:clrMapOvr>
  <p:hf hdr="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7CD7EA24-2097-4682-ADBE-09EE528B39EF}"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p>
            <a:pPr>
              <a:defRPr/>
            </a:pPr>
            <a:fld id="{6E024286-930A-44ED-A9B9-00ED5C6E2942}"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3275933750"/>
      </p:ext>
    </p:extLst>
  </p:cSld>
  <p:clrMapOvr>
    <a:masterClrMapping/>
  </p:clrMapOvr>
  <p:hf hdr="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fld id="{7CD7EA24-2097-4682-ADBE-09EE528B39EF}" type="datetime1">
              <a:rPr lang="en-GB" smtClean="0">
                <a:solidFill>
                  <a:prstClr val="white">
                    <a:tint val="75000"/>
                  </a:prstClr>
                </a:solidFill>
              </a:rPr>
              <a:pPr>
                <a:defRPr/>
              </a:pPr>
              <a:t>25/10/2024</a:t>
            </a:fld>
            <a:endParaRPr lang="en-GB">
              <a:solidFill>
                <a:prstClr val="white">
                  <a:tint val="75000"/>
                </a:prstClr>
              </a:solidFill>
            </a:endParaRPr>
          </a:p>
        </p:txBody>
      </p:sp>
      <p:sp>
        <p:nvSpPr>
          <p:cNvPr id="4" name="Footer Placeholder 4"/>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p>
            <a:pPr>
              <a:defRPr/>
            </a:pPr>
            <a:fld id="{6E024286-930A-44ED-A9B9-00ED5C6E2942}"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1498031588"/>
      </p:ext>
    </p:extLst>
  </p:cSld>
  <p:clrMapOvr>
    <a:masterClrMapping/>
  </p:clrMapOvr>
  <p:hf hdr="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fld id="{7CD7EA24-2097-4682-ADBE-09EE528B39EF}" type="datetime1">
              <a:rPr lang="en-GB" smtClean="0">
                <a:solidFill>
                  <a:prstClr val="white">
                    <a:tint val="75000"/>
                  </a:prstClr>
                </a:solidFill>
              </a:rPr>
              <a:pPr>
                <a:defRPr/>
              </a:pPr>
              <a:t>25/10/2024</a:t>
            </a:fld>
            <a:endParaRPr lang="en-GB">
              <a:solidFill>
                <a:prstClr val="white">
                  <a:tint val="75000"/>
                </a:prstClr>
              </a:solidFill>
            </a:endParaRPr>
          </a:p>
        </p:txBody>
      </p:sp>
      <p:sp>
        <p:nvSpPr>
          <p:cNvPr id="4" name="Footer Placeholder 4"/>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p>
            <a:pPr>
              <a:defRPr/>
            </a:pPr>
            <a:fld id="{6E024286-930A-44ED-A9B9-00ED5C6E2942}"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4232561376"/>
      </p:ext>
    </p:extLst>
  </p:cSld>
  <p:clrMapOvr>
    <a:masterClrMapping/>
  </p:clrMapOvr>
  <p:hf hdr="0"/>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914F84C2-3816-43BE-ACD9-8060D3913334}"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p>
            <a:pPr>
              <a:defRPr/>
            </a:pPr>
            <a:fld id="{7448C418-A26F-4451-AB69-D283C64F1508}"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348043613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032867A-995E-48E1-BF67-E53AB7665F6F}"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p>
            <a:pPr>
              <a:defRPr/>
            </a:pPr>
            <a:r>
              <a:rPr lang="en-GB">
                <a:solidFill>
                  <a:prstClr val="white">
                    <a:tint val="75000"/>
                  </a:prstClr>
                </a:solidFill>
              </a:rPr>
              <a:t>Dr. Mwaniki</a:t>
            </a:r>
          </a:p>
        </p:txBody>
      </p:sp>
      <p:sp>
        <p:nvSpPr>
          <p:cNvPr id="6" name="Slide Number Placeholder 5"/>
          <p:cNvSpPr>
            <a:spLocks noGrp="1"/>
          </p:cNvSpPr>
          <p:nvPr>
            <p:ph type="sldNum" sz="quarter" idx="12"/>
          </p:nvPr>
        </p:nvSpPr>
        <p:spPr/>
        <p:txBody>
          <a:bodyPr/>
          <a:lstStyle/>
          <a:p>
            <a:pPr>
              <a:defRPr/>
            </a:pPr>
            <a:fld id="{0B84DC1E-DD51-48D9-98D4-DB4EE6D0EA0C}"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26792336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399462889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224760756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88826043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EA38E80-857D-40F2-A4E5-B3243975FAFC}" type="datetimeFigureOut">
              <a:rPr lang="en-US" smtClean="0"/>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395278666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EA38E80-857D-40F2-A4E5-B3243975FAFC}" type="datetimeFigureOut">
              <a:rPr lang="en-US" smtClean="0"/>
              <a:t>10/25/2024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263023817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EA38E80-857D-40F2-A4E5-B3243975FAFC}" type="datetimeFigureOut">
              <a:rPr lang="en-US" smtClean="0"/>
              <a:t>10/25/2024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271468639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A38E80-857D-40F2-A4E5-B3243975FAFC}" type="datetimeFigureOut">
              <a:rPr lang="en-US" smtClean="0"/>
              <a:t>10/25/2024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386964774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A38E80-857D-40F2-A4E5-B3243975FAFC}" type="datetimeFigureOut">
              <a:rPr lang="en-US" smtClean="0"/>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306764060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A38E80-857D-40F2-A4E5-B3243975FAFC}" type="datetimeFigureOut">
              <a:rPr lang="en-US" smtClean="0"/>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329376630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282110474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284731918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108804224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125121025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9368634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A38E80-857D-40F2-A4E5-B3243975FAFC}" type="datetimeFigureOut">
              <a:rPr lang="en-US" smtClean="0"/>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195039821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A38E80-857D-40F2-A4E5-B3243975FAFC}" type="datetimeFigureOut">
              <a:rPr lang="en-US" smtClean="0"/>
              <a:t>10/25/2024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55270155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265767984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65612522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153316731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EA38E80-857D-40F2-A4E5-B3243975FAFC}" type="datetimeFigureOut">
              <a:rPr lang="en-US" smtClean="0"/>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332516426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EA38E80-857D-40F2-A4E5-B3243975FAFC}" type="datetimeFigureOut">
              <a:rPr lang="en-US" smtClean="0"/>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426886728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218865097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72965599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335258257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191538025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360411192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136258644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A38E80-857D-40F2-A4E5-B3243975FAFC}" type="datetimeFigureOut">
              <a:rPr lang="en-US" smtClean="0"/>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BF4EA-786D-4747-BD53-4859A06B3FDC}" type="slidenum">
              <a:rPr lang="en-US" smtClean="0"/>
              <a:t>‹#›</a:t>
            </a:fld>
            <a:endParaRPr lang="en-US"/>
          </a:p>
        </p:txBody>
      </p:sp>
    </p:spTree>
    <p:extLst>
      <p:ext uri="{BB962C8B-B14F-4D97-AF65-F5344CB8AC3E}">
        <p14:creationId xmlns:p14="http://schemas.microsoft.com/office/powerpoint/2010/main" val="409994284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pPr>
              <a:defRPr/>
            </a:pPr>
            <a:fld id="{233395C6-60B1-4851-917A-D0CED1F31685}" type="datetime1">
              <a:rPr lang="en-GB" smtClean="0">
                <a:solidFill>
                  <a:prstClr val="white">
                    <a:tint val="75000"/>
                  </a:prstClr>
                </a:solidFill>
              </a:rPr>
              <a:pPr>
                <a:defRPr/>
              </a:pPr>
              <a:t>25/10/2024</a:t>
            </a:fld>
            <a:endParaRPr lang="en-GB">
              <a:solidFill>
                <a:prstClr val="white">
                  <a:tint val="75000"/>
                </a:prstClr>
              </a:solidFill>
            </a:endParaRPr>
          </a:p>
        </p:txBody>
      </p:sp>
      <p:sp>
        <p:nvSpPr>
          <p:cNvPr id="8" name="Slide Number Placeholder 7"/>
          <p:cNvSpPr>
            <a:spLocks noGrp="1"/>
          </p:cNvSpPr>
          <p:nvPr>
            <p:ph type="sldNum" sz="quarter" idx="11"/>
          </p:nvPr>
        </p:nvSpPr>
        <p:spPr/>
        <p:txBody>
          <a:bodyPr/>
          <a:lstStyle/>
          <a:p>
            <a:pPr>
              <a:defRPr/>
            </a:pPr>
            <a:fld id="{29DEB85F-701F-4C7B-A7CB-32E7BCB953D7}" type="slidenum">
              <a:rPr lang="en-GB" smtClean="0">
                <a:solidFill>
                  <a:prstClr val="white">
                    <a:tint val="75000"/>
                  </a:prstClr>
                </a:solidFill>
              </a:rPr>
              <a:pPr>
                <a:defRPr/>
              </a:pPr>
              <a:t>‹#›</a:t>
            </a:fld>
            <a:endParaRPr lang="en-GB">
              <a:solidFill>
                <a:prstClr val="white">
                  <a:tint val="75000"/>
                </a:prstClr>
              </a:solidFill>
            </a:endParaRPr>
          </a:p>
        </p:txBody>
      </p:sp>
      <p:sp>
        <p:nvSpPr>
          <p:cNvPr id="9" name="Footer Placeholder 8"/>
          <p:cNvSpPr>
            <a:spLocks noGrp="1"/>
          </p:cNvSpPr>
          <p:nvPr>
            <p:ph type="ftr" sz="quarter" idx="12"/>
          </p:nvPr>
        </p:nvSpPr>
        <p:spPr/>
        <p:txBody>
          <a:bodyPr/>
          <a:lstStyle/>
          <a:p>
            <a:pPr>
              <a:defRPr/>
            </a:pPr>
            <a:r>
              <a:rPr lang="en-GB">
                <a:solidFill>
                  <a:prstClr val="white">
                    <a:tint val="75000"/>
                  </a:prstClr>
                </a:solidFill>
              </a:rPr>
              <a:t>Dr. Mwaniki. E</a:t>
            </a:r>
          </a:p>
        </p:txBody>
      </p:sp>
    </p:spTree>
    <p:extLst>
      <p:ext uri="{BB962C8B-B14F-4D97-AF65-F5344CB8AC3E}">
        <p14:creationId xmlns:p14="http://schemas.microsoft.com/office/powerpoint/2010/main" val="291260877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D203C2D6-DDCB-4C01-BFCD-E5FBD58CE136}"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p>
            <a:pPr>
              <a:defRPr/>
            </a:pPr>
            <a:r>
              <a:rPr lang="en-GB">
                <a:solidFill>
                  <a:prstClr val="white">
                    <a:tint val="75000"/>
                  </a:prstClr>
                </a:solidFill>
              </a:rPr>
              <a:t>Dr. Mwaniki. E</a:t>
            </a:r>
          </a:p>
        </p:txBody>
      </p:sp>
      <p:sp>
        <p:nvSpPr>
          <p:cNvPr id="6" name="Slide Number Placeholder 5"/>
          <p:cNvSpPr>
            <a:spLocks noGrp="1"/>
          </p:cNvSpPr>
          <p:nvPr>
            <p:ph type="sldNum" sz="quarter" idx="12"/>
          </p:nvPr>
        </p:nvSpPr>
        <p:spPr/>
        <p:txBody>
          <a:bodyPr/>
          <a:lstStyle/>
          <a:p>
            <a:pPr>
              <a:defRPr/>
            </a:pPr>
            <a:fld id="{B049B128-3F98-4D0C-B8BF-019537F274F2}"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113446618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AAAA59DB-C816-4F4F-82D0-CB4D413A8369}"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p>
            <a:pPr>
              <a:defRPr/>
            </a:pPr>
            <a:r>
              <a:rPr lang="en-GB">
                <a:solidFill>
                  <a:prstClr val="white">
                    <a:tint val="75000"/>
                  </a:prstClr>
                </a:solidFill>
              </a:rPr>
              <a:t>Dr. Mwaniki. E</a:t>
            </a:r>
          </a:p>
        </p:txBody>
      </p:sp>
      <p:sp>
        <p:nvSpPr>
          <p:cNvPr id="6" name="Slide Number Placeholder 5"/>
          <p:cNvSpPr>
            <a:spLocks noGrp="1"/>
          </p:cNvSpPr>
          <p:nvPr>
            <p:ph type="sldNum" sz="quarter" idx="12"/>
          </p:nvPr>
        </p:nvSpPr>
        <p:spPr/>
        <p:txBody>
          <a:bodyPr/>
          <a:lstStyle/>
          <a:p>
            <a:pPr>
              <a:defRPr/>
            </a:pPr>
            <a:fld id="{9CE4DD9C-DA7F-4DA9-B0F2-960BE321D8D1}" type="slidenum">
              <a:rPr lang="en-GB" smtClean="0">
                <a:solidFill>
                  <a:prstClr val="white">
                    <a:tint val="75000"/>
                  </a:prstClr>
                </a:solidFill>
              </a:rPr>
              <a:pPr>
                <a:defRPr/>
              </a:pPr>
              <a:t>‹#›</a:t>
            </a:fld>
            <a:endParaRPr lang="en-GB">
              <a:solidFill>
                <a:prstClr val="white">
                  <a:tint val="75000"/>
                </a:prstClr>
              </a:solidFill>
            </a:endParaRPr>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45194424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E59E2CAA-ED5C-4028-84B1-AEF07A94E271}" type="datetime1">
              <a:rPr lang="en-GB" smtClean="0">
                <a:solidFill>
                  <a:prstClr val="white">
                    <a:tint val="75000"/>
                  </a:prstClr>
                </a:solidFill>
              </a:rPr>
              <a:pPr>
                <a:defRPr/>
              </a:pPr>
              <a:t>25/10/2024</a:t>
            </a:fld>
            <a:endParaRPr lang="en-GB">
              <a:solidFill>
                <a:prstClr val="white">
                  <a:tint val="75000"/>
                </a:prstClr>
              </a:solidFill>
            </a:endParaRPr>
          </a:p>
        </p:txBody>
      </p:sp>
      <p:sp>
        <p:nvSpPr>
          <p:cNvPr id="6" name="Footer Placeholder 5"/>
          <p:cNvSpPr>
            <a:spLocks noGrp="1"/>
          </p:cNvSpPr>
          <p:nvPr>
            <p:ph type="ftr" sz="quarter" idx="11"/>
          </p:nvPr>
        </p:nvSpPr>
        <p:spPr/>
        <p:txBody>
          <a:bodyPr/>
          <a:lstStyle/>
          <a:p>
            <a:pPr>
              <a:defRPr/>
            </a:pPr>
            <a:r>
              <a:rPr lang="en-GB">
                <a:solidFill>
                  <a:prstClr val="white">
                    <a:tint val="75000"/>
                  </a:prstClr>
                </a:solidFill>
              </a:rPr>
              <a:t>Dr. Mwaniki. E</a:t>
            </a:r>
          </a:p>
        </p:txBody>
      </p:sp>
      <p:sp>
        <p:nvSpPr>
          <p:cNvPr id="7" name="Slide Number Placeholder 6"/>
          <p:cNvSpPr>
            <a:spLocks noGrp="1"/>
          </p:cNvSpPr>
          <p:nvPr>
            <p:ph type="sldNum" sz="quarter" idx="12"/>
          </p:nvPr>
        </p:nvSpPr>
        <p:spPr/>
        <p:txBody>
          <a:bodyPr/>
          <a:lstStyle/>
          <a:p>
            <a:pPr>
              <a:defRPr/>
            </a:pPr>
            <a:fld id="{649AA08E-F15F-4C7F-9EAF-CC0CAC59C871}" type="slidenum">
              <a:rPr lang="en-GB" smtClean="0">
                <a:solidFill>
                  <a:prstClr val="white">
                    <a:tint val="75000"/>
                  </a:prstClr>
                </a:solidFill>
              </a:rPr>
              <a:pPr>
                <a:defRPr/>
              </a:pPr>
              <a:t>‹#›</a:t>
            </a:fld>
            <a:endParaRPr lang="en-GB">
              <a:solidFill>
                <a:prstClr val="white">
                  <a:tint val="75000"/>
                </a:prstClr>
              </a:solidFill>
            </a:endParaRPr>
          </a:p>
        </p:txBody>
      </p:sp>
      <p:sp>
        <p:nvSpPr>
          <p:cNvPr id="9" name="Content Placeholder 8"/>
          <p:cNvSpPr>
            <a:spLocks noGrp="1"/>
          </p:cNvSpPr>
          <p:nvPr>
            <p:ph sz="quarter" idx="13"/>
          </p:nvPr>
        </p:nvSpPr>
        <p:spPr>
          <a:xfrm>
            <a:off x="487680" y="1600200"/>
            <a:ext cx="5388864"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218935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pPr>
              <a:defRPr/>
            </a:pPr>
            <a:fld id="{8BD2982B-24F4-4D10-B50A-DB9967EC167E}" type="datetime1">
              <a:rPr lang="en-GB" smtClean="0">
                <a:solidFill>
                  <a:prstClr val="white">
                    <a:tint val="75000"/>
                  </a:prstClr>
                </a:solidFill>
              </a:rPr>
              <a:pPr>
                <a:defRPr/>
              </a:pPr>
              <a:t>25/10/2024</a:t>
            </a:fld>
            <a:endParaRPr lang="en-GB">
              <a:solidFill>
                <a:prstClr val="white">
                  <a:tint val="75000"/>
                </a:prstClr>
              </a:solidFill>
            </a:endParaRPr>
          </a:p>
        </p:txBody>
      </p:sp>
      <p:sp>
        <p:nvSpPr>
          <p:cNvPr id="8" name="Footer Placeholder 7"/>
          <p:cNvSpPr>
            <a:spLocks noGrp="1"/>
          </p:cNvSpPr>
          <p:nvPr>
            <p:ph type="ftr" sz="quarter" idx="11"/>
          </p:nvPr>
        </p:nvSpPr>
        <p:spPr/>
        <p:txBody>
          <a:bodyPr/>
          <a:lstStyle/>
          <a:p>
            <a:pPr>
              <a:defRPr/>
            </a:pPr>
            <a:r>
              <a:rPr lang="en-GB">
                <a:solidFill>
                  <a:prstClr val="white">
                    <a:tint val="75000"/>
                  </a:prstClr>
                </a:solidFill>
              </a:rPr>
              <a:t>Dr. Mwaniki. E</a:t>
            </a:r>
          </a:p>
        </p:txBody>
      </p:sp>
      <p:sp>
        <p:nvSpPr>
          <p:cNvPr id="9" name="Slide Number Placeholder 8"/>
          <p:cNvSpPr>
            <a:spLocks noGrp="1"/>
          </p:cNvSpPr>
          <p:nvPr>
            <p:ph type="sldNum" sz="quarter" idx="12"/>
          </p:nvPr>
        </p:nvSpPr>
        <p:spPr/>
        <p:txBody>
          <a:bodyPr/>
          <a:lstStyle/>
          <a:p>
            <a:pPr>
              <a:defRPr/>
            </a:pPr>
            <a:fld id="{10471DEC-5DEF-4EFB-BA3E-04B804D4B3EF}" type="slidenum">
              <a:rPr lang="en-GB" smtClean="0">
                <a:solidFill>
                  <a:prstClr val="white">
                    <a:tint val="75000"/>
                  </a:prstClr>
                </a:solidFill>
              </a:rPr>
              <a:pPr>
                <a:defRPr/>
              </a:pPr>
              <a:t>‹#›</a:t>
            </a:fld>
            <a:endParaRPr lang="en-GB">
              <a:solidFill>
                <a:prstClr val="white">
                  <a:tint val="75000"/>
                </a:prstClr>
              </a:solidFill>
            </a:endParaRPr>
          </a:p>
        </p:txBody>
      </p:sp>
      <p:sp>
        <p:nvSpPr>
          <p:cNvPr id="11" name="Content Placeholder 10"/>
          <p:cNvSpPr>
            <a:spLocks noGrp="1"/>
          </p:cNvSpPr>
          <p:nvPr>
            <p:ph sz="quarter" idx="13"/>
          </p:nvPr>
        </p:nvSpPr>
        <p:spPr>
          <a:xfrm>
            <a:off x="609600" y="2212848"/>
            <a:ext cx="5388864"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332533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4426BB1F-DEAA-48FF-81B4-D58741B5ECB5}" type="datetime1">
              <a:rPr lang="en-GB" smtClean="0">
                <a:solidFill>
                  <a:prstClr val="white">
                    <a:tint val="75000"/>
                  </a:prstClr>
                </a:solidFill>
              </a:rPr>
              <a:pPr>
                <a:defRPr/>
              </a:pPr>
              <a:t>25/10/2024</a:t>
            </a:fld>
            <a:endParaRPr lang="en-GB">
              <a:solidFill>
                <a:prstClr val="white">
                  <a:tint val="75000"/>
                </a:prstClr>
              </a:solidFill>
            </a:endParaRPr>
          </a:p>
        </p:txBody>
      </p:sp>
      <p:sp>
        <p:nvSpPr>
          <p:cNvPr id="4" name="Footer Placeholder 3"/>
          <p:cNvSpPr>
            <a:spLocks noGrp="1"/>
          </p:cNvSpPr>
          <p:nvPr>
            <p:ph type="ftr" sz="quarter" idx="11"/>
          </p:nvPr>
        </p:nvSpPr>
        <p:spPr/>
        <p:txBody>
          <a:bodyPr/>
          <a:lstStyle/>
          <a:p>
            <a:pPr>
              <a:defRPr/>
            </a:pPr>
            <a:r>
              <a:rPr lang="en-GB">
                <a:solidFill>
                  <a:prstClr val="white">
                    <a:tint val="75000"/>
                  </a:prstClr>
                </a:solidFill>
              </a:rPr>
              <a:t>Dr. Mwaniki. E</a:t>
            </a:r>
          </a:p>
        </p:txBody>
      </p:sp>
      <p:sp>
        <p:nvSpPr>
          <p:cNvPr id="5" name="Slide Number Placeholder 4"/>
          <p:cNvSpPr>
            <a:spLocks noGrp="1"/>
          </p:cNvSpPr>
          <p:nvPr>
            <p:ph type="sldNum" sz="quarter" idx="12"/>
          </p:nvPr>
        </p:nvSpPr>
        <p:spPr/>
        <p:txBody>
          <a:bodyPr/>
          <a:lstStyle/>
          <a:p>
            <a:pPr>
              <a:defRPr/>
            </a:pPr>
            <a:fld id="{21CDE339-BDE0-4A4F-9833-FFAB3DA7F145}"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121880621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1177A61-AA34-4CEF-AC92-D87B8CCDB90D}" type="datetime1">
              <a:rPr lang="en-GB" smtClean="0">
                <a:solidFill>
                  <a:prstClr val="white">
                    <a:tint val="75000"/>
                  </a:prstClr>
                </a:solidFill>
              </a:rPr>
              <a:pPr>
                <a:defRPr/>
              </a:pPr>
              <a:t>25/10/2024</a:t>
            </a:fld>
            <a:endParaRPr lang="en-GB">
              <a:solidFill>
                <a:prstClr val="white">
                  <a:tint val="75000"/>
                </a:prstClr>
              </a:solidFill>
            </a:endParaRPr>
          </a:p>
        </p:txBody>
      </p:sp>
      <p:sp>
        <p:nvSpPr>
          <p:cNvPr id="3" name="Footer Placeholder 2"/>
          <p:cNvSpPr>
            <a:spLocks noGrp="1"/>
          </p:cNvSpPr>
          <p:nvPr>
            <p:ph type="ftr" sz="quarter" idx="11"/>
          </p:nvPr>
        </p:nvSpPr>
        <p:spPr/>
        <p:txBody>
          <a:bodyPr/>
          <a:lstStyle/>
          <a:p>
            <a:pPr>
              <a:defRPr/>
            </a:pPr>
            <a:r>
              <a:rPr lang="en-GB">
                <a:solidFill>
                  <a:prstClr val="white">
                    <a:tint val="75000"/>
                  </a:prstClr>
                </a:solidFill>
              </a:rPr>
              <a:t>Dr. Mwaniki. E</a:t>
            </a:r>
          </a:p>
        </p:txBody>
      </p:sp>
      <p:sp>
        <p:nvSpPr>
          <p:cNvPr id="4" name="Slide Number Placeholder 3"/>
          <p:cNvSpPr>
            <a:spLocks noGrp="1"/>
          </p:cNvSpPr>
          <p:nvPr>
            <p:ph type="sldNum" sz="quarter" idx="12"/>
          </p:nvPr>
        </p:nvSpPr>
        <p:spPr/>
        <p:txBody>
          <a:bodyPr/>
          <a:lstStyle/>
          <a:p>
            <a:pPr>
              <a:defRPr/>
            </a:pPr>
            <a:fld id="{7A762D67-1F95-48DD-9D4F-2B0556F94C2E}"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247552479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E9B14BB-3839-4616-9775-3F60B1410488}" type="datetime1">
              <a:rPr lang="en-GB" smtClean="0">
                <a:solidFill>
                  <a:prstClr val="white">
                    <a:tint val="75000"/>
                  </a:prstClr>
                </a:solidFill>
              </a:rPr>
              <a:pPr>
                <a:defRPr/>
              </a:pPr>
              <a:t>25/10/2024</a:t>
            </a:fld>
            <a:endParaRPr lang="en-GB">
              <a:solidFill>
                <a:prstClr val="white">
                  <a:tint val="75000"/>
                </a:prstClr>
              </a:solidFill>
            </a:endParaRPr>
          </a:p>
        </p:txBody>
      </p:sp>
      <p:sp>
        <p:nvSpPr>
          <p:cNvPr id="6" name="Footer Placeholder 5"/>
          <p:cNvSpPr>
            <a:spLocks noGrp="1"/>
          </p:cNvSpPr>
          <p:nvPr>
            <p:ph type="ftr" sz="quarter" idx="11"/>
          </p:nvPr>
        </p:nvSpPr>
        <p:spPr/>
        <p:txBody>
          <a:bodyPr/>
          <a:lstStyle/>
          <a:p>
            <a:pPr>
              <a:defRPr/>
            </a:pPr>
            <a:r>
              <a:rPr lang="en-GB">
                <a:solidFill>
                  <a:prstClr val="white">
                    <a:tint val="75000"/>
                  </a:prstClr>
                </a:solidFill>
              </a:rPr>
              <a:t>Dr. Mwaniki. E</a:t>
            </a:r>
          </a:p>
        </p:txBody>
      </p:sp>
      <p:sp>
        <p:nvSpPr>
          <p:cNvPr id="7" name="Slide Number Placeholder 6"/>
          <p:cNvSpPr>
            <a:spLocks noGrp="1"/>
          </p:cNvSpPr>
          <p:nvPr>
            <p:ph type="sldNum" sz="quarter" idx="12"/>
          </p:nvPr>
        </p:nvSpPr>
        <p:spPr/>
        <p:txBody>
          <a:bodyPr/>
          <a:lstStyle/>
          <a:p>
            <a:pPr>
              <a:defRPr/>
            </a:pPr>
            <a:fld id="{A98B7939-2B9E-4E0F-9E0D-4800E7C36855}"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64105673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n-US"/>
              <a:t>Click to edit Master title style</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8300C2F-36CB-4446-9CE1-A60B3255C319}" type="datetime1">
              <a:rPr lang="en-GB" smtClean="0">
                <a:solidFill>
                  <a:prstClr val="white">
                    <a:tint val="75000"/>
                  </a:prstClr>
                </a:solidFill>
              </a:rPr>
              <a:pPr>
                <a:defRPr/>
              </a:pPr>
              <a:t>25/10/2024</a:t>
            </a:fld>
            <a:endParaRPr lang="en-GB">
              <a:solidFill>
                <a:prstClr val="white">
                  <a:tint val="75000"/>
                </a:prstClr>
              </a:solidFill>
            </a:endParaRPr>
          </a:p>
        </p:txBody>
      </p:sp>
      <p:sp>
        <p:nvSpPr>
          <p:cNvPr id="6" name="Footer Placeholder 5"/>
          <p:cNvSpPr>
            <a:spLocks noGrp="1"/>
          </p:cNvSpPr>
          <p:nvPr>
            <p:ph type="ftr" sz="quarter" idx="11"/>
          </p:nvPr>
        </p:nvSpPr>
        <p:spPr/>
        <p:txBody>
          <a:bodyPr/>
          <a:lstStyle/>
          <a:p>
            <a:pPr>
              <a:defRPr/>
            </a:pPr>
            <a:r>
              <a:rPr lang="en-GB">
                <a:solidFill>
                  <a:prstClr val="white">
                    <a:tint val="75000"/>
                  </a:prstClr>
                </a:solidFill>
              </a:rPr>
              <a:t>Dr. Mwaniki. E</a:t>
            </a:r>
          </a:p>
        </p:txBody>
      </p:sp>
      <p:sp>
        <p:nvSpPr>
          <p:cNvPr id="7" name="Slide Number Placeholder 6"/>
          <p:cNvSpPr>
            <a:spLocks noGrp="1"/>
          </p:cNvSpPr>
          <p:nvPr>
            <p:ph type="sldNum" sz="quarter" idx="12"/>
          </p:nvPr>
        </p:nvSpPr>
        <p:spPr/>
        <p:txBody>
          <a:bodyPr/>
          <a:lstStyle/>
          <a:p>
            <a:pPr>
              <a:defRPr/>
            </a:pPr>
            <a:fld id="{B786A062-F613-467E-8A96-075E21DD600E}"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28568022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AC3C6E16-4188-4F39-8619-2FB313FC7B85}"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p>
            <a:pPr>
              <a:defRPr/>
            </a:pPr>
            <a:r>
              <a:rPr lang="en-GB">
                <a:solidFill>
                  <a:prstClr val="white">
                    <a:tint val="75000"/>
                  </a:prstClr>
                </a:solidFill>
              </a:rPr>
              <a:t>Dr. Mwaniki. E</a:t>
            </a:r>
          </a:p>
        </p:txBody>
      </p:sp>
      <p:sp>
        <p:nvSpPr>
          <p:cNvPr id="6" name="Slide Number Placeholder 5"/>
          <p:cNvSpPr>
            <a:spLocks noGrp="1"/>
          </p:cNvSpPr>
          <p:nvPr>
            <p:ph type="sldNum" sz="quarter" idx="12"/>
          </p:nvPr>
        </p:nvSpPr>
        <p:spPr/>
        <p:txBody>
          <a:bodyPr/>
          <a:lstStyle/>
          <a:p>
            <a:pPr>
              <a:defRPr/>
            </a:pPr>
            <a:fld id="{32B620C1-3216-4EED-8DD2-1275F47FC968}"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160264944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5750ADC2-B7B6-4E26-BE42-80E24BCA7947}" type="datetime1">
              <a:rPr lang="en-GB" smtClean="0">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11"/>
          </p:nvPr>
        </p:nvSpPr>
        <p:spPr/>
        <p:txBody>
          <a:bodyPr/>
          <a:lstStyle/>
          <a:p>
            <a:pPr>
              <a:defRPr/>
            </a:pPr>
            <a:r>
              <a:rPr lang="en-GB">
                <a:solidFill>
                  <a:prstClr val="white">
                    <a:tint val="75000"/>
                  </a:prstClr>
                </a:solidFill>
              </a:rPr>
              <a:t>Dr. Mwaniki. E</a:t>
            </a:r>
          </a:p>
        </p:txBody>
      </p:sp>
      <p:sp>
        <p:nvSpPr>
          <p:cNvPr id="6" name="Slide Number Placeholder 5"/>
          <p:cNvSpPr>
            <a:spLocks noGrp="1"/>
          </p:cNvSpPr>
          <p:nvPr>
            <p:ph type="sldNum" sz="quarter" idx="12"/>
          </p:nvPr>
        </p:nvSpPr>
        <p:spPr/>
        <p:txBody>
          <a:bodyPr/>
          <a:lstStyle/>
          <a:p>
            <a:pPr>
              <a:defRPr/>
            </a:pPr>
            <a:fld id="{90245CF3-1DB8-42AD-A6D4-F359D7B2B760}" type="slidenum">
              <a:rPr lang="en-GB" smtClean="0">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1716899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theme" Target="../theme/theme5.xml"/><Relationship Id="rId3" Type="http://schemas.openxmlformats.org/officeDocument/2006/relationships/slideLayout" Target="../slideLayouts/slideLayout49.xml"/><Relationship Id="rId21" Type="http://schemas.openxmlformats.org/officeDocument/2006/relationships/image" Target="../media/image4.png"/><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image" Target="../media/image3.png"/><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19" Type="http://schemas.openxmlformats.org/officeDocument/2006/relationships/image" Target="../media/image2.png"/><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6.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18" Type="http://schemas.openxmlformats.org/officeDocument/2006/relationships/theme" Target="../theme/theme7.xml"/><Relationship Id="rId3" Type="http://schemas.openxmlformats.org/officeDocument/2006/relationships/slideLayout" Target="../slideLayouts/slideLayout77.xml"/><Relationship Id="rId21" Type="http://schemas.openxmlformats.org/officeDocument/2006/relationships/image" Target="../media/image4.png"/><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image" Target="../media/image3.png"/><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slideLayout" Target="../slideLayouts/slideLayout89.xml"/><Relationship Id="rId10" Type="http://schemas.openxmlformats.org/officeDocument/2006/relationships/slideLayout" Target="../slideLayouts/slideLayout84.xml"/><Relationship Id="rId19" Type="http://schemas.openxmlformats.org/officeDocument/2006/relationships/image" Target="../media/image2.png"/><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image" Target="../media/image5.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9.xml"/><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theme" Target="../theme/theme8.xml"/><Relationship Id="rId2" Type="http://schemas.openxmlformats.org/officeDocument/2006/relationships/slideLayout" Target="../slideLayouts/slideLayout93.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5" Type="http://schemas.openxmlformats.org/officeDocument/2006/relationships/slideLayout" Target="../slideLayouts/slideLayout96.xml"/><Relationship Id="rId10" Type="http://schemas.openxmlformats.org/officeDocument/2006/relationships/slideLayout" Target="../slideLayouts/slideLayout101.xml"/><Relationship Id="rId4" Type="http://schemas.openxmlformats.org/officeDocument/2006/relationships/slideLayout" Target="../slideLayouts/slideLayout95.xml"/><Relationship Id="rId9" Type="http://schemas.openxmlformats.org/officeDocument/2006/relationships/slideLayout" Target="../slideLayouts/slideLayout10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r>
              <a:rPr lang="en-US">
                <a:solidFill>
                  <a:prstClr val="black">
                    <a:tint val="75000"/>
                  </a:prstClr>
                </a:solidFill>
              </a:rPr>
              <a:t>02/02/2021</a:t>
            </a:r>
            <a:endParaRPr lang="en-GB">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r>
              <a:rPr lang="en-GB">
                <a:solidFill>
                  <a:prstClr val="black">
                    <a:tint val="75000"/>
                  </a:prstClr>
                </a:solidFill>
              </a:rPr>
              <a:t>Dr. E. Mwaniki</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235543E2-1D33-447D-BBB5-E5241FF7A861}" type="slidenum">
              <a:rPr lang="en-GB">
                <a:solidFill>
                  <a:prstClr val="black">
                    <a:tint val="75000"/>
                  </a:prstClr>
                </a:solidFill>
              </a:rPr>
              <a:pPr>
                <a:defRPr/>
              </a:pPr>
              <a:t>‹#›</a:t>
            </a:fld>
            <a:endParaRPr lang="en-GB">
              <a:solidFill>
                <a:prstClr val="black">
                  <a:tint val="75000"/>
                </a:prstClr>
              </a:solidFill>
            </a:endParaRPr>
          </a:p>
        </p:txBody>
      </p:sp>
    </p:spTree>
    <p:extLst>
      <p:ext uri="{BB962C8B-B14F-4D97-AF65-F5344CB8AC3E}">
        <p14:creationId xmlns:p14="http://schemas.microsoft.com/office/powerpoint/2010/main" val="9137615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DCB59F-3CA4-4354-833D-94EC6CD4EF05}" type="datetimeFigureOut">
              <a:rPr lang="en-US" smtClean="0">
                <a:solidFill>
                  <a:prstClr val="black">
                    <a:tint val="75000"/>
                  </a:prstClr>
                </a:solidFill>
              </a:rPr>
              <a:pPr/>
              <a:t>10/25/2024</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D20E24-F4DF-4CC0-82C0-FA10746B1EA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2211681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B416C454-33CC-44EB-BB7D-344C35637B31}" type="datetime1">
              <a:rPr lang="en-GB">
                <a:solidFill>
                  <a:prstClr val="white">
                    <a:tint val="75000"/>
                  </a:prstClr>
                </a:solidFill>
              </a:rPr>
              <a:pPr>
                <a:defRPr/>
              </a:pPr>
              <a:t>25/10/2024</a:t>
            </a:fld>
            <a:endParaRPr lang="en-GB">
              <a:solidFill>
                <a:prstClr val="white">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GB">
                <a:solidFill>
                  <a:prstClr val="white">
                    <a:tint val="75000"/>
                  </a:prstClr>
                </a:solidFill>
              </a:rPr>
              <a:t>Dr. Mwaniki</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AC892D5C-6373-48F0-8BC4-E716BAC6194F}" type="slidenum">
              <a:rPr lang="en-GB">
                <a:solidFill>
                  <a:prstClr val="white">
                    <a:tint val="75000"/>
                  </a:prstClr>
                </a:solidFill>
              </a:rPr>
              <a:pPr>
                <a:defRPr/>
              </a:pPr>
              <a:t>‹#›</a:t>
            </a:fld>
            <a:endParaRPr lang="en-GB">
              <a:solidFill>
                <a:prstClr val="white">
                  <a:tint val="75000"/>
                </a:prstClr>
              </a:solidFill>
            </a:endParaRPr>
          </a:p>
        </p:txBody>
      </p:sp>
    </p:spTree>
    <p:extLst>
      <p:ext uri="{BB962C8B-B14F-4D97-AF65-F5344CB8AC3E}">
        <p14:creationId xmlns:p14="http://schemas.microsoft.com/office/powerpoint/2010/main" val="1655192129"/>
      </p:ext>
    </p:extLst>
  </p:cSld>
  <p:clrMap bg1="dk1" tx1="lt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19E76B-EF56-4A9C-B585-8C6DE46189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E"/>
          </a:p>
        </p:txBody>
      </p:sp>
      <p:sp>
        <p:nvSpPr>
          <p:cNvPr id="3" name="Text Placeholder 2">
            <a:extLst>
              <a:ext uri="{FF2B5EF4-FFF2-40B4-BE49-F238E27FC236}">
                <a16:creationId xmlns:a16="http://schemas.microsoft.com/office/drawing/2014/main" id="{73056DF4-E77F-4CE1-8A9F-9258FE1654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6357920F-FF4A-4783-B260-53689545AB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F848E7-0E42-4170-B5E6-7CC98B6B5F4A}" type="datetimeFigureOut">
              <a:rPr lang="en-KE" smtClean="0"/>
              <a:t>10/25/2024</a:t>
            </a:fld>
            <a:endParaRPr lang="en-KE"/>
          </a:p>
        </p:txBody>
      </p:sp>
      <p:sp>
        <p:nvSpPr>
          <p:cNvPr id="5" name="Footer Placeholder 4">
            <a:extLst>
              <a:ext uri="{FF2B5EF4-FFF2-40B4-BE49-F238E27FC236}">
                <a16:creationId xmlns:a16="http://schemas.microsoft.com/office/drawing/2014/main" id="{15C9705C-58E5-45AE-BFEA-D2123589F1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E"/>
          </a:p>
        </p:txBody>
      </p:sp>
      <p:sp>
        <p:nvSpPr>
          <p:cNvPr id="6" name="Slide Number Placeholder 5">
            <a:extLst>
              <a:ext uri="{FF2B5EF4-FFF2-40B4-BE49-F238E27FC236}">
                <a16:creationId xmlns:a16="http://schemas.microsoft.com/office/drawing/2014/main" id="{14E8ADCF-BBBA-469C-9A5E-1D91BC5D15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2EC251-6D9C-41E4-85B2-AE85706C1F14}" type="slidenum">
              <a:rPr lang="en-KE" smtClean="0"/>
              <a:t>‹#›</a:t>
            </a:fld>
            <a:endParaRPr lang="en-KE"/>
          </a:p>
        </p:txBody>
      </p:sp>
    </p:spTree>
    <p:extLst>
      <p:ext uri="{BB962C8B-B14F-4D97-AF65-F5344CB8AC3E}">
        <p14:creationId xmlns:p14="http://schemas.microsoft.com/office/powerpoint/2010/main" val="58944162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2F848E7-0E42-4170-B5E6-7CC98B6B5F4A}" type="datetimeFigureOut">
              <a:rPr lang="en-KE" smtClean="0"/>
              <a:t>10/25/2024</a:t>
            </a:fld>
            <a:endParaRPr lang="en-KE"/>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KE"/>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22EC251-6D9C-41E4-85B2-AE85706C1F14}" type="slidenum">
              <a:rPr lang="en-KE" smtClean="0"/>
              <a:t>‹#›</a:t>
            </a:fld>
            <a:endParaRPr lang="en-KE"/>
          </a:p>
        </p:txBody>
      </p:sp>
    </p:spTree>
    <p:extLst>
      <p:ext uri="{BB962C8B-B14F-4D97-AF65-F5344CB8AC3E}">
        <p14:creationId xmlns:p14="http://schemas.microsoft.com/office/powerpoint/2010/main" val="2419677872"/>
      </p:ext>
    </p:extLst>
  </p:cSld>
  <p:clrMap bg1="dk1" tx1="lt1" bg2="dk2"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A38E80-857D-40F2-A4E5-B3243975FAFC}" type="datetimeFigureOut">
              <a:rPr lang="en-US" smtClean="0"/>
              <a:t>10/25/2024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BBF4EA-786D-4747-BD53-4859A06B3FDC}" type="slidenum">
              <a:rPr lang="en-US" smtClean="0"/>
              <a:t>‹#›</a:t>
            </a:fld>
            <a:endParaRPr lang="en-US"/>
          </a:p>
        </p:txBody>
      </p:sp>
    </p:spTree>
    <p:extLst>
      <p:ext uri="{BB962C8B-B14F-4D97-AF65-F5344CB8AC3E}">
        <p14:creationId xmlns:p14="http://schemas.microsoft.com/office/powerpoint/2010/main" val="2898699650"/>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2F848E7-0E42-4170-B5E6-7CC98B6B5F4A}" type="datetimeFigureOut">
              <a:rPr lang="en-KE" smtClean="0"/>
              <a:t>10/25/2024</a:t>
            </a:fld>
            <a:endParaRPr lang="en-KE"/>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KE"/>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22EC251-6D9C-41E4-85B2-AE85706C1F14}" type="slidenum">
              <a:rPr lang="en-KE" smtClean="0"/>
              <a:t>‹#›</a:t>
            </a:fld>
            <a:endParaRPr lang="en-KE"/>
          </a:p>
        </p:txBody>
      </p:sp>
    </p:spTree>
    <p:extLst>
      <p:ext uri="{BB962C8B-B14F-4D97-AF65-F5344CB8AC3E}">
        <p14:creationId xmlns:p14="http://schemas.microsoft.com/office/powerpoint/2010/main" val="3586790064"/>
      </p:ext>
    </p:extLst>
  </p:cSld>
  <p:clrMap bg1="dk1" tx1="lt1" bg2="dk2" tx2="lt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1D8BD707-D9CF-40AE-B4C6-C98DA3205C09}" type="datetimeFigureOut">
              <a:rPr lang="en-US" smtClean="0"/>
              <a:pPr/>
              <a:t>10/25/2024</a:t>
            </a:fld>
            <a:endParaRPr lang="en-US"/>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B6F15528-21DE-4FAA-801E-634DDDAF4B2B}" type="slidenum">
              <a:rPr lang="en-US" smtClean="0"/>
              <a:pPr/>
              <a:t>‹#›</a:t>
            </a:fld>
            <a:endParaRPr lang="en-US"/>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5908913"/>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8.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8.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6.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6.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6.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6.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6.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6.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6.xml"/></Relationships>
</file>

<file path=ppt/slides/_rels/slide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6.xml"/></Relationships>
</file>

<file path=ppt/slides/_rels/slide5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6.xml"/></Relationships>
</file>

<file path=ppt/slides/_rels/slide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6.xml"/></Relationships>
</file>

<file path=ppt/slides/_rels/slide5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6.xml"/></Relationships>
</file>

<file path=ppt/slides/_rels/slide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6.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Communicable diseases </a:t>
            </a:r>
          </a:p>
        </p:txBody>
      </p:sp>
      <p:sp>
        <p:nvSpPr>
          <p:cNvPr id="3" name="Subtitle 2"/>
          <p:cNvSpPr>
            <a:spLocks noGrp="1"/>
          </p:cNvSpPr>
          <p:nvPr>
            <p:ph type="subTitle" idx="1"/>
          </p:nvPr>
        </p:nvSpPr>
        <p:spPr/>
        <p:txBody>
          <a:bodyPr/>
          <a:lstStyle/>
          <a:p>
            <a:r>
              <a:rPr lang="en-US" dirty="0"/>
              <a:t>Dr. E. Mwaniki</a:t>
            </a:r>
          </a:p>
        </p:txBody>
      </p:sp>
    </p:spTree>
    <p:extLst>
      <p:ext uri="{BB962C8B-B14F-4D97-AF65-F5344CB8AC3E}">
        <p14:creationId xmlns:p14="http://schemas.microsoft.com/office/powerpoint/2010/main" val="1117834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228601"/>
            <a:ext cx="8458200" cy="5897563"/>
          </a:xfrm>
        </p:spPr>
        <p:txBody>
          <a:bodyPr>
            <a:normAutofit/>
          </a:bodyPr>
          <a:lstStyle/>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A </a:t>
            </a:r>
            <a:r>
              <a:rPr lang="en-US" dirty="0">
                <a:solidFill>
                  <a:srgbClr val="CC0000"/>
                </a:solidFill>
                <a:latin typeface="Times New Roman"/>
                <a:ea typeface="Times New Roman"/>
                <a:cs typeface="Times New Roman"/>
              </a:rPr>
              <a:t>communicable disease</a:t>
            </a:r>
            <a:r>
              <a:rPr lang="en-US" dirty="0">
                <a:latin typeface="Times New Roman"/>
                <a:ea typeface="Times New Roman"/>
                <a:cs typeface="Times New Roman"/>
              </a:rPr>
              <a:t> is a disease that spreads from person to person. It is caused by a specific biologic agent and can be transmitted either directly or indirectly from man to man, animal to man, or from the environment (air, food, water, </a:t>
            </a:r>
            <a:r>
              <a:rPr lang="en-US" dirty="0" err="1">
                <a:latin typeface="Times New Roman"/>
                <a:ea typeface="Times New Roman"/>
                <a:cs typeface="Times New Roman"/>
              </a:rPr>
              <a:t>etc</a:t>
            </a:r>
            <a:r>
              <a:rPr lang="en-US" dirty="0">
                <a:latin typeface="Times New Roman"/>
                <a:ea typeface="Times New Roman"/>
                <a:cs typeface="Times New Roman"/>
              </a:rPr>
              <a:t>) to man.</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Communicable diseases are diseases that you can "catch" from someone or something else. Communicable Diseases = Infectious diseases.</a:t>
            </a:r>
            <a:endParaRPr lang="en-US" sz="2800" dirty="0">
              <a:latin typeface="Letter Gothic"/>
              <a:ea typeface="Times New Roman"/>
              <a:cs typeface="Times New Roman"/>
            </a:endParaRPr>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2</a:t>
            </a:fld>
            <a:endParaRPr lang="en-US">
              <a:solidFill>
                <a:prstClr val="black">
                  <a:tint val="75000"/>
                </a:prstClr>
              </a:solidFill>
              <a:latin typeface="Calibri"/>
            </a:endParaRPr>
          </a:p>
        </p:txBody>
      </p:sp>
    </p:spTree>
    <p:extLst>
      <p:ext uri="{BB962C8B-B14F-4D97-AF65-F5344CB8AC3E}">
        <p14:creationId xmlns:p14="http://schemas.microsoft.com/office/powerpoint/2010/main" val="1832537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381001"/>
            <a:ext cx="8458200" cy="5745163"/>
          </a:xfrm>
        </p:spPr>
        <p:txBody>
          <a:bodyPr>
            <a:normAutofit fontScale="70000" lnSpcReduction="20000"/>
          </a:bodyPr>
          <a:lstStyle/>
          <a:p>
            <a:pPr marL="0" algn="just">
              <a:spcBef>
                <a:spcPts val="0"/>
              </a:spcBef>
              <a:spcAft>
                <a:spcPts val="0"/>
              </a:spcAft>
              <a:tabLst>
                <a:tab pos="2743200" algn="ctr"/>
                <a:tab pos="5486400" algn="r"/>
                <a:tab pos="457200" algn="l"/>
                <a:tab pos="2743200" algn="ctr"/>
                <a:tab pos="5486400" algn="r"/>
              </a:tabLst>
            </a:pPr>
            <a:r>
              <a:rPr lang="en-US" u="sng" dirty="0">
                <a:latin typeface="Times New Roman"/>
                <a:ea typeface="Times New Roman"/>
                <a:cs typeface="Times New Roman"/>
              </a:rPr>
              <a:t>DEFINITIONS</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algn="just">
              <a:spcBef>
                <a:spcPts val="0"/>
              </a:spcBef>
              <a:buFont typeface="Wingdings"/>
              <a:buChar char=""/>
              <a:tabLst>
                <a:tab pos="2743200" algn="ctr"/>
                <a:tab pos="5486400" algn="r"/>
                <a:tab pos="457200" algn="l"/>
                <a:tab pos="2743200" algn="ctr"/>
                <a:tab pos="5486400" algn="r"/>
              </a:tabLst>
            </a:pPr>
            <a:r>
              <a:rPr lang="en-US" b="1" dirty="0">
                <a:latin typeface="Times New Roman"/>
                <a:ea typeface="Times New Roman"/>
                <a:cs typeface="Times New Roman"/>
              </a:rPr>
              <a:t>Infection</a:t>
            </a:r>
            <a:r>
              <a:rPr lang="en-US" dirty="0">
                <a:latin typeface="Times New Roman"/>
                <a:ea typeface="Times New Roman"/>
                <a:cs typeface="Times New Roman"/>
              </a:rPr>
              <a:t> is the entry and multiplication of an infectious agent in the body of man or animals.  </a:t>
            </a:r>
            <a:endParaRPr lang="en-US" sz="2800" dirty="0">
              <a:latin typeface="Letter Gothic"/>
              <a:ea typeface="Times New Roman"/>
              <a:cs typeface="Times New Roman"/>
            </a:endParaRPr>
          </a:p>
          <a:p>
            <a:pPr marL="457200" algn="just">
              <a:spcBef>
                <a:spcPts val="0"/>
              </a:spcBef>
              <a:spcAft>
                <a:spcPts val="0"/>
              </a:spcAft>
              <a:tabLst>
                <a:tab pos="2743200" algn="ctr"/>
                <a:tab pos="5486400" algn="r"/>
              </a:tabLst>
            </a:pPr>
            <a:r>
              <a:rPr lang="en-ZA" dirty="0">
                <a:latin typeface="Times New Roman"/>
                <a:ea typeface="Times New Roman"/>
                <a:cs typeface="Times New Roman"/>
              </a:rPr>
              <a:t> </a:t>
            </a:r>
            <a:endParaRPr lang="en-US" sz="2800" dirty="0">
              <a:latin typeface="Letter Gothic"/>
              <a:ea typeface="Times New Roman"/>
              <a:cs typeface="Times New Roman"/>
            </a:endParaRPr>
          </a:p>
          <a:p>
            <a:pPr algn="just">
              <a:spcBef>
                <a:spcPts val="0"/>
              </a:spcBef>
              <a:buFont typeface="Wingdings"/>
              <a:buChar char=""/>
              <a:tabLst>
                <a:tab pos="2743200" algn="ctr"/>
                <a:tab pos="5486400" algn="r"/>
                <a:tab pos="457200" algn="l"/>
                <a:tab pos="2743200" algn="ctr"/>
                <a:tab pos="5486400" algn="r"/>
              </a:tabLst>
            </a:pPr>
            <a:r>
              <a:rPr lang="en-US" b="1" dirty="0">
                <a:latin typeface="Times New Roman"/>
                <a:ea typeface="Times New Roman"/>
                <a:cs typeface="Times New Roman"/>
              </a:rPr>
              <a:t>Contamination</a:t>
            </a:r>
            <a:r>
              <a:rPr lang="en-US" dirty="0">
                <a:latin typeface="Times New Roman"/>
                <a:ea typeface="Times New Roman"/>
                <a:cs typeface="Times New Roman"/>
              </a:rPr>
              <a:t>: The presence of an infectious agent on a body surface, on or in clothes, beddings, toys, surgical instruments or dressings, or other articles or substances including water and food</a:t>
            </a:r>
            <a:endParaRPr lang="en-US" sz="2800" dirty="0">
              <a:latin typeface="Letter Gothic"/>
              <a:ea typeface="Times New Roman"/>
              <a:cs typeface="Times New Roman"/>
            </a:endParaRPr>
          </a:p>
          <a:p>
            <a:pPr marL="457200" algn="just">
              <a:spcBef>
                <a:spcPts val="0"/>
              </a:spcBef>
              <a:spcAft>
                <a:spcPts val="0"/>
              </a:spcAft>
              <a:tabLst>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algn="just">
              <a:spcBef>
                <a:spcPts val="0"/>
              </a:spcBef>
              <a:buFont typeface="Wingdings"/>
              <a:buChar char=""/>
              <a:tabLst>
                <a:tab pos="2743200" algn="ctr"/>
                <a:tab pos="5486400" algn="r"/>
                <a:tab pos="457200" algn="l"/>
                <a:tab pos="2743200" algn="ctr"/>
                <a:tab pos="5486400" algn="r"/>
              </a:tabLst>
            </a:pPr>
            <a:r>
              <a:rPr lang="en-US" b="1" dirty="0">
                <a:latin typeface="Times New Roman"/>
                <a:ea typeface="Times New Roman"/>
                <a:cs typeface="Times New Roman"/>
              </a:rPr>
              <a:t>Contagious disease</a:t>
            </a:r>
            <a:r>
              <a:rPr lang="en-US" dirty="0">
                <a:latin typeface="Times New Roman"/>
                <a:ea typeface="Times New Roman"/>
                <a:cs typeface="Times New Roman"/>
              </a:rPr>
              <a:t> is the one that is transmitted through contact. Examples include scabies, trachoma, STD and leprosy.</a:t>
            </a:r>
            <a:endParaRPr lang="en-US" sz="2800" dirty="0">
              <a:latin typeface="Letter Gothic"/>
              <a:ea typeface="Times New Roman"/>
              <a:cs typeface="Times New Roman"/>
            </a:endParaRPr>
          </a:p>
          <a:p>
            <a:pPr marL="457200">
              <a:spcBef>
                <a:spcPts val="0"/>
              </a:spcBef>
              <a:spcAft>
                <a:spcPts val="0"/>
              </a:spcAft>
            </a:pPr>
            <a:r>
              <a:rPr lang="en-ZA" dirty="0">
                <a:latin typeface="Times New Roman"/>
                <a:ea typeface="Times New Roman"/>
              </a:rPr>
              <a:t> </a:t>
            </a:r>
            <a:endParaRPr lang="en-US" sz="2800" dirty="0">
              <a:latin typeface="Times New Roman"/>
              <a:ea typeface="Times New Roman"/>
            </a:endParaRPr>
          </a:p>
          <a:p>
            <a:pPr algn="just">
              <a:spcBef>
                <a:spcPts val="0"/>
              </a:spcBef>
              <a:buFont typeface="Wingdings"/>
              <a:buChar char=""/>
              <a:tabLst>
                <a:tab pos="2743200" algn="ctr"/>
                <a:tab pos="5486400" algn="r"/>
                <a:tab pos="457200" algn="l"/>
                <a:tab pos="2743200" algn="ctr"/>
                <a:tab pos="5486400" algn="r"/>
              </a:tabLst>
            </a:pPr>
            <a:r>
              <a:rPr lang="en-ZA" b="1" dirty="0">
                <a:latin typeface="Times New Roman"/>
                <a:ea typeface="Times New Roman"/>
                <a:cs typeface="Times New Roman"/>
              </a:rPr>
              <a:t>Vector:</a:t>
            </a:r>
            <a:r>
              <a:rPr lang="en-ZA" dirty="0">
                <a:latin typeface="Times New Roman"/>
                <a:ea typeface="Times New Roman"/>
                <a:cs typeface="Times New Roman"/>
              </a:rPr>
              <a:t> An insect or any living carrier that transports an infectious agent from an infected individual or its wastes to a susceptible individual or its food or immediate surroundings. Both biological and mechanical transmissions are encountered</a:t>
            </a:r>
            <a:endParaRPr lang="en-US" sz="2800" dirty="0">
              <a:latin typeface="Letter Gothic"/>
              <a:ea typeface="Times New Roman"/>
              <a:cs typeface="Times New Roman"/>
            </a:endParaRPr>
          </a:p>
          <a:p>
            <a:pPr marL="457200" algn="just">
              <a:spcBef>
                <a:spcPts val="0"/>
              </a:spcBef>
              <a:spcAft>
                <a:spcPts val="0"/>
              </a:spcAft>
              <a:tabLst>
                <a:tab pos="2743200" algn="ctr"/>
                <a:tab pos="5486400" algn="r"/>
              </a:tabLst>
            </a:pPr>
            <a:r>
              <a:rPr lang="en-ZA" dirty="0">
                <a:latin typeface="Times New Roman"/>
                <a:ea typeface="Times New Roman"/>
                <a:cs typeface="Times New Roman"/>
              </a:rPr>
              <a:t> </a:t>
            </a:r>
            <a:endParaRPr lang="en-US" sz="2800" dirty="0">
              <a:latin typeface="Letter Gothic"/>
              <a:ea typeface="Times New Roman"/>
              <a:cs typeface="Times New Roman"/>
            </a:endParaRPr>
          </a:p>
          <a:p>
            <a:pPr algn="just">
              <a:spcBef>
                <a:spcPts val="0"/>
              </a:spcBef>
              <a:buFont typeface="Wingdings"/>
              <a:buChar char=""/>
              <a:tabLst>
                <a:tab pos="2743200" algn="ctr"/>
                <a:tab pos="5486400" algn="r"/>
                <a:tab pos="457200" algn="l"/>
                <a:tab pos="2743200" algn="ctr"/>
                <a:tab pos="5486400" algn="r"/>
              </a:tabLst>
            </a:pPr>
            <a:r>
              <a:rPr lang="en-ZA" b="1" dirty="0">
                <a:latin typeface="Times New Roman"/>
                <a:ea typeface="Times New Roman"/>
                <a:cs typeface="Times New Roman"/>
              </a:rPr>
              <a:t>Reservoir</a:t>
            </a:r>
            <a:r>
              <a:rPr lang="en-ZA" dirty="0">
                <a:latin typeface="Times New Roman"/>
                <a:ea typeface="Times New Roman"/>
                <a:cs typeface="Times New Roman"/>
              </a:rPr>
              <a:t>: Any person, animal, arthropod, plant, soil, or substance, or a combination of these, in which an infectious agent normally lives and multiplies. It is the natural habitat of the infectious agent from where it is transmitted to a susceptible host.</a:t>
            </a:r>
            <a:endParaRPr lang="en-US" sz="2800" dirty="0">
              <a:latin typeface="Letter Gothic"/>
              <a:ea typeface="Times New Roman"/>
              <a:cs typeface="Times New Roman"/>
            </a:endParaRP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3</a:t>
            </a:fld>
            <a:endParaRPr lang="en-US">
              <a:solidFill>
                <a:prstClr val="black">
                  <a:tint val="75000"/>
                </a:prstClr>
              </a:solidFill>
              <a:latin typeface="Calibri"/>
            </a:endParaRPr>
          </a:p>
        </p:txBody>
      </p:sp>
    </p:spTree>
    <p:extLst>
      <p:ext uri="{BB962C8B-B14F-4D97-AF65-F5344CB8AC3E}">
        <p14:creationId xmlns:p14="http://schemas.microsoft.com/office/powerpoint/2010/main" val="2654257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304800"/>
            <a:ext cx="8763000" cy="6324600"/>
          </a:xfrm>
        </p:spPr>
        <p:txBody>
          <a:bodyPr>
            <a:normAutofit fontScale="70000" lnSpcReduction="20000"/>
          </a:bodyPr>
          <a:lstStyle/>
          <a:p>
            <a:pPr algn="just">
              <a:spcBef>
                <a:spcPts val="0"/>
              </a:spcBef>
              <a:buFont typeface="Wingdings"/>
              <a:buChar char=""/>
              <a:tabLst>
                <a:tab pos="2743200" algn="ctr"/>
                <a:tab pos="5486400" algn="r"/>
                <a:tab pos="457200" algn="l"/>
                <a:tab pos="2743200" algn="ctr"/>
                <a:tab pos="5486400" algn="r"/>
              </a:tabLst>
            </a:pPr>
            <a:r>
              <a:rPr lang="en-US" b="1" dirty="0">
                <a:latin typeface="Times New Roman"/>
                <a:ea typeface="Times New Roman"/>
                <a:cs typeface="Times New Roman"/>
              </a:rPr>
              <a:t>Epidemic:</a:t>
            </a:r>
            <a:r>
              <a:rPr lang="en-US" dirty="0">
                <a:latin typeface="Times New Roman"/>
                <a:ea typeface="Times New Roman"/>
                <a:cs typeface="Times New Roman"/>
              </a:rPr>
              <a:t> The unusual occurrence in a community of disease, specific health related behavior, or other health related events clearly in excess of expected occurrence” </a:t>
            </a:r>
            <a:endParaRPr lang="en-US" sz="2800" dirty="0">
              <a:latin typeface="Letter Gothic"/>
              <a:ea typeface="Times New Roman"/>
              <a:cs typeface="Times New Roman"/>
            </a:endParaRPr>
          </a:p>
          <a:p>
            <a:pPr marL="45720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algn="just">
              <a:spcBef>
                <a:spcPts val="0"/>
              </a:spcBef>
              <a:buFont typeface="Wingdings"/>
              <a:buChar char=""/>
              <a:tabLst>
                <a:tab pos="2743200" algn="ctr"/>
                <a:tab pos="5486400" algn="r"/>
                <a:tab pos="457200" algn="l"/>
                <a:tab pos="2743200" algn="ctr"/>
                <a:tab pos="5486400" algn="r"/>
              </a:tabLst>
            </a:pPr>
            <a:r>
              <a:rPr lang="en-US" b="1" dirty="0">
                <a:latin typeface="Times New Roman"/>
                <a:ea typeface="Times New Roman"/>
                <a:cs typeface="Times New Roman"/>
              </a:rPr>
              <a:t>Pandemic:</a:t>
            </a:r>
            <a:r>
              <a:rPr lang="en-US" dirty="0">
                <a:latin typeface="Times New Roman"/>
                <a:ea typeface="Times New Roman"/>
                <a:cs typeface="Times New Roman"/>
              </a:rPr>
              <a:t> An epidemic usually affecting a large proportion of the population, </a:t>
            </a:r>
            <a:r>
              <a:rPr lang="en-US" dirty="0" err="1">
                <a:latin typeface="Times New Roman"/>
                <a:ea typeface="Times New Roman"/>
                <a:cs typeface="Times New Roman"/>
              </a:rPr>
              <a:t>occuring</a:t>
            </a:r>
            <a:r>
              <a:rPr lang="en-US" dirty="0">
                <a:latin typeface="Times New Roman"/>
                <a:ea typeface="Times New Roman"/>
                <a:cs typeface="Times New Roman"/>
              </a:rPr>
              <a:t> over a wide geographic area such as a section of a nation, the entire nation, a continent or the world, e.g. Influenza pandemics.</a:t>
            </a:r>
            <a:endParaRPr lang="en-US" sz="2800" dirty="0">
              <a:latin typeface="Letter Gothic"/>
              <a:ea typeface="Times New Roman"/>
              <a:cs typeface="Times New Roman"/>
            </a:endParaRPr>
          </a:p>
          <a:p>
            <a:pPr marL="457200" algn="just">
              <a:spcBef>
                <a:spcPts val="0"/>
              </a:spcBef>
              <a:spcAft>
                <a:spcPts val="0"/>
              </a:spcAft>
              <a:tabLst>
                <a:tab pos="2743200" algn="ctr"/>
                <a:tab pos="5486400" algn="r"/>
              </a:tabLst>
            </a:pPr>
            <a:r>
              <a:rPr lang="en-ZA" dirty="0">
                <a:latin typeface="Times New Roman"/>
                <a:ea typeface="Times New Roman"/>
                <a:cs typeface="Times New Roman"/>
              </a:rPr>
              <a:t> </a:t>
            </a:r>
            <a:endParaRPr lang="en-US" sz="2800" dirty="0">
              <a:latin typeface="Letter Gothic"/>
              <a:ea typeface="Times New Roman"/>
              <a:cs typeface="Times New Roman"/>
            </a:endParaRPr>
          </a:p>
          <a:p>
            <a:pPr algn="just">
              <a:spcBef>
                <a:spcPts val="0"/>
              </a:spcBef>
              <a:buFont typeface="Wingdings"/>
              <a:buChar char=""/>
              <a:tabLst>
                <a:tab pos="2743200" algn="ctr"/>
                <a:tab pos="5486400" algn="r"/>
                <a:tab pos="457200" algn="l"/>
                <a:tab pos="2743200" algn="ctr"/>
                <a:tab pos="5486400" algn="r"/>
              </a:tabLst>
            </a:pPr>
            <a:r>
              <a:rPr lang="en-ZA" b="1" dirty="0">
                <a:latin typeface="Times New Roman"/>
                <a:ea typeface="Times New Roman"/>
                <a:cs typeface="Times New Roman"/>
              </a:rPr>
              <a:t>Zoonosis </a:t>
            </a:r>
            <a:r>
              <a:rPr lang="en-ZA" dirty="0">
                <a:latin typeface="Times New Roman"/>
                <a:ea typeface="Times New Roman"/>
                <a:cs typeface="Times New Roman"/>
              </a:rPr>
              <a:t>is an infection that is transmissible under natural conditions from vertebrate animals to man, e.g. rabies, plague, bovine tuberculosis</a:t>
            </a:r>
            <a:endParaRPr lang="en-US" sz="2800" dirty="0">
              <a:latin typeface="Letter Gothic"/>
              <a:ea typeface="Times New Roman"/>
              <a:cs typeface="Times New Roman"/>
            </a:endParaRPr>
          </a:p>
          <a:p>
            <a:pPr marL="457200">
              <a:spcBef>
                <a:spcPts val="0"/>
              </a:spcBef>
              <a:spcAft>
                <a:spcPts val="0"/>
              </a:spcAft>
            </a:pPr>
            <a:r>
              <a:rPr lang="en-ZA" dirty="0">
                <a:latin typeface="Times New Roman"/>
                <a:ea typeface="Times New Roman"/>
              </a:rPr>
              <a:t> </a:t>
            </a:r>
            <a:endParaRPr lang="en-US" sz="2800" dirty="0">
              <a:latin typeface="Times New Roman"/>
              <a:ea typeface="Times New Roman"/>
            </a:endParaRPr>
          </a:p>
          <a:p>
            <a:pPr algn="just">
              <a:spcBef>
                <a:spcPts val="0"/>
              </a:spcBef>
              <a:buFont typeface="Wingdings"/>
              <a:buChar char=""/>
              <a:tabLst>
                <a:tab pos="2743200" algn="ctr"/>
                <a:tab pos="5486400" algn="r"/>
                <a:tab pos="457200" algn="l"/>
                <a:tab pos="2743200" algn="ctr"/>
                <a:tab pos="5486400" algn="r"/>
              </a:tabLst>
            </a:pPr>
            <a:r>
              <a:rPr lang="en-US" b="1" dirty="0">
                <a:latin typeface="Times New Roman"/>
                <a:ea typeface="Times New Roman"/>
                <a:cs typeface="Times New Roman"/>
              </a:rPr>
              <a:t>Opportunistic Infection</a:t>
            </a:r>
            <a:r>
              <a:rPr lang="en-US" dirty="0">
                <a:latin typeface="Times New Roman"/>
                <a:ea typeface="Times New Roman"/>
                <a:cs typeface="Times New Roman"/>
              </a:rPr>
              <a:t>: This is infection by organisms that take the opportunity provided by a defect in host defense (e.g. immunity) to infect the host and thus cause disease. For example, opportunistic infections are very common in AIDS. Organisms include Herpes simplex, cytomegalovirus, M. tuberculosis….</a:t>
            </a:r>
            <a:endParaRPr lang="en-US" sz="2800" dirty="0">
              <a:latin typeface="Letter Gothic"/>
              <a:ea typeface="Times New Roman"/>
              <a:cs typeface="Times New Roman"/>
            </a:endParaRPr>
          </a:p>
          <a:p>
            <a:pPr marL="457200" algn="just">
              <a:spcBef>
                <a:spcPts val="0"/>
              </a:spcBef>
              <a:spcAft>
                <a:spcPts val="0"/>
              </a:spcAft>
              <a:tabLst>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algn="just">
              <a:spcBef>
                <a:spcPts val="0"/>
              </a:spcBef>
              <a:buFont typeface="Wingdings"/>
              <a:buChar char=""/>
              <a:tabLst>
                <a:tab pos="2743200" algn="ctr"/>
                <a:tab pos="5486400" algn="r"/>
                <a:tab pos="457200" algn="l"/>
                <a:tab pos="2743200" algn="ctr"/>
                <a:tab pos="5486400" algn="r"/>
              </a:tabLst>
            </a:pPr>
            <a:r>
              <a:rPr lang="en-US" b="1" dirty="0">
                <a:latin typeface="Times New Roman"/>
                <a:ea typeface="Times New Roman"/>
                <a:cs typeface="Times New Roman"/>
              </a:rPr>
              <a:t>Incubation period</a:t>
            </a:r>
            <a:r>
              <a:rPr lang="en-US" dirty="0">
                <a:latin typeface="Times New Roman"/>
                <a:ea typeface="Times New Roman"/>
                <a:cs typeface="Times New Roman"/>
              </a:rPr>
              <a:t>: time from exposure to development of disease. In other words, the time interval between invasion by an infectious agent and the appearance of the first sign or symptom of the disease in question.</a:t>
            </a:r>
            <a:endParaRPr lang="en-US" sz="2800" dirty="0">
              <a:latin typeface="Letter Gothic"/>
              <a:ea typeface="Times New Roman"/>
              <a:cs typeface="Times New Roman"/>
            </a:endParaRP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4</a:t>
            </a:fld>
            <a:endParaRPr lang="en-US">
              <a:solidFill>
                <a:prstClr val="black">
                  <a:tint val="75000"/>
                </a:prstClr>
              </a:solidFill>
              <a:latin typeface="Calibri"/>
            </a:endParaRPr>
          </a:p>
        </p:txBody>
      </p:sp>
    </p:spTree>
    <p:extLst>
      <p:ext uri="{BB962C8B-B14F-4D97-AF65-F5344CB8AC3E}">
        <p14:creationId xmlns:p14="http://schemas.microsoft.com/office/powerpoint/2010/main" val="2899672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228600"/>
            <a:ext cx="8458200" cy="6172200"/>
          </a:xfrm>
        </p:spPr>
        <p:txBody>
          <a:bodyPr/>
          <a:lstStyle/>
          <a:p>
            <a:pPr lvl="0"/>
            <a:r>
              <a:rPr lang="en-US" dirty="0">
                <a:solidFill>
                  <a:prstClr val="black"/>
                </a:solidFill>
              </a:rPr>
              <a:t>For an infectious agent, </a:t>
            </a:r>
            <a:r>
              <a:rPr lang="en-US" b="1" dirty="0">
                <a:solidFill>
                  <a:prstClr val="black"/>
                </a:solidFill>
              </a:rPr>
              <a:t>infectivity</a:t>
            </a:r>
            <a:r>
              <a:rPr lang="en-US" dirty="0">
                <a:solidFill>
                  <a:prstClr val="black"/>
                </a:solidFill>
              </a:rPr>
              <a:t> refers to the proportion of exposed persons who become infected. </a:t>
            </a:r>
          </a:p>
          <a:p>
            <a:pPr lvl="0"/>
            <a:r>
              <a:rPr lang="en-US" b="1" dirty="0">
                <a:solidFill>
                  <a:prstClr val="black"/>
                </a:solidFill>
              </a:rPr>
              <a:t>Pathogenicity</a:t>
            </a:r>
            <a:r>
              <a:rPr lang="en-US" dirty="0">
                <a:solidFill>
                  <a:prstClr val="black"/>
                </a:solidFill>
              </a:rPr>
              <a:t> refers to the proportion of infected individuals who develop clinically apparent disease.</a:t>
            </a:r>
          </a:p>
          <a:p>
            <a:pPr lvl="0"/>
            <a:r>
              <a:rPr lang="en-US" dirty="0">
                <a:solidFill>
                  <a:prstClr val="black"/>
                </a:solidFill>
              </a:rPr>
              <a:t> </a:t>
            </a:r>
            <a:r>
              <a:rPr lang="en-US" b="1" dirty="0">
                <a:solidFill>
                  <a:prstClr val="black"/>
                </a:solidFill>
              </a:rPr>
              <a:t>Virulence</a:t>
            </a:r>
            <a:r>
              <a:rPr lang="en-US" dirty="0">
                <a:solidFill>
                  <a:prstClr val="black"/>
                </a:solidFill>
              </a:rPr>
              <a:t> refers to the proportion of clinically apparent cases that are severe or fatal.</a:t>
            </a:r>
          </a:p>
          <a:p>
            <a:r>
              <a:rPr lang="en-US" b="1" dirty="0">
                <a:solidFill>
                  <a:srgbClr val="404040"/>
                </a:solidFill>
                <a:latin typeface="Arial"/>
              </a:rPr>
              <a:t>infective dose</a:t>
            </a:r>
            <a:r>
              <a:rPr lang="en-US" dirty="0">
                <a:solidFill>
                  <a:srgbClr val="404040"/>
                </a:solidFill>
                <a:latin typeface="Arial"/>
              </a:rPr>
              <a:t> (ID) that amount of a pathogenic agent that will cause infection in susceptible </a:t>
            </a:r>
            <a:r>
              <a:rPr lang="en-US" u="sng" dirty="0">
                <a:solidFill>
                  <a:srgbClr val="1D4994"/>
                </a:solidFill>
                <a:latin typeface="Arial"/>
              </a:rPr>
              <a:t>host</a:t>
            </a:r>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5</a:t>
            </a:fld>
            <a:endParaRPr lang="en-US">
              <a:solidFill>
                <a:prstClr val="black">
                  <a:tint val="75000"/>
                </a:prstClr>
              </a:solidFill>
              <a:latin typeface="Calibri"/>
            </a:endParaRPr>
          </a:p>
        </p:txBody>
      </p:sp>
    </p:spTree>
    <p:extLst>
      <p:ext uri="{BB962C8B-B14F-4D97-AF65-F5344CB8AC3E}">
        <p14:creationId xmlns:p14="http://schemas.microsoft.com/office/powerpoint/2010/main" val="1460409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003BB-63A8-4C77-B3BD-42DDC273C265}"/>
              </a:ext>
            </a:extLst>
          </p:cNvPr>
          <p:cNvSpPr>
            <a:spLocks noGrp="1"/>
          </p:cNvSpPr>
          <p:nvPr>
            <p:ph type="title"/>
          </p:nvPr>
        </p:nvSpPr>
        <p:spPr/>
        <p:txBody>
          <a:bodyPr/>
          <a:lstStyle/>
          <a:p>
            <a:endParaRPr lang="en-KE" dirty="0"/>
          </a:p>
        </p:txBody>
      </p:sp>
      <p:sp>
        <p:nvSpPr>
          <p:cNvPr id="3" name="Content Placeholder 2">
            <a:extLst>
              <a:ext uri="{FF2B5EF4-FFF2-40B4-BE49-F238E27FC236}">
                <a16:creationId xmlns:a16="http://schemas.microsoft.com/office/drawing/2014/main" id="{6B78AC00-706A-4765-B8C2-1A867F3A06B0}"/>
              </a:ext>
            </a:extLst>
          </p:cNvPr>
          <p:cNvSpPr>
            <a:spLocks noGrp="1"/>
          </p:cNvSpPr>
          <p:nvPr>
            <p:ph idx="1"/>
          </p:nvPr>
        </p:nvSpPr>
        <p:spPr/>
        <p:txBody>
          <a:bodyPr/>
          <a:lstStyle/>
          <a:p>
            <a:pPr lvl="0"/>
            <a:r>
              <a:rPr lang="en-US" dirty="0">
                <a:solidFill>
                  <a:prstClr val="white"/>
                </a:solidFill>
              </a:rPr>
              <a:t>GLOSSARY OF TERMS</a:t>
            </a:r>
          </a:p>
          <a:p>
            <a:pPr lvl="0"/>
            <a:endParaRPr lang="en-US" dirty="0">
              <a:solidFill>
                <a:prstClr val="white"/>
              </a:solidFill>
            </a:endParaRPr>
          </a:p>
          <a:p>
            <a:pPr lvl="0"/>
            <a:endParaRPr lang="en-US" dirty="0">
              <a:solidFill>
                <a:prstClr val="white"/>
              </a:solidFill>
            </a:endParaRPr>
          </a:p>
          <a:p>
            <a:pPr lvl="0"/>
            <a:r>
              <a:rPr lang="en-US" dirty="0">
                <a:solidFill>
                  <a:prstClr val="white"/>
                </a:solidFill>
              </a:rPr>
              <a:t>https://www.cdc.gov/reproductivehealth/data_stats/glossary.html</a:t>
            </a:r>
            <a:endParaRPr lang="en-KE" dirty="0">
              <a:solidFill>
                <a:prstClr val="white"/>
              </a:solidFill>
            </a:endParaRPr>
          </a:p>
          <a:p>
            <a:endParaRPr lang="en-KE" dirty="0"/>
          </a:p>
        </p:txBody>
      </p:sp>
      <p:sp>
        <p:nvSpPr>
          <p:cNvPr id="4" name="Footer Placeholder 3">
            <a:extLst>
              <a:ext uri="{FF2B5EF4-FFF2-40B4-BE49-F238E27FC236}">
                <a16:creationId xmlns:a16="http://schemas.microsoft.com/office/drawing/2014/main" id="{5BDEE2FB-6110-49AF-876C-D7DF9EB47B32}"/>
              </a:ext>
            </a:extLst>
          </p:cNvPr>
          <p:cNvSpPr>
            <a:spLocks noGrp="1"/>
          </p:cNvSpPr>
          <p:nvPr>
            <p:ph type="ftr" sz="quarter" idx="11"/>
          </p:nvPr>
        </p:nvSpPr>
        <p:spPr/>
        <p:txBody>
          <a:bodyPr/>
          <a:lstStyle/>
          <a:p>
            <a:pPr>
              <a:defRPr/>
            </a:pPr>
            <a:r>
              <a:rPr lang="en-GB">
                <a:solidFill>
                  <a:prstClr val="black">
                    <a:tint val="75000"/>
                  </a:prstClr>
                </a:solidFill>
                <a:latin typeface="Calibri"/>
              </a:rPr>
              <a:t>Dr. E. Mwaniki</a:t>
            </a:r>
          </a:p>
        </p:txBody>
      </p:sp>
      <p:sp>
        <p:nvSpPr>
          <p:cNvPr id="5" name="Slide Number Placeholder 4">
            <a:extLst>
              <a:ext uri="{FF2B5EF4-FFF2-40B4-BE49-F238E27FC236}">
                <a16:creationId xmlns:a16="http://schemas.microsoft.com/office/drawing/2014/main" id="{687D64C3-77CF-4918-863A-33819B2C60B5}"/>
              </a:ext>
            </a:extLst>
          </p:cNvPr>
          <p:cNvSpPr>
            <a:spLocks noGrp="1"/>
          </p:cNvSpPr>
          <p:nvPr>
            <p:ph type="sldNum" sz="quarter" idx="12"/>
          </p:nvPr>
        </p:nvSpPr>
        <p:spPr/>
        <p:txBody>
          <a:bodyPr/>
          <a:lstStyle/>
          <a:p>
            <a:pPr>
              <a:defRPr/>
            </a:pPr>
            <a:fld id="{025D53A5-7841-4BAF-8863-4208A706F4CA}" type="slidenum">
              <a:rPr lang="en-GB">
                <a:solidFill>
                  <a:prstClr val="black">
                    <a:tint val="75000"/>
                  </a:prstClr>
                </a:solidFill>
                <a:latin typeface="Calibri"/>
              </a:rPr>
              <a:pPr>
                <a:defRPr/>
              </a:pPr>
              <a:t>6</a:t>
            </a:fld>
            <a:endParaRPr lang="en-GB">
              <a:solidFill>
                <a:prstClr val="black">
                  <a:tint val="75000"/>
                </a:prstClr>
              </a:solidFill>
              <a:latin typeface="Calibri"/>
            </a:endParaRPr>
          </a:p>
        </p:txBody>
      </p:sp>
    </p:spTree>
    <p:extLst>
      <p:ext uri="{BB962C8B-B14F-4D97-AF65-F5344CB8AC3E}">
        <p14:creationId xmlns:p14="http://schemas.microsoft.com/office/powerpoint/2010/main" val="4181432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52400"/>
            <a:ext cx="8839200" cy="6553200"/>
          </a:xfrm>
        </p:spPr>
        <p:txBody>
          <a:bodyPr>
            <a:normAutofit fontScale="85000" lnSpcReduction="20000"/>
          </a:bodyPr>
          <a:lstStyle/>
          <a:p>
            <a:pPr marL="0" algn="just">
              <a:spcBef>
                <a:spcPts val="0"/>
              </a:spcBef>
              <a:spcAft>
                <a:spcPts val="0"/>
              </a:spcAft>
              <a:tabLst>
                <a:tab pos="2743200" algn="ctr"/>
                <a:tab pos="5486400" algn="r"/>
                <a:tab pos="457200" algn="l"/>
                <a:tab pos="2743200" algn="ctr"/>
                <a:tab pos="5486400" algn="r"/>
              </a:tabLst>
            </a:pPr>
            <a:r>
              <a:rPr lang="en-US" b="1" u="sng" dirty="0">
                <a:latin typeface="Times New Roman"/>
                <a:ea typeface="Times New Roman"/>
                <a:cs typeface="Times New Roman"/>
              </a:rPr>
              <a:t>The communicable disease process. </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Chain (Dynamics) of Infection</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b="1" dirty="0">
                <a:latin typeface="Times New Roman"/>
                <a:ea typeface="Times New Roman"/>
                <a:cs typeface="Times New Roman"/>
              </a:rPr>
              <a:t>Source or Reservoir -&gt; Mode of transmission -&gt; susceptible host</a:t>
            </a:r>
            <a:br>
              <a:rPr lang="en-US" b="1" dirty="0">
                <a:latin typeface="Times New Roman"/>
                <a:ea typeface="Times New Roman"/>
                <a:cs typeface="Times New Roman"/>
              </a:rPr>
            </a:b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ZA" dirty="0">
                <a:latin typeface="Times New Roman"/>
                <a:ea typeface="Times New Roman"/>
                <a:cs typeface="Times New Roman"/>
              </a:rPr>
              <a:t>The source of infection is defined as “the person, animal, object or substance from which an infectious agent passes or is disseminated to the host (immediate source). </a:t>
            </a:r>
            <a:endParaRPr lang="en-US" sz="2800" dirty="0">
              <a:latin typeface="Letter Gothic"/>
              <a:ea typeface="Times New Roman"/>
              <a:cs typeface="Times New Roman"/>
            </a:endParaRPr>
          </a:p>
          <a:p>
            <a:r>
              <a:rPr lang="en-ZA" dirty="0">
                <a:latin typeface="Times New Roman"/>
                <a:ea typeface="Calibri"/>
              </a:rPr>
              <a:t>The reservoir is “any person, animal, arthropod, plant, soil, or substance, or a combination of these, in which an infectious agent normally lives and multiplies, on which it depends primarily for survival, and where it reproduces itself in such a manner that it can be transmitted to a susceptible host. It is the natural habitat of the infectious agent</a:t>
            </a:r>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7</a:t>
            </a:fld>
            <a:endParaRPr lang="en-US">
              <a:solidFill>
                <a:prstClr val="black">
                  <a:tint val="75000"/>
                </a:prstClr>
              </a:solidFill>
              <a:latin typeface="Calibri"/>
            </a:endParaRPr>
          </a:p>
        </p:txBody>
      </p:sp>
    </p:spTree>
    <p:extLst>
      <p:ext uri="{BB962C8B-B14F-4D97-AF65-F5344CB8AC3E}">
        <p14:creationId xmlns:p14="http://schemas.microsoft.com/office/powerpoint/2010/main" val="2068642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1524000" y="1052736"/>
          <a:ext cx="9144000" cy="53285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243" name="Rectangle 2"/>
          <p:cNvSpPr>
            <a:spLocks noChangeArrowheads="1"/>
          </p:cNvSpPr>
          <p:nvPr/>
        </p:nvSpPr>
        <p:spPr bwMode="auto">
          <a:xfrm>
            <a:off x="2117725" y="333375"/>
            <a:ext cx="750728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fontAlgn="base">
              <a:spcBef>
                <a:spcPct val="0"/>
              </a:spcBef>
              <a:spcAft>
                <a:spcPct val="0"/>
              </a:spcAft>
            </a:pPr>
            <a:r>
              <a:rPr lang="fr-FR" altLang="en-US" sz="4000" b="1" i="1">
                <a:solidFill>
                  <a:srgbClr val="000066"/>
                </a:solidFill>
                <a:latin typeface="Calibri"/>
                <a:cs typeface="Arial" pitchFamily="34" charset="0"/>
              </a:rPr>
              <a:t>Chain of Transmission</a:t>
            </a:r>
            <a:endParaRPr lang="en-GB" altLang="en-US" sz="4000" b="1" i="1">
              <a:solidFill>
                <a:srgbClr val="000066"/>
              </a:solidFill>
              <a:latin typeface="Calibri"/>
              <a:cs typeface="Arial" pitchFamily="34" charset="0"/>
            </a:endParaRPr>
          </a:p>
        </p:txBody>
      </p:sp>
      <p:sp>
        <p:nvSpPr>
          <p:cNvPr id="3" name="Footer Placeholder 2"/>
          <p:cNvSpPr>
            <a:spLocks noGrp="1"/>
          </p:cNvSpPr>
          <p:nvPr>
            <p:ph type="ftr" sz="quarter" idx="11"/>
          </p:nvPr>
        </p:nvSpPr>
        <p:spPr/>
        <p:txBody>
          <a:bodyPr/>
          <a:lstStyle/>
          <a:p>
            <a:pPr>
              <a:defRPr/>
            </a:pPr>
            <a:r>
              <a:rPr lang="en-GB">
                <a:solidFill>
                  <a:prstClr val="black">
                    <a:tint val="75000"/>
                  </a:prstClr>
                </a:solidFill>
                <a:latin typeface="Calibri"/>
              </a:rPr>
              <a:t>Dr. E. Mwaniki</a:t>
            </a:r>
          </a:p>
        </p:txBody>
      </p:sp>
      <p:sp>
        <p:nvSpPr>
          <p:cNvPr id="4" name="Slide Number Placeholder 3"/>
          <p:cNvSpPr>
            <a:spLocks noGrp="1"/>
          </p:cNvSpPr>
          <p:nvPr>
            <p:ph type="sldNum" sz="quarter" idx="12"/>
          </p:nvPr>
        </p:nvSpPr>
        <p:spPr/>
        <p:txBody>
          <a:bodyPr/>
          <a:lstStyle/>
          <a:p>
            <a:pPr>
              <a:defRPr/>
            </a:pPr>
            <a:fld id="{C6CCD79D-BD3B-4D31-80FC-BC031C7099DC}" type="slidenum">
              <a:rPr lang="en-GB">
                <a:solidFill>
                  <a:prstClr val="black">
                    <a:tint val="75000"/>
                  </a:prstClr>
                </a:solidFill>
                <a:latin typeface="Calibri"/>
              </a:rPr>
              <a:pPr>
                <a:defRPr/>
              </a:pPr>
              <a:t>8</a:t>
            </a:fld>
            <a:endParaRPr lang="en-GB">
              <a:solidFill>
                <a:prstClr val="black">
                  <a:tint val="75000"/>
                </a:prstClr>
              </a:solidFill>
              <a:latin typeface="Calibri"/>
            </a:endParaRPr>
          </a:p>
        </p:txBody>
      </p:sp>
    </p:spTree>
    <p:extLst>
      <p:ext uri="{BB962C8B-B14F-4D97-AF65-F5344CB8AC3E}">
        <p14:creationId xmlns:p14="http://schemas.microsoft.com/office/powerpoint/2010/main" val="812717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nb-NO" altLang="en-US"/>
              <a:t>Six links of the chain</a:t>
            </a:r>
          </a:p>
        </p:txBody>
      </p:sp>
      <p:sp>
        <p:nvSpPr>
          <p:cNvPr id="11267" name="Rectangle 3"/>
          <p:cNvSpPr>
            <a:spLocks noGrp="1" noChangeArrowheads="1"/>
          </p:cNvSpPr>
          <p:nvPr>
            <p:ph type="body" idx="1"/>
          </p:nvPr>
        </p:nvSpPr>
        <p:spPr/>
        <p:txBody>
          <a:bodyPr/>
          <a:lstStyle/>
          <a:p>
            <a:pPr marL="571500" indent="-571500" eaLnBrk="1" hangingPunct="1">
              <a:lnSpc>
                <a:spcPct val="90000"/>
              </a:lnSpc>
              <a:buNone/>
            </a:pPr>
            <a:r>
              <a:rPr lang="nb-NO" altLang="en-US" sz="2100" b="1" i="1" dirty="0"/>
              <a:t>Agent: </a:t>
            </a:r>
            <a:r>
              <a:rPr lang="nb-NO" altLang="en-US" sz="2100" dirty="0"/>
              <a:t>virus, bacteria, fungi, protozoa, helminths, ectoparasites</a:t>
            </a:r>
          </a:p>
          <a:p>
            <a:pPr marL="571500" indent="-571500" eaLnBrk="1" hangingPunct="1">
              <a:lnSpc>
                <a:spcPct val="90000"/>
              </a:lnSpc>
              <a:buNone/>
            </a:pPr>
            <a:r>
              <a:rPr lang="nb-NO" altLang="en-US" sz="2100" b="1" i="1" dirty="0"/>
              <a:t>Source</a:t>
            </a:r>
            <a:r>
              <a:rPr lang="nb-NO" altLang="en-US" sz="2100" dirty="0"/>
              <a:t> (reservoir): Humans and animals (symptomatic, incubating, convalescent, asymptomatic carrier) insects, environment (water, soil)</a:t>
            </a:r>
          </a:p>
          <a:p>
            <a:pPr marL="571500" indent="-571500" eaLnBrk="1" hangingPunct="1">
              <a:lnSpc>
                <a:spcPct val="90000"/>
              </a:lnSpc>
              <a:buNone/>
            </a:pPr>
            <a:r>
              <a:rPr lang="nb-NO" altLang="en-US" sz="2100" b="1" i="1" dirty="0"/>
              <a:t>Portal of exit:</a:t>
            </a:r>
            <a:r>
              <a:rPr lang="nb-NO" altLang="en-US" sz="2100" dirty="0"/>
              <a:t> Respiratory tract (nose, mouth), gastrointestinal tract (anus), genitourinary tract (urethra and cervix), skin, mucosa, placenta.</a:t>
            </a:r>
          </a:p>
          <a:p>
            <a:pPr marL="571500" indent="-571500" eaLnBrk="1" hangingPunct="1">
              <a:lnSpc>
                <a:spcPct val="90000"/>
              </a:lnSpc>
              <a:buNone/>
            </a:pPr>
            <a:r>
              <a:rPr lang="nb-NO" altLang="en-US" sz="2100" b="1" i="1" dirty="0"/>
              <a:t>Route of transmission:</a:t>
            </a:r>
            <a:r>
              <a:rPr lang="nb-NO" altLang="en-US" sz="2100" dirty="0"/>
              <a:t> Direct (contact or droplet), indirect (vehicle, vector), airborne</a:t>
            </a:r>
            <a:endParaRPr lang="nb-NO" altLang="en-US" sz="2100" b="1" i="1" dirty="0"/>
          </a:p>
          <a:p>
            <a:pPr marL="571500" indent="-571500" eaLnBrk="1" hangingPunct="1">
              <a:lnSpc>
                <a:spcPct val="90000"/>
              </a:lnSpc>
              <a:buNone/>
            </a:pPr>
            <a:r>
              <a:rPr lang="nb-NO" altLang="en-US" sz="2100" b="1" i="1" dirty="0"/>
              <a:t>Portal of entry:</a:t>
            </a:r>
            <a:r>
              <a:rPr lang="nb-NO" altLang="en-US" sz="2100" dirty="0"/>
              <a:t> Respiratory tract (nose, mouth), gastrointestinal tract (anus), genitourinary tract (urethra and cervix), skin, mucosa.</a:t>
            </a:r>
          </a:p>
          <a:p>
            <a:pPr marL="571500" indent="-571500" eaLnBrk="1" hangingPunct="1">
              <a:lnSpc>
                <a:spcPct val="90000"/>
              </a:lnSpc>
              <a:buNone/>
            </a:pPr>
            <a:r>
              <a:rPr lang="nb-NO" altLang="en-US" sz="2100" b="1" i="1" dirty="0"/>
              <a:t>Susceptible host:</a:t>
            </a:r>
            <a:r>
              <a:rPr lang="nb-NO" altLang="en-US" sz="2100" dirty="0"/>
              <a:t> anyone who is not immune</a:t>
            </a:r>
          </a:p>
        </p:txBody>
      </p:sp>
      <p:sp>
        <p:nvSpPr>
          <p:cNvPr id="2" name="Footer Placeholder 1"/>
          <p:cNvSpPr>
            <a:spLocks noGrp="1"/>
          </p:cNvSpPr>
          <p:nvPr>
            <p:ph type="ftr" sz="quarter" idx="11"/>
          </p:nvPr>
        </p:nvSpPr>
        <p:spPr/>
        <p:txBody>
          <a:bodyPr/>
          <a:lstStyle/>
          <a:p>
            <a:pPr>
              <a:defRPr/>
            </a:pPr>
            <a:r>
              <a:rPr lang="en-GB">
                <a:solidFill>
                  <a:prstClr val="black">
                    <a:tint val="75000"/>
                  </a:prstClr>
                </a:solidFill>
                <a:latin typeface="Calibri"/>
              </a:rPr>
              <a:t>Dr. E. Mwaniki</a:t>
            </a:r>
          </a:p>
        </p:txBody>
      </p:sp>
      <p:sp>
        <p:nvSpPr>
          <p:cNvPr id="3" name="Slide Number Placeholder 2"/>
          <p:cNvSpPr>
            <a:spLocks noGrp="1"/>
          </p:cNvSpPr>
          <p:nvPr>
            <p:ph type="sldNum" sz="quarter" idx="12"/>
          </p:nvPr>
        </p:nvSpPr>
        <p:spPr/>
        <p:txBody>
          <a:bodyPr/>
          <a:lstStyle/>
          <a:p>
            <a:pPr>
              <a:defRPr/>
            </a:pPr>
            <a:fld id="{CF5696B5-F26D-46B7-BDD6-EEAC225C6106}" type="slidenum">
              <a:rPr lang="en-GB">
                <a:solidFill>
                  <a:prstClr val="black">
                    <a:tint val="75000"/>
                  </a:prstClr>
                </a:solidFill>
                <a:latin typeface="Calibri"/>
              </a:rPr>
              <a:pPr>
                <a:defRPr/>
              </a:pPr>
              <a:t>9</a:t>
            </a:fld>
            <a:endParaRPr lang="en-GB">
              <a:solidFill>
                <a:prstClr val="black">
                  <a:tint val="75000"/>
                </a:prstClr>
              </a:solidFill>
              <a:latin typeface="Calibri"/>
            </a:endParaRPr>
          </a:p>
        </p:txBody>
      </p:sp>
    </p:spTree>
    <p:extLst>
      <p:ext uri="{BB962C8B-B14F-4D97-AF65-F5344CB8AC3E}">
        <p14:creationId xmlns:p14="http://schemas.microsoft.com/office/powerpoint/2010/main" val="396437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533401"/>
            <a:ext cx="8305800" cy="5592763"/>
          </a:xfrm>
        </p:spPr>
        <p:txBody>
          <a:bodyPr>
            <a:normAutofit fontScale="77500" lnSpcReduction="20000"/>
          </a:bodyPr>
          <a:lstStyle/>
          <a:p>
            <a:pPr marL="0" algn="just">
              <a:spcBef>
                <a:spcPts val="0"/>
              </a:spcBef>
              <a:spcAft>
                <a:spcPts val="0"/>
              </a:spcAft>
              <a:tabLst>
                <a:tab pos="2743200" algn="ctr"/>
                <a:tab pos="5486400" algn="r"/>
                <a:tab pos="457200" algn="l"/>
                <a:tab pos="2743200" algn="ctr"/>
                <a:tab pos="5486400" algn="r"/>
              </a:tabLst>
            </a:pPr>
            <a:r>
              <a:rPr lang="en-US" b="1" u="sng" dirty="0">
                <a:latin typeface="Times New Roman"/>
                <a:ea typeface="Times New Roman"/>
                <a:cs typeface="Times New Roman"/>
              </a:rPr>
              <a:t>Transmission of communicable diseases. </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u="sng" dirty="0">
                <a:latin typeface="Times New Roman"/>
                <a:ea typeface="Times New Roman"/>
                <a:cs typeface="Times New Roman"/>
              </a:rPr>
              <a:t>Exit</a:t>
            </a:r>
            <a:r>
              <a:rPr lang="en-US" dirty="0">
                <a:latin typeface="Times New Roman"/>
                <a:ea typeface="Times New Roman"/>
                <a:cs typeface="Times New Roman"/>
              </a:rPr>
              <a:t> from ‘infected’ body by:</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Blood</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Nose or Mouth</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Sex organs</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Fecal waste</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u="sng" dirty="0">
                <a:latin typeface="Times New Roman"/>
                <a:ea typeface="Times New Roman"/>
                <a:cs typeface="Times New Roman"/>
              </a:rPr>
              <a:t>Travel</a:t>
            </a:r>
            <a:r>
              <a:rPr lang="en-US" dirty="0">
                <a:latin typeface="Times New Roman"/>
                <a:ea typeface="Times New Roman"/>
                <a:cs typeface="Times New Roman"/>
              </a:rPr>
              <a:t> to second body (Transmission) by:</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Food</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Air </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Water</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Blood</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Sex</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Insects</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Animals</a:t>
            </a:r>
            <a:endParaRPr lang="en-US" sz="2800" dirty="0">
              <a:latin typeface="Letter Gothic"/>
              <a:ea typeface="Times New Roman"/>
              <a:cs typeface="Times New Roman"/>
            </a:endParaRP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10</a:t>
            </a:fld>
            <a:endParaRPr lang="en-US">
              <a:solidFill>
                <a:prstClr val="black">
                  <a:tint val="75000"/>
                </a:prstClr>
              </a:solidFill>
              <a:latin typeface="Calibri"/>
            </a:endParaRPr>
          </a:p>
        </p:txBody>
      </p:sp>
    </p:spTree>
    <p:extLst>
      <p:ext uri="{BB962C8B-B14F-4D97-AF65-F5344CB8AC3E}">
        <p14:creationId xmlns:p14="http://schemas.microsoft.com/office/powerpoint/2010/main" val="3425491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304801"/>
            <a:ext cx="8382000" cy="5821363"/>
          </a:xfrm>
        </p:spPr>
        <p:txBody>
          <a:bodyPr/>
          <a:lstStyle/>
          <a:p>
            <a:pPr marL="0" algn="just">
              <a:spcBef>
                <a:spcPts val="0"/>
              </a:spcBef>
              <a:spcAft>
                <a:spcPts val="0"/>
              </a:spcAft>
              <a:tabLst>
                <a:tab pos="2743200" algn="ctr"/>
                <a:tab pos="5486400" algn="r"/>
                <a:tab pos="457200" algn="l"/>
                <a:tab pos="2743200" algn="ctr"/>
                <a:tab pos="5486400" algn="r"/>
              </a:tabLst>
            </a:pPr>
            <a:r>
              <a:rPr lang="en-US" u="sng" dirty="0">
                <a:latin typeface="Times New Roman"/>
                <a:ea typeface="Times New Roman"/>
                <a:cs typeface="Times New Roman"/>
              </a:rPr>
              <a:t>Transmission Routes</a:t>
            </a:r>
            <a:r>
              <a:rPr lang="en-US" dirty="0">
                <a:latin typeface="Times New Roman"/>
                <a:ea typeface="Times New Roman"/>
                <a:cs typeface="Times New Roman"/>
              </a:rPr>
              <a:t>:</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Person – person spread: STIs, Hepatitis B, Herpes, Influenza</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Air-borne spread: Chicken-pox, TB</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Water-borne: Hepatitis A, </a:t>
            </a:r>
            <a:r>
              <a:rPr lang="en-US" u="sng" dirty="0">
                <a:latin typeface="Times New Roman"/>
                <a:ea typeface="Times New Roman"/>
                <a:cs typeface="Times New Roman"/>
              </a:rPr>
              <a:t>cholera</a:t>
            </a:r>
            <a:r>
              <a:rPr lang="en-US" dirty="0">
                <a:latin typeface="Times New Roman"/>
                <a:ea typeface="Times New Roman"/>
                <a:cs typeface="Times New Roman"/>
              </a:rPr>
              <a:t>, typhoid, </a:t>
            </a:r>
            <a:r>
              <a:rPr lang="en-US" dirty="0" err="1">
                <a:latin typeface="Times New Roman"/>
                <a:ea typeface="Times New Roman"/>
                <a:cs typeface="Times New Roman"/>
              </a:rPr>
              <a:t>shigella</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Food-borne: </a:t>
            </a:r>
            <a:r>
              <a:rPr lang="en-US" dirty="0" err="1">
                <a:latin typeface="Times New Roman"/>
                <a:ea typeface="Times New Roman"/>
                <a:cs typeface="Times New Roman"/>
              </a:rPr>
              <a:t>Salmonela</a:t>
            </a:r>
            <a:r>
              <a:rPr lang="en-US" dirty="0">
                <a:latin typeface="Times New Roman"/>
                <a:ea typeface="Times New Roman"/>
                <a:cs typeface="Times New Roman"/>
              </a:rPr>
              <a:t>, typhoid</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Vector-borne: malaria</a:t>
            </a:r>
            <a:endParaRPr lang="en-US" sz="2800" dirty="0">
              <a:latin typeface="Letter Gothic"/>
              <a:ea typeface="Times New Roman"/>
              <a:cs typeface="Times New Roman"/>
            </a:endParaRP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11</a:t>
            </a:fld>
            <a:endParaRPr lang="en-US">
              <a:solidFill>
                <a:prstClr val="black">
                  <a:tint val="75000"/>
                </a:prstClr>
              </a:solidFill>
              <a:latin typeface="Calibri"/>
            </a:endParaRPr>
          </a:p>
        </p:txBody>
      </p:sp>
    </p:spTree>
    <p:extLst>
      <p:ext uri="{BB962C8B-B14F-4D97-AF65-F5344CB8AC3E}">
        <p14:creationId xmlns:p14="http://schemas.microsoft.com/office/powerpoint/2010/main" val="506482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228600"/>
            <a:ext cx="8763000" cy="6477000"/>
          </a:xfrm>
        </p:spPr>
        <p:txBody>
          <a:bodyPr>
            <a:normAutofit fontScale="70000" lnSpcReduction="20000"/>
          </a:bodyPr>
          <a:lstStyle/>
          <a:p>
            <a:pPr marL="0" algn="just">
              <a:spcBef>
                <a:spcPts val="0"/>
              </a:spcBef>
              <a:spcAft>
                <a:spcPts val="0"/>
              </a:spcAft>
              <a:tabLst>
                <a:tab pos="2743200" algn="ctr"/>
                <a:tab pos="5486400" algn="r"/>
                <a:tab pos="457200" algn="l"/>
                <a:tab pos="2743200" algn="ctr"/>
                <a:tab pos="5486400" algn="r"/>
              </a:tabLst>
            </a:pPr>
            <a:r>
              <a:rPr lang="en-US" b="1" u="sng" dirty="0">
                <a:latin typeface="Times New Roman"/>
                <a:ea typeface="Times New Roman"/>
                <a:cs typeface="Times New Roman"/>
              </a:rPr>
              <a:t>Communicable diseases of public health importance. </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Anthrax</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err="1">
                <a:latin typeface="Times New Roman"/>
                <a:ea typeface="Times New Roman"/>
                <a:cs typeface="Times New Roman"/>
              </a:rPr>
              <a:t>Chholera</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err="1">
                <a:latin typeface="Times New Roman"/>
                <a:ea typeface="Times New Roman"/>
                <a:cs typeface="Times New Roman"/>
              </a:rPr>
              <a:t>Diarrhoea</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Measles </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Meningitis</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Plague</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Typhoid</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Yellow Fever</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err="1">
                <a:latin typeface="Times New Roman"/>
                <a:ea typeface="Times New Roman"/>
                <a:cs typeface="Times New Roman"/>
              </a:rPr>
              <a:t>Hemorhagic</a:t>
            </a:r>
            <a:r>
              <a:rPr lang="en-US" dirty="0">
                <a:latin typeface="Times New Roman"/>
                <a:ea typeface="Times New Roman"/>
                <a:cs typeface="Times New Roman"/>
              </a:rPr>
              <a:t> fevers (</a:t>
            </a:r>
            <a:r>
              <a:rPr lang="en-US" dirty="0" err="1">
                <a:latin typeface="Times New Roman"/>
                <a:ea typeface="Times New Roman"/>
                <a:cs typeface="Times New Roman"/>
              </a:rPr>
              <a:t>ebola</a:t>
            </a:r>
            <a:r>
              <a:rPr lang="en-US" dirty="0">
                <a:latin typeface="Times New Roman"/>
                <a:ea typeface="Times New Roman"/>
                <a:cs typeface="Times New Roman"/>
              </a:rPr>
              <a:t>, rift valley, </a:t>
            </a:r>
            <a:r>
              <a:rPr lang="en-US" dirty="0" err="1">
                <a:latin typeface="Times New Roman"/>
                <a:ea typeface="Times New Roman"/>
                <a:cs typeface="Times New Roman"/>
              </a:rPr>
              <a:t>lassa</a:t>
            </a:r>
            <a:r>
              <a:rPr lang="en-US" dirty="0">
                <a:latin typeface="Times New Roman"/>
                <a:ea typeface="Times New Roman"/>
                <a:cs typeface="Times New Roman"/>
              </a:rPr>
              <a:t>)</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Leprosy</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Tetanus</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Poliomyelitis</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HIV/AIDS</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Malaria</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Rabies</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STIs</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Trachoma</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Tuberculosis</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Influenza</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dirty="0">
                <a:latin typeface="Times New Roman"/>
                <a:ea typeface="Times New Roman"/>
                <a:cs typeface="Times New Roman"/>
              </a:rPr>
              <a:t>SARS (Severe Acute Respiratory Syndrome) </a:t>
            </a:r>
            <a:r>
              <a:rPr lang="en-US" dirty="0" err="1">
                <a:latin typeface="Times New Roman"/>
                <a:ea typeface="Times New Roman"/>
                <a:cs typeface="Times New Roman"/>
              </a:rPr>
              <a:t>e.g</a:t>
            </a:r>
            <a:r>
              <a:rPr lang="en-US" dirty="0">
                <a:latin typeface="Times New Roman"/>
                <a:ea typeface="Times New Roman"/>
                <a:cs typeface="Times New Roman"/>
              </a:rPr>
              <a:t> COVID-19</a:t>
            </a:r>
            <a:endParaRPr lang="en-US" sz="2800" dirty="0">
              <a:latin typeface="Letter Gothic"/>
              <a:ea typeface="Times New Roman"/>
              <a:cs typeface="Times New Roman"/>
            </a:endParaRPr>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12</a:t>
            </a:fld>
            <a:endParaRPr lang="en-US">
              <a:solidFill>
                <a:prstClr val="black">
                  <a:tint val="75000"/>
                </a:prstClr>
              </a:solidFill>
              <a:latin typeface="Calibri"/>
            </a:endParaRPr>
          </a:p>
        </p:txBody>
      </p:sp>
    </p:spTree>
    <p:extLst>
      <p:ext uri="{BB962C8B-B14F-4D97-AF65-F5344CB8AC3E}">
        <p14:creationId xmlns:p14="http://schemas.microsoft.com/office/powerpoint/2010/main" val="2126016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228600"/>
            <a:ext cx="8763000" cy="6477000"/>
          </a:xfrm>
        </p:spPr>
        <p:txBody>
          <a:bodyPr/>
          <a:lstStyle/>
          <a:p>
            <a:pPr marL="0" algn="just">
              <a:spcBef>
                <a:spcPts val="0"/>
              </a:spcBef>
              <a:spcAft>
                <a:spcPts val="0"/>
              </a:spcAft>
              <a:tabLst>
                <a:tab pos="2743200" algn="ctr"/>
                <a:tab pos="5486400" algn="r"/>
                <a:tab pos="457200" algn="l"/>
                <a:tab pos="2743200" algn="ctr"/>
                <a:tab pos="5486400" algn="r"/>
              </a:tabLst>
            </a:pPr>
            <a:r>
              <a:rPr lang="en-US" b="1" u="sng" dirty="0">
                <a:latin typeface="Times New Roman"/>
                <a:ea typeface="Times New Roman"/>
                <a:cs typeface="Times New Roman"/>
              </a:rPr>
              <a:t>Triad of Causation: Host, Agent, Environment</a:t>
            </a:r>
            <a:endParaRPr lang="en-US" sz="2800" dirty="0">
              <a:latin typeface="Letter Gothic"/>
              <a:ea typeface="Times New Roman"/>
              <a:cs typeface="Times New Roman"/>
            </a:endParaRPr>
          </a:p>
          <a:p>
            <a:pPr marL="0" algn="just">
              <a:spcBef>
                <a:spcPts val="0"/>
              </a:spcBef>
              <a:spcAft>
                <a:spcPts val="0"/>
              </a:spcAft>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algn="just">
              <a:spcBef>
                <a:spcPts val="0"/>
              </a:spcBef>
              <a:buFont typeface="+mj-lt"/>
              <a:buAutoNum type="arabicPeriod"/>
              <a:tabLst>
                <a:tab pos="2743200" algn="ctr"/>
                <a:tab pos="5486400" algn="r"/>
                <a:tab pos="457200" algn="l"/>
                <a:tab pos="2743200" algn="ctr"/>
                <a:tab pos="5486400" algn="r"/>
              </a:tabLst>
            </a:pPr>
            <a:r>
              <a:rPr lang="en-US" u="sng" dirty="0">
                <a:latin typeface="Times New Roman"/>
                <a:ea typeface="Times New Roman"/>
                <a:cs typeface="Times New Roman"/>
              </a:rPr>
              <a:t>Host Factor</a:t>
            </a:r>
          </a:p>
          <a:p>
            <a:pPr marL="0" indent="0" algn="just">
              <a:spcBef>
                <a:spcPts val="0"/>
              </a:spcBef>
              <a:buNone/>
              <a:tabLst>
                <a:tab pos="2743200" algn="ctr"/>
                <a:tab pos="5486400" algn="r"/>
                <a:tab pos="457200" algn="l"/>
                <a:tab pos="2743200" algn="ctr"/>
                <a:tab pos="5486400" algn="r"/>
              </a:tabLst>
            </a:pPr>
            <a:r>
              <a:rPr lang="en-US" sz="2800" dirty="0">
                <a:latin typeface="Times New Roman"/>
                <a:ea typeface="Times New Roman"/>
                <a:cs typeface="Times New Roman"/>
              </a:rPr>
              <a:t>Factors which make the host susceptible include:</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Age</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Genetics</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Nutritional status</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Immunization status</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Education level, Socio-economic factors</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Presence of other illness</a:t>
            </a:r>
            <a:endParaRPr lang="en-US" sz="2800" dirty="0">
              <a:latin typeface="Letter Gothic"/>
              <a:ea typeface="Times New Roman"/>
              <a:cs typeface="Times New Roman"/>
            </a:endParaRP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13</a:t>
            </a:fld>
            <a:endParaRPr lang="en-US">
              <a:solidFill>
                <a:prstClr val="black">
                  <a:tint val="75000"/>
                </a:prstClr>
              </a:solidFill>
              <a:latin typeface="Calibri"/>
            </a:endParaRPr>
          </a:p>
        </p:txBody>
      </p:sp>
    </p:spTree>
    <p:extLst>
      <p:ext uri="{BB962C8B-B14F-4D97-AF65-F5344CB8AC3E}">
        <p14:creationId xmlns:p14="http://schemas.microsoft.com/office/powerpoint/2010/main" val="504143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304800"/>
            <a:ext cx="8686800" cy="6400800"/>
          </a:xfrm>
        </p:spPr>
        <p:txBody>
          <a:bodyPr/>
          <a:lstStyle/>
          <a:p>
            <a:pPr marL="0" indent="0" algn="just">
              <a:spcBef>
                <a:spcPts val="0"/>
              </a:spcBef>
              <a:buNone/>
              <a:tabLst>
                <a:tab pos="2743200" algn="ctr"/>
                <a:tab pos="5486400" algn="r"/>
                <a:tab pos="457200" algn="l"/>
                <a:tab pos="2743200" algn="ctr"/>
                <a:tab pos="5486400" algn="r"/>
              </a:tabLst>
            </a:pPr>
            <a:r>
              <a:rPr lang="en-US" u="sng" dirty="0">
                <a:latin typeface="Times New Roman"/>
                <a:ea typeface="Times New Roman"/>
                <a:cs typeface="Times New Roman"/>
              </a:rPr>
              <a:t>2. Agent Factors</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Virulence</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Infectious dose</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Mode of transmission</a:t>
            </a:r>
            <a:endParaRPr lang="en-US" sz="2800" dirty="0">
              <a:latin typeface="Letter Gothic"/>
              <a:ea typeface="Times New Roman"/>
              <a:cs typeface="Times New Roman"/>
            </a:endParaRPr>
          </a:p>
          <a:p>
            <a:r>
              <a:rPr lang="en-ZA" dirty="0">
                <a:latin typeface="Times New Roman"/>
                <a:ea typeface="Calibri"/>
              </a:rPr>
              <a:t>Adaptation ability</a:t>
            </a:r>
          </a:p>
          <a:p>
            <a:pPr marL="0" indent="0" algn="just">
              <a:spcBef>
                <a:spcPts val="0"/>
              </a:spcBef>
              <a:buNone/>
              <a:tabLst>
                <a:tab pos="2743200" algn="ctr"/>
                <a:tab pos="5486400" algn="r"/>
                <a:tab pos="457200" algn="l"/>
                <a:tab pos="2743200" algn="ctr"/>
                <a:tab pos="5486400" algn="r"/>
              </a:tabLst>
            </a:pPr>
            <a:r>
              <a:rPr lang="en-ZA" dirty="0">
                <a:latin typeface="Times New Roman"/>
              </a:rPr>
              <a:t>3. </a:t>
            </a:r>
            <a:r>
              <a:rPr lang="en-US" u="sng" dirty="0">
                <a:latin typeface="Times New Roman"/>
                <a:ea typeface="Times New Roman"/>
                <a:cs typeface="Times New Roman"/>
              </a:rPr>
              <a:t>Environment</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Shelter and housing</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Sanitation and hygiene</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Water supply</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Overcrowding</a:t>
            </a:r>
            <a:endParaRPr lang="en-US" sz="2800" dirty="0">
              <a:latin typeface="Letter Gothic"/>
              <a:ea typeface="Times New Roman"/>
              <a:cs typeface="Times New Roman"/>
            </a:endParaRPr>
          </a:p>
          <a:p>
            <a:pPr algn="just">
              <a:spcBef>
                <a:spcPts val="0"/>
              </a:spcBef>
              <a:buFont typeface="Symbol"/>
              <a:buChar char=""/>
              <a:tabLst>
                <a:tab pos="2743200" algn="ctr"/>
                <a:tab pos="5486400" algn="r"/>
                <a:tab pos="457200" algn="l"/>
                <a:tab pos="2743200" algn="ctr"/>
                <a:tab pos="5486400" algn="r"/>
              </a:tabLst>
            </a:pPr>
            <a:r>
              <a:rPr lang="en-US" dirty="0">
                <a:latin typeface="Times New Roman"/>
                <a:ea typeface="Times New Roman"/>
                <a:cs typeface="Times New Roman"/>
              </a:rPr>
              <a:t>Availability of health and other services</a:t>
            </a:r>
            <a:endParaRPr lang="en-US" sz="2800" dirty="0">
              <a:latin typeface="Letter Gothic"/>
              <a:ea typeface="Times New Roman"/>
              <a:cs typeface="Times New Roman"/>
            </a:endParaRP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14</a:t>
            </a:fld>
            <a:endParaRPr lang="en-US">
              <a:solidFill>
                <a:prstClr val="black">
                  <a:tint val="75000"/>
                </a:prstClr>
              </a:solidFill>
              <a:latin typeface="Calibri"/>
            </a:endParaRPr>
          </a:p>
        </p:txBody>
      </p:sp>
    </p:spTree>
    <p:extLst>
      <p:ext uri="{BB962C8B-B14F-4D97-AF65-F5344CB8AC3E}">
        <p14:creationId xmlns:p14="http://schemas.microsoft.com/office/powerpoint/2010/main" val="867621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3601" y="457201"/>
            <a:ext cx="8323389" cy="551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4056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Transmission of diseases</a:t>
            </a:r>
          </a:p>
        </p:txBody>
      </p:sp>
      <p:sp>
        <p:nvSpPr>
          <p:cNvPr id="3" name="Content Placeholder 2"/>
          <p:cNvSpPr>
            <a:spLocks noGrp="1"/>
          </p:cNvSpPr>
          <p:nvPr>
            <p:ph idx="1"/>
          </p:nvPr>
        </p:nvSpPr>
        <p:spPr>
          <a:xfrm>
            <a:off x="1981200" y="1600200"/>
            <a:ext cx="8458200" cy="5105400"/>
          </a:xfrm>
        </p:spPr>
        <p:txBody>
          <a:bodyPr/>
          <a:lstStyle/>
          <a:p>
            <a:r>
              <a:rPr lang="en-US" b="1" dirty="0">
                <a:effectLst>
                  <a:outerShdw blurRad="38100" dist="38100" dir="2700000" algn="tl">
                    <a:srgbClr val="000000">
                      <a:alpha val="43137"/>
                    </a:srgbClr>
                  </a:outerShdw>
                </a:effectLst>
              </a:rPr>
              <a:t>Transmission\spread</a:t>
            </a:r>
          </a:p>
          <a:p>
            <a:pPr marL="0" indent="0">
              <a:buNone/>
            </a:pPr>
            <a:r>
              <a:rPr lang="en-US" dirty="0">
                <a:effectLst>
                  <a:outerShdw blurRad="38100" dist="38100" dir="2700000" algn="tl">
                    <a:srgbClr val="000000">
                      <a:alpha val="43137"/>
                    </a:srgbClr>
                  </a:outerShdw>
                </a:effectLst>
              </a:rPr>
              <a:t>The process of the pathogen(</a:t>
            </a:r>
            <a:r>
              <a:rPr lang="en-US" dirty="0" err="1">
                <a:effectLst>
                  <a:outerShdw blurRad="38100" dist="38100" dir="2700000" algn="tl">
                    <a:srgbClr val="000000">
                      <a:alpha val="43137"/>
                    </a:srgbClr>
                  </a:outerShdw>
                </a:effectLst>
              </a:rPr>
              <a:t>dses</a:t>
            </a:r>
            <a:r>
              <a:rPr lang="en-US" dirty="0">
                <a:effectLst>
                  <a:outerShdw blurRad="38100" dist="38100" dir="2700000" algn="tl">
                    <a:srgbClr val="000000">
                      <a:alpha val="43137"/>
                    </a:srgbClr>
                  </a:outerShdw>
                </a:effectLst>
              </a:rPr>
              <a:t> causing organism) leaving one host and infecting a new host.</a:t>
            </a:r>
          </a:p>
          <a:p>
            <a:pPr marL="0" indent="0">
              <a:buNone/>
            </a:pPr>
            <a:r>
              <a:rPr lang="en-US" dirty="0">
                <a:effectLst>
                  <a:outerShdw blurRad="38100" dist="38100" dir="2700000" algn="tl">
                    <a:srgbClr val="000000">
                      <a:alpha val="43137"/>
                    </a:srgbClr>
                  </a:outerShdw>
                </a:effectLst>
              </a:rPr>
              <a:t>For transmission to be complete two factors are crucial:-</a:t>
            </a:r>
          </a:p>
          <a:p>
            <a:r>
              <a:rPr lang="en-US" dirty="0">
                <a:effectLst>
                  <a:outerShdw blurRad="38100" dist="38100" dir="2700000" algn="tl">
                    <a:srgbClr val="000000">
                      <a:alpha val="43137"/>
                    </a:srgbClr>
                  </a:outerShdw>
                </a:effectLst>
              </a:rPr>
              <a:t>Source of disease</a:t>
            </a:r>
          </a:p>
          <a:p>
            <a:r>
              <a:rPr lang="en-US" dirty="0">
                <a:effectLst>
                  <a:outerShdw blurRad="38100" dist="38100" dir="2700000" algn="tl">
                    <a:srgbClr val="000000">
                      <a:alpha val="43137"/>
                    </a:srgbClr>
                  </a:outerShdw>
                </a:effectLst>
              </a:rPr>
              <a:t>Target population</a:t>
            </a:r>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16</a:t>
            </a:fld>
            <a:endParaRPr lang="en-US">
              <a:solidFill>
                <a:prstClr val="black">
                  <a:tint val="75000"/>
                </a:prstClr>
              </a:solidFill>
              <a:latin typeface="Calibri"/>
            </a:endParaRPr>
          </a:p>
        </p:txBody>
      </p:sp>
    </p:spTree>
    <p:extLst>
      <p:ext uri="{BB962C8B-B14F-4D97-AF65-F5344CB8AC3E}">
        <p14:creationId xmlns:p14="http://schemas.microsoft.com/office/powerpoint/2010/main" val="1014466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52400"/>
            <a:ext cx="8839200" cy="6400800"/>
          </a:xfrm>
        </p:spPr>
        <p:txBody>
          <a:bodyPr/>
          <a:lstStyle/>
          <a:p>
            <a:r>
              <a:rPr lang="en-US" b="1" dirty="0">
                <a:solidFill>
                  <a:srgbClr val="FF0000"/>
                </a:solidFill>
                <a:latin typeface="Arial"/>
              </a:rPr>
              <a:t>Classification of communicable diseases</a:t>
            </a:r>
          </a:p>
          <a:p>
            <a:r>
              <a:rPr lang="en-US" dirty="0">
                <a:solidFill>
                  <a:srgbClr val="191919"/>
                </a:solidFill>
                <a:latin typeface="Arial"/>
              </a:rPr>
              <a:t>Two ways of classifying communicable diseases</a:t>
            </a:r>
          </a:p>
          <a:p>
            <a:r>
              <a:rPr lang="en-US" b="1" dirty="0">
                <a:solidFill>
                  <a:srgbClr val="312B39"/>
                </a:solidFill>
                <a:latin typeface="Arial"/>
              </a:rPr>
              <a:t>Clinical classification:</a:t>
            </a:r>
            <a:r>
              <a:rPr lang="en-US" dirty="0">
                <a:solidFill>
                  <a:srgbClr val="312B39"/>
                </a:solidFill>
                <a:latin typeface="Arial"/>
              </a:rPr>
              <a:t> based on the main clinical manifestations (symptoms and signs) of the disease.</a:t>
            </a:r>
          </a:p>
          <a:p>
            <a:r>
              <a:rPr lang="en-US" b="1" dirty="0">
                <a:solidFill>
                  <a:srgbClr val="312B39"/>
                </a:solidFill>
                <a:latin typeface="Arial"/>
              </a:rPr>
              <a:t>Epidemiologic classification:</a:t>
            </a:r>
            <a:r>
              <a:rPr lang="en-US" dirty="0">
                <a:solidFill>
                  <a:srgbClr val="312B39"/>
                </a:solidFill>
                <a:latin typeface="Arial"/>
              </a:rPr>
              <a:t> based on the main mode of transmission of the disease.</a:t>
            </a: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17</a:t>
            </a:fld>
            <a:endParaRPr lang="en-US">
              <a:solidFill>
                <a:prstClr val="black">
                  <a:tint val="75000"/>
                </a:prstClr>
              </a:solidFill>
              <a:latin typeface="Calibri"/>
            </a:endParaRPr>
          </a:p>
        </p:txBody>
      </p:sp>
    </p:spTree>
    <p:extLst>
      <p:ext uri="{BB962C8B-B14F-4D97-AF65-F5344CB8AC3E}">
        <p14:creationId xmlns:p14="http://schemas.microsoft.com/office/powerpoint/2010/main" val="2049863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52400"/>
            <a:ext cx="8839200" cy="6324600"/>
          </a:xfrm>
        </p:spPr>
        <p:txBody>
          <a:bodyPr>
            <a:normAutofit lnSpcReduction="10000"/>
          </a:bodyPr>
          <a:lstStyle/>
          <a:p>
            <a:r>
              <a:rPr lang="en-US" dirty="0">
                <a:solidFill>
                  <a:srgbClr val="312B39"/>
                </a:solidFill>
                <a:latin typeface="Arial"/>
              </a:rPr>
              <a:t> </a:t>
            </a:r>
            <a:r>
              <a:rPr lang="en-US" b="1" dirty="0">
                <a:solidFill>
                  <a:srgbClr val="312B39"/>
                </a:solidFill>
                <a:latin typeface="Arial"/>
              </a:rPr>
              <a:t> </a:t>
            </a:r>
            <a:r>
              <a:rPr lang="en-US" b="1" dirty="0">
                <a:solidFill>
                  <a:srgbClr val="FF0000"/>
                </a:solidFill>
                <a:latin typeface="Arial"/>
              </a:rPr>
              <a:t>Clinical classification of communicable diseases</a:t>
            </a:r>
            <a:endParaRPr lang="en-US" dirty="0">
              <a:solidFill>
                <a:srgbClr val="FF0000"/>
              </a:solidFill>
              <a:latin typeface="Arial"/>
            </a:endParaRPr>
          </a:p>
          <a:p>
            <a:r>
              <a:rPr lang="en-US" b="1" dirty="0" err="1">
                <a:solidFill>
                  <a:srgbClr val="312B39"/>
                </a:solidFill>
                <a:latin typeface="Arial"/>
              </a:rPr>
              <a:t>Diarrhoeal</a:t>
            </a:r>
            <a:r>
              <a:rPr lang="en-US" b="1" dirty="0">
                <a:solidFill>
                  <a:srgbClr val="312B39"/>
                </a:solidFill>
                <a:latin typeface="Arial"/>
              </a:rPr>
              <a:t> diseases</a:t>
            </a:r>
            <a:r>
              <a:rPr lang="en-US" dirty="0">
                <a:solidFill>
                  <a:srgbClr val="312B39"/>
                </a:solidFill>
                <a:latin typeface="Arial"/>
              </a:rPr>
              <a:t>: clinical symptom is </a:t>
            </a:r>
            <a:r>
              <a:rPr lang="en-US" dirty="0" err="1">
                <a:solidFill>
                  <a:srgbClr val="312B39"/>
                </a:solidFill>
                <a:latin typeface="Arial"/>
              </a:rPr>
              <a:t>diarrhoea</a:t>
            </a:r>
            <a:r>
              <a:rPr lang="en-US" dirty="0">
                <a:solidFill>
                  <a:srgbClr val="312B39"/>
                </a:solidFill>
                <a:latin typeface="Arial"/>
              </a:rPr>
              <a:t>, which means passage of loose stool (liquid </a:t>
            </a:r>
            <a:r>
              <a:rPr lang="en-US" dirty="0" err="1">
                <a:solidFill>
                  <a:srgbClr val="312B39"/>
                </a:solidFill>
                <a:latin typeface="Arial"/>
              </a:rPr>
              <a:t>faeces</a:t>
            </a:r>
            <a:r>
              <a:rPr lang="en-US" dirty="0">
                <a:solidFill>
                  <a:srgbClr val="312B39"/>
                </a:solidFill>
                <a:latin typeface="Arial"/>
              </a:rPr>
              <a:t>) three or more times per day</a:t>
            </a:r>
          </a:p>
          <a:p>
            <a:r>
              <a:rPr lang="en-US" b="1" dirty="0">
                <a:solidFill>
                  <a:srgbClr val="312B39"/>
                </a:solidFill>
                <a:latin typeface="Arial"/>
              </a:rPr>
              <a:t>Febrile illnesses</a:t>
            </a:r>
            <a:r>
              <a:rPr lang="en-US" dirty="0">
                <a:solidFill>
                  <a:srgbClr val="312B39"/>
                </a:solidFill>
                <a:latin typeface="Arial"/>
              </a:rPr>
              <a:t>, because they all have the main symptom of fever, for example, malaria. </a:t>
            </a:r>
          </a:p>
          <a:p>
            <a:r>
              <a:rPr lang="en-US" b="1" dirty="0">
                <a:solidFill>
                  <a:srgbClr val="312B39"/>
                </a:solidFill>
                <a:latin typeface="Arial"/>
              </a:rPr>
              <a:t>Respiratory diseases:</a:t>
            </a:r>
            <a:r>
              <a:rPr lang="en-US" dirty="0">
                <a:solidFill>
                  <a:srgbClr val="312B39"/>
                </a:solidFill>
                <a:latin typeface="Arial"/>
              </a:rPr>
              <a:t> their main symptoms include cough and shortness of breath, as in pneumonia.</a:t>
            </a:r>
          </a:p>
          <a:p>
            <a:r>
              <a:rPr lang="en-US" dirty="0"/>
              <a:t>ETC</a:t>
            </a:r>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18</a:t>
            </a:fld>
            <a:endParaRPr lang="en-US">
              <a:solidFill>
                <a:prstClr val="black">
                  <a:tint val="75000"/>
                </a:prstClr>
              </a:solidFill>
              <a:latin typeface="Calibri"/>
            </a:endParaRPr>
          </a:p>
        </p:txBody>
      </p:sp>
    </p:spTree>
    <p:extLst>
      <p:ext uri="{BB962C8B-B14F-4D97-AF65-F5344CB8AC3E}">
        <p14:creationId xmlns:p14="http://schemas.microsoft.com/office/powerpoint/2010/main" val="2891896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0200" y="152400"/>
            <a:ext cx="8915400" cy="6324600"/>
          </a:xfrm>
        </p:spPr>
        <p:txBody>
          <a:bodyPr>
            <a:normAutofit lnSpcReduction="10000"/>
          </a:bodyPr>
          <a:lstStyle/>
          <a:p>
            <a:r>
              <a:rPr lang="en-US" dirty="0">
                <a:solidFill>
                  <a:srgbClr val="FF0000"/>
                </a:solidFill>
                <a:latin typeface="Arial"/>
              </a:rPr>
              <a:t>Epidemiologic classification of communicable diseases</a:t>
            </a:r>
          </a:p>
          <a:p>
            <a:r>
              <a:rPr lang="en-US" dirty="0">
                <a:solidFill>
                  <a:srgbClr val="312B39"/>
                </a:solidFill>
                <a:latin typeface="Arial"/>
              </a:rPr>
              <a:t>Based on the mode of transmission of the infectious agent, communicable diseases can be classified as:</a:t>
            </a:r>
          </a:p>
          <a:p>
            <a:pPr>
              <a:buFont typeface="Arial"/>
              <a:buChar char="•"/>
            </a:pPr>
            <a:r>
              <a:rPr lang="en-US" b="1" dirty="0">
                <a:solidFill>
                  <a:srgbClr val="333333"/>
                </a:solidFill>
                <a:latin typeface="Arial"/>
              </a:rPr>
              <a:t>Waterborne diseases:</a:t>
            </a:r>
            <a:r>
              <a:rPr lang="en-US" dirty="0">
                <a:solidFill>
                  <a:srgbClr val="333333"/>
                </a:solidFill>
                <a:latin typeface="Arial"/>
              </a:rPr>
              <a:t> transmitted by ingestion of contaminated water.</a:t>
            </a:r>
          </a:p>
          <a:p>
            <a:pPr>
              <a:buFont typeface="Arial"/>
              <a:buChar char="•"/>
            </a:pPr>
            <a:r>
              <a:rPr lang="en-US" b="1" dirty="0">
                <a:solidFill>
                  <a:srgbClr val="333333"/>
                </a:solidFill>
                <a:latin typeface="Arial"/>
              </a:rPr>
              <a:t>Foodborne diseases:</a:t>
            </a:r>
            <a:r>
              <a:rPr lang="en-US" dirty="0">
                <a:solidFill>
                  <a:srgbClr val="333333"/>
                </a:solidFill>
                <a:latin typeface="Arial"/>
              </a:rPr>
              <a:t> transmitted by the ingestion of contaminated food.</a:t>
            </a:r>
          </a:p>
          <a:p>
            <a:pPr>
              <a:buFont typeface="Arial"/>
              <a:buChar char="•"/>
            </a:pPr>
            <a:r>
              <a:rPr lang="en-US" b="1" dirty="0">
                <a:solidFill>
                  <a:srgbClr val="333333"/>
                </a:solidFill>
                <a:latin typeface="Arial"/>
              </a:rPr>
              <a:t>Airborne diseases:</a:t>
            </a:r>
            <a:r>
              <a:rPr lang="en-US" dirty="0">
                <a:solidFill>
                  <a:srgbClr val="333333"/>
                </a:solidFill>
                <a:latin typeface="Arial"/>
              </a:rPr>
              <a:t> transmitted through the air.</a:t>
            </a:r>
          </a:p>
          <a:p>
            <a:pPr>
              <a:buFont typeface="Arial"/>
              <a:buChar char="•"/>
            </a:pPr>
            <a:r>
              <a:rPr lang="en-US" b="1" dirty="0">
                <a:solidFill>
                  <a:srgbClr val="333333"/>
                </a:solidFill>
                <a:latin typeface="Arial"/>
              </a:rPr>
              <a:t>Vector-borne diseases:</a:t>
            </a:r>
            <a:r>
              <a:rPr lang="en-US" dirty="0">
                <a:solidFill>
                  <a:srgbClr val="333333"/>
                </a:solidFill>
                <a:latin typeface="Arial"/>
              </a:rPr>
              <a:t> transmitted by vectors, such as mosquitoes and flies.</a:t>
            </a: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19</a:t>
            </a:fld>
            <a:endParaRPr lang="en-US">
              <a:solidFill>
                <a:prstClr val="black">
                  <a:tint val="75000"/>
                </a:prstClr>
              </a:solidFill>
              <a:latin typeface="Calibri"/>
            </a:endParaRPr>
          </a:p>
        </p:txBody>
      </p:sp>
    </p:spTree>
    <p:extLst>
      <p:ext uri="{BB962C8B-B14F-4D97-AF65-F5344CB8AC3E}">
        <p14:creationId xmlns:p14="http://schemas.microsoft.com/office/powerpoint/2010/main" val="37031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228600"/>
            <a:ext cx="8610600" cy="6172200"/>
          </a:xfrm>
        </p:spPr>
        <p:txBody>
          <a:bodyPr/>
          <a:lstStyle/>
          <a:p>
            <a:pPr marL="0" algn="just">
              <a:spcBef>
                <a:spcPts val="0"/>
              </a:spcBef>
              <a:spcAft>
                <a:spcPts val="0"/>
              </a:spcAft>
              <a:tabLst>
                <a:tab pos="2743200" algn="ctr"/>
                <a:tab pos="5486400" algn="r"/>
                <a:tab pos="457200" algn="l"/>
                <a:tab pos="2743200" algn="ctr"/>
                <a:tab pos="5486400" algn="r"/>
              </a:tabLst>
            </a:pPr>
            <a:r>
              <a:rPr lang="en-US" b="1" u="sng" dirty="0">
                <a:latin typeface="Times New Roman"/>
                <a:ea typeface="Times New Roman"/>
                <a:cs typeface="Times New Roman"/>
              </a:rPr>
              <a:t>Principles of Communicable disease control</a:t>
            </a:r>
            <a:endParaRPr lang="en-US" sz="2800" dirty="0">
              <a:latin typeface="Letter Gothic"/>
              <a:ea typeface="Times New Roman"/>
              <a:cs typeface="Times New Roman"/>
            </a:endParaRP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20</a:t>
            </a:fld>
            <a:endParaRPr lang="en-US">
              <a:solidFill>
                <a:prstClr val="black">
                  <a:tint val="75000"/>
                </a:prstClr>
              </a:solidFill>
              <a:latin typeface="Calibri"/>
            </a:endParaRPr>
          </a:p>
        </p:txBody>
      </p:sp>
      <p:graphicFrame>
        <p:nvGraphicFramePr>
          <p:cNvPr id="6" name="Table 5"/>
          <p:cNvGraphicFramePr>
            <a:graphicFrameLocks noGrp="1"/>
          </p:cNvGraphicFramePr>
          <p:nvPr>
            <p:extLst/>
          </p:nvPr>
        </p:nvGraphicFramePr>
        <p:xfrm>
          <a:off x="1905002" y="1143000"/>
          <a:ext cx="8381999" cy="5486400"/>
        </p:xfrm>
        <a:graphic>
          <a:graphicData uri="http://schemas.openxmlformats.org/drawingml/2006/table">
            <a:tbl>
              <a:tblPr/>
              <a:tblGrid>
                <a:gridCol w="2607733">
                  <a:extLst>
                    <a:ext uri="{9D8B030D-6E8A-4147-A177-3AD203B41FA5}">
                      <a16:colId xmlns:a16="http://schemas.microsoft.com/office/drawing/2014/main" val="20000"/>
                    </a:ext>
                  </a:extLst>
                </a:gridCol>
                <a:gridCol w="3166533">
                  <a:extLst>
                    <a:ext uri="{9D8B030D-6E8A-4147-A177-3AD203B41FA5}">
                      <a16:colId xmlns:a16="http://schemas.microsoft.com/office/drawing/2014/main" val="20001"/>
                    </a:ext>
                  </a:extLst>
                </a:gridCol>
                <a:gridCol w="2607733">
                  <a:extLst>
                    <a:ext uri="{9D8B030D-6E8A-4147-A177-3AD203B41FA5}">
                      <a16:colId xmlns:a16="http://schemas.microsoft.com/office/drawing/2014/main" val="20002"/>
                    </a:ext>
                  </a:extLst>
                </a:gridCol>
              </a:tblGrid>
              <a:tr h="1400754">
                <a:tc>
                  <a:txBody>
                    <a:bodyPr/>
                    <a:lstStyle/>
                    <a:p>
                      <a:pPr marL="0" marR="0">
                        <a:lnSpc>
                          <a:spcPct val="115000"/>
                        </a:lnSpc>
                        <a:spcBef>
                          <a:spcPts val="0"/>
                        </a:spcBef>
                        <a:spcAft>
                          <a:spcPts val="1000"/>
                        </a:spcAft>
                      </a:pPr>
                      <a:r>
                        <a:rPr lang="en-ZA" sz="2400" b="1" spc="-5" dirty="0">
                          <a:effectLst/>
                          <a:latin typeface="Times New Roman"/>
                          <a:ea typeface="Calibri"/>
                          <a:cs typeface="Times New Roman"/>
                        </a:rPr>
                        <a:t>Attacking the source</a:t>
                      </a:r>
                      <a:endParaRPr lang="en-US" sz="2400" b="1" dirty="0">
                        <a:effectLst/>
                        <a:latin typeface="Calibri"/>
                        <a:ea typeface="Calibri"/>
                        <a:cs typeface="Times New Roman"/>
                      </a:endParaRPr>
                    </a:p>
                    <a:p>
                      <a:pPr marL="0" marR="0">
                        <a:lnSpc>
                          <a:spcPct val="115000"/>
                        </a:lnSpc>
                        <a:spcBef>
                          <a:spcPts val="0"/>
                        </a:spcBef>
                        <a:spcAft>
                          <a:spcPts val="1000"/>
                        </a:spcAft>
                      </a:pPr>
                      <a:r>
                        <a:rPr lang="en-ZA" sz="2400" dirty="0">
                          <a:effectLst/>
                          <a:latin typeface="Times New Roman"/>
                          <a:ea typeface="Calibri"/>
                          <a:cs typeface="Times New Roman"/>
                        </a:rPr>
                        <a:t> </a:t>
                      </a:r>
                      <a:endParaRPr lang="en-US" sz="2400" dirty="0">
                        <a:effectLst/>
                        <a:latin typeface="Calibri"/>
                        <a:ea typeface="Calibri"/>
                        <a:cs typeface="Times New Roman"/>
                      </a:endParaRPr>
                    </a:p>
                  </a:txBody>
                  <a:tcPr marL="25400" marR="2540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ZA" sz="2400" b="1" dirty="0">
                          <a:effectLst/>
                          <a:latin typeface="Times New Roman"/>
                          <a:ea typeface="Calibri"/>
                          <a:cs typeface="Times New Roman"/>
                        </a:rPr>
                        <a:t>Interrupting transmission</a:t>
                      </a:r>
                      <a:endParaRPr lang="en-US" sz="2400" b="1" dirty="0">
                        <a:effectLst/>
                        <a:latin typeface="Calibri"/>
                        <a:ea typeface="Calibri"/>
                        <a:cs typeface="Times New Roman"/>
                      </a:endParaRPr>
                    </a:p>
                    <a:p>
                      <a:pPr marL="0" marR="0">
                        <a:lnSpc>
                          <a:spcPct val="115000"/>
                        </a:lnSpc>
                        <a:spcBef>
                          <a:spcPts val="0"/>
                        </a:spcBef>
                        <a:spcAft>
                          <a:spcPts val="1000"/>
                        </a:spcAft>
                      </a:pPr>
                      <a:r>
                        <a:rPr lang="en-ZA" sz="2400" dirty="0">
                          <a:effectLst/>
                          <a:latin typeface="Times New Roman"/>
                          <a:ea typeface="Calibri"/>
                          <a:cs typeface="Times New Roman"/>
                        </a:rPr>
                        <a:t> </a:t>
                      </a:r>
                      <a:endParaRPr lang="en-US" sz="2400" dirty="0">
                        <a:effectLst/>
                        <a:latin typeface="Calibri"/>
                        <a:ea typeface="Calibri"/>
                        <a:cs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ZA" sz="2400" b="1" dirty="0">
                          <a:effectLst/>
                          <a:latin typeface="Times New Roman"/>
                          <a:ea typeface="Calibri"/>
                          <a:cs typeface="Times New Roman"/>
                        </a:rPr>
                        <a:t>Protecting the host</a:t>
                      </a:r>
                      <a:endParaRPr lang="en-US" sz="2400" b="1" dirty="0">
                        <a:effectLst/>
                        <a:latin typeface="Calibri"/>
                        <a:ea typeface="Calibri"/>
                        <a:cs typeface="Times New Roman"/>
                      </a:endParaRPr>
                    </a:p>
                    <a:p>
                      <a:pPr marL="0" marR="0">
                        <a:lnSpc>
                          <a:spcPct val="115000"/>
                        </a:lnSpc>
                        <a:spcBef>
                          <a:spcPts val="0"/>
                        </a:spcBef>
                        <a:spcAft>
                          <a:spcPts val="1000"/>
                        </a:spcAft>
                      </a:pPr>
                      <a:r>
                        <a:rPr lang="en-ZA" sz="2400" dirty="0">
                          <a:effectLst/>
                          <a:latin typeface="Times New Roman"/>
                          <a:ea typeface="Calibri"/>
                          <a:cs typeface="Times New Roman"/>
                        </a:rPr>
                        <a:t> </a:t>
                      </a:r>
                      <a:endParaRPr lang="en-US" sz="2400" dirty="0">
                        <a:effectLst/>
                        <a:latin typeface="Calibri"/>
                        <a:ea typeface="Calibri"/>
                        <a:cs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85646">
                <a:tc>
                  <a:txBody>
                    <a:bodyPr/>
                    <a:lstStyle/>
                    <a:p>
                      <a:pPr marL="0" marR="0">
                        <a:lnSpc>
                          <a:spcPct val="115000"/>
                        </a:lnSpc>
                        <a:spcBef>
                          <a:spcPts val="0"/>
                        </a:spcBef>
                        <a:spcAft>
                          <a:spcPts val="1000"/>
                        </a:spcAft>
                      </a:pPr>
                      <a:r>
                        <a:rPr lang="en-ZA" sz="2400" spc="-5" dirty="0">
                          <a:effectLst/>
                          <a:latin typeface="Times New Roman"/>
                          <a:ea typeface="Calibri"/>
                          <a:cs typeface="Times New Roman"/>
                        </a:rPr>
                        <a:t>Treatment </a:t>
                      </a:r>
                      <a:endParaRPr lang="en-US" sz="2400" dirty="0">
                        <a:effectLst/>
                        <a:latin typeface="Calibri"/>
                        <a:ea typeface="Calibri"/>
                        <a:cs typeface="Times New Roman"/>
                      </a:endParaRPr>
                    </a:p>
                    <a:p>
                      <a:pPr marL="0" marR="0">
                        <a:lnSpc>
                          <a:spcPct val="115000"/>
                        </a:lnSpc>
                        <a:spcBef>
                          <a:spcPts val="0"/>
                        </a:spcBef>
                        <a:spcAft>
                          <a:spcPts val="1000"/>
                        </a:spcAft>
                      </a:pPr>
                      <a:r>
                        <a:rPr lang="en-ZA" sz="2400" spc="-5" dirty="0">
                          <a:effectLst/>
                          <a:latin typeface="Times New Roman"/>
                          <a:ea typeface="Calibri"/>
                          <a:cs typeface="Times New Roman"/>
                        </a:rPr>
                        <a:t>Immunization</a:t>
                      </a:r>
                      <a:endParaRPr lang="en-US" sz="2400" dirty="0">
                        <a:effectLst/>
                        <a:latin typeface="Calibri"/>
                        <a:ea typeface="Calibri"/>
                        <a:cs typeface="Times New Roman"/>
                      </a:endParaRPr>
                    </a:p>
                    <a:p>
                      <a:pPr marL="0" marR="0">
                        <a:lnSpc>
                          <a:spcPct val="115000"/>
                        </a:lnSpc>
                        <a:spcBef>
                          <a:spcPts val="0"/>
                        </a:spcBef>
                        <a:spcAft>
                          <a:spcPts val="1000"/>
                        </a:spcAft>
                      </a:pPr>
                      <a:r>
                        <a:rPr lang="en-ZA" sz="2400" spc="-5" dirty="0">
                          <a:effectLst/>
                          <a:latin typeface="Times New Roman"/>
                          <a:ea typeface="Calibri"/>
                          <a:cs typeface="Times New Roman"/>
                        </a:rPr>
                        <a:t>Isolation </a:t>
                      </a:r>
                      <a:endParaRPr lang="en-US" sz="2400" dirty="0">
                        <a:effectLst/>
                        <a:latin typeface="Calibri"/>
                        <a:ea typeface="Calibri"/>
                        <a:cs typeface="Times New Roman"/>
                      </a:endParaRPr>
                    </a:p>
                    <a:p>
                      <a:pPr marL="0" marR="0">
                        <a:lnSpc>
                          <a:spcPct val="115000"/>
                        </a:lnSpc>
                        <a:spcBef>
                          <a:spcPts val="0"/>
                        </a:spcBef>
                        <a:spcAft>
                          <a:spcPts val="1000"/>
                        </a:spcAft>
                      </a:pPr>
                      <a:r>
                        <a:rPr lang="en-ZA" sz="2400" spc="-5" dirty="0">
                          <a:effectLst/>
                          <a:latin typeface="Times New Roman"/>
                          <a:ea typeface="Calibri"/>
                          <a:cs typeface="Times New Roman"/>
                        </a:rPr>
                        <a:t>Chemoprophylaxis</a:t>
                      </a:r>
                      <a:endParaRPr lang="en-US" sz="2400" dirty="0">
                        <a:effectLst/>
                        <a:latin typeface="Calibri"/>
                        <a:ea typeface="Calibri"/>
                        <a:cs typeface="Times New Roman"/>
                      </a:endParaRPr>
                    </a:p>
                    <a:p>
                      <a:pPr marL="0" marR="0">
                        <a:lnSpc>
                          <a:spcPct val="115000"/>
                        </a:lnSpc>
                        <a:spcBef>
                          <a:spcPts val="0"/>
                        </a:spcBef>
                        <a:spcAft>
                          <a:spcPts val="1000"/>
                        </a:spcAft>
                      </a:pPr>
                      <a:r>
                        <a:rPr lang="en-ZA" sz="2400" spc="-5" dirty="0">
                          <a:effectLst/>
                          <a:latin typeface="Times New Roman"/>
                          <a:ea typeface="Calibri"/>
                          <a:cs typeface="Times New Roman"/>
                        </a:rPr>
                        <a:t>Reservoir control</a:t>
                      </a:r>
                      <a:endParaRPr lang="en-US" sz="2400" dirty="0">
                        <a:effectLst/>
                        <a:latin typeface="Calibri"/>
                        <a:ea typeface="Calibri"/>
                        <a:cs typeface="Times New Roman"/>
                      </a:endParaRPr>
                    </a:p>
                    <a:p>
                      <a:pPr marL="0" marR="0">
                        <a:lnSpc>
                          <a:spcPct val="115000"/>
                        </a:lnSpc>
                        <a:spcBef>
                          <a:spcPts val="0"/>
                        </a:spcBef>
                        <a:spcAft>
                          <a:spcPts val="1000"/>
                        </a:spcAft>
                      </a:pPr>
                      <a:r>
                        <a:rPr lang="en-ZA" sz="2400" spc="-5" dirty="0">
                          <a:effectLst/>
                          <a:latin typeface="Times New Roman"/>
                          <a:ea typeface="Calibri"/>
                          <a:cs typeface="Times New Roman"/>
                        </a:rPr>
                        <a:t>Notification  </a:t>
                      </a:r>
                      <a:r>
                        <a:rPr lang="en-ZA" sz="2400" spc="-10" dirty="0">
                          <a:effectLst/>
                          <a:latin typeface="Times New Roman"/>
                          <a:ea typeface="Calibri"/>
                          <a:cs typeface="Times New Roman"/>
                        </a:rPr>
                        <a:t> </a:t>
                      </a:r>
                      <a:endParaRPr lang="en-US" sz="2400" dirty="0">
                        <a:effectLst/>
                        <a:latin typeface="Calibri"/>
                        <a:ea typeface="Calibri"/>
                        <a:cs typeface="Times New Roman"/>
                      </a:endParaRPr>
                    </a:p>
                    <a:p>
                      <a:pPr marL="0" marR="0">
                        <a:lnSpc>
                          <a:spcPct val="115000"/>
                        </a:lnSpc>
                        <a:spcBef>
                          <a:spcPts val="0"/>
                        </a:spcBef>
                        <a:spcAft>
                          <a:spcPts val="1000"/>
                        </a:spcAft>
                      </a:pPr>
                      <a:r>
                        <a:rPr lang="en-ZA" sz="2400" dirty="0">
                          <a:effectLst/>
                          <a:latin typeface="Times New Roman"/>
                          <a:ea typeface="Calibri"/>
                          <a:cs typeface="Times New Roman"/>
                        </a:rPr>
                        <a:t> </a:t>
                      </a:r>
                      <a:endParaRPr lang="en-US" sz="2400" dirty="0">
                        <a:effectLst/>
                        <a:latin typeface="Calibri"/>
                        <a:ea typeface="Calibri"/>
                        <a:cs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fr-FR" sz="2400" dirty="0" err="1">
                          <a:effectLst/>
                          <a:latin typeface="Times New Roman"/>
                          <a:ea typeface="Calibri"/>
                          <a:cs typeface="Times New Roman"/>
                        </a:rPr>
                        <a:t>Environmental</a:t>
                      </a:r>
                      <a:r>
                        <a:rPr lang="fr-FR" sz="2400" dirty="0">
                          <a:effectLst/>
                          <a:latin typeface="Times New Roman"/>
                          <a:ea typeface="Calibri"/>
                          <a:cs typeface="Times New Roman"/>
                        </a:rPr>
                        <a:t> </a:t>
                      </a:r>
                      <a:r>
                        <a:rPr lang="fr-FR" sz="2400" dirty="0" err="1">
                          <a:effectLst/>
                          <a:latin typeface="Times New Roman"/>
                          <a:ea typeface="Calibri"/>
                          <a:cs typeface="Times New Roman"/>
                        </a:rPr>
                        <a:t>sanitation</a:t>
                      </a:r>
                      <a:r>
                        <a:rPr lang="fr-FR" sz="2400" dirty="0">
                          <a:effectLst/>
                          <a:latin typeface="Times New Roman"/>
                          <a:ea typeface="Calibri"/>
                          <a:cs typeface="Times New Roman"/>
                        </a:rPr>
                        <a:t> Immunisation</a:t>
                      </a:r>
                      <a:endParaRPr lang="en-US" sz="2400" dirty="0">
                        <a:effectLst/>
                        <a:latin typeface="Calibri"/>
                        <a:ea typeface="Calibri"/>
                        <a:cs typeface="Times New Roman"/>
                      </a:endParaRPr>
                    </a:p>
                    <a:p>
                      <a:pPr marL="0" marR="0">
                        <a:lnSpc>
                          <a:spcPct val="115000"/>
                        </a:lnSpc>
                        <a:spcBef>
                          <a:spcPts val="0"/>
                        </a:spcBef>
                        <a:spcAft>
                          <a:spcPts val="1000"/>
                        </a:spcAft>
                      </a:pPr>
                      <a:r>
                        <a:rPr lang="fr-FR" sz="2400" dirty="0" err="1">
                          <a:effectLst/>
                          <a:latin typeface="Times New Roman"/>
                          <a:ea typeface="Calibri"/>
                          <a:cs typeface="Times New Roman"/>
                        </a:rPr>
                        <a:t>Personal</a:t>
                      </a:r>
                      <a:r>
                        <a:rPr lang="fr-FR" sz="2400" dirty="0">
                          <a:effectLst/>
                          <a:latin typeface="Times New Roman"/>
                          <a:ea typeface="Calibri"/>
                          <a:cs typeface="Times New Roman"/>
                        </a:rPr>
                        <a:t> </a:t>
                      </a:r>
                      <a:r>
                        <a:rPr lang="fr-FR" sz="2400" dirty="0" err="1">
                          <a:effectLst/>
                          <a:latin typeface="Times New Roman"/>
                          <a:ea typeface="Calibri"/>
                          <a:cs typeface="Times New Roman"/>
                        </a:rPr>
                        <a:t>hygiene</a:t>
                      </a:r>
                      <a:r>
                        <a:rPr lang="fr-FR" sz="2400" dirty="0">
                          <a:effectLst/>
                          <a:latin typeface="Times New Roman"/>
                          <a:ea typeface="Calibri"/>
                          <a:cs typeface="Times New Roman"/>
                        </a:rPr>
                        <a:t> </a:t>
                      </a:r>
                      <a:endParaRPr lang="en-US" sz="2400" dirty="0">
                        <a:effectLst/>
                        <a:latin typeface="Calibri"/>
                        <a:ea typeface="Calibri"/>
                        <a:cs typeface="Times New Roman"/>
                      </a:endParaRPr>
                    </a:p>
                    <a:p>
                      <a:pPr marL="0" marR="0">
                        <a:lnSpc>
                          <a:spcPct val="115000"/>
                        </a:lnSpc>
                        <a:spcBef>
                          <a:spcPts val="0"/>
                        </a:spcBef>
                        <a:spcAft>
                          <a:spcPts val="1000"/>
                        </a:spcAft>
                      </a:pPr>
                      <a:r>
                        <a:rPr lang="fr-FR" sz="2400" dirty="0" err="1">
                          <a:effectLst/>
                          <a:latin typeface="Times New Roman"/>
                          <a:ea typeface="Calibri"/>
                          <a:cs typeface="Times New Roman"/>
                        </a:rPr>
                        <a:t>Behaviour</a:t>
                      </a:r>
                      <a:r>
                        <a:rPr lang="fr-FR" sz="2400" dirty="0">
                          <a:effectLst/>
                          <a:latin typeface="Times New Roman"/>
                          <a:ea typeface="Calibri"/>
                          <a:cs typeface="Times New Roman"/>
                        </a:rPr>
                        <a:t> change </a:t>
                      </a:r>
                      <a:endParaRPr lang="en-US" sz="2400" dirty="0">
                        <a:effectLst/>
                        <a:latin typeface="Calibri"/>
                        <a:ea typeface="Calibri"/>
                        <a:cs typeface="Times New Roman"/>
                      </a:endParaRPr>
                    </a:p>
                    <a:p>
                      <a:pPr marL="0" marR="0">
                        <a:lnSpc>
                          <a:spcPct val="115000"/>
                        </a:lnSpc>
                        <a:spcBef>
                          <a:spcPts val="0"/>
                        </a:spcBef>
                        <a:spcAft>
                          <a:spcPts val="1000"/>
                        </a:spcAft>
                      </a:pPr>
                      <a:r>
                        <a:rPr lang="en-ZA" sz="2400" dirty="0">
                          <a:effectLst/>
                          <a:latin typeface="Times New Roman"/>
                          <a:ea typeface="Calibri"/>
                          <a:cs typeface="Times New Roman"/>
                        </a:rPr>
                        <a:t>Vector control </a:t>
                      </a:r>
                      <a:endParaRPr lang="en-US" sz="2400" dirty="0">
                        <a:effectLst/>
                        <a:latin typeface="Calibri"/>
                        <a:ea typeface="Calibri"/>
                        <a:cs typeface="Times New Roman"/>
                      </a:endParaRPr>
                    </a:p>
                    <a:p>
                      <a:pPr marL="0" marR="0">
                        <a:lnSpc>
                          <a:spcPct val="115000"/>
                        </a:lnSpc>
                        <a:spcBef>
                          <a:spcPts val="0"/>
                        </a:spcBef>
                        <a:spcAft>
                          <a:spcPts val="1000"/>
                        </a:spcAft>
                      </a:pPr>
                      <a:r>
                        <a:rPr lang="en-ZA" sz="2400" dirty="0">
                          <a:effectLst/>
                          <a:latin typeface="Times New Roman"/>
                          <a:ea typeface="Calibri"/>
                          <a:cs typeface="Times New Roman"/>
                        </a:rPr>
                        <a:t>Disinfection and sterilization</a:t>
                      </a:r>
                      <a:endParaRPr lang="en-US" sz="2400" dirty="0">
                        <a:effectLst/>
                        <a:latin typeface="Calibri"/>
                        <a:ea typeface="Calibri"/>
                        <a:cs typeface="Times New Roman"/>
                      </a:endParaRPr>
                    </a:p>
                    <a:p>
                      <a:pPr marL="0" marR="0">
                        <a:lnSpc>
                          <a:spcPct val="115000"/>
                        </a:lnSpc>
                        <a:spcBef>
                          <a:spcPts val="0"/>
                        </a:spcBef>
                        <a:spcAft>
                          <a:spcPts val="1000"/>
                        </a:spcAft>
                      </a:pPr>
                      <a:r>
                        <a:rPr lang="en-ZA" sz="2400" dirty="0">
                          <a:effectLst/>
                          <a:latin typeface="Times New Roman"/>
                          <a:ea typeface="Calibri"/>
                          <a:cs typeface="Times New Roman"/>
                        </a:rPr>
                        <a:t> </a:t>
                      </a:r>
                      <a:endParaRPr lang="en-US" sz="2400" dirty="0">
                        <a:effectLst/>
                        <a:latin typeface="Calibri"/>
                        <a:ea typeface="Calibri"/>
                        <a:cs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fr-FR" sz="2400" dirty="0">
                          <a:effectLst/>
                          <a:latin typeface="Times New Roman"/>
                          <a:ea typeface="Calibri"/>
                          <a:cs typeface="Times New Roman"/>
                        </a:rPr>
                        <a:t>Immunisation </a:t>
                      </a:r>
                      <a:r>
                        <a:rPr lang="fr-FR" sz="2400" spc="-5" dirty="0" err="1">
                          <a:effectLst/>
                          <a:latin typeface="Times New Roman"/>
                          <a:ea typeface="Calibri"/>
                          <a:cs typeface="Times New Roman"/>
                        </a:rPr>
                        <a:t>Chemoprophylaxis</a:t>
                      </a:r>
                      <a:endParaRPr lang="en-US" sz="2400" dirty="0">
                        <a:effectLst/>
                        <a:latin typeface="Calibri"/>
                        <a:ea typeface="Calibri"/>
                        <a:cs typeface="Times New Roman"/>
                      </a:endParaRPr>
                    </a:p>
                    <a:p>
                      <a:pPr marL="0" marR="0">
                        <a:lnSpc>
                          <a:spcPct val="115000"/>
                        </a:lnSpc>
                        <a:spcBef>
                          <a:spcPts val="0"/>
                        </a:spcBef>
                        <a:spcAft>
                          <a:spcPts val="1000"/>
                        </a:spcAft>
                      </a:pPr>
                      <a:r>
                        <a:rPr lang="fr-FR" sz="2400" spc="-5" dirty="0">
                          <a:effectLst/>
                          <a:latin typeface="Times New Roman"/>
                          <a:ea typeface="Calibri"/>
                          <a:cs typeface="Times New Roman"/>
                        </a:rPr>
                        <a:t> </a:t>
                      </a:r>
                      <a:r>
                        <a:rPr lang="fr-FR" sz="2400" dirty="0" err="1">
                          <a:effectLst/>
                          <a:latin typeface="Times New Roman"/>
                          <a:ea typeface="Calibri"/>
                          <a:cs typeface="Times New Roman"/>
                        </a:rPr>
                        <a:t>Personal</a:t>
                      </a:r>
                      <a:r>
                        <a:rPr lang="fr-FR" sz="2400" dirty="0">
                          <a:effectLst/>
                          <a:latin typeface="Times New Roman"/>
                          <a:ea typeface="Calibri"/>
                          <a:cs typeface="Times New Roman"/>
                        </a:rPr>
                        <a:t> protection          </a:t>
                      </a:r>
                      <a:r>
                        <a:rPr lang="fr-FR" sz="2400" dirty="0" err="1">
                          <a:effectLst/>
                          <a:latin typeface="Times New Roman"/>
                          <a:ea typeface="Calibri"/>
                          <a:cs typeface="Times New Roman"/>
                        </a:rPr>
                        <a:t>Better</a:t>
                      </a:r>
                      <a:r>
                        <a:rPr lang="fr-FR" sz="2400" dirty="0">
                          <a:effectLst/>
                          <a:latin typeface="Times New Roman"/>
                          <a:ea typeface="Calibri"/>
                          <a:cs typeface="Times New Roman"/>
                        </a:rPr>
                        <a:t> nutrition</a:t>
                      </a:r>
                      <a:endParaRPr lang="en-US" sz="2400" dirty="0">
                        <a:effectLst/>
                        <a:latin typeface="Calibri"/>
                        <a:ea typeface="Calibri"/>
                        <a:cs typeface="Times New Roman"/>
                      </a:endParaRPr>
                    </a:p>
                    <a:p>
                      <a:pPr marL="0" marR="0">
                        <a:lnSpc>
                          <a:spcPct val="115000"/>
                        </a:lnSpc>
                        <a:spcBef>
                          <a:spcPts val="0"/>
                        </a:spcBef>
                        <a:spcAft>
                          <a:spcPts val="1000"/>
                        </a:spcAft>
                      </a:pPr>
                      <a:r>
                        <a:rPr lang="fr-FR" sz="2400" dirty="0">
                          <a:effectLst/>
                          <a:latin typeface="Times New Roman"/>
                          <a:ea typeface="Calibri"/>
                          <a:cs typeface="Times New Roman"/>
                        </a:rPr>
                        <a:t> </a:t>
                      </a:r>
                      <a:endParaRPr lang="en-US" sz="2400" dirty="0">
                        <a:effectLst/>
                        <a:latin typeface="Calibri"/>
                        <a:ea typeface="Calibri"/>
                        <a:cs typeface="Times New Roman"/>
                      </a:endParaRPr>
                    </a:p>
                  </a:txBody>
                  <a:tcPr marL="25400" marR="254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11942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228600"/>
            <a:ext cx="8839200" cy="5943600"/>
          </a:xfrm>
        </p:spPr>
        <p:txBody>
          <a:bodyPr>
            <a:normAutofit fontScale="85000" lnSpcReduction="20000"/>
          </a:bodyPr>
          <a:lstStyle/>
          <a:p>
            <a:pPr marL="0" indent="0" algn="just">
              <a:spcBef>
                <a:spcPts val="0"/>
              </a:spcBef>
              <a:buNone/>
              <a:tabLst>
                <a:tab pos="2743200" algn="ctr"/>
                <a:tab pos="5486400" algn="r"/>
                <a:tab pos="457200" algn="l"/>
                <a:tab pos="2743200" algn="ctr"/>
                <a:tab pos="5486400" algn="r"/>
              </a:tabLst>
            </a:pPr>
            <a:r>
              <a:rPr lang="en-US" dirty="0">
                <a:latin typeface="Times New Roman"/>
                <a:ea typeface="Times New Roman"/>
                <a:cs typeface="Times New Roman"/>
              </a:rPr>
              <a:t>	 Control of vectors</a:t>
            </a:r>
            <a:endParaRPr lang="en-US" sz="2800" dirty="0">
              <a:latin typeface="Letter Gothic"/>
              <a:ea typeface="Times New Roman"/>
              <a:cs typeface="Times New Roman"/>
            </a:endParaRPr>
          </a:p>
          <a:p>
            <a:pPr marL="0" indent="0">
              <a:spcBef>
                <a:spcPts val="0"/>
              </a:spcBef>
              <a:spcAft>
                <a:spcPts val="0"/>
              </a:spcAft>
              <a:buNone/>
              <a:tabLst>
                <a:tab pos="2743200" algn="ctr"/>
                <a:tab pos="5486400" algn="r"/>
                <a:tab pos="457200" algn="l"/>
                <a:tab pos="2743200" algn="ctr"/>
                <a:tab pos="5486400" algn="r"/>
              </a:tabLst>
            </a:pPr>
            <a:r>
              <a:rPr lang="en-US" dirty="0">
                <a:latin typeface="Times New Roman"/>
                <a:ea typeface="Times New Roman"/>
                <a:cs typeface="Times New Roman"/>
              </a:rPr>
              <a:t> </a:t>
            </a:r>
            <a:endParaRPr lang="en-US" sz="2800" dirty="0">
              <a:latin typeface="Letter Gothic"/>
              <a:ea typeface="Times New Roman"/>
              <a:cs typeface="Times New Roman"/>
            </a:endParaRPr>
          </a:p>
          <a:p>
            <a:pPr marL="0">
              <a:spcBef>
                <a:spcPts val="0"/>
              </a:spcBef>
              <a:spcAft>
                <a:spcPts val="0"/>
              </a:spcAft>
              <a:tabLst>
                <a:tab pos="2743200" algn="ctr"/>
                <a:tab pos="5486400" algn="r"/>
                <a:tab pos="457200" algn="l"/>
                <a:tab pos="2743200" algn="ctr"/>
                <a:tab pos="5486400" algn="r"/>
              </a:tabLst>
            </a:pPr>
            <a:r>
              <a:rPr lang="en-US" u="sng" dirty="0">
                <a:latin typeface="Times New Roman"/>
                <a:ea typeface="Times New Roman"/>
                <a:cs typeface="Times New Roman"/>
              </a:rPr>
              <a:t>Vectors of Public Health Importance</a:t>
            </a:r>
            <a:endParaRPr lang="en-US" sz="2800" dirty="0">
              <a:latin typeface="Letter Gothic"/>
              <a:ea typeface="Times New Roman"/>
              <a:cs typeface="Times New Roman"/>
            </a:endParaRPr>
          </a:p>
          <a:p>
            <a:pPr>
              <a:lnSpc>
                <a:spcPct val="115000"/>
              </a:lnSpc>
              <a:spcBef>
                <a:spcPts val="0"/>
              </a:spcBef>
              <a:spcAft>
                <a:spcPts val="1000"/>
              </a:spcAft>
              <a:buSzPts val="1000"/>
              <a:buFont typeface="Symbol"/>
              <a:buChar char=""/>
              <a:tabLst>
                <a:tab pos="457200" algn="l"/>
              </a:tabLst>
            </a:pPr>
            <a:r>
              <a:rPr lang="en-ZA" dirty="0">
                <a:latin typeface="Times New Roman"/>
                <a:ea typeface="Times New Roman"/>
                <a:cs typeface="Times New Roman"/>
              </a:rPr>
              <a:t>Mosquitoes : Malaria, Dengue Fever, Yellow fever, elephantiasis </a:t>
            </a:r>
            <a:endParaRPr lang="en-US" sz="2400" dirty="0">
              <a:ea typeface="Calibri"/>
              <a:cs typeface="Times New Roman"/>
            </a:endParaRPr>
          </a:p>
          <a:p>
            <a:pPr>
              <a:lnSpc>
                <a:spcPct val="115000"/>
              </a:lnSpc>
              <a:spcBef>
                <a:spcPts val="0"/>
              </a:spcBef>
              <a:spcAft>
                <a:spcPts val="1000"/>
              </a:spcAft>
              <a:buSzPts val="1000"/>
              <a:buFont typeface="Symbol"/>
              <a:buChar char=""/>
              <a:tabLst>
                <a:tab pos="457200" algn="l"/>
              </a:tabLst>
            </a:pPr>
            <a:r>
              <a:rPr lang="en-ZA" dirty="0">
                <a:latin typeface="Times New Roman"/>
                <a:ea typeface="Times New Roman"/>
                <a:cs typeface="Times New Roman"/>
              </a:rPr>
              <a:t>Fleas: plague</a:t>
            </a:r>
            <a:endParaRPr lang="en-US" sz="2400" dirty="0">
              <a:ea typeface="Calibri"/>
              <a:cs typeface="Times New Roman"/>
            </a:endParaRPr>
          </a:p>
          <a:p>
            <a:pPr>
              <a:lnSpc>
                <a:spcPct val="115000"/>
              </a:lnSpc>
              <a:spcBef>
                <a:spcPts val="0"/>
              </a:spcBef>
              <a:spcAft>
                <a:spcPts val="1000"/>
              </a:spcAft>
              <a:buSzPts val="1000"/>
              <a:buFont typeface="Symbol"/>
              <a:buChar char=""/>
              <a:tabLst>
                <a:tab pos="457200" algn="l"/>
              </a:tabLst>
            </a:pPr>
            <a:r>
              <a:rPr lang="en-ZA" dirty="0">
                <a:latin typeface="Times New Roman"/>
                <a:ea typeface="Times New Roman"/>
                <a:cs typeface="Times New Roman"/>
              </a:rPr>
              <a:t>Sand flies: </a:t>
            </a:r>
            <a:r>
              <a:rPr lang="en-ZA" dirty="0" err="1">
                <a:latin typeface="Times New Roman"/>
                <a:ea typeface="Times New Roman"/>
                <a:cs typeface="Times New Roman"/>
              </a:rPr>
              <a:t>leishmaniais</a:t>
            </a:r>
            <a:endParaRPr lang="en-US" sz="2400" dirty="0">
              <a:ea typeface="Calibri"/>
              <a:cs typeface="Times New Roman"/>
            </a:endParaRPr>
          </a:p>
          <a:p>
            <a:pPr>
              <a:lnSpc>
                <a:spcPct val="115000"/>
              </a:lnSpc>
              <a:spcBef>
                <a:spcPts val="0"/>
              </a:spcBef>
              <a:spcAft>
                <a:spcPts val="1000"/>
              </a:spcAft>
              <a:buSzPts val="1000"/>
              <a:buFont typeface="Symbol"/>
              <a:buChar char=""/>
              <a:tabLst>
                <a:tab pos="457200" algn="l"/>
              </a:tabLst>
            </a:pPr>
            <a:r>
              <a:rPr lang="en-ZA" dirty="0">
                <a:latin typeface="Times New Roman"/>
                <a:ea typeface="Times New Roman"/>
                <a:cs typeface="Times New Roman"/>
              </a:rPr>
              <a:t>Ticks: </a:t>
            </a:r>
            <a:r>
              <a:rPr lang="en-ZA" dirty="0" err="1">
                <a:latin typeface="Times New Roman"/>
                <a:ea typeface="Times New Roman"/>
                <a:cs typeface="Times New Roman"/>
              </a:rPr>
              <a:t>lyme</a:t>
            </a:r>
            <a:r>
              <a:rPr lang="en-ZA" dirty="0">
                <a:latin typeface="Times New Roman"/>
                <a:ea typeface="Times New Roman"/>
                <a:cs typeface="Times New Roman"/>
              </a:rPr>
              <a:t> disease</a:t>
            </a:r>
            <a:endParaRPr lang="en-US" sz="2400" dirty="0">
              <a:ea typeface="Calibri"/>
              <a:cs typeface="Times New Roman"/>
            </a:endParaRPr>
          </a:p>
          <a:p>
            <a:pPr>
              <a:lnSpc>
                <a:spcPct val="115000"/>
              </a:lnSpc>
              <a:spcBef>
                <a:spcPts val="0"/>
              </a:spcBef>
              <a:spcAft>
                <a:spcPts val="1000"/>
              </a:spcAft>
              <a:buSzPts val="1000"/>
              <a:buFont typeface="Symbol"/>
              <a:buChar char=""/>
              <a:tabLst>
                <a:tab pos="457200" algn="l"/>
              </a:tabLst>
            </a:pPr>
            <a:r>
              <a:rPr lang="en-ZA" dirty="0" err="1">
                <a:latin typeface="Times New Roman"/>
                <a:ea typeface="Times New Roman"/>
                <a:cs typeface="Times New Roman"/>
              </a:rPr>
              <a:t>Tse</a:t>
            </a:r>
            <a:r>
              <a:rPr lang="en-ZA" dirty="0">
                <a:latin typeface="Times New Roman"/>
                <a:ea typeface="Times New Roman"/>
                <a:cs typeface="Times New Roman"/>
              </a:rPr>
              <a:t> </a:t>
            </a:r>
            <a:r>
              <a:rPr lang="en-ZA" dirty="0" err="1">
                <a:latin typeface="Times New Roman"/>
                <a:ea typeface="Times New Roman"/>
                <a:cs typeface="Times New Roman"/>
              </a:rPr>
              <a:t>tse</a:t>
            </a:r>
            <a:r>
              <a:rPr lang="en-ZA" dirty="0">
                <a:latin typeface="Times New Roman"/>
                <a:ea typeface="Times New Roman"/>
                <a:cs typeface="Times New Roman"/>
              </a:rPr>
              <a:t> flies: sleeping sickness</a:t>
            </a:r>
            <a:endParaRPr lang="en-US" sz="2400" dirty="0">
              <a:ea typeface="Calibri"/>
              <a:cs typeface="Times New Roman"/>
            </a:endParaRPr>
          </a:p>
          <a:p>
            <a:pPr>
              <a:lnSpc>
                <a:spcPct val="115000"/>
              </a:lnSpc>
              <a:spcBef>
                <a:spcPts val="0"/>
              </a:spcBef>
              <a:spcAft>
                <a:spcPts val="1000"/>
              </a:spcAft>
              <a:buSzPts val="1000"/>
              <a:buFont typeface="Symbol"/>
              <a:buChar char=""/>
              <a:tabLst>
                <a:tab pos="457200" algn="l"/>
              </a:tabLst>
            </a:pPr>
            <a:r>
              <a:rPr lang="en-ZA" dirty="0">
                <a:latin typeface="Times New Roman"/>
                <a:ea typeface="Times New Roman"/>
                <a:cs typeface="Times New Roman"/>
              </a:rPr>
              <a:t>Flies: diarrhoeal diseases</a:t>
            </a:r>
            <a:endParaRPr lang="en-US" sz="2400" dirty="0">
              <a:ea typeface="Calibri"/>
              <a:cs typeface="Times New Roman"/>
            </a:endParaRPr>
          </a:p>
          <a:p>
            <a:pPr>
              <a:lnSpc>
                <a:spcPct val="115000"/>
              </a:lnSpc>
              <a:spcBef>
                <a:spcPts val="0"/>
              </a:spcBef>
              <a:spcAft>
                <a:spcPts val="1000"/>
              </a:spcAft>
              <a:buSzPts val="1000"/>
              <a:buFont typeface="Symbol"/>
              <a:buChar char=""/>
              <a:tabLst>
                <a:tab pos="457200" algn="l"/>
              </a:tabLst>
            </a:pPr>
            <a:r>
              <a:rPr lang="en-ZA" dirty="0">
                <a:latin typeface="Times New Roman"/>
                <a:ea typeface="Times New Roman"/>
                <a:cs typeface="Times New Roman"/>
              </a:rPr>
              <a:t>Rats: leptospirosis</a:t>
            </a:r>
            <a:endParaRPr lang="en-US" sz="2400" dirty="0">
              <a:ea typeface="Calibri"/>
              <a:cs typeface="Times New Roman"/>
            </a:endParaRPr>
          </a:p>
          <a:p>
            <a:pPr>
              <a:lnSpc>
                <a:spcPct val="115000"/>
              </a:lnSpc>
              <a:spcBef>
                <a:spcPts val="0"/>
              </a:spcBef>
              <a:spcAft>
                <a:spcPts val="1000"/>
              </a:spcAft>
              <a:buSzPts val="1000"/>
              <a:buFont typeface="Symbol"/>
              <a:buChar char=""/>
              <a:tabLst>
                <a:tab pos="457200" algn="l"/>
              </a:tabLst>
            </a:pPr>
            <a:r>
              <a:rPr lang="en-ZA" dirty="0">
                <a:latin typeface="Times New Roman"/>
                <a:ea typeface="Times New Roman"/>
                <a:cs typeface="Times New Roman"/>
              </a:rPr>
              <a:t>Bedbugs, cockroaches</a:t>
            </a:r>
            <a:endParaRPr lang="en-US" sz="2400" dirty="0">
              <a:ea typeface="Calibri"/>
              <a:cs typeface="Times New Roman"/>
            </a:endParaRP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endParaRPr lang="en-US" dirty="0">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21</a:t>
            </a:fld>
            <a:endParaRPr lang="en-US">
              <a:solidFill>
                <a:prstClr val="black">
                  <a:tint val="75000"/>
                </a:prstClr>
              </a:solidFill>
              <a:latin typeface="Calibri"/>
            </a:endParaRPr>
          </a:p>
        </p:txBody>
      </p:sp>
    </p:spTree>
    <p:extLst>
      <p:ext uri="{BB962C8B-B14F-4D97-AF65-F5344CB8AC3E}">
        <p14:creationId xmlns:p14="http://schemas.microsoft.com/office/powerpoint/2010/main" val="1176240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533400"/>
            <a:ext cx="8458200" cy="5715000"/>
          </a:xfrm>
        </p:spPr>
        <p:txBody>
          <a:bodyPr>
            <a:normAutofit fontScale="92500" lnSpcReduction="10000"/>
          </a:bodyPr>
          <a:lstStyle/>
          <a:p>
            <a:pPr marL="0">
              <a:lnSpc>
                <a:spcPct val="115000"/>
              </a:lnSpc>
              <a:spcBef>
                <a:spcPts val="0"/>
              </a:spcBef>
              <a:spcAft>
                <a:spcPts val="1000"/>
              </a:spcAft>
            </a:pPr>
            <a:r>
              <a:rPr lang="en-ZA" dirty="0">
                <a:ea typeface="Calibri"/>
                <a:cs typeface="Times New Roman"/>
              </a:rPr>
              <a:t>Measures should be taken to get rid of vectors which pose danger of diseases     transmission. Measures include:</a:t>
            </a:r>
            <a:endParaRPr lang="en-US" sz="2400" dirty="0">
              <a:ea typeface="Calibri"/>
              <a:cs typeface="Times New Roman"/>
            </a:endParaRPr>
          </a:p>
          <a:p>
            <a:pPr marL="457200" indent="228600">
              <a:lnSpc>
                <a:spcPct val="115000"/>
              </a:lnSpc>
              <a:spcBef>
                <a:spcPts val="0"/>
              </a:spcBef>
              <a:spcAft>
                <a:spcPts val="1000"/>
              </a:spcAft>
            </a:pPr>
            <a:r>
              <a:rPr lang="en-ZA" dirty="0">
                <a:latin typeface="Times New Roman"/>
                <a:ea typeface="Calibri"/>
                <a:cs typeface="Times New Roman"/>
              </a:rPr>
              <a:t>A. </a:t>
            </a:r>
            <a:r>
              <a:rPr lang="en-ZA" u="sng" dirty="0">
                <a:latin typeface="Times New Roman"/>
                <a:ea typeface="Calibri"/>
                <a:cs typeface="Times New Roman"/>
              </a:rPr>
              <a:t>Environmental management</a:t>
            </a:r>
            <a:endParaRPr lang="en-US" sz="2400" dirty="0">
              <a:ea typeface="Calibri"/>
              <a:cs typeface="Times New Roman"/>
            </a:endParaRPr>
          </a:p>
          <a:p>
            <a:pPr>
              <a:spcBef>
                <a:spcPts val="0"/>
              </a:spcBef>
              <a:buFont typeface="Symbol"/>
              <a:buChar char=""/>
            </a:pPr>
            <a:r>
              <a:rPr lang="en-ZA" dirty="0">
                <a:latin typeface="Times New Roman"/>
                <a:ea typeface="Times New Roman"/>
              </a:rPr>
              <a:t>Destroying their bleeding sites e.g. Clearing bushes to control mosquitoes</a:t>
            </a:r>
            <a:endParaRPr lang="en-US" sz="2800" dirty="0">
              <a:latin typeface="Times New Roman"/>
              <a:ea typeface="Times New Roman"/>
            </a:endParaRPr>
          </a:p>
          <a:p>
            <a:pPr marL="685800">
              <a:spcBef>
                <a:spcPts val="0"/>
              </a:spcBef>
              <a:spcAft>
                <a:spcPts val="0"/>
              </a:spcAft>
            </a:pPr>
            <a:r>
              <a:rPr lang="en-ZA" dirty="0">
                <a:latin typeface="Times New Roman"/>
                <a:ea typeface="Times New Roman"/>
              </a:rPr>
              <a:t> </a:t>
            </a:r>
            <a:endParaRPr lang="en-US" sz="2800" dirty="0">
              <a:latin typeface="Times New Roman"/>
              <a:ea typeface="Times New Roman"/>
            </a:endParaRPr>
          </a:p>
          <a:p>
            <a:pPr marL="685800">
              <a:spcBef>
                <a:spcPts val="0"/>
              </a:spcBef>
              <a:spcAft>
                <a:spcPts val="0"/>
              </a:spcAft>
            </a:pPr>
            <a:r>
              <a:rPr lang="en-ZA" u="sng" dirty="0">
                <a:latin typeface="Times New Roman"/>
                <a:ea typeface="Times New Roman"/>
              </a:rPr>
              <a:t>B. Biological control</a:t>
            </a:r>
            <a:endParaRPr lang="en-US" sz="2800" dirty="0">
              <a:latin typeface="Times New Roman"/>
              <a:ea typeface="Times New Roman"/>
            </a:endParaRPr>
          </a:p>
          <a:p>
            <a:pPr marL="685800">
              <a:spcBef>
                <a:spcPts val="0"/>
              </a:spcBef>
              <a:spcAft>
                <a:spcPts val="0"/>
              </a:spcAft>
            </a:pPr>
            <a:r>
              <a:rPr lang="en-ZA" dirty="0">
                <a:latin typeface="Times New Roman"/>
                <a:ea typeface="Times New Roman"/>
              </a:rPr>
              <a:t> </a:t>
            </a:r>
            <a:endParaRPr lang="en-US" sz="2800" dirty="0">
              <a:latin typeface="Times New Roman"/>
              <a:ea typeface="Times New Roman"/>
            </a:endParaRPr>
          </a:p>
          <a:p>
            <a:pPr>
              <a:spcBef>
                <a:spcPts val="0"/>
              </a:spcBef>
              <a:buFont typeface="Symbol"/>
              <a:buChar char=""/>
            </a:pPr>
            <a:r>
              <a:rPr lang="en-ZA" dirty="0">
                <a:latin typeface="Times New Roman"/>
                <a:ea typeface="Times New Roman"/>
              </a:rPr>
              <a:t>Biological predators e.g. Using Bats to feed on mosquitoes</a:t>
            </a:r>
            <a:endParaRPr lang="en-US" sz="2800" dirty="0">
              <a:latin typeface="Times New Roman"/>
              <a:ea typeface="Times New Roman"/>
            </a:endParaRPr>
          </a:p>
          <a:p>
            <a:pPr>
              <a:spcBef>
                <a:spcPts val="0"/>
              </a:spcBef>
              <a:buFont typeface="Symbol"/>
              <a:buChar char=""/>
            </a:pPr>
            <a:r>
              <a:rPr lang="en-ZA" dirty="0">
                <a:latin typeface="Times New Roman"/>
                <a:ea typeface="Times New Roman"/>
              </a:rPr>
              <a:t>Bacteria or fish that destroy larva</a:t>
            </a:r>
            <a:endParaRPr lang="en-US" sz="2800" dirty="0">
              <a:latin typeface="Times New Roman"/>
              <a:ea typeface="Times New Roman"/>
            </a:endParaRP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22</a:t>
            </a:fld>
            <a:endParaRPr lang="en-US">
              <a:solidFill>
                <a:prstClr val="black">
                  <a:tint val="75000"/>
                </a:prstClr>
              </a:solidFill>
              <a:latin typeface="Calibri"/>
            </a:endParaRPr>
          </a:p>
        </p:txBody>
      </p:sp>
    </p:spTree>
    <p:extLst>
      <p:ext uri="{BB962C8B-B14F-4D97-AF65-F5344CB8AC3E}">
        <p14:creationId xmlns:p14="http://schemas.microsoft.com/office/powerpoint/2010/main" val="464151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304800"/>
            <a:ext cx="8686800" cy="6019800"/>
          </a:xfrm>
        </p:spPr>
        <p:txBody>
          <a:bodyPr/>
          <a:lstStyle/>
          <a:p>
            <a:pPr indent="0">
              <a:spcBef>
                <a:spcPts val="0"/>
              </a:spcBef>
              <a:spcAft>
                <a:spcPts val="0"/>
              </a:spcAft>
              <a:buNone/>
            </a:pPr>
            <a:r>
              <a:rPr lang="en-ZA" u="sng" dirty="0">
                <a:latin typeface="Times New Roman"/>
                <a:ea typeface="Times New Roman"/>
              </a:rPr>
              <a:t>C. Chemical methods</a:t>
            </a:r>
            <a:endParaRPr lang="en-US" sz="2800" dirty="0">
              <a:latin typeface="Times New Roman"/>
              <a:ea typeface="Times New Roman"/>
            </a:endParaRPr>
          </a:p>
          <a:p>
            <a:pPr indent="0">
              <a:spcBef>
                <a:spcPts val="0"/>
              </a:spcBef>
              <a:spcAft>
                <a:spcPts val="0"/>
              </a:spcAft>
              <a:buNone/>
            </a:pPr>
            <a:endParaRPr lang="en-US" sz="2800" dirty="0">
              <a:latin typeface="Times New Roman"/>
              <a:ea typeface="Times New Roman"/>
            </a:endParaRPr>
          </a:p>
          <a:p>
            <a:pPr>
              <a:spcBef>
                <a:spcPts val="0"/>
              </a:spcBef>
              <a:buFont typeface="Symbol"/>
              <a:buChar char=""/>
            </a:pPr>
            <a:r>
              <a:rPr lang="en-ZA" dirty="0">
                <a:latin typeface="Times New Roman"/>
                <a:ea typeface="Times New Roman"/>
              </a:rPr>
              <a:t>Chemical sprays- using Doom to control house flies</a:t>
            </a:r>
            <a:endParaRPr lang="en-US" sz="2800" dirty="0">
              <a:latin typeface="Times New Roman"/>
              <a:ea typeface="Times New Roman"/>
            </a:endParaRPr>
          </a:p>
          <a:p>
            <a:pPr>
              <a:spcBef>
                <a:spcPts val="0"/>
              </a:spcBef>
              <a:buFont typeface="Symbol"/>
              <a:buChar char=""/>
            </a:pPr>
            <a:r>
              <a:rPr lang="en-ZA" dirty="0">
                <a:latin typeface="Times New Roman"/>
                <a:ea typeface="Times New Roman"/>
              </a:rPr>
              <a:t>Indoor residual spraying</a:t>
            </a:r>
            <a:endParaRPr lang="en-US" sz="2800" dirty="0">
              <a:latin typeface="Times New Roman"/>
              <a:ea typeface="Times New Roman"/>
            </a:endParaRPr>
          </a:p>
          <a:p>
            <a:pPr>
              <a:spcBef>
                <a:spcPts val="0"/>
              </a:spcBef>
              <a:buFont typeface="Symbol"/>
              <a:buChar char=""/>
            </a:pPr>
            <a:r>
              <a:rPr lang="en-ZA" dirty="0">
                <a:latin typeface="Times New Roman"/>
                <a:ea typeface="Times New Roman"/>
              </a:rPr>
              <a:t>Chemical </a:t>
            </a:r>
            <a:r>
              <a:rPr lang="en-ZA" dirty="0" err="1">
                <a:latin typeface="Times New Roman"/>
                <a:ea typeface="Times New Roman"/>
              </a:rPr>
              <a:t>larvicides</a:t>
            </a:r>
            <a:endParaRPr lang="en-US" sz="2800" dirty="0">
              <a:latin typeface="Times New Roman"/>
              <a:ea typeface="Times New Roman"/>
            </a:endParaRPr>
          </a:p>
          <a:p>
            <a:pPr marL="685800">
              <a:spcBef>
                <a:spcPts val="0"/>
              </a:spcBef>
              <a:spcAft>
                <a:spcPts val="0"/>
              </a:spcAft>
            </a:pPr>
            <a:endParaRPr lang="en-US" sz="2800" dirty="0">
              <a:latin typeface="Times New Roman"/>
              <a:ea typeface="Times New Roman"/>
            </a:endParaRP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23</a:t>
            </a:fld>
            <a:endParaRPr lang="en-US">
              <a:solidFill>
                <a:prstClr val="black">
                  <a:tint val="75000"/>
                </a:prstClr>
              </a:solidFill>
              <a:latin typeface="Calibri"/>
            </a:endParaRPr>
          </a:p>
        </p:txBody>
      </p:sp>
    </p:spTree>
    <p:extLst>
      <p:ext uri="{BB962C8B-B14F-4D97-AF65-F5344CB8AC3E}">
        <p14:creationId xmlns:p14="http://schemas.microsoft.com/office/powerpoint/2010/main" val="3541921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152400"/>
            <a:ext cx="8610600" cy="6248400"/>
          </a:xfrm>
        </p:spPr>
        <p:txBody>
          <a:bodyPr/>
          <a:lstStyle/>
          <a:p>
            <a:pPr indent="0">
              <a:spcBef>
                <a:spcPts val="0"/>
              </a:spcBef>
              <a:spcAft>
                <a:spcPts val="0"/>
              </a:spcAft>
              <a:buNone/>
            </a:pPr>
            <a:r>
              <a:rPr lang="en-ZA" u="sng" dirty="0">
                <a:latin typeface="Times New Roman"/>
                <a:ea typeface="Times New Roman"/>
              </a:rPr>
              <a:t>D. Personal protection</a:t>
            </a:r>
            <a:endParaRPr lang="en-US" sz="2800" dirty="0">
              <a:latin typeface="Times New Roman"/>
              <a:ea typeface="Times New Roman"/>
            </a:endParaRPr>
          </a:p>
          <a:p>
            <a:pPr marL="685800">
              <a:spcBef>
                <a:spcPts val="0"/>
              </a:spcBef>
              <a:spcAft>
                <a:spcPts val="0"/>
              </a:spcAft>
            </a:pPr>
            <a:r>
              <a:rPr lang="en-ZA" dirty="0">
                <a:latin typeface="Times New Roman"/>
                <a:ea typeface="Times New Roman"/>
              </a:rPr>
              <a:t> </a:t>
            </a:r>
            <a:endParaRPr lang="en-US" sz="2800" dirty="0">
              <a:latin typeface="Times New Roman"/>
              <a:ea typeface="Times New Roman"/>
            </a:endParaRPr>
          </a:p>
          <a:p>
            <a:pPr>
              <a:spcBef>
                <a:spcPts val="0"/>
              </a:spcBef>
              <a:buFont typeface="Symbol"/>
              <a:buChar char=""/>
            </a:pPr>
            <a:r>
              <a:rPr lang="en-ZA" dirty="0">
                <a:latin typeface="Times New Roman"/>
                <a:ea typeface="Times New Roman"/>
              </a:rPr>
              <a:t>Insecticide treated nets</a:t>
            </a:r>
            <a:endParaRPr lang="en-US" sz="2800" dirty="0">
              <a:latin typeface="Times New Roman"/>
              <a:ea typeface="Times New Roman"/>
            </a:endParaRPr>
          </a:p>
          <a:p>
            <a:pPr>
              <a:spcBef>
                <a:spcPts val="0"/>
              </a:spcBef>
              <a:buFont typeface="Symbol"/>
              <a:buChar char=""/>
            </a:pPr>
            <a:r>
              <a:rPr lang="en-ZA" dirty="0">
                <a:latin typeface="Times New Roman"/>
                <a:ea typeface="Times New Roman"/>
              </a:rPr>
              <a:t>Insect repellent creams</a:t>
            </a:r>
            <a:endParaRPr lang="en-US" sz="2800" dirty="0">
              <a:latin typeface="Times New Roman"/>
              <a:ea typeface="Times New Roman"/>
            </a:endParaRPr>
          </a:p>
          <a:p>
            <a:pPr>
              <a:spcBef>
                <a:spcPts val="0"/>
              </a:spcBef>
              <a:buFont typeface="Symbol"/>
              <a:buChar char=""/>
            </a:pPr>
            <a:r>
              <a:rPr lang="en-ZA" dirty="0">
                <a:latin typeface="Times New Roman"/>
                <a:ea typeface="Times New Roman"/>
              </a:rPr>
              <a:t>Personal hygiene</a:t>
            </a:r>
            <a:endParaRPr lang="en-US" sz="2800" dirty="0">
              <a:latin typeface="Times New Roman"/>
              <a:ea typeface="Times New Roman"/>
            </a:endParaRPr>
          </a:p>
          <a:p>
            <a:pPr>
              <a:spcBef>
                <a:spcPts val="0"/>
              </a:spcBef>
              <a:buFont typeface="Symbol"/>
              <a:buChar char=""/>
            </a:pPr>
            <a:r>
              <a:rPr lang="en-ZA" dirty="0">
                <a:latin typeface="Times New Roman"/>
                <a:ea typeface="Times New Roman"/>
              </a:rPr>
              <a:t>Disease diagnosis and treatment</a:t>
            </a:r>
            <a:endParaRPr lang="en-US" sz="2800" dirty="0">
              <a:latin typeface="Times New Roman"/>
              <a:ea typeface="Times New Roman"/>
            </a:endParaRPr>
          </a:p>
          <a:p>
            <a:pPr marL="1143000">
              <a:spcBef>
                <a:spcPts val="0"/>
              </a:spcBef>
              <a:spcAft>
                <a:spcPts val="0"/>
              </a:spcAft>
            </a:pPr>
            <a:r>
              <a:rPr lang="en-ZA" dirty="0">
                <a:latin typeface="Times New Roman"/>
                <a:ea typeface="Times New Roman"/>
              </a:rPr>
              <a:t> </a:t>
            </a:r>
            <a:endParaRPr lang="en-US" sz="2800" dirty="0">
              <a:latin typeface="Times New Roman"/>
              <a:ea typeface="Times New Roman"/>
            </a:endParaRPr>
          </a:p>
          <a:p>
            <a:pPr>
              <a:spcBef>
                <a:spcPts val="0"/>
              </a:spcBef>
              <a:buFont typeface="+mj-lt"/>
              <a:buAutoNum type="alphaUcPeriod" startAt="5"/>
            </a:pPr>
            <a:r>
              <a:rPr lang="en-ZA" u="sng" dirty="0">
                <a:latin typeface="Times New Roman"/>
                <a:ea typeface="Times New Roman"/>
              </a:rPr>
              <a:t>Mechanical killing </a:t>
            </a:r>
            <a:endParaRPr lang="en-US" sz="2800" dirty="0">
              <a:latin typeface="Times New Roman"/>
              <a:ea typeface="Times New Roman"/>
            </a:endParaRPr>
          </a:p>
          <a:p>
            <a:pPr marL="914400">
              <a:spcBef>
                <a:spcPts val="0"/>
              </a:spcBef>
              <a:spcAft>
                <a:spcPts val="0"/>
              </a:spcAft>
            </a:pPr>
            <a:r>
              <a:rPr lang="en-ZA" dirty="0">
                <a:latin typeface="Times New Roman"/>
                <a:ea typeface="Times New Roman"/>
              </a:rPr>
              <a:t> </a:t>
            </a:r>
            <a:endParaRPr lang="en-US" sz="2800" dirty="0">
              <a:latin typeface="Times New Roman"/>
              <a:ea typeface="Times New Roman"/>
            </a:endParaRPr>
          </a:p>
          <a:p>
            <a:pPr>
              <a:spcBef>
                <a:spcPts val="0"/>
              </a:spcBef>
              <a:buFont typeface="Symbol"/>
              <a:buChar char=""/>
            </a:pPr>
            <a:r>
              <a:rPr lang="en-ZA" dirty="0">
                <a:latin typeface="Times New Roman"/>
                <a:ea typeface="Times New Roman"/>
              </a:rPr>
              <a:t>e.g., using your hands to kill mosquitoes</a:t>
            </a:r>
            <a:endParaRPr lang="en-US" sz="2800" dirty="0">
              <a:latin typeface="Times New Roman"/>
              <a:ea typeface="Times New Roman"/>
            </a:endParaRPr>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24</a:t>
            </a:fld>
            <a:endParaRPr lang="en-US">
              <a:solidFill>
                <a:prstClr val="black">
                  <a:tint val="75000"/>
                </a:prstClr>
              </a:solidFill>
              <a:latin typeface="Calibri"/>
            </a:endParaRPr>
          </a:p>
        </p:txBody>
      </p:sp>
    </p:spTree>
    <p:extLst>
      <p:ext uri="{BB962C8B-B14F-4D97-AF65-F5344CB8AC3E}">
        <p14:creationId xmlns:p14="http://schemas.microsoft.com/office/powerpoint/2010/main" val="2627197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1EDA96C-E253-418B-AD66-C88501704155}"/>
              </a:ext>
            </a:extLst>
          </p:cNvPr>
          <p:cNvPicPr>
            <a:picLocks noGrp="1" noChangeAspect="1"/>
          </p:cNvPicPr>
          <p:nvPr>
            <p:ph idx="1"/>
          </p:nvPr>
        </p:nvPicPr>
        <p:blipFill>
          <a:blip r:embed="rId2"/>
          <a:stretch>
            <a:fillRect/>
          </a:stretch>
        </p:blipFill>
        <p:spPr>
          <a:xfrm>
            <a:off x="1981201" y="381000"/>
            <a:ext cx="8001000" cy="5486400"/>
          </a:xfrm>
          <a:prstGeom prst="rect">
            <a:avLst/>
          </a:prstGeom>
        </p:spPr>
      </p:pic>
      <p:sp>
        <p:nvSpPr>
          <p:cNvPr id="4" name="Date Placeholder 3">
            <a:extLst>
              <a:ext uri="{FF2B5EF4-FFF2-40B4-BE49-F238E27FC236}">
                <a16:creationId xmlns:a16="http://schemas.microsoft.com/office/drawing/2014/main" id="{0BA243E0-16E6-4067-941A-F6F8B8FB74D3}"/>
              </a:ext>
            </a:extLst>
          </p:cNvPr>
          <p:cNvSpPr>
            <a:spLocks noGrp="1"/>
          </p:cNvSpPr>
          <p:nvPr>
            <p:ph type="dt" sz="half" idx="10"/>
          </p:nvPr>
        </p:nvSpPr>
        <p:spPr/>
        <p:txBody>
          <a:bodyPr/>
          <a:lstStyle/>
          <a:p>
            <a:pPr>
              <a:defRPr/>
            </a:pPr>
            <a:fld id="{C0CF0181-554A-47A6-80EF-76259888DD58}" type="datetime1">
              <a:rPr lang="en-GB">
                <a:solidFill>
                  <a:prstClr val="white">
                    <a:tint val="75000"/>
                  </a:prstClr>
                </a:solidFill>
                <a:latin typeface="Calibri"/>
              </a:rPr>
              <a:pPr>
                <a:defRPr/>
              </a:pPr>
              <a:t>25/10/2024</a:t>
            </a:fld>
            <a:endParaRPr lang="en-GB">
              <a:solidFill>
                <a:prstClr val="white">
                  <a:tint val="75000"/>
                </a:prstClr>
              </a:solidFill>
              <a:latin typeface="Calibri"/>
            </a:endParaRPr>
          </a:p>
        </p:txBody>
      </p:sp>
      <p:sp>
        <p:nvSpPr>
          <p:cNvPr id="5" name="Footer Placeholder 4">
            <a:extLst>
              <a:ext uri="{FF2B5EF4-FFF2-40B4-BE49-F238E27FC236}">
                <a16:creationId xmlns:a16="http://schemas.microsoft.com/office/drawing/2014/main" id="{B03F0F27-EDBC-4B4C-BA81-1E62E92BAFE6}"/>
              </a:ext>
            </a:extLst>
          </p:cNvPr>
          <p:cNvSpPr>
            <a:spLocks noGrp="1"/>
          </p:cNvSpPr>
          <p:nvPr>
            <p:ph type="ftr" sz="quarter" idx="11"/>
          </p:nvPr>
        </p:nvSpPr>
        <p:spPr/>
        <p:txBody>
          <a:bodyPr/>
          <a:lstStyle/>
          <a:p>
            <a:pPr>
              <a:defRPr/>
            </a:pPr>
            <a:r>
              <a:rPr lang="en-GB">
                <a:solidFill>
                  <a:prstClr val="white">
                    <a:tint val="75000"/>
                  </a:prstClr>
                </a:solidFill>
                <a:latin typeface="Calibri"/>
              </a:rPr>
              <a:t>Dr. Mwaniki</a:t>
            </a:r>
          </a:p>
        </p:txBody>
      </p:sp>
      <p:sp>
        <p:nvSpPr>
          <p:cNvPr id="6" name="Slide Number Placeholder 5">
            <a:extLst>
              <a:ext uri="{FF2B5EF4-FFF2-40B4-BE49-F238E27FC236}">
                <a16:creationId xmlns:a16="http://schemas.microsoft.com/office/drawing/2014/main" id="{5A53083E-9B04-40E3-A88E-6D58F693B53D}"/>
              </a:ext>
            </a:extLst>
          </p:cNvPr>
          <p:cNvSpPr>
            <a:spLocks noGrp="1"/>
          </p:cNvSpPr>
          <p:nvPr>
            <p:ph type="sldNum" sz="quarter" idx="12"/>
          </p:nvPr>
        </p:nvSpPr>
        <p:spPr/>
        <p:txBody>
          <a:bodyPr/>
          <a:lstStyle/>
          <a:p>
            <a:pPr>
              <a:defRPr/>
            </a:pPr>
            <a:fld id="{066B77ED-A3C3-4699-8853-9922BCA5375D}" type="slidenum">
              <a:rPr lang="en-GB">
                <a:solidFill>
                  <a:prstClr val="white">
                    <a:tint val="75000"/>
                  </a:prstClr>
                </a:solidFill>
                <a:latin typeface="Calibri"/>
              </a:rPr>
              <a:pPr>
                <a:defRPr/>
              </a:pPr>
              <a:t>25</a:t>
            </a:fld>
            <a:endParaRPr lang="en-GB">
              <a:solidFill>
                <a:prstClr val="white">
                  <a:tint val="75000"/>
                </a:prstClr>
              </a:solidFill>
              <a:latin typeface="Calibri"/>
            </a:endParaRPr>
          </a:p>
        </p:txBody>
      </p:sp>
    </p:spTree>
    <p:extLst>
      <p:ext uri="{BB962C8B-B14F-4D97-AF65-F5344CB8AC3E}">
        <p14:creationId xmlns:p14="http://schemas.microsoft.com/office/powerpoint/2010/main" val="4230122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A81238C-ED8B-48CD-8013-617D5EE6A49B}"/>
              </a:ext>
            </a:extLst>
          </p:cNvPr>
          <p:cNvPicPr>
            <a:picLocks noGrp="1" noChangeAspect="1"/>
          </p:cNvPicPr>
          <p:nvPr>
            <p:ph idx="1"/>
          </p:nvPr>
        </p:nvPicPr>
        <p:blipFill>
          <a:blip r:embed="rId2"/>
          <a:stretch>
            <a:fillRect/>
          </a:stretch>
        </p:blipFill>
        <p:spPr>
          <a:xfrm>
            <a:off x="2433334" y="685800"/>
            <a:ext cx="7777466" cy="5371636"/>
          </a:xfrm>
          <a:prstGeom prst="rect">
            <a:avLst/>
          </a:prstGeom>
        </p:spPr>
      </p:pic>
      <p:sp>
        <p:nvSpPr>
          <p:cNvPr id="4" name="Date Placeholder 3">
            <a:extLst>
              <a:ext uri="{FF2B5EF4-FFF2-40B4-BE49-F238E27FC236}">
                <a16:creationId xmlns:a16="http://schemas.microsoft.com/office/drawing/2014/main" id="{5D495480-4E18-4C27-A6EA-D92B2C650D94}"/>
              </a:ext>
            </a:extLst>
          </p:cNvPr>
          <p:cNvSpPr>
            <a:spLocks noGrp="1"/>
          </p:cNvSpPr>
          <p:nvPr>
            <p:ph type="dt" sz="half" idx="10"/>
          </p:nvPr>
        </p:nvSpPr>
        <p:spPr/>
        <p:txBody>
          <a:bodyPr/>
          <a:lstStyle/>
          <a:p>
            <a:pPr>
              <a:defRPr/>
            </a:pPr>
            <a:fld id="{C0CF0181-554A-47A6-80EF-76259888DD58}" type="datetime1">
              <a:rPr lang="en-GB">
                <a:solidFill>
                  <a:prstClr val="white">
                    <a:tint val="75000"/>
                  </a:prstClr>
                </a:solidFill>
                <a:latin typeface="Calibri"/>
              </a:rPr>
              <a:pPr>
                <a:defRPr/>
              </a:pPr>
              <a:t>25/10/2024</a:t>
            </a:fld>
            <a:endParaRPr lang="en-GB">
              <a:solidFill>
                <a:prstClr val="white">
                  <a:tint val="75000"/>
                </a:prstClr>
              </a:solidFill>
              <a:latin typeface="Calibri"/>
            </a:endParaRPr>
          </a:p>
        </p:txBody>
      </p:sp>
      <p:sp>
        <p:nvSpPr>
          <p:cNvPr id="5" name="Footer Placeholder 4">
            <a:extLst>
              <a:ext uri="{FF2B5EF4-FFF2-40B4-BE49-F238E27FC236}">
                <a16:creationId xmlns:a16="http://schemas.microsoft.com/office/drawing/2014/main" id="{3D900FD4-1ED2-483A-93C4-05FDFCDB6BF2}"/>
              </a:ext>
            </a:extLst>
          </p:cNvPr>
          <p:cNvSpPr>
            <a:spLocks noGrp="1"/>
          </p:cNvSpPr>
          <p:nvPr>
            <p:ph type="ftr" sz="quarter" idx="11"/>
          </p:nvPr>
        </p:nvSpPr>
        <p:spPr/>
        <p:txBody>
          <a:bodyPr/>
          <a:lstStyle/>
          <a:p>
            <a:pPr>
              <a:defRPr/>
            </a:pPr>
            <a:r>
              <a:rPr lang="en-GB">
                <a:solidFill>
                  <a:prstClr val="white">
                    <a:tint val="75000"/>
                  </a:prstClr>
                </a:solidFill>
                <a:latin typeface="Calibri"/>
              </a:rPr>
              <a:t>Dr. Mwaniki</a:t>
            </a:r>
          </a:p>
        </p:txBody>
      </p:sp>
      <p:sp>
        <p:nvSpPr>
          <p:cNvPr id="6" name="Slide Number Placeholder 5">
            <a:extLst>
              <a:ext uri="{FF2B5EF4-FFF2-40B4-BE49-F238E27FC236}">
                <a16:creationId xmlns:a16="http://schemas.microsoft.com/office/drawing/2014/main" id="{49EB975B-8455-4240-86A5-1E90C3C2D6EB}"/>
              </a:ext>
            </a:extLst>
          </p:cNvPr>
          <p:cNvSpPr>
            <a:spLocks noGrp="1"/>
          </p:cNvSpPr>
          <p:nvPr>
            <p:ph type="sldNum" sz="quarter" idx="12"/>
          </p:nvPr>
        </p:nvSpPr>
        <p:spPr/>
        <p:txBody>
          <a:bodyPr/>
          <a:lstStyle/>
          <a:p>
            <a:pPr>
              <a:defRPr/>
            </a:pPr>
            <a:fld id="{066B77ED-A3C3-4699-8853-9922BCA5375D}" type="slidenum">
              <a:rPr lang="en-GB">
                <a:solidFill>
                  <a:prstClr val="white">
                    <a:tint val="75000"/>
                  </a:prstClr>
                </a:solidFill>
                <a:latin typeface="Calibri"/>
              </a:rPr>
              <a:pPr>
                <a:defRPr/>
              </a:pPr>
              <a:t>26</a:t>
            </a:fld>
            <a:endParaRPr lang="en-GB">
              <a:solidFill>
                <a:prstClr val="white">
                  <a:tint val="75000"/>
                </a:prstClr>
              </a:solidFill>
              <a:latin typeface="Calibri"/>
            </a:endParaRPr>
          </a:p>
        </p:txBody>
      </p:sp>
    </p:spTree>
    <p:extLst>
      <p:ext uri="{BB962C8B-B14F-4D97-AF65-F5344CB8AC3E}">
        <p14:creationId xmlns:p14="http://schemas.microsoft.com/office/powerpoint/2010/main" val="1308000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3C2D987-04E6-4ADA-9FF1-0F474259396E}"/>
              </a:ext>
            </a:extLst>
          </p:cNvPr>
          <p:cNvPicPr>
            <a:picLocks noGrp="1" noChangeAspect="1"/>
          </p:cNvPicPr>
          <p:nvPr>
            <p:ph idx="1"/>
          </p:nvPr>
        </p:nvPicPr>
        <p:blipFill>
          <a:blip r:embed="rId2"/>
          <a:stretch>
            <a:fillRect/>
          </a:stretch>
        </p:blipFill>
        <p:spPr>
          <a:xfrm>
            <a:off x="2404260" y="685801"/>
            <a:ext cx="7654140" cy="5070382"/>
          </a:xfrm>
          <a:prstGeom prst="rect">
            <a:avLst/>
          </a:prstGeom>
        </p:spPr>
      </p:pic>
      <p:sp>
        <p:nvSpPr>
          <p:cNvPr id="4" name="Date Placeholder 3">
            <a:extLst>
              <a:ext uri="{FF2B5EF4-FFF2-40B4-BE49-F238E27FC236}">
                <a16:creationId xmlns:a16="http://schemas.microsoft.com/office/drawing/2014/main" id="{2D8FB0AA-522C-4654-9015-3C6829B5493F}"/>
              </a:ext>
            </a:extLst>
          </p:cNvPr>
          <p:cNvSpPr>
            <a:spLocks noGrp="1"/>
          </p:cNvSpPr>
          <p:nvPr>
            <p:ph type="dt" sz="half" idx="10"/>
          </p:nvPr>
        </p:nvSpPr>
        <p:spPr/>
        <p:txBody>
          <a:bodyPr/>
          <a:lstStyle/>
          <a:p>
            <a:pPr>
              <a:defRPr/>
            </a:pPr>
            <a:fld id="{C0CF0181-554A-47A6-80EF-76259888DD58}" type="datetime1">
              <a:rPr lang="en-GB">
                <a:solidFill>
                  <a:prstClr val="white">
                    <a:tint val="75000"/>
                  </a:prstClr>
                </a:solidFill>
                <a:latin typeface="Calibri"/>
              </a:rPr>
              <a:pPr>
                <a:defRPr/>
              </a:pPr>
              <a:t>25/10/2024</a:t>
            </a:fld>
            <a:endParaRPr lang="en-GB">
              <a:solidFill>
                <a:prstClr val="white">
                  <a:tint val="75000"/>
                </a:prstClr>
              </a:solidFill>
              <a:latin typeface="Calibri"/>
            </a:endParaRPr>
          </a:p>
        </p:txBody>
      </p:sp>
      <p:sp>
        <p:nvSpPr>
          <p:cNvPr id="5" name="Footer Placeholder 4">
            <a:extLst>
              <a:ext uri="{FF2B5EF4-FFF2-40B4-BE49-F238E27FC236}">
                <a16:creationId xmlns:a16="http://schemas.microsoft.com/office/drawing/2014/main" id="{2709CB53-D01A-46B9-A3FF-C8715DDD2B68}"/>
              </a:ext>
            </a:extLst>
          </p:cNvPr>
          <p:cNvSpPr>
            <a:spLocks noGrp="1"/>
          </p:cNvSpPr>
          <p:nvPr>
            <p:ph type="ftr" sz="quarter" idx="11"/>
          </p:nvPr>
        </p:nvSpPr>
        <p:spPr/>
        <p:txBody>
          <a:bodyPr/>
          <a:lstStyle/>
          <a:p>
            <a:pPr>
              <a:defRPr/>
            </a:pPr>
            <a:r>
              <a:rPr lang="en-GB">
                <a:solidFill>
                  <a:prstClr val="white">
                    <a:tint val="75000"/>
                  </a:prstClr>
                </a:solidFill>
                <a:latin typeface="Calibri"/>
              </a:rPr>
              <a:t>Dr. Mwaniki</a:t>
            </a:r>
          </a:p>
        </p:txBody>
      </p:sp>
      <p:sp>
        <p:nvSpPr>
          <p:cNvPr id="6" name="Slide Number Placeholder 5">
            <a:extLst>
              <a:ext uri="{FF2B5EF4-FFF2-40B4-BE49-F238E27FC236}">
                <a16:creationId xmlns:a16="http://schemas.microsoft.com/office/drawing/2014/main" id="{5A8A2992-7711-466D-9680-1D667E9847B9}"/>
              </a:ext>
            </a:extLst>
          </p:cNvPr>
          <p:cNvSpPr>
            <a:spLocks noGrp="1"/>
          </p:cNvSpPr>
          <p:nvPr>
            <p:ph type="sldNum" sz="quarter" idx="12"/>
          </p:nvPr>
        </p:nvSpPr>
        <p:spPr/>
        <p:txBody>
          <a:bodyPr/>
          <a:lstStyle/>
          <a:p>
            <a:pPr>
              <a:defRPr/>
            </a:pPr>
            <a:fld id="{066B77ED-A3C3-4699-8853-9922BCA5375D}" type="slidenum">
              <a:rPr lang="en-GB">
                <a:solidFill>
                  <a:prstClr val="white">
                    <a:tint val="75000"/>
                  </a:prstClr>
                </a:solidFill>
                <a:latin typeface="Calibri"/>
              </a:rPr>
              <a:pPr>
                <a:defRPr/>
              </a:pPr>
              <a:t>27</a:t>
            </a:fld>
            <a:endParaRPr lang="en-GB">
              <a:solidFill>
                <a:prstClr val="white">
                  <a:tint val="75000"/>
                </a:prstClr>
              </a:solidFill>
              <a:latin typeface="Calibri"/>
            </a:endParaRPr>
          </a:p>
        </p:txBody>
      </p:sp>
    </p:spTree>
    <p:extLst>
      <p:ext uri="{BB962C8B-B14F-4D97-AF65-F5344CB8AC3E}">
        <p14:creationId xmlns:p14="http://schemas.microsoft.com/office/powerpoint/2010/main" val="2473400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E0ECFA4-6E7A-440F-9765-EEFC52505476}"/>
              </a:ext>
            </a:extLst>
          </p:cNvPr>
          <p:cNvPicPr>
            <a:picLocks noGrp="1" noChangeAspect="1"/>
          </p:cNvPicPr>
          <p:nvPr>
            <p:ph idx="1"/>
          </p:nvPr>
        </p:nvPicPr>
        <p:blipFill>
          <a:blip r:embed="rId2"/>
          <a:stretch>
            <a:fillRect/>
          </a:stretch>
        </p:blipFill>
        <p:spPr>
          <a:xfrm>
            <a:off x="2067952" y="609600"/>
            <a:ext cx="7685649" cy="5022104"/>
          </a:xfrm>
          <a:prstGeom prst="rect">
            <a:avLst/>
          </a:prstGeom>
        </p:spPr>
      </p:pic>
      <p:sp>
        <p:nvSpPr>
          <p:cNvPr id="4" name="Date Placeholder 3">
            <a:extLst>
              <a:ext uri="{FF2B5EF4-FFF2-40B4-BE49-F238E27FC236}">
                <a16:creationId xmlns:a16="http://schemas.microsoft.com/office/drawing/2014/main" id="{B82E6219-BC0D-4512-8834-15F848F29B35}"/>
              </a:ext>
            </a:extLst>
          </p:cNvPr>
          <p:cNvSpPr>
            <a:spLocks noGrp="1"/>
          </p:cNvSpPr>
          <p:nvPr>
            <p:ph type="dt" sz="half" idx="10"/>
          </p:nvPr>
        </p:nvSpPr>
        <p:spPr/>
        <p:txBody>
          <a:bodyPr/>
          <a:lstStyle/>
          <a:p>
            <a:pPr>
              <a:defRPr/>
            </a:pPr>
            <a:fld id="{C0CF0181-554A-47A6-80EF-76259888DD58}" type="datetime1">
              <a:rPr lang="en-GB">
                <a:solidFill>
                  <a:prstClr val="white">
                    <a:tint val="75000"/>
                  </a:prstClr>
                </a:solidFill>
                <a:latin typeface="Calibri"/>
              </a:rPr>
              <a:pPr>
                <a:defRPr/>
              </a:pPr>
              <a:t>25/10/2024</a:t>
            </a:fld>
            <a:endParaRPr lang="en-GB">
              <a:solidFill>
                <a:prstClr val="white">
                  <a:tint val="75000"/>
                </a:prstClr>
              </a:solidFill>
              <a:latin typeface="Calibri"/>
            </a:endParaRPr>
          </a:p>
        </p:txBody>
      </p:sp>
      <p:sp>
        <p:nvSpPr>
          <p:cNvPr id="5" name="Footer Placeholder 4">
            <a:extLst>
              <a:ext uri="{FF2B5EF4-FFF2-40B4-BE49-F238E27FC236}">
                <a16:creationId xmlns:a16="http://schemas.microsoft.com/office/drawing/2014/main" id="{3C63E823-208E-4F91-8BFB-176B900B0E24}"/>
              </a:ext>
            </a:extLst>
          </p:cNvPr>
          <p:cNvSpPr>
            <a:spLocks noGrp="1"/>
          </p:cNvSpPr>
          <p:nvPr>
            <p:ph type="ftr" sz="quarter" idx="11"/>
          </p:nvPr>
        </p:nvSpPr>
        <p:spPr/>
        <p:txBody>
          <a:bodyPr/>
          <a:lstStyle/>
          <a:p>
            <a:pPr>
              <a:defRPr/>
            </a:pPr>
            <a:r>
              <a:rPr lang="en-GB">
                <a:solidFill>
                  <a:prstClr val="white">
                    <a:tint val="75000"/>
                  </a:prstClr>
                </a:solidFill>
                <a:latin typeface="Calibri"/>
              </a:rPr>
              <a:t>Dr. Mwaniki</a:t>
            </a:r>
          </a:p>
        </p:txBody>
      </p:sp>
      <p:sp>
        <p:nvSpPr>
          <p:cNvPr id="6" name="Slide Number Placeholder 5">
            <a:extLst>
              <a:ext uri="{FF2B5EF4-FFF2-40B4-BE49-F238E27FC236}">
                <a16:creationId xmlns:a16="http://schemas.microsoft.com/office/drawing/2014/main" id="{59F117EB-C665-48A0-AC7F-A9E6B6259F06}"/>
              </a:ext>
            </a:extLst>
          </p:cNvPr>
          <p:cNvSpPr>
            <a:spLocks noGrp="1"/>
          </p:cNvSpPr>
          <p:nvPr>
            <p:ph type="sldNum" sz="quarter" idx="12"/>
          </p:nvPr>
        </p:nvSpPr>
        <p:spPr/>
        <p:txBody>
          <a:bodyPr/>
          <a:lstStyle/>
          <a:p>
            <a:pPr>
              <a:defRPr/>
            </a:pPr>
            <a:fld id="{066B77ED-A3C3-4699-8853-9922BCA5375D}" type="slidenum">
              <a:rPr lang="en-GB">
                <a:solidFill>
                  <a:prstClr val="white">
                    <a:tint val="75000"/>
                  </a:prstClr>
                </a:solidFill>
                <a:latin typeface="Calibri"/>
              </a:rPr>
              <a:pPr>
                <a:defRPr/>
              </a:pPr>
              <a:t>28</a:t>
            </a:fld>
            <a:endParaRPr lang="en-GB">
              <a:solidFill>
                <a:prstClr val="white">
                  <a:tint val="75000"/>
                </a:prstClr>
              </a:solidFill>
              <a:latin typeface="Calibri"/>
            </a:endParaRPr>
          </a:p>
        </p:txBody>
      </p:sp>
    </p:spTree>
    <p:extLst>
      <p:ext uri="{BB962C8B-B14F-4D97-AF65-F5344CB8AC3E}">
        <p14:creationId xmlns:p14="http://schemas.microsoft.com/office/powerpoint/2010/main" val="2349037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Summary </a:t>
            </a:r>
          </a:p>
        </p:txBody>
      </p:sp>
      <p:sp>
        <p:nvSpPr>
          <p:cNvPr id="3" name="Content Placeholder 2"/>
          <p:cNvSpPr>
            <a:spLocks noGrp="1"/>
          </p:cNvSpPr>
          <p:nvPr>
            <p:ph idx="1"/>
          </p:nvPr>
        </p:nvSpPr>
        <p:spPr>
          <a:xfrm>
            <a:off x="1981200" y="1600200"/>
            <a:ext cx="8458200" cy="5029200"/>
          </a:xfrm>
        </p:spPr>
        <p:txBody>
          <a:bodyPr/>
          <a:lstStyle/>
          <a:p>
            <a:pPr marL="0" indent="0">
              <a:buNone/>
            </a:pPr>
            <a:r>
              <a:rPr lang="en-US" dirty="0">
                <a:effectLst>
                  <a:outerShdw blurRad="38100" dist="38100" dir="2700000" algn="tl">
                    <a:srgbClr val="000000">
                      <a:alpha val="43137"/>
                    </a:srgbClr>
                  </a:outerShdw>
                </a:effectLst>
              </a:rPr>
              <a:t>In reality, all of the following contribute in some measure to reducing the burden of infectious diseases circulating in the community</a:t>
            </a:r>
          </a:p>
          <a:p>
            <a:r>
              <a:rPr lang="en-US" dirty="0">
                <a:effectLst>
                  <a:outerShdw blurRad="38100" dist="38100" dir="2700000" algn="tl">
                    <a:srgbClr val="000000">
                      <a:alpha val="43137"/>
                    </a:srgbClr>
                  </a:outerShdw>
                </a:effectLst>
              </a:rPr>
              <a:t>Hand hygiene and personal hygiene</a:t>
            </a:r>
          </a:p>
          <a:p>
            <a:r>
              <a:rPr lang="en-US" dirty="0">
                <a:effectLst>
                  <a:outerShdw blurRad="38100" dist="38100" dir="2700000" algn="tl">
                    <a:srgbClr val="000000">
                      <a:alpha val="43137"/>
                    </a:srgbClr>
                  </a:outerShdw>
                </a:effectLst>
              </a:rPr>
              <a:t>Food hygiene(cooking, storing, preventing cross contamination)</a:t>
            </a:r>
          </a:p>
          <a:p>
            <a:r>
              <a:rPr lang="en-US" dirty="0">
                <a:effectLst>
                  <a:outerShdw blurRad="38100" dist="38100" dir="2700000" algn="tl">
                    <a:srgbClr val="000000">
                      <a:alpha val="43137"/>
                    </a:srgbClr>
                  </a:outerShdw>
                </a:effectLst>
              </a:rPr>
              <a:t>Control of vectors like house flies</a:t>
            </a:r>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29</a:t>
            </a:fld>
            <a:endParaRPr lang="en-US">
              <a:solidFill>
                <a:prstClr val="black">
                  <a:tint val="75000"/>
                </a:prstClr>
              </a:solidFill>
              <a:latin typeface="Calibri"/>
            </a:endParaRPr>
          </a:p>
        </p:txBody>
      </p:sp>
    </p:spTree>
    <p:extLst>
      <p:ext uri="{BB962C8B-B14F-4D97-AF65-F5344CB8AC3E}">
        <p14:creationId xmlns:p14="http://schemas.microsoft.com/office/powerpoint/2010/main" val="12255270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effectLst>
                  <a:outerShdw blurRad="38100" dist="38100" dir="2700000" algn="tl">
                    <a:srgbClr val="000000">
                      <a:alpha val="43137"/>
                    </a:srgbClr>
                  </a:outerShdw>
                </a:effectLst>
              </a:rPr>
              <a:t>Cont</a:t>
            </a:r>
            <a:r>
              <a:rPr lang="en-US" dirty="0">
                <a:effectLst>
                  <a:outerShdw blurRad="38100" dist="38100" dir="2700000" algn="tl">
                    <a:srgbClr val="000000">
                      <a:alpha val="43137"/>
                    </a:srgbClr>
                  </a:outerShdw>
                </a:effectLst>
              </a:rPr>
              <a:t>…</a:t>
            </a:r>
          </a:p>
        </p:txBody>
      </p:sp>
      <p:sp>
        <p:nvSpPr>
          <p:cNvPr id="3" name="Content Placeholder 2"/>
          <p:cNvSpPr>
            <a:spLocks noGrp="1"/>
          </p:cNvSpPr>
          <p:nvPr>
            <p:ph idx="1"/>
          </p:nvPr>
        </p:nvSpPr>
        <p:spPr>
          <a:xfrm>
            <a:off x="1828800" y="1219200"/>
            <a:ext cx="8610600" cy="5562600"/>
          </a:xfrm>
        </p:spPr>
        <p:txBody>
          <a:bodyPr>
            <a:normAutofit/>
          </a:bodyPr>
          <a:lstStyle/>
          <a:p>
            <a:r>
              <a:rPr lang="en-US" dirty="0">
                <a:effectLst>
                  <a:outerShdw blurRad="38100" dist="38100" dir="2700000" algn="tl">
                    <a:srgbClr val="000000">
                      <a:alpha val="43137"/>
                    </a:srgbClr>
                  </a:outerShdw>
                </a:effectLst>
              </a:rPr>
              <a:t>Ensuring safe water at point of use</a:t>
            </a:r>
          </a:p>
          <a:p>
            <a:r>
              <a:rPr lang="en-US" dirty="0">
                <a:effectLst>
                  <a:outerShdw blurRad="38100" dist="38100" dir="2700000" algn="tl">
                    <a:srgbClr val="000000">
                      <a:alpha val="43137"/>
                    </a:srgbClr>
                  </a:outerShdw>
                </a:effectLst>
              </a:rPr>
              <a:t>Respiratory hygiene </a:t>
            </a:r>
          </a:p>
          <a:p>
            <a:r>
              <a:rPr lang="en-US" dirty="0">
                <a:effectLst>
                  <a:outerShdw blurRad="38100" dist="38100" dir="2700000" algn="tl">
                    <a:srgbClr val="000000">
                      <a:alpha val="43137"/>
                    </a:srgbClr>
                  </a:outerShdw>
                </a:effectLst>
              </a:rPr>
              <a:t>Safe disposal of </a:t>
            </a:r>
            <a:r>
              <a:rPr lang="en-US" dirty="0" err="1">
                <a:effectLst>
                  <a:outerShdw blurRad="38100" dist="38100" dir="2700000" algn="tl">
                    <a:srgbClr val="000000">
                      <a:alpha val="43137"/>
                    </a:srgbClr>
                  </a:outerShdw>
                </a:effectLst>
              </a:rPr>
              <a:t>faeces</a:t>
            </a:r>
            <a:r>
              <a:rPr lang="en-US" dirty="0">
                <a:effectLst>
                  <a:outerShdw blurRad="38100" dist="38100" dir="2700000" algn="tl">
                    <a:srgbClr val="000000">
                      <a:alpha val="43137"/>
                    </a:srgbClr>
                  </a:outerShdw>
                </a:effectLst>
              </a:rPr>
              <a:t> (both human and animal)</a:t>
            </a:r>
          </a:p>
          <a:p>
            <a:r>
              <a:rPr lang="en-US" dirty="0">
                <a:effectLst>
                  <a:outerShdw blurRad="38100" dist="38100" dir="2700000" algn="tl">
                    <a:srgbClr val="000000">
                      <a:alpha val="43137"/>
                    </a:srgbClr>
                  </a:outerShdw>
                </a:effectLst>
              </a:rPr>
              <a:t>General hygiene(laundry, surfaces, toilets, baths, sinks)</a:t>
            </a:r>
          </a:p>
          <a:p>
            <a:r>
              <a:rPr lang="en-US" dirty="0">
                <a:effectLst>
                  <a:outerShdw blurRad="38100" dist="38100" dir="2700000" algn="tl">
                    <a:srgbClr val="000000">
                      <a:alpha val="43137"/>
                    </a:srgbClr>
                  </a:outerShdw>
                </a:effectLst>
              </a:rPr>
              <a:t>Disposal of solid waste, control of wastewater and rainwater</a:t>
            </a:r>
          </a:p>
          <a:p>
            <a:r>
              <a:rPr lang="en-US" dirty="0">
                <a:effectLst>
                  <a:outerShdw blurRad="38100" dist="38100" dir="2700000" algn="tl">
                    <a:srgbClr val="000000">
                      <a:alpha val="43137"/>
                    </a:srgbClr>
                  </a:outerShdw>
                </a:effectLst>
              </a:rPr>
              <a:t>Health education</a:t>
            </a:r>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30</a:t>
            </a:fld>
            <a:endParaRPr lang="en-US">
              <a:solidFill>
                <a:prstClr val="black">
                  <a:tint val="75000"/>
                </a:prstClr>
              </a:solidFill>
              <a:latin typeface="Calibri"/>
            </a:endParaRPr>
          </a:p>
        </p:txBody>
      </p:sp>
    </p:spTree>
    <p:extLst>
      <p:ext uri="{BB962C8B-B14F-4D97-AF65-F5344CB8AC3E}">
        <p14:creationId xmlns:p14="http://schemas.microsoft.com/office/powerpoint/2010/main" val="4189369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52401"/>
            <a:ext cx="8534400" cy="5973763"/>
          </a:xfrm>
        </p:spPr>
        <p:txBody>
          <a:bodyPr>
            <a:normAutofit fontScale="92500"/>
          </a:bodyPr>
          <a:lstStyle/>
          <a:p>
            <a:pPr lvl="0"/>
            <a:r>
              <a:rPr lang="en-US" dirty="0">
                <a:solidFill>
                  <a:srgbClr val="FF0000"/>
                </a:solidFill>
              </a:rPr>
              <a:t>Review Questions</a:t>
            </a:r>
          </a:p>
          <a:p>
            <a:pPr lvl="0"/>
            <a:r>
              <a:rPr lang="en-US" dirty="0">
                <a:solidFill>
                  <a:prstClr val="black"/>
                </a:solidFill>
              </a:rPr>
              <a:t>Classify the following diseases based on the mode of transmission of the infectious agent </a:t>
            </a:r>
          </a:p>
          <a:p>
            <a:pPr lvl="0"/>
            <a:r>
              <a:rPr lang="en-US" dirty="0">
                <a:solidFill>
                  <a:prstClr val="black"/>
                </a:solidFill>
              </a:rPr>
              <a:t>1. COVID-19</a:t>
            </a:r>
          </a:p>
          <a:p>
            <a:pPr lvl="0"/>
            <a:r>
              <a:rPr lang="en-US" dirty="0">
                <a:solidFill>
                  <a:prstClr val="black"/>
                </a:solidFill>
              </a:rPr>
              <a:t>2. Pneumonia</a:t>
            </a:r>
          </a:p>
          <a:p>
            <a:pPr lvl="0"/>
            <a:r>
              <a:rPr lang="en-US" dirty="0">
                <a:solidFill>
                  <a:prstClr val="black"/>
                </a:solidFill>
              </a:rPr>
              <a:t>3. Malaria</a:t>
            </a:r>
          </a:p>
          <a:p>
            <a:pPr lvl="0"/>
            <a:r>
              <a:rPr lang="en-US" dirty="0">
                <a:solidFill>
                  <a:prstClr val="black"/>
                </a:solidFill>
              </a:rPr>
              <a:t>4. Cholera</a:t>
            </a:r>
          </a:p>
          <a:p>
            <a:pPr lvl="0"/>
            <a:r>
              <a:rPr lang="en-US" dirty="0">
                <a:solidFill>
                  <a:prstClr val="black"/>
                </a:solidFill>
              </a:rPr>
              <a:t>5. HIV/AIDs</a:t>
            </a:r>
          </a:p>
          <a:p>
            <a:pPr lvl="0"/>
            <a:r>
              <a:rPr lang="en-US" dirty="0">
                <a:solidFill>
                  <a:prstClr val="black"/>
                </a:solidFill>
              </a:rPr>
              <a:t>1. Why is it important to classify diseases based on the mode of transmission?</a:t>
            </a:r>
          </a:p>
          <a:p>
            <a:pPr lvl="0"/>
            <a:r>
              <a:rPr lang="en-US" dirty="0">
                <a:solidFill>
                  <a:schemeClr val="tx2">
                    <a:lumMod val="75000"/>
                  </a:schemeClr>
                </a:solidFill>
              </a:rPr>
              <a:t>Post your answers in e-learning discussion forum</a:t>
            </a:r>
          </a:p>
          <a:p>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latin typeface="Calibri"/>
              </a:rPr>
              <a:t>Dr. E.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31</a:t>
            </a:fld>
            <a:endParaRPr lang="en-US">
              <a:solidFill>
                <a:prstClr val="black">
                  <a:tint val="75000"/>
                </a:prstClr>
              </a:solidFill>
              <a:latin typeface="Calibri"/>
            </a:endParaRPr>
          </a:p>
        </p:txBody>
      </p:sp>
    </p:spTree>
    <p:extLst>
      <p:ext uri="{BB962C8B-B14F-4D97-AF65-F5344CB8AC3E}">
        <p14:creationId xmlns:p14="http://schemas.microsoft.com/office/powerpoint/2010/main" val="3797478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70AA2-BD90-41AA-BBDF-EC5031E948CA}"/>
              </a:ext>
            </a:extLst>
          </p:cNvPr>
          <p:cNvSpPr>
            <a:spLocks noGrp="1"/>
          </p:cNvSpPr>
          <p:nvPr>
            <p:ph type="ctrTitle"/>
          </p:nvPr>
        </p:nvSpPr>
        <p:spPr/>
        <p:txBody>
          <a:bodyPr>
            <a:normAutofit fontScale="90000"/>
          </a:bodyPr>
          <a:lstStyle/>
          <a:p>
            <a:r>
              <a:rPr lang="en-US" dirty="0"/>
              <a:t>UCCC 1201:  Interrelated Concepts in Prevention of Communicable Diseases </a:t>
            </a:r>
            <a:endParaRPr lang="en-KE" dirty="0"/>
          </a:p>
        </p:txBody>
      </p:sp>
      <p:sp>
        <p:nvSpPr>
          <p:cNvPr id="3" name="Subtitle 2">
            <a:extLst>
              <a:ext uri="{FF2B5EF4-FFF2-40B4-BE49-F238E27FC236}">
                <a16:creationId xmlns:a16="http://schemas.microsoft.com/office/drawing/2014/main" id="{19933EC2-2030-4C99-A858-8D3282AD1AAB}"/>
              </a:ext>
            </a:extLst>
          </p:cNvPr>
          <p:cNvSpPr>
            <a:spLocks noGrp="1"/>
          </p:cNvSpPr>
          <p:nvPr>
            <p:ph type="subTitle" idx="1"/>
          </p:nvPr>
        </p:nvSpPr>
        <p:spPr/>
        <p:txBody>
          <a:bodyPr/>
          <a:lstStyle/>
          <a:p>
            <a:r>
              <a:rPr lang="en-US" dirty="0"/>
              <a:t>Dr. E </a:t>
            </a:r>
            <a:r>
              <a:rPr lang="en-US" dirty="0" err="1"/>
              <a:t>mwaniki</a:t>
            </a:r>
            <a:endParaRPr lang="en-KE" dirty="0"/>
          </a:p>
        </p:txBody>
      </p:sp>
    </p:spTree>
    <p:extLst>
      <p:ext uri="{BB962C8B-B14F-4D97-AF65-F5344CB8AC3E}">
        <p14:creationId xmlns:p14="http://schemas.microsoft.com/office/powerpoint/2010/main" val="31178625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89114" y="1511301"/>
            <a:ext cx="8836025" cy="38147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880BE02-62F5-4BFF-9F30-0EDB1A03BFDE}" type="datetime1">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25/10/2024</a:t>
            </a:fld>
            <a:endParaRPr kumimoji="0" lang="en-GB" sz="1100" b="0" i="0" u="none" strike="noStrike" kern="1200" cap="none" spc="0" normalizeH="0" baseline="0" noProof="0">
              <a:ln>
                <a:noFill/>
              </a:ln>
              <a:solidFill>
                <a:prstClr val="white">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t>Dr. Mwaniki</a:t>
            </a: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C01D4CC-E6D2-4BED-A0E6-98A48A9A786E}" type="slidenum">
              <a:rPr kumimoji="0" lang="en-GB" sz="28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GB" sz="2800" b="0" i="0" u="none" strike="noStrike" kern="1200" cap="none" spc="0" normalizeH="0" baseline="0" noProof="0">
              <a:ln>
                <a:noFill/>
              </a:ln>
              <a:solidFill>
                <a:prstClr val="white">
                  <a:tint val="75000"/>
                </a:prstClr>
              </a:solidFill>
              <a:effectLst/>
              <a:uLnTx/>
              <a:uFillTx/>
              <a:latin typeface="Calibri"/>
              <a:ea typeface="+mn-ea"/>
              <a:cs typeface="+mn-cs"/>
            </a:endParaRPr>
          </a:p>
        </p:txBody>
      </p:sp>
    </p:spTree>
    <p:extLst>
      <p:ext uri="{BB962C8B-B14F-4D97-AF65-F5344CB8AC3E}">
        <p14:creationId xmlns:p14="http://schemas.microsoft.com/office/powerpoint/2010/main" val="958761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57400" y="1604964"/>
            <a:ext cx="7848600" cy="395763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880BE02-62F5-4BFF-9F30-0EDB1A03BFDE}" type="datetime1">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25/10/2024</a:t>
            </a:fld>
            <a:endParaRPr kumimoji="0" lang="en-GB" sz="1100" b="0" i="0" u="none" strike="noStrike" kern="1200" cap="none" spc="0" normalizeH="0" baseline="0" noProof="0">
              <a:ln>
                <a:noFill/>
              </a:ln>
              <a:solidFill>
                <a:prstClr val="white">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t>Dr. Mwaniki</a:t>
            </a: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4A48D51-B38B-40DE-A82F-10FF743BDC1B}" type="slidenum">
              <a:rPr kumimoji="0" lang="en-GB" sz="28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GB" sz="2800" b="0" i="0" u="none" strike="noStrike" kern="1200" cap="none" spc="0" normalizeH="0" baseline="0" noProof="0">
              <a:ln>
                <a:noFill/>
              </a:ln>
              <a:solidFill>
                <a:prstClr val="white">
                  <a:tint val="75000"/>
                </a:prstClr>
              </a:solidFill>
              <a:effectLst/>
              <a:uLnTx/>
              <a:uFillTx/>
              <a:latin typeface="Calibri"/>
              <a:ea typeface="+mn-ea"/>
              <a:cs typeface="+mn-cs"/>
            </a:endParaRPr>
          </a:p>
        </p:txBody>
      </p:sp>
    </p:spTree>
    <p:extLst>
      <p:ext uri="{BB962C8B-B14F-4D97-AF65-F5344CB8AC3E}">
        <p14:creationId xmlns:p14="http://schemas.microsoft.com/office/powerpoint/2010/main" val="2596522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38425" y="1557338"/>
            <a:ext cx="6838950" cy="33909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880BE02-62F5-4BFF-9F30-0EDB1A03BFDE}" type="datetime1">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25/10/2024</a:t>
            </a:fld>
            <a:endParaRPr kumimoji="0" lang="en-GB" sz="1100" b="0" i="0" u="none" strike="noStrike" kern="1200" cap="none" spc="0" normalizeH="0" baseline="0" noProof="0">
              <a:ln>
                <a:noFill/>
              </a:ln>
              <a:solidFill>
                <a:prstClr val="white">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t>Dr. Mwaniki</a:t>
            </a:r>
          </a:p>
        </p:txBody>
      </p:sp>
      <p:sp>
        <p:nvSpPr>
          <p:cNvPr id="6" name="Slide Number Placeholder 5"/>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29A5B3B-22CF-4F0F-9ED2-F3C44DE5444C}" type="slidenum">
              <a:rPr kumimoji="0" lang="en-GB" sz="28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GB" sz="2800" b="0" i="0" u="none" strike="noStrike" kern="1200" cap="none" spc="0" normalizeH="0" baseline="0" noProof="0">
              <a:ln>
                <a:noFill/>
              </a:ln>
              <a:solidFill>
                <a:prstClr val="white">
                  <a:tint val="75000"/>
                </a:prstClr>
              </a:solidFill>
              <a:effectLst/>
              <a:uLnTx/>
              <a:uFillTx/>
              <a:latin typeface="Calibri"/>
              <a:ea typeface="+mn-ea"/>
              <a:cs typeface="+mn-cs"/>
            </a:endParaRPr>
          </a:p>
        </p:txBody>
      </p:sp>
    </p:spTree>
    <p:extLst>
      <p:ext uri="{BB962C8B-B14F-4D97-AF65-F5344CB8AC3E}">
        <p14:creationId xmlns:p14="http://schemas.microsoft.com/office/powerpoint/2010/main" val="959909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676400" y="76200"/>
            <a:ext cx="8839200" cy="381000"/>
          </a:xfrm>
        </p:spPr>
        <p:txBody>
          <a:bodyPr/>
          <a:lstStyle/>
          <a:p>
            <a:pPr eaLnBrk="1" hangingPunct="1"/>
            <a:r>
              <a:rPr lang="en-US" altLang="en-US" sz="2800" dirty="0"/>
              <a:t>PREVENTION OF  DISEASES (cont’d.)</a:t>
            </a:r>
            <a:endParaRPr lang="sw-KE" altLang="en-US" sz="2800" dirty="0"/>
          </a:p>
        </p:txBody>
      </p:sp>
      <p:sp>
        <p:nvSpPr>
          <p:cNvPr id="3" name="Content Placeholder 2"/>
          <p:cNvSpPr>
            <a:spLocks noGrp="1"/>
          </p:cNvSpPr>
          <p:nvPr>
            <p:ph idx="1"/>
          </p:nvPr>
        </p:nvSpPr>
        <p:spPr>
          <a:xfrm>
            <a:off x="1600200" y="457200"/>
            <a:ext cx="8991600" cy="6248400"/>
          </a:xfrm>
        </p:spPr>
        <p:txBody>
          <a:bodyPr>
            <a:normAutofit fontScale="92500" lnSpcReduction="10000"/>
          </a:bodyPr>
          <a:lstStyle/>
          <a:p>
            <a:pPr marL="273050" indent="-273050" eaLnBrk="1" hangingPunct="1">
              <a:lnSpc>
                <a:spcPct val="90000"/>
              </a:lnSpc>
              <a:defRPr/>
            </a:pPr>
            <a:r>
              <a:rPr lang="en-US" altLang="en-US" sz="2400" b="1" i="1"/>
              <a:t>Primary Prevention:</a:t>
            </a:r>
          </a:p>
          <a:p>
            <a:pPr marL="273050" indent="-273050" eaLnBrk="1" hangingPunct="1">
              <a:lnSpc>
                <a:spcPct val="90000"/>
              </a:lnSpc>
              <a:defRPr/>
            </a:pPr>
            <a:r>
              <a:rPr lang="en-GB" altLang="en-US" sz="2600" b="1" i="1"/>
              <a:t>Primary prevention targets the pre-pathogenesis period or the period before the disease infects the individual. </a:t>
            </a:r>
          </a:p>
          <a:p>
            <a:pPr marL="273050" indent="-273050" eaLnBrk="1" hangingPunct="1">
              <a:lnSpc>
                <a:spcPct val="90000"/>
              </a:lnSpc>
              <a:defRPr/>
            </a:pPr>
            <a:r>
              <a:rPr lang="en-GB" altLang="en-US" sz="2600" b="1" i="1"/>
              <a:t>The goal is to limit the incidence of disease and disability in the population by measures that eliminate or reduce causes or determinants of departures from good health, control exposure to risk, and promote factors that are protective of health</a:t>
            </a:r>
            <a:endParaRPr lang="en-US" altLang="en-US" sz="2600" b="1" i="1"/>
          </a:p>
          <a:p>
            <a:pPr marL="273050" indent="-273050" eaLnBrk="1" hangingPunct="1">
              <a:lnSpc>
                <a:spcPct val="90000"/>
              </a:lnSpc>
              <a:defRPr/>
            </a:pPr>
            <a:r>
              <a:rPr lang="en-US" altLang="en-US" sz="2600" b="1" i="1"/>
              <a:t>Common measures include health education and health promotion programs designed to foster healthier lifestyles and environmental health programs designed to improve environmental quality</a:t>
            </a:r>
          </a:p>
          <a:p>
            <a:pPr marL="273050" indent="-273050" eaLnBrk="1" hangingPunct="1">
              <a:lnSpc>
                <a:spcPct val="90000"/>
              </a:lnSpc>
              <a:defRPr/>
            </a:pPr>
            <a:r>
              <a:rPr lang="en-US" altLang="en-US" sz="2600" b="1" i="1"/>
              <a:t>Specific examples include immunization against communicable diseases; public health education about good nutrition, exercise, stress management, and individual responsibility for health; chlorination and filtration of public water supplies; and legislation requiring child restraints in motor vehicles.</a:t>
            </a:r>
          </a:p>
          <a:p>
            <a:pPr marL="639763" lvl="1" indent="-273050" eaLnBrk="1" hangingPunct="1">
              <a:lnSpc>
                <a:spcPct val="90000"/>
              </a:lnSpc>
              <a:defRPr/>
            </a:pPr>
            <a:endParaRPr lang="en-US" altLang="en-US" sz="2000" b="1" i="1"/>
          </a:p>
          <a:p>
            <a:pPr marL="639763" lvl="1" indent="-273050" eaLnBrk="1" hangingPunct="1">
              <a:lnSpc>
                <a:spcPct val="90000"/>
              </a:lnSpc>
              <a:defRPr/>
            </a:pPr>
            <a:endParaRPr lang="en-US" altLang="en-US" sz="2000" b="1" i="1"/>
          </a:p>
          <a:p>
            <a:pPr marL="273050" indent="-273050" eaLnBrk="1" hangingPunct="1">
              <a:lnSpc>
                <a:spcPct val="90000"/>
              </a:lnSpc>
              <a:buNone/>
              <a:defRPr/>
            </a:pPr>
            <a:endParaRPr lang="sw-KE" altLang="en-US" sz="2700" b="1" i="1"/>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A121F3B-EF1C-4F52-A8D4-4018EE2948BB}" type="datetime1">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25/10/2024</a:t>
            </a:fld>
            <a:endParaRPr kumimoji="0" lang="en-GB" sz="1100" b="0" i="0" u="none" strike="noStrike" kern="1200" cap="none" spc="0" normalizeH="0" baseline="0" noProof="0">
              <a:ln>
                <a:noFill/>
              </a:ln>
              <a:solidFill>
                <a:prstClr val="white">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t>Dr. Mwaniki</a:t>
            </a:r>
          </a:p>
        </p:txBody>
      </p:sp>
      <p:sp>
        <p:nvSpPr>
          <p:cNvPr id="25606"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BA236D3-A159-4CA1-8082-89DF96F61E90}" type="slidenum">
              <a:rPr kumimoji="0" lang="en-GB" altLang="en-US" sz="2800" b="0" i="0" u="none" strike="noStrike" kern="1200" cap="none" spc="0" normalizeH="0" baseline="0" noProof="0">
                <a:ln>
                  <a:noFill/>
                </a:ln>
                <a:solidFill>
                  <a:srgbClr val="FFFFFF"/>
                </a:solidFill>
                <a:effectLst/>
                <a:uLnTx/>
                <a:uFillTx/>
                <a:latin typeface="Calibri" pitchFamily="34" charset="0"/>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36</a:t>
            </a:fld>
            <a:endParaRPr kumimoji="0" lang="en-GB" altLang="en-US" sz="2800" b="1" i="1" u="none" strike="noStrike" kern="1200" cap="none" spc="0" normalizeH="0" baseline="0" noProof="0">
              <a:ln>
                <a:noFill/>
              </a:ln>
              <a:solidFill>
                <a:srgbClr val="FFFFFF"/>
              </a:solidFill>
              <a:effectLst/>
              <a:uLnTx/>
              <a:uFillTx/>
              <a:latin typeface="Calibri" pitchFamily="34" charset="0"/>
              <a:ea typeface="+mn-ea"/>
              <a:cs typeface="Arial" charset="0"/>
            </a:endParaRPr>
          </a:p>
        </p:txBody>
      </p:sp>
    </p:spTree>
    <p:extLst>
      <p:ext uri="{BB962C8B-B14F-4D97-AF65-F5344CB8AC3E}">
        <p14:creationId xmlns:p14="http://schemas.microsoft.com/office/powerpoint/2010/main" val="11037148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1981200" y="76200"/>
            <a:ext cx="8229600" cy="609600"/>
          </a:xfrm>
        </p:spPr>
        <p:txBody>
          <a:bodyPr/>
          <a:lstStyle/>
          <a:p>
            <a:pPr eaLnBrk="1" hangingPunct="1"/>
            <a:r>
              <a:rPr lang="en-US" altLang="en-US" sz="2800" dirty="0"/>
              <a:t>PREVENTION OF DISEASES (cont’d.)</a:t>
            </a:r>
            <a:endParaRPr lang="sw-KE" altLang="en-US" sz="2800" dirty="0"/>
          </a:p>
        </p:txBody>
      </p:sp>
      <p:sp>
        <p:nvSpPr>
          <p:cNvPr id="26627" name="Content Placeholder 2"/>
          <p:cNvSpPr>
            <a:spLocks noGrp="1"/>
          </p:cNvSpPr>
          <p:nvPr>
            <p:ph idx="1"/>
          </p:nvPr>
        </p:nvSpPr>
        <p:spPr>
          <a:xfrm>
            <a:off x="1676400" y="609600"/>
            <a:ext cx="8991600" cy="6096000"/>
          </a:xfrm>
        </p:spPr>
        <p:txBody>
          <a:bodyPr>
            <a:normAutofit lnSpcReduction="10000"/>
          </a:bodyPr>
          <a:lstStyle/>
          <a:p>
            <a:pPr eaLnBrk="1" hangingPunct="1">
              <a:lnSpc>
                <a:spcPct val="80000"/>
              </a:lnSpc>
            </a:pPr>
            <a:r>
              <a:rPr lang="en-US" altLang="en-US" sz="2800" b="1" i="1"/>
              <a:t>Secondary Prevention</a:t>
            </a:r>
          </a:p>
          <a:p>
            <a:pPr eaLnBrk="1" hangingPunct="1">
              <a:lnSpc>
                <a:spcPct val="80000"/>
              </a:lnSpc>
            </a:pPr>
            <a:r>
              <a:rPr lang="en-GB" altLang="en-US" sz="2400" b="1" i="1"/>
              <a:t>happens during the early stages of the disease process. </a:t>
            </a:r>
          </a:p>
          <a:p>
            <a:pPr eaLnBrk="1" hangingPunct="1">
              <a:lnSpc>
                <a:spcPct val="80000"/>
              </a:lnSpc>
            </a:pPr>
            <a:r>
              <a:rPr lang="en-GB" altLang="en-US" sz="2200" b="1" i="1"/>
              <a:t>Secondary prevention aims to reduce progression of disease through early detection, usually by screening at an asymptomatic stage, and early intervention.</a:t>
            </a:r>
            <a:endParaRPr lang="en-US" altLang="en-US" sz="2200" b="1" i="1"/>
          </a:p>
          <a:p>
            <a:pPr eaLnBrk="1" hangingPunct="1">
              <a:lnSpc>
                <a:spcPct val="80000"/>
              </a:lnSpc>
            </a:pPr>
            <a:r>
              <a:rPr lang="en-US" altLang="en-US" sz="2200" b="1" i="1"/>
              <a:t>Its purpose is to cure disease, slow its progression, or reduce its impact on individuals or communities.</a:t>
            </a:r>
          </a:p>
          <a:p>
            <a:pPr eaLnBrk="1" hangingPunct="1">
              <a:lnSpc>
                <a:spcPct val="80000"/>
              </a:lnSpc>
            </a:pPr>
            <a:r>
              <a:rPr lang="en-US" altLang="en-US" sz="2200" b="1" i="1"/>
              <a:t>A common approach to secondary prevention is screening for disease, such as the non-invasive computerized test for the early detection of heart disease</a:t>
            </a:r>
          </a:p>
          <a:p>
            <a:pPr eaLnBrk="1" hangingPunct="1">
              <a:lnSpc>
                <a:spcPct val="80000"/>
              </a:lnSpc>
            </a:pPr>
            <a:r>
              <a:rPr lang="en-US" altLang="en-US" sz="2200" b="1" i="1"/>
              <a:t>Occasionally, secondary disease control measures may include isolation or quarantine</a:t>
            </a:r>
          </a:p>
          <a:p>
            <a:pPr eaLnBrk="1" hangingPunct="1">
              <a:lnSpc>
                <a:spcPct val="80000"/>
              </a:lnSpc>
            </a:pPr>
            <a:r>
              <a:rPr lang="en-US" altLang="en-US" sz="2200" b="1" i="1"/>
              <a:t>Isolation = separation, for the period of communicability, of infected persons or animals from others so as to prevent the direct or indirect transmission of the communicable agent to a susceptible person/host</a:t>
            </a:r>
          </a:p>
          <a:p>
            <a:pPr eaLnBrk="1" hangingPunct="1">
              <a:lnSpc>
                <a:spcPct val="80000"/>
              </a:lnSpc>
            </a:pPr>
            <a:r>
              <a:rPr lang="en-US" altLang="en-US" sz="2200" b="1" i="1"/>
              <a:t>Quarantine = limitation of the freedom of movement of well persons or animals that have been exposed to a communicable disease until the incubation period has passed</a:t>
            </a:r>
          </a:p>
          <a:p>
            <a:pPr eaLnBrk="1" hangingPunct="1">
              <a:lnSpc>
                <a:spcPct val="80000"/>
              </a:lnSpc>
            </a:pPr>
            <a:r>
              <a:rPr lang="en-US" altLang="en-US" sz="2200" b="1" i="1"/>
              <a:t>Further measures may include disinfection</a:t>
            </a:r>
          </a:p>
          <a:p>
            <a:pPr eaLnBrk="1" hangingPunct="1">
              <a:lnSpc>
                <a:spcPct val="80000"/>
              </a:lnSpc>
            </a:pPr>
            <a:endParaRPr lang="en-US" altLang="en-US" sz="1700" b="1" i="1"/>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5B1735-E7E8-4412-B4C1-3D346F8E8031}" type="datetime1">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25/10/2024</a:t>
            </a:fld>
            <a:endParaRPr kumimoji="0" lang="en-GB" sz="1100" b="0" i="0" u="none" strike="noStrike" kern="1200" cap="none" spc="0" normalizeH="0" baseline="0" noProof="0">
              <a:ln>
                <a:noFill/>
              </a:ln>
              <a:solidFill>
                <a:prstClr val="white">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t>Dr. Mwaniki</a:t>
            </a:r>
          </a:p>
        </p:txBody>
      </p:sp>
      <p:sp>
        <p:nvSpPr>
          <p:cNvPr id="2663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3217FB5D-564E-4E71-A09E-25CA8FA6572C}" type="slidenum">
              <a:rPr kumimoji="0" lang="en-GB" altLang="en-US" sz="2800" b="0" i="0" u="none" strike="noStrike" kern="1200" cap="none" spc="0" normalizeH="0" baseline="0" noProof="0">
                <a:ln>
                  <a:noFill/>
                </a:ln>
                <a:solidFill>
                  <a:srgbClr val="FFFFFF"/>
                </a:solidFill>
                <a:effectLst/>
                <a:uLnTx/>
                <a:uFillTx/>
                <a:latin typeface="Calibri" pitchFamily="34" charset="0"/>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37</a:t>
            </a:fld>
            <a:endParaRPr kumimoji="0" lang="en-GB" altLang="en-US" sz="2800" b="1" i="1" u="none" strike="noStrike" kern="1200" cap="none" spc="0" normalizeH="0" baseline="0" noProof="0">
              <a:ln>
                <a:noFill/>
              </a:ln>
              <a:solidFill>
                <a:srgbClr val="FFFFFF"/>
              </a:solidFill>
              <a:effectLst/>
              <a:uLnTx/>
              <a:uFillTx/>
              <a:latin typeface="Calibri" pitchFamily="34" charset="0"/>
              <a:ea typeface="+mn-ea"/>
              <a:cs typeface="Arial" charset="0"/>
            </a:endParaRPr>
          </a:p>
        </p:txBody>
      </p:sp>
    </p:spTree>
    <p:extLst>
      <p:ext uri="{BB962C8B-B14F-4D97-AF65-F5344CB8AC3E}">
        <p14:creationId xmlns:p14="http://schemas.microsoft.com/office/powerpoint/2010/main" val="1634663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981200" y="152400"/>
            <a:ext cx="8229600" cy="762000"/>
          </a:xfrm>
        </p:spPr>
        <p:txBody>
          <a:bodyPr/>
          <a:lstStyle/>
          <a:p>
            <a:pPr eaLnBrk="1" hangingPunct="1"/>
            <a:r>
              <a:rPr lang="en-US" altLang="en-US" sz="2800" dirty="0"/>
              <a:t>PREVENTION OF DISEASES (cont’d.)</a:t>
            </a:r>
            <a:endParaRPr lang="sw-KE" altLang="en-US" sz="2800" dirty="0"/>
          </a:p>
        </p:txBody>
      </p:sp>
      <p:sp>
        <p:nvSpPr>
          <p:cNvPr id="27651" name="Content Placeholder 2"/>
          <p:cNvSpPr>
            <a:spLocks noGrp="1"/>
          </p:cNvSpPr>
          <p:nvPr>
            <p:ph idx="1"/>
          </p:nvPr>
        </p:nvSpPr>
        <p:spPr>
          <a:xfrm>
            <a:off x="1676400" y="838200"/>
            <a:ext cx="8763000" cy="5791200"/>
          </a:xfrm>
        </p:spPr>
        <p:txBody>
          <a:bodyPr>
            <a:normAutofit fontScale="92500" lnSpcReduction="10000"/>
          </a:bodyPr>
          <a:lstStyle/>
          <a:p>
            <a:pPr marL="273050" indent="-273050" eaLnBrk="1" hangingPunct="1">
              <a:lnSpc>
                <a:spcPct val="90000"/>
              </a:lnSpc>
            </a:pPr>
            <a:r>
              <a:rPr lang="en-US" altLang="en-US" sz="2400" b="1" i="1"/>
              <a:t>Tertiary Prevention</a:t>
            </a:r>
          </a:p>
          <a:p>
            <a:pPr marL="273050" indent="-273050" eaLnBrk="1" hangingPunct="1">
              <a:lnSpc>
                <a:spcPct val="90000"/>
              </a:lnSpc>
            </a:pPr>
            <a:r>
              <a:rPr lang="en-GB" altLang="en-US" sz="2400" b="1" i="1"/>
              <a:t>This takes place during the advanced stages of the disease progression to minimise the complications or reverse the effects </a:t>
            </a:r>
          </a:p>
          <a:p>
            <a:pPr marL="273050" indent="-273050" eaLnBrk="1" hangingPunct="1">
              <a:lnSpc>
                <a:spcPct val="90000"/>
              </a:lnSpc>
            </a:pPr>
            <a:r>
              <a:rPr lang="en-GB" altLang="en-US" sz="2400" b="1" i="1"/>
              <a:t>The goal of tertiary prevention is to improve function and includes minimisation of the impact of established disease, and prevention or delay of complications and subsequent events through effective management and rehabilitation.</a:t>
            </a:r>
            <a:r>
              <a:rPr lang="en-US" altLang="en-US" sz="2400" b="1" i="1"/>
              <a:t> </a:t>
            </a:r>
          </a:p>
          <a:p>
            <a:pPr marL="273050" indent="-273050" eaLnBrk="1" hangingPunct="1">
              <a:lnSpc>
                <a:spcPct val="90000"/>
              </a:lnSpc>
            </a:pPr>
            <a:r>
              <a:rPr lang="en-US" altLang="en-US" sz="2200" b="1" i="1"/>
              <a:t>Tertiary Prevention strategies involve both therapeutic and rehabilitative measures once disease is firmly established. </a:t>
            </a:r>
          </a:p>
          <a:p>
            <a:pPr marL="273050" indent="-273050" eaLnBrk="1" hangingPunct="1">
              <a:lnSpc>
                <a:spcPct val="90000"/>
              </a:lnSpc>
            </a:pPr>
            <a:r>
              <a:rPr lang="en-US" altLang="en-US" sz="2200" b="1" i="1"/>
              <a:t>Examples include treatment of diabetics to prevent complication of the disease and the ongoing management of chronic heart disease patients with medication, diet, exercise, and periodic examination. </a:t>
            </a:r>
          </a:p>
          <a:p>
            <a:pPr marL="273050" indent="-273050" eaLnBrk="1" hangingPunct="1">
              <a:lnSpc>
                <a:spcPct val="90000"/>
              </a:lnSpc>
            </a:pPr>
            <a:r>
              <a:rPr lang="en-US" altLang="en-US" sz="2200" b="1" i="1"/>
              <a:t>Other examples include improving functioning of stroke patients through rehabilitation by occupational and physical therapy, nursing care, speech therapy, counseling and treating those suffering from complications of diseases such as meningitis, multiple sclerosis, or Parkinson’s disease</a:t>
            </a:r>
            <a:r>
              <a:rPr lang="en-US" altLang="en-US" sz="2000" b="1" i="1"/>
              <a:t>.</a:t>
            </a:r>
          </a:p>
          <a:p>
            <a:pPr marL="273050" indent="-273050" eaLnBrk="1" hangingPunct="1">
              <a:lnSpc>
                <a:spcPct val="90000"/>
              </a:lnSpc>
            </a:pPr>
            <a:endParaRPr lang="sw-KE" altLang="en-US" sz="2700" b="1" i="1"/>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87AC65B-84E1-479A-93C8-876631D3D031}" type="datetime1">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25/10/2024</a:t>
            </a:fld>
            <a:endParaRPr kumimoji="0" lang="en-GB" sz="1100" b="0" i="0" u="none" strike="noStrike" kern="1200" cap="none" spc="0" normalizeH="0" baseline="0" noProof="0">
              <a:ln>
                <a:noFill/>
              </a:ln>
              <a:solidFill>
                <a:prstClr val="white">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t>Dr. Mwaniki</a:t>
            </a:r>
          </a:p>
        </p:txBody>
      </p:sp>
      <p:sp>
        <p:nvSpPr>
          <p:cNvPr id="27654"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FF9D8E19-0204-430A-8037-FDBD736E1E4F}" type="slidenum">
              <a:rPr kumimoji="0" lang="en-GB" altLang="en-US" sz="2800" b="0" i="0" u="none" strike="noStrike" kern="1200" cap="none" spc="0" normalizeH="0" baseline="0" noProof="0">
                <a:ln>
                  <a:noFill/>
                </a:ln>
                <a:solidFill>
                  <a:srgbClr val="FFFFFF"/>
                </a:solidFill>
                <a:effectLst/>
                <a:uLnTx/>
                <a:uFillTx/>
                <a:latin typeface="Calibri" pitchFamily="34" charset="0"/>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38</a:t>
            </a:fld>
            <a:endParaRPr kumimoji="0" lang="en-GB" altLang="en-US" sz="2800" b="1" i="1" u="none" strike="noStrike" kern="1200" cap="none" spc="0" normalizeH="0" baseline="0" noProof="0">
              <a:ln>
                <a:noFill/>
              </a:ln>
              <a:solidFill>
                <a:srgbClr val="FFFFFF"/>
              </a:solidFill>
              <a:effectLst/>
              <a:uLnTx/>
              <a:uFillTx/>
              <a:latin typeface="Calibri" pitchFamily="34" charset="0"/>
              <a:ea typeface="+mn-ea"/>
              <a:cs typeface="Arial" charset="0"/>
            </a:endParaRPr>
          </a:p>
        </p:txBody>
      </p:sp>
    </p:spTree>
    <p:extLst>
      <p:ext uri="{BB962C8B-B14F-4D97-AF65-F5344CB8AC3E}">
        <p14:creationId xmlns:p14="http://schemas.microsoft.com/office/powerpoint/2010/main" val="3119435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057400" y="152401"/>
            <a:ext cx="7467600" cy="487363"/>
          </a:xfrm>
        </p:spPr>
        <p:txBody>
          <a:bodyPr rtlCol="0">
            <a:normAutofit fontScale="90000"/>
          </a:bodyPr>
          <a:lstStyle/>
          <a:p>
            <a:pPr eaLnBrk="1" fontAlgn="auto" hangingPunct="1">
              <a:spcAft>
                <a:spcPts val="0"/>
              </a:spcAft>
              <a:defRPr/>
            </a:pPr>
            <a:r>
              <a:rPr lang="en-US" dirty="0"/>
              <a:t>Control</a:t>
            </a:r>
          </a:p>
        </p:txBody>
      </p:sp>
      <p:sp>
        <p:nvSpPr>
          <p:cNvPr id="31747" name="Rectangle 3"/>
          <p:cNvSpPr>
            <a:spLocks noGrp="1" noChangeArrowheads="1"/>
          </p:cNvSpPr>
          <p:nvPr>
            <p:ph idx="1"/>
          </p:nvPr>
        </p:nvSpPr>
        <p:spPr>
          <a:xfrm>
            <a:off x="1752600" y="609601"/>
            <a:ext cx="8382000" cy="5864225"/>
          </a:xfrm>
        </p:spPr>
        <p:txBody>
          <a:bodyPr>
            <a:normAutofit lnSpcReduction="10000"/>
          </a:bodyPr>
          <a:lstStyle/>
          <a:p>
            <a:pPr eaLnBrk="1" hangingPunct="1">
              <a:lnSpc>
                <a:spcPct val="90000"/>
              </a:lnSpc>
            </a:pPr>
            <a:r>
              <a:rPr lang="en-GB" altLang="en-US" sz="2800"/>
              <a:t>The reduction of disease incidence, prevalence, morbidity or mortality to a level that is locally acceptable as a result of deliberate efforts. </a:t>
            </a:r>
          </a:p>
          <a:p>
            <a:pPr eaLnBrk="1" hangingPunct="1">
              <a:lnSpc>
                <a:spcPct val="90000"/>
              </a:lnSpc>
            </a:pPr>
            <a:r>
              <a:rPr lang="en-GB" altLang="en-US" sz="2800"/>
              <a:t>Continued intervention measures are required to maintain the reduction.</a:t>
            </a:r>
            <a:endParaRPr lang="en-US" altLang="en-US" sz="2800"/>
          </a:p>
          <a:p>
            <a:pPr eaLnBrk="1" hangingPunct="1">
              <a:lnSpc>
                <a:spcPct val="90000"/>
              </a:lnSpc>
            </a:pPr>
            <a:r>
              <a:rPr lang="en-US" altLang="en-US" sz="2800"/>
              <a:t>Concept of control:</a:t>
            </a:r>
          </a:p>
          <a:p>
            <a:pPr eaLnBrk="1" hangingPunct="1">
              <a:lnSpc>
                <a:spcPct val="90000"/>
              </a:lnSpc>
              <a:buFontTx/>
              <a:buNone/>
            </a:pPr>
            <a:r>
              <a:rPr lang="en-US" altLang="en-US" sz="2800" b="1" i="1"/>
              <a:t>The term disease control describes ongoing operations aimed at reducing:</a:t>
            </a:r>
          </a:p>
          <a:p>
            <a:pPr lvl="1" eaLnBrk="1" hangingPunct="1">
              <a:lnSpc>
                <a:spcPct val="90000"/>
              </a:lnSpc>
            </a:pPr>
            <a:r>
              <a:rPr lang="en-US" altLang="en-US" sz="2400" b="1" i="1"/>
              <a:t>The incidence of disease</a:t>
            </a:r>
          </a:p>
          <a:p>
            <a:pPr lvl="1" eaLnBrk="1" hangingPunct="1">
              <a:lnSpc>
                <a:spcPct val="90000"/>
              </a:lnSpc>
            </a:pPr>
            <a:r>
              <a:rPr lang="en-US" altLang="en-US" sz="2400" b="1" i="1"/>
              <a:t>The duration of disease and consequently the risk of transmission </a:t>
            </a:r>
          </a:p>
          <a:p>
            <a:pPr lvl="1" eaLnBrk="1" hangingPunct="1">
              <a:lnSpc>
                <a:spcPct val="90000"/>
              </a:lnSpc>
            </a:pPr>
            <a:r>
              <a:rPr lang="en-US" altLang="en-US" sz="2400" b="1" i="1"/>
              <a:t>The effects of infection, including both the physical and psychosocial complications</a:t>
            </a:r>
          </a:p>
          <a:p>
            <a:pPr lvl="1" eaLnBrk="1" hangingPunct="1">
              <a:lnSpc>
                <a:spcPct val="90000"/>
              </a:lnSpc>
            </a:pPr>
            <a:r>
              <a:rPr lang="en-US" altLang="en-US" sz="2400" b="1" i="1"/>
              <a:t>The financial burden to the community.</a:t>
            </a: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7B7C513-A541-45CF-9E57-96D479CD23C2}" type="datetime1">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25/10/2024</a:t>
            </a:fld>
            <a:endParaRPr kumimoji="0" lang="en-GB" sz="1100" b="0" i="0" u="none" strike="noStrike" kern="1200" cap="none" spc="0" normalizeH="0" baseline="0" noProof="0">
              <a:ln>
                <a:noFill/>
              </a:ln>
              <a:solidFill>
                <a:prstClr val="white">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t>Dr. Mwaniki</a:t>
            </a:r>
          </a:p>
        </p:txBody>
      </p:sp>
      <p:sp>
        <p:nvSpPr>
          <p:cNvPr id="28678"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078CA600-860B-4934-BD4E-F86F56209BD6}" type="slidenum">
              <a:rPr kumimoji="0" lang="en-GB" altLang="en-US" sz="2800" b="0" i="0" u="none" strike="noStrike" kern="1200" cap="none" spc="0" normalizeH="0" baseline="0" noProof="0">
                <a:ln>
                  <a:noFill/>
                </a:ln>
                <a:solidFill>
                  <a:srgbClr val="FFFFFF"/>
                </a:solidFill>
                <a:effectLst/>
                <a:uLnTx/>
                <a:uFillTx/>
                <a:latin typeface="Calibri" pitchFamily="34" charset="0"/>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39</a:t>
            </a:fld>
            <a:endParaRPr kumimoji="0" lang="en-GB" altLang="en-US" sz="2800" b="1" i="1" u="none" strike="noStrike" kern="1200" cap="none" spc="0" normalizeH="0" baseline="0" noProof="0">
              <a:ln>
                <a:noFill/>
              </a:ln>
              <a:solidFill>
                <a:srgbClr val="FFFFFF"/>
              </a:solidFill>
              <a:effectLst/>
              <a:uLnTx/>
              <a:uFillTx/>
              <a:latin typeface="Calibri" pitchFamily="34" charset="0"/>
              <a:ea typeface="+mn-ea"/>
              <a:cs typeface="Arial" charset="0"/>
            </a:endParaRPr>
          </a:p>
        </p:txBody>
      </p:sp>
    </p:spTree>
    <p:extLst>
      <p:ext uri="{BB962C8B-B14F-4D97-AF65-F5344CB8AC3E}">
        <p14:creationId xmlns:p14="http://schemas.microsoft.com/office/powerpoint/2010/main" val="29211343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blinds(horizontal)">
                                      <p:cBhvr>
                                        <p:cTn id="7" dur="500"/>
                                        <p:tgtEl>
                                          <p:spTgt spid="317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747">
                                            <p:txEl>
                                              <p:pRg st="0" end="0"/>
                                            </p:txEl>
                                          </p:spTgt>
                                        </p:tgtEl>
                                        <p:attrNameLst>
                                          <p:attrName>style.visibility</p:attrName>
                                        </p:attrNameLst>
                                      </p:cBhvr>
                                      <p:to>
                                        <p:strVal val="visible"/>
                                      </p:to>
                                    </p:set>
                                    <p:animEffect transition="in" filter="blinds(horizontal)">
                                      <p:cBhvr>
                                        <p:cTn id="12" dur="500"/>
                                        <p:tgtEl>
                                          <p:spTgt spid="3174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747">
                                            <p:txEl>
                                              <p:pRg st="1" end="1"/>
                                            </p:txEl>
                                          </p:spTgt>
                                        </p:tgtEl>
                                        <p:attrNameLst>
                                          <p:attrName>style.visibility</p:attrName>
                                        </p:attrNameLst>
                                      </p:cBhvr>
                                      <p:to>
                                        <p:strVal val="visible"/>
                                      </p:to>
                                    </p:set>
                                    <p:animEffect transition="in" filter="blinds(horizontal)">
                                      <p:cBhvr>
                                        <p:cTn id="17" dur="500"/>
                                        <p:tgtEl>
                                          <p:spTgt spid="3174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22" dur="500"/>
                                        <p:tgtEl>
                                          <p:spTgt spid="3174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27" dur="500"/>
                                        <p:tgtEl>
                                          <p:spTgt spid="31747">
                                            <p:txEl>
                                              <p:pRg st="3" end="3"/>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1747">
                                            <p:txEl>
                                              <p:pRg st="4" end="4"/>
                                            </p:txEl>
                                          </p:spTgt>
                                        </p:tgtEl>
                                        <p:attrNameLst>
                                          <p:attrName>style.visibility</p:attrName>
                                        </p:attrNameLst>
                                      </p:cBhvr>
                                      <p:to>
                                        <p:strVal val="visible"/>
                                      </p:to>
                                    </p:set>
                                    <p:animEffect transition="in" filter="blinds(horizontal)">
                                      <p:cBhvr>
                                        <p:cTn id="30" dur="500"/>
                                        <p:tgtEl>
                                          <p:spTgt spid="31747">
                                            <p:txEl>
                                              <p:pRg st="4" end="4"/>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31747">
                                            <p:txEl>
                                              <p:pRg st="5" end="5"/>
                                            </p:txEl>
                                          </p:spTgt>
                                        </p:tgtEl>
                                        <p:attrNameLst>
                                          <p:attrName>style.visibility</p:attrName>
                                        </p:attrNameLst>
                                      </p:cBhvr>
                                      <p:to>
                                        <p:strVal val="visible"/>
                                      </p:to>
                                    </p:set>
                                    <p:animEffect transition="in" filter="blinds(horizontal)">
                                      <p:cBhvr>
                                        <p:cTn id="33" dur="500"/>
                                        <p:tgtEl>
                                          <p:spTgt spid="31747">
                                            <p:txEl>
                                              <p:pRg st="5" end="5"/>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1747">
                                            <p:txEl>
                                              <p:pRg st="6" end="6"/>
                                            </p:txEl>
                                          </p:spTgt>
                                        </p:tgtEl>
                                        <p:attrNameLst>
                                          <p:attrName>style.visibility</p:attrName>
                                        </p:attrNameLst>
                                      </p:cBhvr>
                                      <p:to>
                                        <p:strVal val="visible"/>
                                      </p:to>
                                    </p:set>
                                    <p:animEffect transition="in" filter="blinds(horizontal)">
                                      <p:cBhvr>
                                        <p:cTn id="36" dur="500"/>
                                        <p:tgtEl>
                                          <p:spTgt spid="31747">
                                            <p:txEl>
                                              <p:pRg st="6" end="6"/>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1747">
                                            <p:txEl>
                                              <p:pRg st="7" end="7"/>
                                            </p:txEl>
                                          </p:spTgt>
                                        </p:tgtEl>
                                        <p:attrNameLst>
                                          <p:attrName>style.visibility</p:attrName>
                                        </p:attrNameLst>
                                      </p:cBhvr>
                                      <p:to>
                                        <p:strVal val="visible"/>
                                      </p:to>
                                    </p:set>
                                    <p:animEffect transition="in" filter="blinds(horizontal)">
                                      <p:cBhvr>
                                        <p:cTn id="39" dur="500"/>
                                        <p:tgtEl>
                                          <p:spTgt spid="317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4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a:t>CONTROL</a:t>
            </a:r>
            <a:endParaRPr lang="sw-KE" altLang="en-US"/>
          </a:p>
        </p:txBody>
      </p:sp>
      <p:sp>
        <p:nvSpPr>
          <p:cNvPr id="29699" name="Rectangle 3"/>
          <p:cNvSpPr>
            <a:spLocks noGrp="1" noChangeArrowheads="1"/>
          </p:cNvSpPr>
          <p:nvPr>
            <p:ph idx="1"/>
          </p:nvPr>
        </p:nvSpPr>
        <p:spPr/>
        <p:txBody>
          <a:bodyPr/>
          <a:lstStyle/>
          <a:p>
            <a:pPr eaLnBrk="1" hangingPunct="1"/>
            <a:r>
              <a:rPr lang="en-US" altLang="en-US"/>
              <a:t>Control activities focus on primary prevention or secondary prevention, but most programs combine both.</a:t>
            </a:r>
          </a:p>
          <a:p>
            <a:pPr eaLnBrk="1" hangingPunct="1">
              <a:buFontTx/>
              <a:buNone/>
            </a:pPr>
            <a:endParaRPr lang="en-US" altLang="en-US"/>
          </a:p>
          <a:p>
            <a:pPr eaLnBrk="1" hangingPunct="1">
              <a:buFontTx/>
              <a:buNone/>
            </a:pPr>
            <a:endParaRPr lang="en-US" altLang="en-US"/>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B214D6-0CA2-4703-A46E-EBDC4F09B409}" type="datetime1">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25/10/2024</a:t>
            </a:fld>
            <a:endParaRPr kumimoji="0" lang="en-GB" sz="1100" b="0" i="0" u="none" strike="noStrike" kern="1200" cap="none" spc="0" normalizeH="0" baseline="0" noProof="0">
              <a:ln>
                <a:noFill/>
              </a:ln>
              <a:solidFill>
                <a:prstClr val="white">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t>Dr. Mwaniki</a:t>
            </a:r>
          </a:p>
        </p:txBody>
      </p:sp>
      <p:sp>
        <p:nvSpPr>
          <p:cNvPr id="2970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ECB0C72-6A8C-4AFC-9835-B74EF89F6A7C}" type="slidenum">
              <a:rPr kumimoji="0" lang="en-GB" altLang="en-US" sz="2800" b="0" i="0" u="none" strike="noStrike" kern="1200" cap="none" spc="0" normalizeH="0" baseline="0" noProof="0">
                <a:ln>
                  <a:noFill/>
                </a:ln>
                <a:solidFill>
                  <a:srgbClr val="FFFFFF"/>
                </a:solidFill>
                <a:effectLst/>
                <a:uLnTx/>
                <a:uFillTx/>
                <a:latin typeface="Calibri" pitchFamily="34" charset="0"/>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40</a:t>
            </a:fld>
            <a:endParaRPr kumimoji="0" lang="en-GB" altLang="en-US" sz="2800" b="1" i="1" u="none" strike="noStrike" kern="1200" cap="none" spc="0" normalizeH="0" baseline="0" noProof="0">
              <a:ln>
                <a:noFill/>
              </a:ln>
              <a:solidFill>
                <a:srgbClr val="FFFFFF"/>
              </a:solidFill>
              <a:effectLst/>
              <a:uLnTx/>
              <a:uFillTx/>
              <a:latin typeface="Calibri" pitchFamily="34" charset="0"/>
              <a:ea typeface="+mn-ea"/>
              <a:cs typeface="Arial" charset="0"/>
            </a:endParaRPr>
          </a:p>
        </p:txBody>
      </p:sp>
      <p:sp>
        <p:nvSpPr>
          <p:cNvPr id="32772" name="Rectangle 4"/>
          <p:cNvSpPr>
            <a:spLocks noChangeArrowheads="1"/>
          </p:cNvSpPr>
          <p:nvPr/>
        </p:nvSpPr>
        <p:spPr bwMode="auto">
          <a:xfrm>
            <a:off x="3962400" y="3352800"/>
            <a:ext cx="22098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white"/>
                </a:solidFill>
                <a:effectLst/>
                <a:uLnTx/>
                <a:uFillTx/>
                <a:latin typeface="Calibri"/>
                <a:ea typeface="+mn-ea"/>
                <a:cs typeface="Arial" charset="0"/>
              </a:rPr>
              <a:t>control</a:t>
            </a:r>
          </a:p>
        </p:txBody>
      </p:sp>
      <p:sp>
        <p:nvSpPr>
          <p:cNvPr id="32773" name="Rectangle 5"/>
          <p:cNvSpPr>
            <a:spLocks noChangeArrowheads="1"/>
          </p:cNvSpPr>
          <p:nvPr/>
        </p:nvSpPr>
        <p:spPr bwMode="auto">
          <a:xfrm>
            <a:off x="3962400" y="4419600"/>
            <a:ext cx="22098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white"/>
                </a:solidFill>
                <a:effectLst/>
                <a:uLnTx/>
                <a:uFillTx/>
                <a:latin typeface="Calibri"/>
                <a:ea typeface="+mn-ea"/>
                <a:cs typeface="Arial" charset="0"/>
              </a:rPr>
              <a:t>elimination</a:t>
            </a:r>
          </a:p>
        </p:txBody>
      </p:sp>
      <p:sp>
        <p:nvSpPr>
          <p:cNvPr id="32774" name="Rectangle 6"/>
          <p:cNvSpPr>
            <a:spLocks noChangeArrowheads="1"/>
          </p:cNvSpPr>
          <p:nvPr/>
        </p:nvSpPr>
        <p:spPr bwMode="auto">
          <a:xfrm>
            <a:off x="3962400" y="5486400"/>
            <a:ext cx="22098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white"/>
                </a:solidFill>
                <a:effectLst/>
                <a:uLnTx/>
                <a:uFillTx/>
                <a:latin typeface="Calibri"/>
                <a:ea typeface="+mn-ea"/>
                <a:cs typeface="Arial" charset="0"/>
              </a:rPr>
              <a:t>eradication</a:t>
            </a:r>
          </a:p>
        </p:txBody>
      </p:sp>
      <p:sp>
        <p:nvSpPr>
          <p:cNvPr id="29703" name="Line 7"/>
          <p:cNvSpPr>
            <a:spLocks noChangeShapeType="1"/>
          </p:cNvSpPr>
          <p:nvPr/>
        </p:nvSpPr>
        <p:spPr bwMode="auto">
          <a:xfrm>
            <a:off x="5029200" y="38862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Arial" charset="0"/>
            </a:endParaRPr>
          </a:p>
        </p:txBody>
      </p:sp>
      <p:sp>
        <p:nvSpPr>
          <p:cNvPr id="29704" name="Line 8"/>
          <p:cNvSpPr>
            <a:spLocks noChangeShapeType="1"/>
          </p:cNvSpPr>
          <p:nvPr/>
        </p:nvSpPr>
        <p:spPr bwMode="auto">
          <a:xfrm>
            <a:off x="5029200" y="50292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Arial" charset="0"/>
            </a:endParaRPr>
          </a:p>
        </p:txBody>
      </p:sp>
    </p:spTree>
    <p:extLst>
      <p:ext uri="{BB962C8B-B14F-4D97-AF65-F5344CB8AC3E}">
        <p14:creationId xmlns:p14="http://schemas.microsoft.com/office/powerpoint/2010/main" val="29963008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772"/>
                                        </p:tgtEl>
                                        <p:attrNameLst>
                                          <p:attrName>style.visibility</p:attrName>
                                        </p:attrNameLst>
                                      </p:cBhvr>
                                      <p:to>
                                        <p:strVal val="visible"/>
                                      </p:to>
                                    </p:set>
                                    <p:animEffect transition="in" filter="blinds(horizontal)">
                                      <p:cBhvr>
                                        <p:cTn id="7" dur="500"/>
                                        <p:tgtEl>
                                          <p:spTgt spid="327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773"/>
                                        </p:tgtEl>
                                        <p:attrNameLst>
                                          <p:attrName>style.visibility</p:attrName>
                                        </p:attrNameLst>
                                      </p:cBhvr>
                                      <p:to>
                                        <p:strVal val="visible"/>
                                      </p:to>
                                    </p:set>
                                    <p:animEffect transition="in" filter="blinds(horizontal)">
                                      <p:cBhvr>
                                        <p:cTn id="12" dur="500"/>
                                        <p:tgtEl>
                                          <p:spTgt spid="327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774"/>
                                        </p:tgtEl>
                                        <p:attrNameLst>
                                          <p:attrName>style.visibility</p:attrName>
                                        </p:attrNameLst>
                                      </p:cBhvr>
                                      <p:to>
                                        <p:strVal val="visible"/>
                                      </p:to>
                                    </p:set>
                                    <p:animEffect transition="in" filter="blinds(horizontal)">
                                      <p:cBhvr>
                                        <p:cTn id="17" dur="500"/>
                                        <p:tgtEl>
                                          <p:spTgt spid="32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nimBg="1"/>
      <p:bldP spid="32773" grpId="0" animBg="1"/>
      <p:bldP spid="3277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2133600" y="457200"/>
            <a:ext cx="7467600" cy="685800"/>
          </a:xfrm>
        </p:spPr>
        <p:txBody>
          <a:bodyPr>
            <a:normAutofit fontScale="90000"/>
          </a:bodyPr>
          <a:lstStyle/>
          <a:p>
            <a:pPr eaLnBrk="1" hangingPunct="1">
              <a:defRPr/>
            </a:pPr>
            <a:r>
              <a:rPr lang="en-US" altLang="en-US" sz="3200" b="1" i="1" dirty="0"/>
              <a:t>Disease Elimination</a:t>
            </a:r>
            <a:br>
              <a:rPr lang="en-US" altLang="en-US" sz="3200" b="1" i="1" dirty="0"/>
            </a:br>
            <a:endParaRPr lang="en-US" altLang="en-US" sz="3200" b="1" i="1" dirty="0"/>
          </a:p>
        </p:txBody>
      </p:sp>
      <p:sp>
        <p:nvSpPr>
          <p:cNvPr id="30723" name="Rectangle 3"/>
          <p:cNvSpPr>
            <a:spLocks noGrp="1" noChangeArrowheads="1"/>
          </p:cNvSpPr>
          <p:nvPr>
            <p:ph idx="1"/>
          </p:nvPr>
        </p:nvSpPr>
        <p:spPr>
          <a:xfrm>
            <a:off x="1981200" y="914401"/>
            <a:ext cx="7467600" cy="5559425"/>
          </a:xfrm>
        </p:spPr>
        <p:txBody>
          <a:bodyPr>
            <a:normAutofit lnSpcReduction="10000"/>
          </a:bodyPr>
          <a:lstStyle/>
          <a:p>
            <a:pPr eaLnBrk="1" hangingPunct="1"/>
            <a:r>
              <a:rPr lang="en-GB" altLang="en-US" sz="2800" dirty="0"/>
              <a:t>Reduction to zero of the incidence of a specified disease in a defined geographical area as a result of deliberate efforts.</a:t>
            </a:r>
            <a:endParaRPr lang="en-US" altLang="en-US" sz="2800" dirty="0"/>
          </a:p>
          <a:p>
            <a:pPr eaLnBrk="1" hangingPunct="1">
              <a:lnSpc>
                <a:spcPct val="90000"/>
              </a:lnSpc>
            </a:pPr>
            <a:r>
              <a:rPr lang="en-US" altLang="en-US" sz="2800" dirty="0"/>
              <a:t>Between control and eradication, an intermediate goal has been described, called "regional elimination" </a:t>
            </a:r>
          </a:p>
          <a:p>
            <a:pPr eaLnBrk="1" hangingPunct="1">
              <a:lnSpc>
                <a:spcPct val="90000"/>
              </a:lnSpc>
            </a:pPr>
            <a:r>
              <a:rPr lang="en-US" altLang="en-US" sz="2800" dirty="0"/>
              <a:t>The term "elimination" is used to describe interruption of transmission of disease, as for example, elimination of measles, polio and diphtheria from large geographic regions or areas </a:t>
            </a:r>
          </a:p>
          <a:p>
            <a:pPr eaLnBrk="1" hangingPunct="1">
              <a:lnSpc>
                <a:spcPct val="90000"/>
              </a:lnSpc>
            </a:pPr>
            <a:r>
              <a:rPr lang="en-US" altLang="en-US" sz="2800" dirty="0"/>
              <a:t>Regional elimination is now seen as an important precursor of eradication</a:t>
            </a: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DEA5E6D-F89A-4610-A83D-4F63F6FE0ECD}" type="datetime1">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25/10/2024</a:t>
            </a:fld>
            <a:endParaRPr kumimoji="0" lang="en-GB" sz="1100" b="0" i="0" u="none" strike="noStrike" kern="1200" cap="none" spc="0" normalizeH="0" baseline="0" noProof="0">
              <a:ln>
                <a:noFill/>
              </a:ln>
              <a:solidFill>
                <a:prstClr val="white">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t>Dr. Mwaniki</a:t>
            </a:r>
          </a:p>
        </p:txBody>
      </p:sp>
      <p:sp>
        <p:nvSpPr>
          <p:cNvPr id="3072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3600FF0E-B648-4713-B82B-9D1B9D091939}" type="slidenum">
              <a:rPr kumimoji="0" lang="en-GB" altLang="en-US" sz="2800" b="0" i="0" u="none" strike="noStrike" kern="1200" cap="none" spc="0" normalizeH="0" baseline="0" noProof="0">
                <a:ln>
                  <a:noFill/>
                </a:ln>
                <a:solidFill>
                  <a:srgbClr val="FFFFFF"/>
                </a:solidFill>
                <a:effectLst/>
                <a:uLnTx/>
                <a:uFillTx/>
                <a:latin typeface="Calibri" pitchFamily="34" charset="0"/>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41</a:t>
            </a:fld>
            <a:endParaRPr kumimoji="0" lang="en-GB" altLang="en-US" sz="2800" b="1" i="1" u="none" strike="noStrike" kern="1200" cap="none" spc="0" normalizeH="0" baseline="0" noProof="0">
              <a:ln>
                <a:noFill/>
              </a:ln>
              <a:solidFill>
                <a:srgbClr val="FFFFFF"/>
              </a:solidFill>
              <a:effectLst/>
              <a:uLnTx/>
              <a:uFillTx/>
              <a:latin typeface="Calibri" pitchFamily="34" charset="0"/>
              <a:ea typeface="+mn-ea"/>
              <a:cs typeface="Arial" charset="0"/>
            </a:endParaRPr>
          </a:p>
        </p:txBody>
      </p:sp>
    </p:spTree>
    <p:extLst>
      <p:ext uri="{BB962C8B-B14F-4D97-AF65-F5344CB8AC3E}">
        <p14:creationId xmlns:p14="http://schemas.microsoft.com/office/powerpoint/2010/main" val="3762840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81200" y="274638"/>
            <a:ext cx="7467600" cy="715962"/>
          </a:xfrm>
        </p:spPr>
        <p:txBody>
          <a:bodyPr rtlCol="0">
            <a:normAutofit fontScale="90000"/>
          </a:bodyPr>
          <a:lstStyle/>
          <a:p>
            <a:pPr eaLnBrk="1" fontAlgn="auto" hangingPunct="1">
              <a:spcAft>
                <a:spcPts val="0"/>
              </a:spcAft>
              <a:defRPr/>
            </a:pPr>
            <a:r>
              <a:rPr lang="en-US" dirty="0"/>
              <a:t>Disease Eradication</a:t>
            </a:r>
          </a:p>
        </p:txBody>
      </p:sp>
      <p:sp>
        <p:nvSpPr>
          <p:cNvPr id="39939" name="Rectangle 3"/>
          <p:cNvSpPr>
            <a:spLocks noGrp="1" noChangeArrowheads="1"/>
          </p:cNvSpPr>
          <p:nvPr>
            <p:ph idx="1"/>
          </p:nvPr>
        </p:nvSpPr>
        <p:spPr>
          <a:xfrm>
            <a:off x="1787526" y="1219200"/>
            <a:ext cx="8575675" cy="5257800"/>
          </a:xfrm>
        </p:spPr>
        <p:txBody>
          <a:bodyPr rtlCol="0">
            <a:normAutofit/>
          </a:bodyPr>
          <a:lstStyle/>
          <a:p>
            <a:pPr eaLnBrk="1" fontAlgn="auto" hangingPunct="1">
              <a:spcAft>
                <a:spcPts val="0"/>
              </a:spcAft>
              <a:buFont typeface="Arial" pitchFamily="34" charset="0"/>
              <a:buChar char="•"/>
              <a:defRPr/>
            </a:pPr>
            <a:r>
              <a:rPr lang="en-GB" dirty="0"/>
              <a:t>Eradication is the extinction of the pathogen that causes the infectious disease in question</a:t>
            </a:r>
            <a:endParaRPr lang="en-US" dirty="0"/>
          </a:p>
          <a:p>
            <a:pPr eaLnBrk="1" fontAlgn="auto" hangingPunct="1">
              <a:lnSpc>
                <a:spcPct val="90000"/>
              </a:lnSpc>
              <a:spcAft>
                <a:spcPts val="0"/>
              </a:spcAft>
              <a:buFont typeface="Arial" pitchFamily="34" charset="0"/>
              <a:buChar char="•"/>
              <a:defRPr/>
            </a:pPr>
            <a:r>
              <a:rPr lang="en-US" dirty="0"/>
              <a:t>Eradication literally means to "tear out by roots". </a:t>
            </a:r>
          </a:p>
          <a:p>
            <a:pPr eaLnBrk="1" fontAlgn="auto" hangingPunct="1">
              <a:lnSpc>
                <a:spcPct val="90000"/>
              </a:lnSpc>
              <a:spcAft>
                <a:spcPts val="0"/>
              </a:spcAft>
              <a:buFont typeface="Arial" pitchFamily="34" charset="0"/>
              <a:buChar char="•"/>
              <a:defRPr/>
            </a:pPr>
            <a:r>
              <a:rPr lang="en-US" dirty="0"/>
              <a:t>It is the process of “Termination of all transmission of infection by extermination of the infectious agent through surveillance and containment”.</a:t>
            </a:r>
          </a:p>
          <a:p>
            <a:pPr eaLnBrk="1" fontAlgn="auto" hangingPunct="1">
              <a:lnSpc>
                <a:spcPct val="90000"/>
              </a:lnSpc>
              <a:spcAft>
                <a:spcPts val="0"/>
              </a:spcAft>
              <a:buFont typeface="Arial" pitchFamily="34" charset="0"/>
              <a:buChar char="•"/>
              <a:defRPr/>
            </a:pPr>
            <a:endParaRPr lang="en-US" dirty="0"/>
          </a:p>
          <a:p>
            <a:pPr eaLnBrk="1" fontAlgn="auto" hangingPunct="1">
              <a:lnSpc>
                <a:spcPct val="90000"/>
              </a:lnSpc>
              <a:spcAft>
                <a:spcPts val="0"/>
              </a:spcAft>
              <a:buFont typeface="Arial" pitchFamily="34" charset="0"/>
              <a:buChar char="•"/>
              <a:defRPr/>
            </a:pPr>
            <a:r>
              <a:rPr lang="en-US" dirty="0"/>
              <a:t>Eradication implies that disease will no longer occur in a population.</a:t>
            </a:r>
          </a:p>
          <a:p>
            <a:pPr eaLnBrk="1" fontAlgn="auto" hangingPunct="1">
              <a:lnSpc>
                <a:spcPct val="90000"/>
              </a:lnSpc>
              <a:spcAft>
                <a:spcPts val="0"/>
              </a:spcAft>
              <a:buNone/>
              <a:defRPr/>
            </a:pPr>
            <a:r>
              <a:rPr lang="en-US" dirty="0"/>
              <a:t> </a:t>
            </a:r>
          </a:p>
          <a:p>
            <a:pPr eaLnBrk="1" fontAlgn="auto" hangingPunct="1">
              <a:lnSpc>
                <a:spcPct val="90000"/>
              </a:lnSpc>
              <a:spcAft>
                <a:spcPts val="0"/>
              </a:spcAft>
              <a:buFont typeface="Arial" pitchFamily="34" charset="0"/>
              <a:buChar char="•"/>
              <a:defRPr/>
            </a:pPr>
            <a:r>
              <a:rPr lang="en-US" dirty="0"/>
              <a:t>To-date, only one disease has been eradicated, that is smallpox.</a:t>
            </a:r>
          </a:p>
          <a:p>
            <a:pPr eaLnBrk="1" fontAlgn="auto" hangingPunct="1">
              <a:lnSpc>
                <a:spcPct val="90000"/>
              </a:lnSpc>
              <a:spcAft>
                <a:spcPts val="0"/>
              </a:spcAft>
              <a:buFont typeface="Arial" pitchFamily="34" charset="0"/>
              <a:buChar char="•"/>
              <a:defRPr/>
            </a:pPr>
            <a:endParaRPr lang="en-US" dirty="0"/>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4C3C2C3-1292-4230-A62C-C18955A420E4}" type="datetime1">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25/10/2024</a:t>
            </a:fld>
            <a:endParaRPr kumimoji="0" lang="en-GB" sz="1100" b="0" i="0" u="none" strike="noStrike" kern="1200" cap="none" spc="0" normalizeH="0" baseline="0" noProof="0">
              <a:ln>
                <a:noFill/>
              </a:ln>
              <a:solidFill>
                <a:prstClr val="white">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tint val="75000"/>
                  </a:prstClr>
                </a:solidFill>
                <a:effectLst/>
                <a:uLnTx/>
                <a:uFillTx/>
                <a:latin typeface="Calibri"/>
                <a:ea typeface="+mn-ea"/>
                <a:cs typeface="+mn-cs"/>
              </a:rPr>
              <a:t>Dr. Mwaniki</a:t>
            </a:r>
          </a:p>
        </p:txBody>
      </p:sp>
      <p:sp>
        <p:nvSpPr>
          <p:cNvPr id="3175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B7E6DABD-C1A3-4851-B987-405A2B2F3FFC}" type="slidenum">
              <a:rPr kumimoji="0" lang="en-GB" altLang="en-US" sz="2800" b="0" i="0" u="none" strike="noStrike" kern="1200" cap="none" spc="0" normalizeH="0" baseline="0" noProof="0">
                <a:ln>
                  <a:noFill/>
                </a:ln>
                <a:solidFill>
                  <a:srgbClr val="FFFFFF"/>
                </a:solidFill>
                <a:effectLst/>
                <a:uLnTx/>
                <a:uFillTx/>
                <a:latin typeface="Calibri" pitchFamily="34" charset="0"/>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42</a:t>
            </a:fld>
            <a:endParaRPr kumimoji="0" lang="en-GB" altLang="en-US" sz="2800" b="1" i="1" u="none" strike="noStrike" kern="1200" cap="none" spc="0" normalizeH="0" baseline="0" noProof="0">
              <a:ln>
                <a:noFill/>
              </a:ln>
              <a:solidFill>
                <a:srgbClr val="FFFFFF"/>
              </a:solidFill>
              <a:effectLst/>
              <a:uLnTx/>
              <a:uFillTx/>
              <a:latin typeface="Calibri" pitchFamily="34" charset="0"/>
              <a:ea typeface="+mn-ea"/>
              <a:cs typeface="Arial" charset="0"/>
            </a:endParaRPr>
          </a:p>
        </p:txBody>
      </p:sp>
    </p:spTree>
    <p:extLst>
      <p:ext uri="{BB962C8B-B14F-4D97-AF65-F5344CB8AC3E}">
        <p14:creationId xmlns:p14="http://schemas.microsoft.com/office/powerpoint/2010/main" val="18518699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7AC5C-D3EF-48A8-A945-B1F92021281E}"/>
              </a:ext>
            </a:extLst>
          </p:cNvPr>
          <p:cNvSpPr>
            <a:spLocks noGrp="1"/>
          </p:cNvSpPr>
          <p:nvPr>
            <p:ph type="title"/>
          </p:nvPr>
        </p:nvSpPr>
        <p:spPr>
          <a:xfrm>
            <a:off x="571500" y="136524"/>
            <a:ext cx="10972800" cy="625476"/>
          </a:xfrm>
        </p:spPr>
        <p:txBody>
          <a:bodyPr/>
          <a:lstStyle/>
          <a:p>
            <a:r>
              <a:rPr lang="en-US" sz="3200" b="1" i="1" dirty="0"/>
              <a:t>Immunity</a:t>
            </a:r>
            <a:r>
              <a:rPr lang="en-US" sz="4000" b="1" i="1" dirty="0"/>
              <a:t> and communicable diseases</a:t>
            </a:r>
            <a:endParaRPr lang="en-KE" sz="4000" b="1" i="1" dirty="0"/>
          </a:p>
        </p:txBody>
      </p:sp>
      <p:sp>
        <p:nvSpPr>
          <p:cNvPr id="3" name="Content Placeholder 2">
            <a:extLst>
              <a:ext uri="{FF2B5EF4-FFF2-40B4-BE49-F238E27FC236}">
                <a16:creationId xmlns:a16="http://schemas.microsoft.com/office/drawing/2014/main" id="{A8E378AC-EA45-41E9-B166-3F9142F11C66}"/>
              </a:ext>
            </a:extLst>
          </p:cNvPr>
          <p:cNvSpPr>
            <a:spLocks noGrp="1"/>
          </p:cNvSpPr>
          <p:nvPr>
            <p:ph idx="1"/>
          </p:nvPr>
        </p:nvSpPr>
        <p:spPr>
          <a:xfrm>
            <a:off x="121920" y="777240"/>
            <a:ext cx="12070080" cy="6080760"/>
          </a:xfrm>
        </p:spPr>
        <p:txBody>
          <a:bodyPr>
            <a:normAutofit fontScale="92500" lnSpcReduction="10000"/>
          </a:bodyPr>
          <a:lstStyle/>
          <a:p>
            <a:r>
              <a:rPr lang="en-US" sz="2800" b="1" dirty="0">
                <a:cs typeface="Times New Roman" panose="02020603050405020304" pitchFamily="18" charset="0"/>
              </a:rPr>
              <a:t>Immunity</a:t>
            </a:r>
            <a:r>
              <a:rPr lang="en-US" sz="2800" dirty="0">
                <a:cs typeface="Times New Roman" panose="02020603050405020304" pitchFamily="18" charset="0"/>
              </a:rPr>
              <a:t>: Protection from an infectious disease. If you are immune to a disease, you can be exposed to it without becoming infected.</a:t>
            </a:r>
          </a:p>
          <a:p>
            <a:pPr marL="0" indent="0">
              <a:buNone/>
            </a:pPr>
            <a:endParaRPr lang="en-US" sz="2800" dirty="0">
              <a:cs typeface="Times New Roman" panose="02020603050405020304" pitchFamily="18" charset="0"/>
            </a:endParaRPr>
          </a:p>
          <a:p>
            <a:r>
              <a:rPr lang="en-US" sz="2800" b="1" dirty="0">
                <a:cs typeface="Times New Roman" panose="02020603050405020304" pitchFamily="18" charset="0"/>
              </a:rPr>
              <a:t>Vaccine:</a:t>
            </a:r>
            <a:r>
              <a:rPr lang="en-US" sz="2800" dirty="0">
                <a:cs typeface="Times New Roman" panose="02020603050405020304" pitchFamily="18" charset="0"/>
              </a:rPr>
              <a:t> A preparation that is used to stimulate the body’s immune response against diseases. Vaccines are usually administered through needle injections, but some can be administered by mouth or sprayed into the nose.</a:t>
            </a:r>
          </a:p>
          <a:p>
            <a:endParaRPr lang="en-US" sz="2800" dirty="0">
              <a:cs typeface="Times New Roman" panose="02020603050405020304" pitchFamily="18" charset="0"/>
            </a:endParaRPr>
          </a:p>
          <a:p>
            <a:r>
              <a:rPr lang="en-US" sz="2800" b="1" dirty="0">
                <a:cs typeface="Times New Roman" panose="02020603050405020304" pitchFamily="18" charset="0"/>
              </a:rPr>
              <a:t>Vaccination</a:t>
            </a:r>
            <a:r>
              <a:rPr lang="en-US" sz="2800" dirty="0">
                <a:cs typeface="Times New Roman" panose="02020603050405020304" pitchFamily="18" charset="0"/>
              </a:rPr>
              <a:t>: The act of introducing a vaccine into the body to produce protection from a specific disease.</a:t>
            </a:r>
          </a:p>
          <a:p>
            <a:endParaRPr lang="en-US" sz="2800" dirty="0">
              <a:cs typeface="Times New Roman" panose="02020603050405020304" pitchFamily="18" charset="0"/>
            </a:endParaRPr>
          </a:p>
          <a:p>
            <a:r>
              <a:rPr lang="en-US" sz="2800" b="1" dirty="0">
                <a:cs typeface="Times New Roman" panose="02020603050405020304" pitchFamily="18" charset="0"/>
              </a:rPr>
              <a:t>Immunization</a:t>
            </a:r>
            <a:r>
              <a:rPr lang="en-US" sz="2800" dirty="0">
                <a:cs typeface="Times New Roman" panose="02020603050405020304" pitchFamily="18" charset="0"/>
              </a:rPr>
              <a:t>: A process by which a person becomes protected against a disease through vaccination. This term is often used interchangeably with vaccination or inoculation.</a:t>
            </a:r>
            <a:endParaRPr lang="en-KE" sz="2800" dirty="0">
              <a:cs typeface="Times New Roman" panose="02020603050405020304" pitchFamily="18" charset="0"/>
            </a:endParaRPr>
          </a:p>
        </p:txBody>
      </p:sp>
      <p:sp>
        <p:nvSpPr>
          <p:cNvPr id="4" name="Date Placeholder 3">
            <a:extLst>
              <a:ext uri="{FF2B5EF4-FFF2-40B4-BE49-F238E27FC236}">
                <a16:creationId xmlns:a16="http://schemas.microsoft.com/office/drawing/2014/main" id="{B7986C41-DEF1-4604-B707-544608BC0D2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460B1B5-CD1F-40F6-8CB5-564EEE65EF5B}" type="datetime1">
              <a:rPr kumimoji="0" lang="en-GB" sz="1100" b="0" i="0" u="none" strike="noStrike" kern="1200" cap="none" spc="0" normalizeH="0" baseline="0" noProof="0" smtClean="0">
                <a:ln>
                  <a:noFill/>
                </a:ln>
                <a:solidFill>
                  <a:prstClr val="white">
                    <a:tint val="75000"/>
                  </a:prstClr>
                </a:solidFill>
                <a:effectLst/>
                <a:uLnTx/>
                <a:uFillTx/>
                <a:latin typeface="Century Gothic" panose="020B0502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25/10/2024</a:t>
            </a:fld>
            <a:endParaRPr kumimoji="0" lang="en-GB" sz="11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endParaRPr>
          </a:p>
        </p:txBody>
      </p:sp>
      <p:sp>
        <p:nvSpPr>
          <p:cNvPr id="5" name="Footer Placeholder 4">
            <a:extLst>
              <a:ext uri="{FF2B5EF4-FFF2-40B4-BE49-F238E27FC236}">
                <a16:creationId xmlns:a16="http://schemas.microsoft.com/office/drawing/2014/main" id="{6CBAAA1B-75D6-4C56-94CA-60D7023320D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rPr>
              <a:t>Dr. Mwaniki</a:t>
            </a:r>
          </a:p>
        </p:txBody>
      </p:sp>
      <p:sp>
        <p:nvSpPr>
          <p:cNvPr id="6" name="Slide Number Placeholder 5">
            <a:extLst>
              <a:ext uri="{FF2B5EF4-FFF2-40B4-BE49-F238E27FC236}">
                <a16:creationId xmlns:a16="http://schemas.microsoft.com/office/drawing/2014/main" id="{894D610D-7E17-4826-9887-6EB55E559445}"/>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A505544-CCE8-4A0E-A9B1-8C5A8F98CB1B}" type="slidenum">
              <a:rPr kumimoji="0" lang="en-GB" sz="2800" b="0" i="0" u="none" strike="noStrike" kern="1200" cap="none" spc="0" normalizeH="0" baseline="0" noProof="0" smtClean="0">
                <a:ln>
                  <a:noFill/>
                </a:ln>
                <a:solidFill>
                  <a:prstClr val="white">
                    <a:tint val="75000"/>
                  </a:prstClr>
                </a:solidFill>
                <a:effectLst/>
                <a:uLnTx/>
                <a:uFillTx/>
                <a:latin typeface="Century Gothic" panose="020B0502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43</a:t>
            </a:fld>
            <a:endParaRPr kumimoji="0" lang="en-GB" sz="28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3871513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 y="152400"/>
            <a:ext cx="11658600" cy="6553200"/>
          </a:xfrm>
        </p:spPr>
        <p:txBody>
          <a:bodyPr>
            <a:normAutofit/>
          </a:bodyPr>
          <a:lstStyle/>
          <a:p>
            <a:r>
              <a:rPr lang="en-US" i="1" dirty="0"/>
              <a:t>Passive immunization</a:t>
            </a:r>
            <a:r>
              <a:rPr lang="en-US" dirty="0"/>
              <a:t>: Taking ready-made antibodies from one person, or animal, and giving to another person. Thus the recipient does not make any antibodies of their own. Horses are a common source of ready-made antibodies. </a:t>
            </a:r>
            <a:r>
              <a:rPr lang="en-US" dirty="0" err="1"/>
              <a:t>E.g</a:t>
            </a:r>
            <a:r>
              <a:rPr lang="en-US" dirty="0"/>
              <a:t> Anti-tetanus serum, diphtheria antitoxin, snake antiserum. A pregnant mother immunized against tetanus is able to pass the antibodies to her unborn child thus protecting the child from tetanus after birth.</a:t>
            </a:r>
          </a:p>
          <a:p>
            <a:r>
              <a:rPr lang="en-US" i="1" dirty="0"/>
              <a:t>Herd Immunity</a:t>
            </a:r>
            <a:r>
              <a:rPr lang="en-US" dirty="0"/>
              <a:t>: In a community, the reduced risk of getting an infection among those who are NOT immunized, due to the presence of large numbers of already immunized people. Umbrella effect: high percent of immunized people providing protection against infection to those who are not immunized. Good population coverage of immunization results in Herd Immunity.</a:t>
            </a:r>
          </a:p>
          <a:p>
            <a:endParaRPr lang="en-US" dirty="0"/>
          </a:p>
        </p:txBody>
      </p:sp>
    </p:spTree>
    <p:extLst>
      <p:ext uri="{BB962C8B-B14F-4D97-AF65-F5344CB8AC3E}">
        <p14:creationId xmlns:p14="http://schemas.microsoft.com/office/powerpoint/2010/main" val="15668963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ACAE1D-15D9-4558-B6C6-D415037682C2}"/>
              </a:ext>
            </a:extLst>
          </p:cNvPr>
          <p:cNvSpPr>
            <a:spLocks noGrp="1"/>
          </p:cNvSpPr>
          <p:nvPr>
            <p:ph idx="1"/>
          </p:nvPr>
        </p:nvSpPr>
        <p:spPr>
          <a:xfrm>
            <a:off x="152400" y="274320"/>
            <a:ext cx="11932920" cy="6263639"/>
          </a:xfrm>
        </p:spPr>
        <p:txBody>
          <a:bodyPr/>
          <a:lstStyle/>
          <a:p>
            <a:r>
              <a:rPr lang="en-US" b="1" dirty="0"/>
              <a:t>Vaccination</a:t>
            </a:r>
            <a:r>
              <a:rPr lang="en-US" dirty="0"/>
              <a:t> is one of the most convenient and safest preventive care measures available.</a:t>
            </a:r>
          </a:p>
          <a:p>
            <a:endParaRPr lang="en-US" dirty="0"/>
          </a:p>
          <a:p>
            <a:pPr marL="0" indent="0">
              <a:buNone/>
            </a:pPr>
            <a:r>
              <a:rPr lang="en-US" b="1" dirty="0"/>
              <a:t>Categorized of vaccines include</a:t>
            </a:r>
          </a:p>
          <a:p>
            <a:r>
              <a:rPr lang="en-US" dirty="0"/>
              <a:t>a) Adult vaccines</a:t>
            </a:r>
          </a:p>
          <a:p>
            <a:r>
              <a:rPr lang="en-US" dirty="0"/>
              <a:t>b) Pregnant women vaccines</a:t>
            </a:r>
          </a:p>
          <a:p>
            <a:r>
              <a:rPr lang="en-US" dirty="0"/>
              <a:t>c) Child and adolescent vaccines</a:t>
            </a:r>
          </a:p>
          <a:p>
            <a:r>
              <a:rPr lang="en-US" dirty="0"/>
              <a:t>d) Children under five years vaccines</a:t>
            </a:r>
          </a:p>
          <a:p>
            <a:r>
              <a:rPr lang="en-US" dirty="0"/>
              <a:t>e) Travel vaccines</a:t>
            </a:r>
          </a:p>
          <a:p>
            <a:r>
              <a:rPr lang="en-US" dirty="0"/>
              <a:t>f) High risk /special groups</a:t>
            </a:r>
          </a:p>
          <a:p>
            <a:endParaRPr lang="en-KE" dirty="0"/>
          </a:p>
        </p:txBody>
      </p:sp>
      <p:sp>
        <p:nvSpPr>
          <p:cNvPr id="4" name="Date Placeholder 3">
            <a:extLst>
              <a:ext uri="{FF2B5EF4-FFF2-40B4-BE49-F238E27FC236}">
                <a16:creationId xmlns:a16="http://schemas.microsoft.com/office/drawing/2014/main" id="{E910604F-0188-43E5-BB60-D9DBFAC24F0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460B1B5-CD1F-40F6-8CB5-564EEE65EF5B}" type="datetime1">
              <a:rPr kumimoji="0" lang="en-GB" sz="1100" b="0" i="0" u="none" strike="noStrike" kern="1200" cap="none" spc="0" normalizeH="0" baseline="0" noProof="0" smtClean="0">
                <a:ln>
                  <a:noFill/>
                </a:ln>
                <a:solidFill>
                  <a:prstClr val="white">
                    <a:tint val="75000"/>
                  </a:prstClr>
                </a:solidFill>
                <a:effectLst/>
                <a:uLnTx/>
                <a:uFillTx/>
                <a:latin typeface="Century Gothic" panose="020B0502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25/10/2024</a:t>
            </a:fld>
            <a:endParaRPr kumimoji="0" lang="en-GB" sz="11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endParaRPr>
          </a:p>
        </p:txBody>
      </p:sp>
      <p:sp>
        <p:nvSpPr>
          <p:cNvPr id="5" name="Footer Placeholder 4">
            <a:extLst>
              <a:ext uri="{FF2B5EF4-FFF2-40B4-BE49-F238E27FC236}">
                <a16:creationId xmlns:a16="http://schemas.microsoft.com/office/drawing/2014/main" id="{6030DC22-799C-4E8C-8C07-AF6216B6A15F}"/>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rPr>
              <a:t>Dr. Mwaniki</a:t>
            </a:r>
          </a:p>
        </p:txBody>
      </p:sp>
      <p:sp>
        <p:nvSpPr>
          <p:cNvPr id="6" name="Slide Number Placeholder 5">
            <a:extLst>
              <a:ext uri="{FF2B5EF4-FFF2-40B4-BE49-F238E27FC236}">
                <a16:creationId xmlns:a16="http://schemas.microsoft.com/office/drawing/2014/main" id="{918631EE-3F74-4CAE-AC9A-81E0191419C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A505544-CCE8-4A0E-A9B1-8C5A8F98CB1B}" type="slidenum">
              <a:rPr kumimoji="0" lang="en-GB" sz="2800" b="0" i="0" u="none" strike="noStrike" kern="1200" cap="none" spc="0" normalizeH="0" baseline="0" noProof="0" smtClean="0">
                <a:ln>
                  <a:noFill/>
                </a:ln>
                <a:solidFill>
                  <a:prstClr val="white">
                    <a:tint val="75000"/>
                  </a:prstClr>
                </a:solidFill>
                <a:effectLst/>
                <a:uLnTx/>
                <a:uFillTx/>
                <a:latin typeface="Century Gothic" panose="020B0502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45</a:t>
            </a:fld>
            <a:endParaRPr kumimoji="0" lang="en-GB" sz="2800" b="0" i="0" u="none" strike="noStrike" kern="1200" cap="none" spc="0" normalizeH="0" baseline="0" noProof="0">
              <a:ln>
                <a:noFill/>
              </a:ln>
              <a:solidFill>
                <a:prstClr val="white">
                  <a:tint val="75000"/>
                </a:prstClr>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1527147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600201" y="1341121"/>
          <a:ext cx="9784079" cy="4587238"/>
        </p:xfrm>
        <a:graphic>
          <a:graphicData uri="http://schemas.openxmlformats.org/drawingml/2006/table">
            <a:tbl>
              <a:tblPr firstRow="1" firstCol="1" bandRow="1"/>
              <a:tblGrid>
                <a:gridCol w="2174240">
                  <a:extLst>
                    <a:ext uri="{9D8B030D-6E8A-4147-A177-3AD203B41FA5}">
                      <a16:colId xmlns:a16="http://schemas.microsoft.com/office/drawing/2014/main" val="20000"/>
                    </a:ext>
                  </a:extLst>
                </a:gridCol>
                <a:gridCol w="4348479">
                  <a:extLst>
                    <a:ext uri="{9D8B030D-6E8A-4147-A177-3AD203B41FA5}">
                      <a16:colId xmlns:a16="http://schemas.microsoft.com/office/drawing/2014/main" val="20001"/>
                    </a:ext>
                  </a:extLst>
                </a:gridCol>
                <a:gridCol w="3261360">
                  <a:extLst>
                    <a:ext uri="{9D8B030D-6E8A-4147-A177-3AD203B41FA5}">
                      <a16:colId xmlns:a16="http://schemas.microsoft.com/office/drawing/2014/main" val="20002"/>
                    </a:ext>
                  </a:extLst>
                </a:gridCol>
              </a:tblGrid>
              <a:tr h="613056">
                <a:tc rowSpan="8">
                  <a:txBody>
                    <a:bodyPr/>
                    <a:lstStyle/>
                    <a:p>
                      <a:pPr marL="0" marR="0">
                        <a:lnSpc>
                          <a:spcPct val="115000"/>
                        </a:lnSpc>
                        <a:spcBef>
                          <a:spcPts val="0"/>
                        </a:spcBef>
                        <a:spcAft>
                          <a:spcPts val="0"/>
                        </a:spcAft>
                      </a:pPr>
                      <a:r>
                        <a:rPr lang="en-US" sz="1800" dirty="0">
                          <a:effectLst/>
                          <a:latin typeface="Arial"/>
                          <a:ea typeface="Times New Roman"/>
                          <a:cs typeface="Times New Roman"/>
                        </a:rPr>
                        <a:t> Immunization</a:t>
                      </a:r>
                      <a:endParaRPr lang="en-US" sz="1800" dirty="0">
                        <a:effectLst/>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b="1" dirty="0">
                          <a:effectLst/>
                          <a:latin typeface="Arial"/>
                          <a:ea typeface="Times New Roman"/>
                          <a:cs typeface="Times New Roman"/>
                        </a:rPr>
                        <a:t>Vaccine</a:t>
                      </a:r>
                    </a:p>
                    <a:p>
                      <a:pPr marL="0" marR="0">
                        <a:lnSpc>
                          <a:spcPct val="115000"/>
                        </a:lnSpc>
                        <a:spcBef>
                          <a:spcPts val="0"/>
                        </a:spcBef>
                        <a:spcAft>
                          <a:spcPts val="0"/>
                        </a:spcAft>
                      </a:pPr>
                      <a:endParaRPr lang="en-US" sz="1800" dirty="0">
                        <a:effectLst/>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b="1" dirty="0">
                          <a:effectLst/>
                          <a:latin typeface="Calibri"/>
                          <a:ea typeface="Times New Roman"/>
                          <a:cs typeface="Times New Roman"/>
                        </a:rPr>
                        <a:t>Schedule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7247">
                <a:tc vMerge="1">
                  <a:txBody>
                    <a:bodyPr/>
                    <a:lstStyle/>
                    <a:p>
                      <a:endParaRPr lang="en-KE"/>
                    </a:p>
                  </a:txBody>
                  <a:tcPr/>
                </a:tc>
                <a:tc>
                  <a:txBody>
                    <a:bodyPr/>
                    <a:lstStyle/>
                    <a:p>
                      <a:pPr marL="0" marR="0">
                        <a:lnSpc>
                          <a:spcPct val="115000"/>
                        </a:lnSpc>
                        <a:spcBef>
                          <a:spcPts val="0"/>
                        </a:spcBef>
                        <a:spcAft>
                          <a:spcPts val="0"/>
                        </a:spcAft>
                      </a:pPr>
                      <a:r>
                        <a:rPr lang="en-US" sz="1800" dirty="0">
                          <a:effectLst/>
                          <a:latin typeface="Calibri"/>
                          <a:ea typeface="Times New Roman"/>
                          <a:cs typeface="Times New Roman"/>
                        </a:rPr>
                        <a:t>BCG Vaccination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dirty="0">
                          <a:effectLst/>
                          <a:latin typeface="Calibri"/>
                          <a:ea typeface="Times New Roman"/>
                          <a:cs typeface="Times New Roman"/>
                        </a:rPr>
                        <a:t>Birth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95216889"/>
                  </a:ext>
                </a:extLst>
              </a:tr>
              <a:tr h="459617">
                <a:tc vMerge="1">
                  <a:txBody>
                    <a:bodyPr/>
                    <a:lstStyle/>
                    <a:p>
                      <a:endParaRPr lang="en-US"/>
                    </a:p>
                  </a:txBody>
                  <a:tcPr/>
                </a:tc>
                <a:tc>
                  <a:txBody>
                    <a:bodyPr/>
                    <a:lstStyle/>
                    <a:p>
                      <a:pPr marL="0" marR="0">
                        <a:lnSpc>
                          <a:spcPct val="115000"/>
                        </a:lnSpc>
                        <a:spcBef>
                          <a:spcPts val="0"/>
                        </a:spcBef>
                        <a:spcAft>
                          <a:spcPts val="0"/>
                        </a:spcAft>
                      </a:pPr>
                      <a:r>
                        <a:rPr lang="en-US" sz="1800" dirty="0">
                          <a:effectLst/>
                          <a:latin typeface="Arial"/>
                          <a:ea typeface="Times New Roman"/>
                          <a:cs typeface="Times New Roman"/>
                        </a:rPr>
                        <a:t>Oral Polio Vaccination</a:t>
                      </a:r>
                      <a:endParaRPr lang="en-US" sz="1800" dirty="0">
                        <a:effectLst/>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dirty="0">
                          <a:effectLst/>
                          <a:latin typeface="Arial"/>
                          <a:ea typeface="Times New Roman"/>
                          <a:cs typeface="Times New Roman"/>
                        </a:rPr>
                        <a:t>Birth, 6, 10, 14 weeks</a:t>
                      </a:r>
                      <a:endParaRPr lang="en-US" sz="18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9617">
                <a:tc vMerge="1">
                  <a:txBody>
                    <a:bodyPr/>
                    <a:lstStyle/>
                    <a:p>
                      <a:endParaRPr lang="en-US"/>
                    </a:p>
                  </a:txBody>
                  <a:tcPr/>
                </a:tc>
                <a:tc>
                  <a:txBody>
                    <a:bodyPr/>
                    <a:lstStyle/>
                    <a:p>
                      <a:pPr marL="0" marR="0">
                        <a:lnSpc>
                          <a:spcPct val="115000"/>
                        </a:lnSpc>
                        <a:spcBef>
                          <a:spcPts val="0"/>
                        </a:spcBef>
                        <a:spcAft>
                          <a:spcPts val="0"/>
                        </a:spcAft>
                      </a:pPr>
                      <a:r>
                        <a:rPr lang="en-US" sz="1800" dirty="0">
                          <a:effectLst/>
                          <a:latin typeface="Arial"/>
                          <a:ea typeface="Times New Roman"/>
                          <a:cs typeface="Times New Roman"/>
                        </a:rPr>
                        <a:t>Pentavalent vaccination</a:t>
                      </a:r>
                      <a:endParaRPr lang="en-US" sz="1800" dirty="0">
                        <a:effectLst/>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dirty="0">
                          <a:effectLst/>
                          <a:latin typeface="Arial"/>
                          <a:ea typeface="Times New Roman"/>
                          <a:cs typeface="Times New Roman"/>
                        </a:rPr>
                        <a:t>6, 10, 14 weeks</a:t>
                      </a:r>
                      <a:endParaRPr lang="en-US" sz="18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9617">
                <a:tc vMerge="1">
                  <a:txBody>
                    <a:bodyPr/>
                    <a:lstStyle/>
                    <a:p>
                      <a:endParaRPr lang="en-US"/>
                    </a:p>
                  </a:txBody>
                  <a:tcPr/>
                </a:tc>
                <a:tc>
                  <a:txBody>
                    <a:bodyPr/>
                    <a:lstStyle/>
                    <a:p>
                      <a:pPr marL="0" marR="0">
                        <a:lnSpc>
                          <a:spcPct val="115000"/>
                        </a:lnSpc>
                        <a:spcBef>
                          <a:spcPts val="0"/>
                        </a:spcBef>
                        <a:spcAft>
                          <a:spcPts val="0"/>
                        </a:spcAft>
                      </a:pPr>
                      <a:r>
                        <a:rPr lang="en-US" sz="1800">
                          <a:effectLst/>
                          <a:latin typeface="Arial"/>
                          <a:ea typeface="Times New Roman"/>
                          <a:cs typeface="Times New Roman"/>
                        </a:rPr>
                        <a:t>Rotavirus vaccination (oral)</a:t>
                      </a:r>
                      <a:endParaRPr lang="en-US" sz="1800">
                        <a:effectLst/>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dirty="0">
                          <a:effectLst/>
                          <a:latin typeface="Arial"/>
                          <a:ea typeface="Times New Roman"/>
                          <a:cs typeface="Times New Roman"/>
                        </a:rPr>
                        <a:t>6, 10 weeks</a:t>
                      </a:r>
                      <a:endParaRPr lang="en-US" sz="18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9425">
                <a:tc vMerge="1">
                  <a:txBody>
                    <a:bodyPr/>
                    <a:lstStyle/>
                    <a:p>
                      <a:endParaRPr lang="en-US"/>
                    </a:p>
                  </a:txBody>
                  <a:tcPr/>
                </a:tc>
                <a:tc>
                  <a:txBody>
                    <a:bodyPr/>
                    <a:lstStyle/>
                    <a:p>
                      <a:pPr marL="0" marR="0">
                        <a:lnSpc>
                          <a:spcPct val="115000"/>
                        </a:lnSpc>
                        <a:spcBef>
                          <a:spcPts val="0"/>
                        </a:spcBef>
                        <a:spcAft>
                          <a:spcPts val="0"/>
                        </a:spcAft>
                      </a:pPr>
                      <a:r>
                        <a:rPr lang="en-US" sz="1800" dirty="0" err="1">
                          <a:effectLst/>
                          <a:latin typeface="Arial"/>
                          <a:ea typeface="Times New Roman"/>
                          <a:cs typeface="Times New Roman"/>
                        </a:rPr>
                        <a:t>Pneumo</a:t>
                      </a:r>
                      <a:r>
                        <a:rPr lang="en-US" sz="1800" dirty="0">
                          <a:effectLst/>
                          <a:latin typeface="Arial"/>
                          <a:ea typeface="Times New Roman"/>
                          <a:cs typeface="Times New Roman"/>
                        </a:rPr>
                        <a:t>-</a:t>
                      </a:r>
                      <a:r>
                        <a:rPr lang="en-US" sz="1800" dirty="0" err="1">
                          <a:effectLst/>
                          <a:latin typeface="Arial"/>
                          <a:ea typeface="Times New Roman"/>
                          <a:cs typeface="Times New Roman"/>
                        </a:rPr>
                        <a:t>Coccal</a:t>
                      </a:r>
                      <a:r>
                        <a:rPr lang="en-US" sz="1800" dirty="0">
                          <a:effectLst/>
                          <a:latin typeface="Arial"/>
                          <a:ea typeface="Times New Roman"/>
                          <a:cs typeface="Times New Roman"/>
                        </a:rPr>
                        <a:t>-Vaccine (PCV) – 10 vaccination (</a:t>
                      </a:r>
                      <a:r>
                        <a:rPr lang="en-US" sz="1800" dirty="0" err="1">
                          <a:effectLst/>
                          <a:latin typeface="Arial"/>
                          <a:ea typeface="Times New Roman"/>
                          <a:cs typeface="Times New Roman"/>
                        </a:rPr>
                        <a:t>inj</a:t>
                      </a:r>
                      <a:r>
                        <a:rPr lang="en-US" sz="1800" dirty="0">
                          <a:effectLst/>
                          <a:latin typeface="Arial"/>
                          <a:ea typeface="Times New Roman"/>
                          <a:cs typeface="Times New Roman"/>
                        </a:rPr>
                        <a:t>)</a:t>
                      </a:r>
                      <a:endParaRPr lang="en-US" sz="1800" dirty="0">
                        <a:effectLst/>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dirty="0">
                          <a:effectLst/>
                          <a:latin typeface="Arial"/>
                          <a:ea typeface="Times New Roman"/>
                          <a:cs typeface="Times New Roman"/>
                        </a:rPr>
                        <a:t>6, 10, 14 weeks</a:t>
                      </a:r>
                      <a:endParaRPr lang="en-US" sz="18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9617">
                <a:tc vMerge="1">
                  <a:txBody>
                    <a:bodyPr/>
                    <a:lstStyle/>
                    <a:p>
                      <a:endParaRPr lang="en-US"/>
                    </a:p>
                  </a:txBody>
                  <a:tcPr/>
                </a:tc>
                <a:tc>
                  <a:txBody>
                    <a:bodyPr/>
                    <a:lstStyle/>
                    <a:p>
                      <a:pPr marL="0" marR="0">
                        <a:lnSpc>
                          <a:spcPct val="115000"/>
                        </a:lnSpc>
                        <a:spcBef>
                          <a:spcPts val="0"/>
                        </a:spcBef>
                        <a:spcAft>
                          <a:spcPts val="0"/>
                        </a:spcAft>
                      </a:pPr>
                      <a:r>
                        <a:rPr lang="en-US" sz="1800" dirty="0">
                          <a:effectLst/>
                          <a:latin typeface="Arial"/>
                          <a:ea typeface="Times New Roman"/>
                          <a:cs typeface="Times New Roman"/>
                        </a:rPr>
                        <a:t>Measles vaccination</a:t>
                      </a:r>
                      <a:endParaRPr lang="en-US" sz="1800" dirty="0">
                        <a:effectLst/>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15000"/>
                        </a:lnSpc>
                        <a:spcBef>
                          <a:spcPts val="0"/>
                        </a:spcBef>
                        <a:spcAft>
                          <a:spcPts val="0"/>
                        </a:spcAft>
                      </a:pPr>
                      <a:r>
                        <a:rPr lang="en-US" sz="1800" dirty="0">
                          <a:effectLst/>
                          <a:latin typeface="Arial"/>
                          <a:ea typeface="Times New Roman"/>
                          <a:cs typeface="Times New Roman"/>
                        </a:rPr>
                        <a:t>9 months</a:t>
                      </a:r>
                      <a:endParaRPr lang="en-US" sz="18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149042">
                <a:tc vMerge="1">
                  <a:txBody>
                    <a:bodyPr/>
                    <a:lstStyle/>
                    <a:p>
                      <a:endParaRPr lang="en-US"/>
                    </a:p>
                  </a:txBody>
                  <a:tcP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Arial"/>
                          <a:ea typeface="Times New Roman"/>
                          <a:cs typeface="Times New Roman"/>
                        </a:rPr>
                        <a:t>Yellow fever vaccination</a:t>
                      </a:r>
                      <a:endParaRPr lang="en-US" sz="1800" dirty="0">
                        <a:effectLst/>
                        <a:latin typeface="+mn-lt"/>
                        <a:ea typeface="Times New Roman"/>
                        <a:cs typeface="Times New Roman"/>
                      </a:endParaRPr>
                    </a:p>
                    <a:p>
                      <a:pPr marL="0" marR="0">
                        <a:lnSpc>
                          <a:spcPct val="115000"/>
                        </a:lnSpc>
                        <a:spcBef>
                          <a:spcPts val="0"/>
                        </a:spcBef>
                        <a:spcAft>
                          <a:spcPts val="0"/>
                        </a:spcAft>
                      </a:pPr>
                      <a:endParaRPr lang="en-US" sz="1800" dirty="0">
                        <a:effectLst/>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Arial"/>
                          <a:ea typeface="Times New Roman"/>
                          <a:cs typeface="Times New Roman"/>
                        </a:rPr>
                        <a:t> 9 months</a:t>
                      </a:r>
                      <a:endParaRPr lang="en-US" sz="1800" dirty="0">
                        <a:effectLst/>
                        <a:latin typeface="+mn-lt"/>
                        <a:ea typeface="Times New Roman"/>
                        <a:cs typeface="Times New Roman"/>
                      </a:endParaRPr>
                    </a:p>
                    <a:p>
                      <a:pPr marL="0" marR="0">
                        <a:lnSpc>
                          <a:spcPct val="115000"/>
                        </a:lnSpc>
                        <a:spcBef>
                          <a:spcPts val="0"/>
                        </a:spcBef>
                        <a:spcAft>
                          <a:spcPts val="0"/>
                        </a:spcAft>
                      </a:pPr>
                      <a:endParaRPr lang="en-US" sz="1800" dirty="0">
                        <a:effectLst/>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 name="TextBox 1">
            <a:extLst>
              <a:ext uri="{FF2B5EF4-FFF2-40B4-BE49-F238E27FC236}">
                <a16:creationId xmlns:a16="http://schemas.microsoft.com/office/drawing/2014/main" id="{496B3F65-B460-4FF6-BC1D-2D3FAF8BA921}"/>
              </a:ext>
            </a:extLst>
          </p:cNvPr>
          <p:cNvSpPr txBox="1"/>
          <p:nvPr/>
        </p:nvSpPr>
        <p:spPr>
          <a:xfrm>
            <a:off x="2133600" y="121920"/>
            <a:ext cx="841248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a:ea typeface="+mn-ea"/>
                <a:cs typeface="+mn-cs"/>
              </a:rPr>
              <a:t>Some of the recommended vaccines for children under five years  </a:t>
            </a:r>
            <a:endParaRPr kumimoji="0" lang="en-KE" sz="2400" b="0" i="1"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523706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52400"/>
            <a:ext cx="8839200" cy="6553200"/>
          </a:xfrm>
        </p:spPr>
        <p:txBody>
          <a:bodyPr>
            <a:normAutofit/>
          </a:bodyPr>
          <a:lstStyle/>
          <a:p>
            <a:r>
              <a:rPr lang="en-US" u="sng" dirty="0"/>
              <a:t>Other vaccines</a:t>
            </a:r>
            <a:endParaRPr lang="en-US" dirty="0"/>
          </a:p>
          <a:p>
            <a:r>
              <a:rPr lang="en-US" dirty="0"/>
              <a:t>Yellow Fever – Given at 9 months, or to travelers</a:t>
            </a:r>
          </a:p>
          <a:p>
            <a:pPr marL="0" indent="0">
              <a:buNone/>
            </a:pPr>
            <a:endParaRPr lang="en-US" dirty="0"/>
          </a:p>
          <a:p>
            <a:r>
              <a:rPr lang="en-US" dirty="0"/>
              <a:t>Rabies – usually given after assessment by a medical officer</a:t>
            </a:r>
          </a:p>
          <a:p>
            <a:pPr marL="0" indent="0">
              <a:buNone/>
            </a:pPr>
            <a:endParaRPr lang="en-US" dirty="0"/>
          </a:p>
          <a:p>
            <a:r>
              <a:rPr lang="en-US" dirty="0"/>
              <a:t>Typhoid – not often used due to reactions</a:t>
            </a:r>
          </a:p>
          <a:p>
            <a:pPr marL="0" indent="0">
              <a:buNone/>
            </a:pPr>
            <a:endParaRPr lang="en-US" dirty="0"/>
          </a:p>
          <a:p>
            <a:r>
              <a:rPr lang="en-US" dirty="0"/>
              <a:t>Cholera  - Given in special circumstances to limit risk of outbreaks</a:t>
            </a:r>
          </a:p>
          <a:p>
            <a:pPr marL="0" indent="0">
              <a:buNone/>
            </a:pPr>
            <a:endParaRPr lang="en-US" dirty="0"/>
          </a:p>
          <a:p>
            <a:r>
              <a:rPr lang="en-US" dirty="0"/>
              <a:t>Meningococcal – Given in mass campaigns following meningitis outbreaks</a:t>
            </a:r>
          </a:p>
          <a:p>
            <a:endParaRPr lang="en-US" dirty="0"/>
          </a:p>
        </p:txBody>
      </p:sp>
    </p:spTree>
    <p:extLst>
      <p:ext uri="{BB962C8B-B14F-4D97-AF65-F5344CB8AC3E}">
        <p14:creationId xmlns:p14="http://schemas.microsoft.com/office/powerpoint/2010/main" val="17304672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FF4D8-584F-400A-852C-3E1A4344727E}"/>
              </a:ext>
            </a:extLst>
          </p:cNvPr>
          <p:cNvSpPr>
            <a:spLocks noGrp="1"/>
          </p:cNvSpPr>
          <p:nvPr>
            <p:ph idx="1"/>
          </p:nvPr>
        </p:nvSpPr>
        <p:spPr>
          <a:xfrm>
            <a:off x="259080" y="365760"/>
            <a:ext cx="10119360" cy="5882639"/>
          </a:xfrm>
        </p:spPr>
        <p:txBody>
          <a:bodyPr>
            <a:normAutofit fontScale="85000" lnSpcReduction="20000"/>
          </a:bodyPr>
          <a:lstStyle/>
          <a:p>
            <a:endParaRPr lang="en-US" i="1" dirty="0"/>
          </a:p>
          <a:p>
            <a:pPr lvl="0">
              <a:buClr>
                <a:srgbClr val="1E5155">
                  <a:lumMod val="40000"/>
                  <a:lumOff val="60000"/>
                </a:srgbClr>
              </a:buClr>
            </a:pPr>
            <a:r>
              <a:rPr lang="en-US" dirty="0">
                <a:solidFill>
                  <a:prstClr val="white"/>
                </a:solidFill>
              </a:rPr>
              <a:t>Pneumococcal  (PCV)– recommended for children and other high risk groups against pneumonia.</a:t>
            </a:r>
          </a:p>
          <a:p>
            <a:pPr marL="0" lvl="0" indent="0">
              <a:buClr>
                <a:srgbClr val="1E5155">
                  <a:lumMod val="40000"/>
                  <a:lumOff val="60000"/>
                </a:srgbClr>
              </a:buClr>
              <a:buNone/>
            </a:pPr>
            <a:endParaRPr lang="en-US" dirty="0">
              <a:solidFill>
                <a:prstClr val="white"/>
              </a:solidFill>
            </a:endParaRPr>
          </a:p>
          <a:p>
            <a:pPr lvl="0">
              <a:buClr>
                <a:srgbClr val="1E5155">
                  <a:lumMod val="40000"/>
                  <a:lumOff val="60000"/>
                </a:srgbClr>
              </a:buClr>
            </a:pPr>
            <a:r>
              <a:rPr lang="en-US" dirty="0">
                <a:solidFill>
                  <a:prstClr val="white"/>
                </a:solidFill>
              </a:rPr>
              <a:t>Rubella – Given at 9 months in combination with measles vaccine (MMR – Mumps, Measles, Rubella)</a:t>
            </a:r>
          </a:p>
          <a:p>
            <a:pPr lvl="0">
              <a:buClr>
                <a:srgbClr val="1E5155">
                  <a:lumMod val="40000"/>
                  <a:lumOff val="60000"/>
                </a:srgbClr>
              </a:buClr>
            </a:pPr>
            <a:endParaRPr lang="en-US" dirty="0">
              <a:solidFill>
                <a:prstClr val="white"/>
              </a:solidFill>
            </a:endParaRPr>
          </a:p>
          <a:p>
            <a:pPr lvl="0">
              <a:buClr>
                <a:srgbClr val="1E5155">
                  <a:lumMod val="40000"/>
                  <a:lumOff val="60000"/>
                </a:srgbClr>
              </a:buClr>
            </a:pPr>
            <a:r>
              <a:rPr lang="en-US" dirty="0">
                <a:solidFill>
                  <a:prstClr val="white"/>
                </a:solidFill>
              </a:rPr>
              <a:t>Rotavirus –  vomiting and diarrhea. Two vaccines have been recommended by WHO</a:t>
            </a:r>
          </a:p>
          <a:p>
            <a:pPr marL="0" lvl="0" indent="0">
              <a:buClr>
                <a:srgbClr val="1E5155">
                  <a:lumMod val="40000"/>
                  <a:lumOff val="60000"/>
                </a:srgbClr>
              </a:buClr>
              <a:buNone/>
            </a:pPr>
            <a:endParaRPr lang="en-US" dirty="0">
              <a:solidFill>
                <a:prstClr val="white"/>
              </a:solidFill>
            </a:endParaRPr>
          </a:p>
          <a:p>
            <a:pPr lvl="0">
              <a:buClr>
                <a:srgbClr val="1E5155">
                  <a:lumMod val="40000"/>
                  <a:lumOff val="60000"/>
                </a:srgbClr>
              </a:buClr>
            </a:pPr>
            <a:r>
              <a:rPr lang="en-US" dirty="0">
                <a:solidFill>
                  <a:prstClr val="white"/>
                </a:solidFill>
              </a:rPr>
              <a:t>Human Papilloma Virus – adolescent girls 12 </a:t>
            </a:r>
            <a:r>
              <a:rPr lang="en-US" dirty="0" err="1">
                <a:solidFill>
                  <a:prstClr val="white"/>
                </a:solidFill>
              </a:rPr>
              <a:t>yrs</a:t>
            </a:r>
            <a:endParaRPr lang="en-US" dirty="0">
              <a:solidFill>
                <a:prstClr val="white"/>
              </a:solidFill>
            </a:endParaRPr>
          </a:p>
          <a:p>
            <a:pPr marL="0" lvl="0" indent="0">
              <a:buClr>
                <a:srgbClr val="1E5155">
                  <a:lumMod val="40000"/>
                  <a:lumOff val="60000"/>
                </a:srgbClr>
              </a:buClr>
              <a:buNone/>
            </a:pPr>
            <a:endParaRPr lang="en-US" dirty="0">
              <a:solidFill>
                <a:prstClr val="white"/>
              </a:solidFill>
            </a:endParaRPr>
          </a:p>
          <a:p>
            <a:pPr lvl="0">
              <a:buClr>
                <a:srgbClr val="1E5155">
                  <a:lumMod val="40000"/>
                  <a:lumOff val="60000"/>
                </a:srgbClr>
              </a:buClr>
            </a:pPr>
            <a:r>
              <a:rPr lang="en-US" dirty="0">
                <a:solidFill>
                  <a:prstClr val="white"/>
                </a:solidFill>
              </a:rPr>
              <a:t>COVID-19 Virus – Approved for children, adolescents and adults during the COVID -19 Pandemic</a:t>
            </a:r>
          </a:p>
          <a:p>
            <a:endParaRPr lang="en-US" i="1" dirty="0"/>
          </a:p>
          <a:p>
            <a:endParaRPr lang="en-US" i="1" dirty="0"/>
          </a:p>
          <a:p>
            <a:r>
              <a:rPr lang="en-US" i="1" dirty="0"/>
              <a:t>Vaccines under pilot </a:t>
            </a:r>
            <a:r>
              <a:rPr lang="en-US" i="1" dirty="0" err="1"/>
              <a:t>programme</a:t>
            </a:r>
            <a:endParaRPr lang="en-US" i="1" dirty="0"/>
          </a:p>
          <a:p>
            <a:r>
              <a:rPr lang="en-US" dirty="0"/>
              <a:t>Since 2019, Malaria vaccine  has been under implementation </a:t>
            </a:r>
            <a:r>
              <a:rPr lang="en-US" dirty="0" err="1"/>
              <a:t>programme</a:t>
            </a:r>
            <a:r>
              <a:rPr lang="en-US" dirty="0"/>
              <a:t> also known as pilot </a:t>
            </a:r>
            <a:r>
              <a:rPr lang="en-US" dirty="0" err="1"/>
              <a:t>programme</a:t>
            </a:r>
            <a:r>
              <a:rPr lang="en-US" dirty="0"/>
              <a:t>, in Kenya, Ghana </a:t>
            </a:r>
            <a:r>
              <a:rPr lang="en-US"/>
              <a:t>and Malawi (2023)</a:t>
            </a:r>
            <a:endParaRPr lang="en-US" dirty="0"/>
          </a:p>
          <a:p>
            <a:endParaRPr lang="en-US" dirty="0"/>
          </a:p>
          <a:p>
            <a:endParaRPr lang="en-KE" dirty="0"/>
          </a:p>
        </p:txBody>
      </p:sp>
    </p:spTree>
    <p:extLst>
      <p:ext uri="{BB962C8B-B14F-4D97-AF65-F5344CB8AC3E}">
        <p14:creationId xmlns:p14="http://schemas.microsoft.com/office/powerpoint/2010/main" val="9365874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47950" y="1862138"/>
            <a:ext cx="6819900" cy="313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65034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33663" y="1689101"/>
            <a:ext cx="6848475" cy="328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48162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85049" y="1371601"/>
            <a:ext cx="7730439" cy="388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43504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09863" y="1804988"/>
            <a:ext cx="6848475" cy="332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7442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5864" y="1295400"/>
            <a:ext cx="8565644"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51007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24150" y="1814513"/>
            <a:ext cx="6819900" cy="330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28510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62208" y="1295400"/>
            <a:ext cx="876021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17871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33663" y="1574801"/>
            <a:ext cx="6848475"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86061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47963" y="1957388"/>
            <a:ext cx="6848475"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38433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76538" y="1828800"/>
            <a:ext cx="6791325"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75056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14625" y="1738313"/>
            <a:ext cx="6838950"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19720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00338" y="1847850"/>
            <a:ext cx="6867525" cy="339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67906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71775" y="1890713"/>
            <a:ext cx="6877050"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03416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2130426"/>
            <a:ext cx="8153400" cy="1470025"/>
          </a:xfrm>
        </p:spPr>
        <p:txBody>
          <a:bodyPr>
            <a:normAutofit/>
          </a:bodyPr>
          <a:lstStyle/>
          <a:p>
            <a:r>
              <a:rPr lang="en-US" sz="3600" dirty="0"/>
              <a:t>Epidemiology, Prevention, Control and Treatment of communicable diseases</a:t>
            </a:r>
          </a:p>
        </p:txBody>
      </p:sp>
    </p:spTree>
    <p:extLst>
      <p:ext uri="{BB962C8B-B14F-4D97-AF65-F5344CB8AC3E}">
        <p14:creationId xmlns:p14="http://schemas.microsoft.com/office/powerpoint/2010/main" val="21731353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524000" y="192060"/>
          <a:ext cx="8991600" cy="6466599"/>
        </p:xfrm>
        <a:graphic>
          <a:graphicData uri="http://schemas.openxmlformats.org/drawingml/2006/table">
            <a:tbl>
              <a:tblPr/>
              <a:tblGrid>
                <a:gridCol w="8991600">
                  <a:extLst>
                    <a:ext uri="{9D8B030D-6E8A-4147-A177-3AD203B41FA5}">
                      <a16:colId xmlns:a16="http://schemas.microsoft.com/office/drawing/2014/main" val="20000"/>
                    </a:ext>
                  </a:extLst>
                </a:gridCol>
              </a:tblGrid>
              <a:tr h="280555">
                <a:tc>
                  <a:txBody>
                    <a:bodyPr/>
                    <a:lstStyle/>
                    <a:p>
                      <a:pPr marL="0" marR="0" algn="ctr">
                        <a:lnSpc>
                          <a:spcPct val="115000"/>
                        </a:lnSpc>
                        <a:spcBef>
                          <a:spcPts val="0"/>
                        </a:spcBef>
                        <a:spcAft>
                          <a:spcPts val="0"/>
                        </a:spcAft>
                      </a:pPr>
                      <a:r>
                        <a:rPr lang="en-GB" sz="1400" b="1" i="0" dirty="0">
                          <a:effectLst/>
                          <a:latin typeface="Times New Roman"/>
                          <a:ea typeface="Times New Roman"/>
                          <a:cs typeface="Times New Roman"/>
                        </a:rPr>
                        <a:t>Cholera</a:t>
                      </a:r>
                      <a:endParaRPr lang="en-US" sz="1400" b="1" i="1" dirty="0">
                        <a:effectLst/>
                        <a:latin typeface="Calibri"/>
                        <a:ea typeface="Times New Roman"/>
                        <a:cs typeface="Times New Roman"/>
                      </a:endParaRPr>
                    </a:p>
                  </a:txBody>
                  <a:tcPr marL="45743" marR="45743"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8209">
                <a:tc>
                  <a:txBody>
                    <a:bodyPr/>
                    <a:lstStyle/>
                    <a:p>
                      <a:pPr marL="0" marR="0">
                        <a:lnSpc>
                          <a:spcPct val="115000"/>
                        </a:lnSpc>
                        <a:spcBef>
                          <a:spcPts val="0"/>
                        </a:spcBef>
                        <a:spcAft>
                          <a:spcPts val="0"/>
                        </a:spcAft>
                      </a:pPr>
                      <a:r>
                        <a:rPr lang="en-GB" sz="1400" b="1" dirty="0">
                          <a:effectLst/>
                          <a:latin typeface="Times New Roman"/>
                          <a:ea typeface="Times New Roman"/>
                        </a:rPr>
                        <a:t>Background</a:t>
                      </a:r>
                      <a:endParaRPr lang="en-US" sz="1400" dirty="0">
                        <a:effectLst/>
                        <a:latin typeface="Times New Roman"/>
                        <a:ea typeface="Times New Roman"/>
                      </a:endParaRPr>
                    </a:p>
                  </a:txBody>
                  <a:tcPr marL="45743" marR="457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20221">
                <a:tc>
                  <a:txBody>
                    <a:bodyPr/>
                    <a:lstStyle/>
                    <a:p>
                      <a:pPr marL="228600" marR="0">
                        <a:lnSpc>
                          <a:spcPct val="120000"/>
                        </a:lnSpc>
                        <a:spcBef>
                          <a:spcPts val="0"/>
                        </a:spcBef>
                        <a:spcAft>
                          <a:spcPts val="0"/>
                        </a:spcAft>
                      </a:pPr>
                      <a:r>
                        <a:rPr lang="en-GB" sz="1400" b="1"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tabLst>
                          <a:tab pos="228600" algn="l"/>
                        </a:tabLst>
                      </a:pPr>
                      <a:r>
                        <a:rPr lang="en-GB" sz="1400" dirty="0">
                          <a:effectLst/>
                          <a:latin typeface="Arial"/>
                          <a:ea typeface="Calibri"/>
                          <a:cs typeface="Times New Roman"/>
                        </a:rPr>
                        <a:t>Acute illness with profuse watery diarrhoea caused by </a:t>
                      </a:r>
                      <a:r>
                        <a:rPr lang="en-GB" sz="1400" i="1" dirty="0">
                          <a:effectLst/>
                          <a:latin typeface="Arial"/>
                          <a:ea typeface="Calibri"/>
                          <a:cs typeface="Times New Roman"/>
                        </a:rPr>
                        <a:t>Vibrio </a:t>
                      </a:r>
                      <a:r>
                        <a:rPr lang="en-GB" sz="1400" i="1" dirty="0" err="1">
                          <a:effectLst/>
                          <a:latin typeface="Arial"/>
                          <a:ea typeface="Calibri"/>
                          <a:cs typeface="Times New Roman"/>
                        </a:rPr>
                        <a:t>cholerae</a:t>
                      </a:r>
                      <a:r>
                        <a:rPr lang="en-GB" sz="1400" dirty="0">
                          <a:effectLst/>
                          <a:latin typeface="Arial"/>
                          <a:ea typeface="Calibri"/>
                          <a:cs typeface="Times New Roman"/>
                        </a:rPr>
                        <a:t> </a:t>
                      </a:r>
                      <a:r>
                        <a:rPr lang="en-GB" sz="1400" dirty="0" err="1">
                          <a:effectLst/>
                          <a:latin typeface="Arial"/>
                          <a:ea typeface="Calibri"/>
                          <a:cs typeface="Times New Roman"/>
                        </a:rPr>
                        <a:t>serogroups</a:t>
                      </a:r>
                      <a:r>
                        <a:rPr lang="en-GB" sz="1400" dirty="0">
                          <a:effectLst/>
                          <a:latin typeface="Arial"/>
                          <a:ea typeface="Calibri"/>
                          <a:cs typeface="Times New Roman"/>
                        </a:rPr>
                        <a:t> O1 or O139. The disease is transmitted mainly through the faecal-oral route; that is through eating or drinking contaminated food or water.</a:t>
                      </a:r>
                      <a:endParaRPr lang="en-US" sz="1400" dirty="0">
                        <a:effectLst/>
                        <a:latin typeface="Calibri"/>
                        <a:ea typeface="Calibri"/>
                        <a:cs typeface="Times New Roman"/>
                      </a:endParaRPr>
                    </a:p>
                    <a:p>
                      <a:pPr marL="228600" marR="0">
                        <a:lnSpc>
                          <a:spcPct val="120000"/>
                        </a:lnSpc>
                        <a:spcBef>
                          <a:spcPts val="0"/>
                        </a:spcBef>
                        <a:spcAft>
                          <a:spcPts val="0"/>
                        </a:spcAft>
                      </a:pPr>
                      <a:r>
                        <a:rPr lang="en-GB" sz="1400" b="1"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15000"/>
                        </a:lnSpc>
                        <a:spcBef>
                          <a:spcPts val="0"/>
                        </a:spcBef>
                        <a:spcAft>
                          <a:spcPts val="0"/>
                        </a:spcAft>
                        <a:buFont typeface="Wingdings"/>
                        <a:buChar char=""/>
                        <a:tabLst>
                          <a:tab pos="177165" algn="l"/>
                          <a:tab pos="228600" algn="l"/>
                        </a:tabLst>
                      </a:pPr>
                      <a:r>
                        <a:rPr lang="en-GB" sz="1400" dirty="0">
                          <a:effectLst/>
                          <a:latin typeface="Arial"/>
                          <a:ea typeface="Times New Roman"/>
                        </a:rPr>
                        <a:t>Cholera causes over 100 000 deaths per year. It may produce rapidly progressive epidemics or worldwide pandemics. In endemic areas, sporadic cases (less than 5% of all non-outbreak-related diarrhoea cases) and small outbreaks may occur.</a:t>
                      </a:r>
                      <a:endParaRPr lang="en-US" sz="1400" dirty="0">
                        <a:effectLst/>
                        <a:latin typeface="Times New Roman"/>
                        <a:ea typeface="Times New Roman"/>
                      </a:endParaRPr>
                    </a:p>
                    <a:p>
                      <a:pPr marL="0" marR="0">
                        <a:lnSpc>
                          <a:spcPct val="115000"/>
                        </a:lnSpc>
                        <a:spcBef>
                          <a:spcPts val="0"/>
                        </a:spcBef>
                        <a:spcAft>
                          <a:spcPts val="0"/>
                        </a:spcAft>
                      </a:pPr>
                      <a:r>
                        <a:rPr lang="en-GB" sz="1400" dirty="0">
                          <a:effectLst/>
                          <a:latin typeface="Arial"/>
                          <a:ea typeface="Times New Roman"/>
                        </a:rPr>
                        <a:t> </a:t>
                      </a:r>
                      <a:endParaRPr lang="en-US" sz="1400" dirty="0">
                        <a:effectLst/>
                        <a:latin typeface="Times New Roman"/>
                        <a:ea typeface="Times New Roman"/>
                      </a:endParaRPr>
                    </a:p>
                    <a:p>
                      <a:pPr marL="342900" marR="0" lvl="0" indent="-342900">
                        <a:lnSpc>
                          <a:spcPct val="115000"/>
                        </a:lnSpc>
                        <a:spcBef>
                          <a:spcPts val="0"/>
                        </a:spcBef>
                        <a:spcAft>
                          <a:spcPts val="0"/>
                        </a:spcAft>
                        <a:buFont typeface="Wingdings"/>
                        <a:buChar char=""/>
                        <a:tabLst>
                          <a:tab pos="177165" algn="l"/>
                          <a:tab pos="228600" algn="l"/>
                        </a:tabLst>
                      </a:pPr>
                      <a:r>
                        <a:rPr lang="en-GB" sz="1400" dirty="0">
                          <a:effectLst/>
                          <a:latin typeface="Arial"/>
                          <a:ea typeface="Times New Roman"/>
                        </a:rPr>
                        <a:t>Incubation period is from a few hours to 5 days, usually in the range of from 2 to 3 days.</a:t>
                      </a:r>
                      <a:endParaRPr lang="en-US" sz="1400" dirty="0">
                        <a:effectLst/>
                        <a:latin typeface="Times New Roman"/>
                        <a:ea typeface="Times New Roman"/>
                      </a:endParaRPr>
                    </a:p>
                    <a:p>
                      <a:pPr marL="0" marR="0">
                        <a:lnSpc>
                          <a:spcPct val="115000"/>
                        </a:lnSpc>
                        <a:spcBef>
                          <a:spcPts val="0"/>
                        </a:spcBef>
                        <a:spcAft>
                          <a:spcPts val="0"/>
                        </a:spcAft>
                      </a:pPr>
                      <a:r>
                        <a:rPr lang="en-GB" sz="1400" dirty="0">
                          <a:effectLst/>
                          <a:latin typeface="Arial"/>
                          <a:ea typeface="Times New Roman"/>
                        </a:rPr>
                        <a:t> </a:t>
                      </a:r>
                      <a:endParaRPr lang="en-US" sz="1400" dirty="0">
                        <a:effectLst/>
                        <a:latin typeface="Times New Roman"/>
                        <a:ea typeface="Times New Roman"/>
                      </a:endParaRPr>
                    </a:p>
                    <a:p>
                      <a:pPr marL="342900" marR="0" lvl="0" indent="-342900">
                        <a:lnSpc>
                          <a:spcPct val="115000"/>
                        </a:lnSpc>
                        <a:spcBef>
                          <a:spcPts val="0"/>
                        </a:spcBef>
                        <a:spcAft>
                          <a:spcPts val="0"/>
                        </a:spcAft>
                        <a:buFont typeface="Wingdings"/>
                        <a:buChar char=""/>
                        <a:tabLst>
                          <a:tab pos="177165" algn="l"/>
                          <a:tab pos="228600" algn="l"/>
                        </a:tabLst>
                      </a:pPr>
                      <a:r>
                        <a:rPr lang="en-GB" sz="1400" dirty="0">
                          <a:effectLst/>
                          <a:latin typeface="Arial"/>
                          <a:ea typeface="Times New Roman"/>
                        </a:rPr>
                        <a:t>There has been a resurgence of cholera in Africa since the mid-1980s, where over 80% of the world’s cases occurred in 1999.  The majority of cases occurred from January through April.</a:t>
                      </a:r>
                      <a:endParaRPr lang="en-US" sz="1400" dirty="0">
                        <a:effectLst/>
                        <a:latin typeface="Times New Roman"/>
                        <a:ea typeface="Times New Roman"/>
                      </a:endParaRPr>
                    </a:p>
                    <a:p>
                      <a:pPr marL="0" marR="0">
                        <a:lnSpc>
                          <a:spcPct val="115000"/>
                        </a:lnSpc>
                        <a:spcBef>
                          <a:spcPts val="0"/>
                        </a:spcBef>
                        <a:spcAft>
                          <a:spcPts val="0"/>
                        </a:spcAft>
                      </a:pPr>
                      <a:r>
                        <a:rPr lang="en-GB" sz="1400" dirty="0">
                          <a:effectLst/>
                          <a:latin typeface="Arial"/>
                          <a:ea typeface="Times New Roman"/>
                        </a:rPr>
                        <a:t> </a:t>
                      </a:r>
                      <a:endParaRPr lang="en-US" sz="1400" dirty="0">
                        <a:effectLst/>
                        <a:latin typeface="Times New Roman"/>
                        <a:ea typeface="Times New Roman"/>
                      </a:endParaRPr>
                    </a:p>
                    <a:p>
                      <a:pPr marL="342900" marR="0" lvl="0" indent="-342900">
                        <a:lnSpc>
                          <a:spcPct val="115000"/>
                        </a:lnSpc>
                        <a:spcBef>
                          <a:spcPts val="0"/>
                        </a:spcBef>
                        <a:spcAft>
                          <a:spcPts val="0"/>
                        </a:spcAft>
                        <a:buFont typeface="Wingdings"/>
                        <a:buChar char=""/>
                        <a:tabLst>
                          <a:tab pos="177165" algn="l"/>
                          <a:tab pos="228600" algn="l"/>
                        </a:tabLst>
                      </a:pPr>
                      <a:r>
                        <a:rPr lang="en-GB" sz="1400" dirty="0">
                          <a:effectLst/>
                          <a:latin typeface="Arial"/>
                          <a:ea typeface="Times New Roman"/>
                        </a:rPr>
                        <a:t>Cholera may cause severe dehydration in only a few hours. In untreated patients with severe dehydration, the case fatality rate (CFR) may exceed 50%. If patients present at the health facility and correct treatment is received, the CFR is usually less than 1%. At least 90% of the cases are mild, and they remain undiagnosed.</a:t>
                      </a:r>
                      <a:endParaRPr lang="en-US" sz="1400" dirty="0">
                        <a:effectLst/>
                        <a:latin typeface="Times New Roman"/>
                        <a:ea typeface="Times New Roman"/>
                      </a:endParaRPr>
                    </a:p>
                    <a:p>
                      <a:pPr marL="0" marR="0">
                        <a:lnSpc>
                          <a:spcPct val="115000"/>
                        </a:lnSpc>
                        <a:spcBef>
                          <a:spcPts val="0"/>
                        </a:spcBef>
                        <a:spcAft>
                          <a:spcPts val="0"/>
                        </a:spcAft>
                      </a:pPr>
                      <a:r>
                        <a:rPr lang="en-GB" sz="1400" dirty="0">
                          <a:effectLst/>
                          <a:latin typeface="Arial"/>
                          <a:ea typeface="Times New Roman"/>
                        </a:rPr>
                        <a:t> </a:t>
                      </a:r>
                      <a:endParaRPr lang="en-US" sz="1400" dirty="0">
                        <a:effectLst/>
                        <a:latin typeface="Times New Roman"/>
                        <a:ea typeface="Times New Roman"/>
                      </a:endParaRPr>
                    </a:p>
                    <a:p>
                      <a:pPr marL="342900" marR="0" lvl="0" indent="-342900">
                        <a:lnSpc>
                          <a:spcPct val="115000"/>
                        </a:lnSpc>
                        <a:spcBef>
                          <a:spcPts val="0"/>
                        </a:spcBef>
                        <a:spcAft>
                          <a:spcPts val="0"/>
                        </a:spcAft>
                        <a:buFont typeface="Wingdings"/>
                        <a:buChar char=""/>
                        <a:tabLst>
                          <a:tab pos="177165" algn="l"/>
                          <a:tab pos="228600" algn="l"/>
                        </a:tabLst>
                      </a:pPr>
                      <a:r>
                        <a:rPr lang="en-GB" sz="1400" dirty="0">
                          <a:effectLst/>
                          <a:latin typeface="Arial"/>
                          <a:ea typeface="Times New Roman"/>
                        </a:rPr>
                        <a:t>Risk factors: eating or drinking contaminated foods such as uncooked seafood or shellfish from estuarine waters, lack of continuous access to safe water and food supplies, attending large gatherings of people including ceremonies such as weddings or funerals, contact with persons who died of cholera. </a:t>
                      </a:r>
                      <a:endParaRPr lang="en-US" sz="1400" dirty="0">
                        <a:effectLst/>
                        <a:latin typeface="Times New Roman"/>
                        <a:ea typeface="Times New Roman"/>
                      </a:endParaRPr>
                    </a:p>
                    <a:p>
                      <a:pPr marL="342900" marR="0" lvl="0" indent="-342900">
                        <a:lnSpc>
                          <a:spcPct val="115000"/>
                        </a:lnSpc>
                        <a:spcBef>
                          <a:spcPts val="0"/>
                        </a:spcBef>
                        <a:spcAft>
                          <a:spcPts val="255"/>
                        </a:spcAft>
                        <a:buFont typeface="Wingdings"/>
                        <a:buChar char=""/>
                        <a:tabLst>
                          <a:tab pos="177165" algn="l"/>
                          <a:tab pos="228600" algn="l"/>
                        </a:tabLst>
                      </a:pPr>
                      <a:r>
                        <a:rPr lang="en-GB" sz="1400" dirty="0">
                          <a:effectLst/>
                          <a:latin typeface="Arial"/>
                          <a:ea typeface="Times New Roman"/>
                        </a:rPr>
                        <a:t>Other enteric diarrhoea may cause watery diarrhoea, especially in children less than 5 years of age. Please see </a:t>
                      </a:r>
                      <a:r>
                        <a:rPr lang="en-GB" sz="1400" i="1" dirty="0">
                          <a:effectLst/>
                          <a:latin typeface="Arial"/>
                          <a:ea typeface="Times New Roman"/>
                        </a:rPr>
                        <a:t>Diarrhoea with dehydration</a:t>
                      </a:r>
                      <a:r>
                        <a:rPr lang="en-GB" sz="1400" dirty="0">
                          <a:effectLst/>
                          <a:latin typeface="Arial"/>
                          <a:ea typeface="Times New Roman"/>
                        </a:rPr>
                        <a:t> summary guidelines.</a:t>
                      </a:r>
                      <a:endParaRPr lang="en-US" sz="1400" dirty="0">
                        <a:effectLst/>
                        <a:latin typeface="Times New Roman"/>
                        <a:ea typeface="Times New Roman"/>
                      </a:endParaRPr>
                    </a:p>
                    <a:p>
                      <a:pPr marL="177165" marR="0" algn="just">
                        <a:lnSpc>
                          <a:spcPct val="115000"/>
                        </a:lnSpc>
                        <a:spcBef>
                          <a:spcPts val="0"/>
                        </a:spcBef>
                        <a:spcAft>
                          <a:spcPts val="255"/>
                        </a:spcAft>
                      </a:pPr>
                      <a:r>
                        <a:rPr lang="en-GB" sz="1400" dirty="0">
                          <a:effectLst/>
                          <a:latin typeface="Arial"/>
                          <a:ea typeface="Times New Roman"/>
                        </a:rPr>
                        <a:t> </a:t>
                      </a:r>
                      <a:endParaRPr lang="en-US" sz="1400" dirty="0">
                        <a:effectLst/>
                        <a:latin typeface="Times New Roman"/>
                        <a:ea typeface="Times New Roman"/>
                      </a:endParaRPr>
                    </a:p>
                  </a:txBody>
                  <a:tcPr marL="45743" marR="457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63</a:t>
            </a:fld>
            <a:endParaRPr lang="en-US">
              <a:solidFill>
                <a:prstClr val="black">
                  <a:tint val="75000"/>
                </a:prstClr>
              </a:solidFill>
            </a:endParaRPr>
          </a:p>
        </p:txBody>
      </p:sp>
    </p:spTree>
    <p:extLst>
      <p:ext uri="{BB962C8B-B14F-4D97-AF65-F5344CB8AC3E}">
        <p14:creationId xmlns:p14="http://schemas.microsoft.com/office/powerpoint/2010/main" val="25803281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828800" y="609600"/>
          <a:ext cx="8382000" cy="5278944"/>
        </p:xfrm>
        <a:graphic>
          <a:graphicData uri="http://schemas.openxmlformats.org/drawingml/2006/table">
            <a:tbl>
              <a:tblPr firstRow="1" bandRow="1">
                <a:tableStyleId>{5C22544A-7EE6-4342-B048-85BDC9FD1C3A}</a:tableStyleId>
              </a:tblPr>
              <a:tblGrid>
                <a:gridCol w="8382000">
                  <a:extLst>
                    <a:ext uri="{9D8B030D-6E8A-4147-A177-3AD203B41FA5}">
                      <a16:colId xmlns:a16="http://schemas.microsoft.com/office/drawing/2014/main" val="20000"/>
                    </a:ext>
                  </a:extLst>
                </a:gridCol>
              </a:tblGrid>
              <a:tr h="761983">
                <a:tc>
                  <a:txBody>
                    <a:bodyPr/>
                    <a:lstStyle/>
                    <a:p>
                      <a:pPr marL="0" marR="0">
                        <a:lnSpc>
                          <a:spcPct val="115000"/>
                        </a:lnSpc>
                        <a:spcBef>
                          <a:spcPts val="0"/>
                        </a:spcBef>
                        <a:spcAft>
                          <a:spcPts val="0"/>
                        </a:spcAft>
                      </a:pPr>
                      <a:r>
                        <a:rPr lang="en-GB" sz="2000" b="1" dirty="0">
                          <a:effectLst/>
                          <a:latin typeface="Times New Roman"/>
                          <a:ea typeface="Times New Roman"/>
                        </a:rPr>
                        <a:t>Standard case definition for Cholera</a:t>
                      </a:r>
                      <a:endParaRPr lang="en-US" sz="2000" dirty="0">
                        <a:effectLst/>
                        <a:latin typeface="Times New Roman"/>
                        <a:ea typeface="Times New Roman"/>
                      </a:endParaRPr>
                    </a:p>
                  </a:txBody>
                  <a:tcPr marL="45743" marR="45743" marT="0" marB="0" anchor="ctr"/>
                </a:tc>
                <a:extLst>
                  <a:ext uri="{0D108BD9-81ED-4DB2-BD59-A6C34878D82A}">
                    <a16:rowId xmlns:a16="http://schemas.microsoft.com/office/drawing/2014/main" val="10000"/>
                  </a:ext>
                </a:extLst>
              </a:tr>
              <a:tr h="4516961">
                <a:tc>
                  <a:txBody>
                    <a:bodyPr/>
                    <a:lstStyle/>
                    <a:p>
                      <a:pPr marL="0" marR="0" algn="just">
                        <a:lnSpc>
                          <a:spcPct val="120000"/>
                        </a:lnSpc>
                        <a:spcBef>
                          <a:spcPts val="485"/>
                        </a:spcBef>
                        <a:spcAft>
                          <a:spcPts val="0"/>
                        </a:spcAft>
                      </a:pPr>
                      <a:r>
                        <a:rPr lang="en-GB" sz="2000" b="1" i="1" dirty="0">
                          <a:effectLst/>
                          <a:latin typeface="Arial"/>
                          <a:ea typeface="Calibri"/>
                          <a:cs typeface="Times New Roman"/>
                        </a:rPr>
                        <a:t>Suspected case</a:t>
                      </a:r>
                      <a:r>
                        <a:rPr lang="en-GB" sz="2000" dirty="0">
                          <a:effectLst/>
                          <a:latin typeface="Arial"/>
                          <a:ea typeface="Calibri"/>
                          <a:cs typeface="Times New Roman"/>
                        </a:rPr>
                        <a:t>:</a:t>
                      </a:r>
                      <a:endParaRPr lang="en-US" sz="2000" dirty="0">
                        <a:effectLst/>
                        <a:latin typeface="Calibri"/>
                        <a:ea typeface="Calibri"/>
                        <a:cs typeface="Times New Roman"/>
                      </a:endParaRPr>
                    </a:p>
                    <a:p>
                      <a:pPr marL="342900" marR="0" lvl="0" indent="-342900" algn="just">
                        <a:lnSpc>
                          <a:spcPct val="120000"/>
                        </a:lnSpc>
                        <a:spcBef>
                          <a:spcPts val="0"/>
                        </a:spcBef>
                        <a:spcAft>
                          <a:spcPts val="0"/>
                        </a:spcAft>
                        <a:buSzPts val="1000"/>
                        <a:buFont typeface="Wingdings"/>
                        <a:buChar char=""/>
                        <a:tabLst>
                          <a:tab pos="228600" algn="l"/>
                        </a:tabLst>
                      </a:pPr>
                      <a:r>
                        <a:rPr lang="en-GB" sz="2000" dirty="0">
                          <a:effectLst/>
                          <a:latin typeface="Arial"/>
                          <a:ea typeface="Calibri"/>
                          <a:cs typeface="Times New Roman"/>
                        </a:rPr>
                        <a:t>In a patient age 5 years or more, severe dehydration or death from acute watery diarrhoea.</a:t>
                      </a:r>
                      <a:endParaRPr lang="en-US" sz="2000" dirty="0">
                        <a:effectLst/>
                        <a:latin typeface="Calibri"/>
                        <a:ea typeface="Calibri"/>
                        <a:cs typeface="Times New Roman"/>
                      </a:endParaRPr>
                    </a:p>
                    <a:p>
                      <a:pPr marL="342900" marR="0" lvl="0" indent="-342900" algn="just">
                        <a:lnSpc>
                          <a:spcPct val="120000"/>
                        </a:lnSpc>
                        <a:spcBef>
                          <a:spcPts val="0"/>
                        </a:spcBef>
                        <a:spcAft>
                          <a:spcPts val="0"/>
                        </a:spcAft>
                        <a:buSzPts val="1000"/>
                        <a:buFont typeface="Wingdings"/>
                        <a:buChar char=""/>
                        <a:tabLst>
                          <a:tab pos="228600" algn="l"/>
                        </a:tabLst>
                      </a:pPr>
                      <a:r>
                        <a:rPr lang="en-GB" sz="2000" dirty="0">
                          <a:effectLst/>
                          <a:latin typeface="Arial"/>
                          <a:ea typeface="Calibri"/>
                          <a:cs typeface="Times New Roman"/>
                        </a:rPr>
                        <a:t>If there is a cholera epidemic, a suspected case is any person age 5 years or more with acute watery diarrhoea, with or without vomiting.</a:t>
                      </a:r>
                      <a:endParaRPr lang="en-US" sz="2000" dirty="0">
                        <a:effectLst/>
                        <a:latin typeface="Calibri"/>
                        <a:ea typeface="Calibri"/>
                        <a:cs typeface="Times New Roman"/>
                      </a:endParaRPr>
                    </a:p>
                    <a:p>
                      <a:pPr marL="0" marR="0" algn="just">
                        <a:lnSpc>
                          <a:spcPct val="120000"/>
                        </a:lnSpc>
                        <a:spcBef>
                          <a:spcPts val="0"/>
                        </a:spcBef>
                        <a:spcAft>
                          <a:spcPts val="0"/>
                        </a:spcAft>
                      </a:pPr>
                      <a:r>
                        <a:rPr lang="en-GB" sz="2000" b="1" dirty="0">
                          <a:effectLst/>
                          <a:latin typeface="Arial"/>
                          <a:ea typeface="Calibri"/>
                          <a:cs typeface="Times New Roman"/>
                        </a:rPr>
                        <a:t> </a:t>
                      </a:r>
                      <a:endParaRPr lang="en-US" sz="2000" dirty="0">
                        <a:effectLst/>
                        <a:latin typeface="Calibri"/>
                        <a:ea typeface="Calibri"/>
                        <a:cs typeface="Times New Roman"/>
                      </a:endParaRPr>
                    </a:p>
                    <a:p>
                      <a:pPr marL="0" marR="0" algn="just">
                        <a:lnSpc>
                          <a:spcPct val="120000"/>
                        </a:lnSpc>
                        <a:spcBef>
                          <a:spcPts val="0"/>
                        </a:spcBef>
                        <a:spcAft>
                          <a:spcPts val="0"/>
                        </a:spcAft>
                      </a:pPr>
                      <a:r>
                        <a:rPr lang="en-GB" sz="2000" b="1" i="1" dirty="0">
                          <a:effectLst/>
                          <a:latin typeface="Arial"/>
                          <a:ea typeface="Calibri"/>
                          <a:cs typeface="Times New Roman"/>
                        </a:rPr>
                        <a:t>Confirmed case</a:t>
                      </a:r>
                      <a:r>
                        <a:rPr lang="en-GB" sz="2000" dirty="0">
                          <a:effectLst/>
                          <a:latin typeface="Arial"/>
                          <a:ea typeface="Calibri"/>
                          <a:cs typeface="Times New Roman"/>
                        </a:rPr>
                        <a:t>:</a:t>
                      </a:r>
                      <a:endParaRPr lang="en-US" sz="2000" dirty="0">
                        <a:effectLst/>
                        <a:latin typeface="Calibri"/>
                        <a:ea typeface="Calibri"/>
                        <a:cs typeface="Times New Roman"/>
                      </a:endParaRPr>
                    </a:p>
                    <a:p>
                      <a:pPr marL="342900" marR="0" lvl="0" indent="-342900" algn="just">
                        <a:lnSpc>
                          <a:spcPct val="120000"/>
                        </a:lnSpc>
                        <a:spcBef>
                          <a:spcPts val="0"/>
                        </a:spcBef>
                        <a:spcAft>
                          <a:spcPts val="255"/>
                        </a:spcAft>
                        <a:buFont typeface="Wingdings"/>
                        <a:buChar char=""/>
                        <a:tabLst>
                          <a:tab pos="228600" algn="l"/>
                        </a:tabLst>
                      </a:pPr>
                      <a:r>
                        <a:rPr lang="en-GB" sz="2000" dirty="0">
                          <a:effectLst/>
                          <a:latin typeface="Arial"/>
                          <a:ea typeface="Calibri"/>
                          <a:cs typeface="Times New Roman"/>
                        </a:rPr>
                        <a:t>A suspected case in which </a:t>
                      </a:r>
                      <a:r>
                        <a:rPr lang="en-GB" sz="2000" i="1" dirty="0">
                          <a:effectLst/>
                          <a:latin typeface="Arial"/>
                          <a:ea typeface="Calibri"/>
                          <a:cs typeface="Times New Roman"/>
                        </a:rPr>
                        <a:t>Vibrio </a:t>
                      </a:r>
                      <a:r>
                        <a:rPr lang="en-GB" sz="2000" i="1" dirty="0" err="1">
                          <a:effectLst/>
                          <a:latin typeface="Arial"/>
                          <a:ea typeface="Calibri"/>
                          <a:cs typeface="Times New Roman"/>
                        </a:rPr>
                        <a:t>cholerae</a:t>
                      </a:r>
                      <a:r>
                        <a:rPr lang="en-GB" sz="2000" dirty="0">
                          <a:effectLst/>
                          <a:latin typeface="Arial"/>
                          <a:ea typeface="Calibri"/>
                          <a:cs typeface="Times New Roman"/>
                        </a:rPr>
                        <a:t> O1 or O139 has been isolated in the stool.</a:t>
                      </a:r>
                      <a:endParaRPr lang="en-US" sz="2000" dirty="0">
                        <a:effectLst/>
                        <a:latin typeface="Calibri"/>
                        <a:ea typeface="Calibri"/>
                        <a:cs typeface="Times New Roman"/>
                      </a:endParaRPr>
                    </a:p>
                    <a:p>
                      <a:pPr marL="0" marR="0" algn="just">
                        <a:lnSpc>
                          <a:spcPct val="120000"/>
                        </a:lnSpc>
                        <a:spcBef>
                          <a:spcPts val="0"/>
                        </a:spcBef>
                        <a:spcAft>
                          <a:spcPts val="255"/>
                        </a:spcAft>
                      </a:pPr>
                      <a:r>
                        <a:rPr lang="en-GB" sz="2000" dirty="0">
                          <a:effectLst/>
                          <a:latin typeface="Arial"/>
                          <a:ea typeface="Calibri"/>
                          <a:cs typeface="Times New Roman"/>
                        </a:rPr>
                        <a:t> </a:t>
                      </a:r>
                      <a:endParaRPr lang="en-US" sz="2000" dirty="0">
                        <a:effectLst/>
                        <a:latin typeface="Calibri"/>
                        <a:ea typeface="Calibri"/>
                        <a:cs typeface="Times New Roman"/>
                      </a:endParaRPr>
                    </a:p>
                  </a:txBody>
                  <a:tcPr marL="45743" marR="45743" marT="0" marB="0"/>
                </a:tc>
                <a:extLst>
                  <a:ext uri="{0D108BD9-81ED-4DB2-BD59-A6C34878D82A}">
                    <a16:rowId xmlns:a16="http://schemas.microsoft.com/office/drawing/2014/main" val="10001"/>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64</a:t>
            </a:fld>
            <a:endParaRPr lang="en-US">
              <a:solidFill>
                <a:prstClr val="black">
                  <a:tint val="75000"/>
                </a:prstClr>
              </a:solidFill>
            </a:endParaRPr>
          </a:p>
        </p:txBody>
      </p:sp>
    </p:spTree>
    <p:extLst>
      <p:ext uri="{BB962C8B-B14F-4D97-AF65-F5344CB8AC3E}">
        <p14:creationId xmlns:p14="http://schemas.microsoft.com/office/powerpoint/2010/main" val="11645764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905000" y="218132"/>
          <a:ext cx="8382000" cy="6258868"/>
        </p:xfrm>
        <a:graphic>
          <a:graphicData uri="http://schemas.openxmlformats.org/drawingml/2006/table">
            <a:tbl>
              <a:tblPr firstRow="1" firstCol="1" lastRow="1" lastCol="1" bandRow="1" bandCol="1"/>
              <a:tblGrid>
                <a:gridCol w="8382000">
                  <a:extLst>
                    <a:ext uri="{9D8B030D-6E8A-4147-A177-3AD203B41FA5}">
                      <a16:colId xmlns:a16="http://schemas.microsoft.com/office/drawing/2014/main" val="20000"/>
                    </a:ext>
                  </a:extLst>
                </a:gridCol>
              </a:tblGrid>
              <a:tr h="483961">
                <a:tc>
                  <a:txBody>
                    <a:bodyPr/>
                    <a:lstStyle/>
                    <a:p>
                      <a:pPr marL="0" marR="0" algn="ctr">
                        <a:lnSpc>
                          <a:spcPct val="115000"/>
                        </a:lnSpc>
                        <a:spcBef>
                          <a:spcPts val="0"/>
                        </a:spcBef>
                        <a:spcAft>
                          <a:spcPts val="0"/>
                        </a:spcAft>
                      </a:pPr>
                      <a:r>
                        <a:rPr lang="en-GB" sz="1400" b="1" i="0" dirty="0">
                          <a:effectLst/>
                          <a:latin typeface="Times New Roman"/>
                          <a:ea typeface="Times New Roman"/>
                          <a:cs typeface="Times New Roman"/>
                        </a:rPr>
                        <a:t>Foodborne Illnesses</a:t>
                      </a:r>
                      <a:endParaRPr lang="en-US" sz="1400" b="1" i="1" dirty="0">
                        <a:effectLst/>
                        <a:latin typeface="Calibri"/>
                        <a:ea typeface="Times New Roman"/>
                        <a:cs typeface="Times New Roman"/>
                      </a:endParaRPr>
                    </a:p>
                  </a:txBody>
                  <a:tcPr marL="56982" marR="56982"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4003">
                <a:tc>
                  <a:txBody>
                    <a:bodyPr/>
                    <a:lstStyle/>
                    <a:p>
                      <a:pPr marL="0" marR="0">
                        <a:lnSpc>
                          <a:spcPct val="120000"/>
                        </a:lnSpc>
                        <a:spcBef>
                          <a:spcPts val="0"/>
                        </a:spcBef>
                        <a:spcAft>
                          <a:spcPts val="0"/>
                        </a:spcAft>
                      </a:pPr>
                      <a:r>
                        <a:rPr lang="en-GB" sz="1400" b="1">
                          <a:effectLst/>
                          <a:latin typeface="Times New Roman"/>
                          <a:ea typeface="Calibri"/>
                          <a:cs typeface="Times New Roman"/>
                        </a:rPr>
                        <a:t>Background</a:t>
                      </a:r>
                      <a:endParaRPr lang="en-US" sz="1400">
                        <a:effectLst/>
                        <a:latin typeface="Calibri"/>
                        <a:ea typeface="Calibri"/>
                        <a:cs typeface="Times New Roman"/>
                      </a:endParaRPr>
                    </a:p>
                  </a:txBody>
                  <a:tcPr marL="56982" marR="569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370904">
                <a:tc>
                  <a:txBody>
                    <a:bodyPr/>
                    <a:lstStyle/>
                    <a:p>
                      <a:pPr marL="228600" marR="0">
                        <a:lnSpc>
                          <a:spcPct val="120000"/>
                        </a:lnSpc>
                        <a:spcBef>
                          <a:spcPts val="0"/>
                        </a:spcBef>
                        <a:spcAft>
                          <a:spcPts val="0"/>
                        </a:spcAft>
                      </a:pPr>
                      <a:r>
                        <a:rPr lang="en-GB" sz="1400" dirty="0">
                          <a:effectLst/>
                          <a:latin typeface="Calibri"/>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tabLst>
                          <a:tab pos="228600" algn="l"/>
                        </a:tabLst>
                      </a:pPr>
                      <a:r>
                        <a:rPr lang="en-GB" sz="1400" dirty="0">
                          <a:effectLst/>
                          <a:latin typeface="Arial"/>
                          <a:ea typeface="Calibri"/>
                          <a:cs typeface="Times New Roman"/>
                        </a:rPr>
                        <a:t>Foodborne illnesses are caused by a variety of bacterial, viral, parasitic and bacterial or fungal pathogens or their toxins that enter the body through consumption of food or water.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tabLst>
                          <a:tab pos="228600" algn="l"/>
                        </a:tabLst>
                      </a:pPr>
                      <a:r>
                        <a:rPr lang="en-GB" sz="1400" dirty="0">
                          <a:effectLst/>
                          <a:latin typeface="Arial"/>
                          <a:ea typeface="Calibri"/>
                          <a:cs typeface="Times New Roman"/>
                        </a:rPr>
                        <a:t>A foodborne illness occurs when two or more people have shared common food or drink followed by an onset of symptoms within a short time period. </a:t>
                      </a:r>
                      <a:endParaRPr lang="en-US" sz="1400" dirty="0">
                        <a:effectLst/>
                        <a:latin typeface="Calibri"/>
                        <a:ea typeface="Calibri"/>
                        <a:cs typeface="Times New Roman"/>
                      </a:endParaRPr>
                    </a:p>
                    <a:p>
                      <a:pPr marL="0" marR="0">
                        <a:lnSpc>
                          <a:spcPct val="120000"/>
                        </a:lnSpc>
                        <a:spcBef>
                          <a:spcPts val="0"/>
                        </a:spcBef>
                        <a:spcAft>
                          <a:spcPts val="0"/>
                        </a:spcAft>
                      </a:pPr>
                      <a:r>
                        <a:rPr lang="en-GB" sz="1400"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tabLst>
                          <a:tab pos="228600" algn="l"/>
                        </a:tabLst>
                      </a:pPr>
                      <a:r>
                        <a:rPr lang="en-GB" sz="1400" dirty="0">
                          <a:effectLst/>
                          <a:latin typeface="Arial"/>
                          <a:ea typeface="Calibri"/>
                          <a:cs typeface="Times New Roman"/>
                        </a:rPr>
                        <a:t>Most people with a foodborne illness do not seek medical care, so cases and outbreaks of foodborne illness usually are neither recognized nor reported.</a:t>
                      </a:r>
                      <a:endParaRPr lang="en-US" sz="1400" dirty="0">
                        <a:effectLst/>
                        <a:latin typeface="Calibri"/>
                        <a:ea typeface="Calibri"/>
                        <a:cs typeface="Times New Roman"/>
                      </a:endParaRPr>
                    </a:p>
                    <a:p>
                      <a:pPr marL="0" marR="0">
                        <a:lnSpc>
                          <a:spcPct val="120000"/>
                        </a:lnSpc>
                        <a:spcBef>
                          <a:spcPts val="0"/>
                        </a:spcBef>
                        <a:spcAft>
                          <a:spcPts val="0"/>
                        </a:spcAft>
                      </a:pPr>
                      <a:r>
                        <a:rPr lang="en-GB" sz="1400"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tabLst>
                          <a:tab pos="228600" algn="l"/>
                        </a:tabLst>
                      </a:pPr>
                      <a:r>
                        <a:rPr lang="en-GB" sz="1400" dirty="0">
                          <a:effectLst/>
                          <a:latin typeface="Arial"/>
                          <a:ea typeface="Calibri"/>
                          <a:cs typeface="Times New Roman"/>
                        </a:rPr>
                        <a:t>The first symptoms often occur in gastrointestinal tract. Nausea, vomiting, abdominal cramps and diarrhoea are frequent symptoms of foodborne diseases. </a:t>
                      </a:r>
                      <a:endParaRPr lang="en-US" sz="1400" dirty="0">
                        <a:effectLst/>
                        <a:latin typeface="Calibri"/>
                        <a:ea typeface="Calibri"/>
                        <a:cs typeface="Times New Roman"/>
                      </a:endParaRPr>
                    </a:p>
                    <a:p>
                      <a:pPr marL="0" marR="0">
                        <a:lnSpc>
                          <a:spcPct val="120000"/>
                        </a:lnSpc>
                        <a:spcBef>
                          <a:spcPts val="0"/>
                        </a:spcBef>
                        <a:spcAft>
                          <a:spcPts val="0"/>
                        </a:spcAft>
                      </a:pPr>
                      <a:r>
                        <a:rPr lang="en-GB" sz="1400"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tabLst>
                          <a:tab pos="228600" algn="l"/>
                        </a:tabLst>
                      </a:pPr>
                      <a:r>
                        <a:rPr lang="en-GB" sz="1400" dirty="0">
                          <a:effectLst/>
                          <a:latin typeface="Arial"/>
                          <a:ea typeface="Calibri"/>
                          <a:cs typeface="Times New Roman"/>
                        </a:rPr>
                        <a:t>Outbreaks may be localized affecting as few as 2 individuals who ate a common meal or product, but large and geographically widespread outbreaks may also occur. Large outbreaks occur when food is contaminated prior to distribution and is widely consumed by many people in many areas.</a:t>
                      </a:r>
                      <a:endParaRPr lang="en-US" sz="1400" dirty="0">
                        <a:effectLst/>
                        <a:latin typeface="Calibri"/>
                        <a:ea typeface="Calibri"/>
                        <a:cs typeface="Times New Roman"/>
                      </a:endParaRPr>
                    </a:p>
                    <a:p>
                      <a:pPr marL="0" marR="0">
                        <a:lnSpc>
                          <a:spcPct val="120000"/>
                        </a:lnSpc>
                        <a:spcBef>
                          <a:spcPts val="0"/>
                        </a:spcBef>
                        <a:spcAft>
                          <a:spcPts val="0"/>
                        </a:spcAft>
                      </a:pPr>
                      <a:r>
                        <a:rPr lang="en-GB" sz="1400"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tabLst>
                          <a:tab pos="228600" algn="l"/>
                        </a:tabLst>
                      </a:pPr>
                      <a:r>
                        <a:rPr lang="en-GB" sz="1400" dirty="0">
                          <a:effectLst/>
                          <a:latin typeface="Arial"/>
                          <a:ea typeface="Calibri"/>
                          <a:cs typeface="Times New Roman"/>
                        </a:rPr>
                        <a:t>Surveillance for foodborne illnesses is needed to monitor food safety and target health promotion actions aimed at food handlers for safer food practices and improved personal hygiene.</a:t>
                      </a:r>
                      <a:endParaRPr lang="en-US" sz="1400" dirty="0">
                        <a:effectLst/>
                        <a:latin typeface="Calibri"/>
                        <a:ea typeface="Calibri"/>
                        <a:cs typeface="Times New Roman"/>
                      </a:endParaRPr>
                    </a:p>
                    <a:p>
                      <a:pPr marL="228600" marR="0">
                        <a:lnSpc>
                          <a:spcPct val="120000"/>
                        </a:lnSpc>
                        <a:spcBef>
                          <a:spcPts val="0"/>
                        </a:spcBef>
                        <a:spcAft>
                          <a:spcPts val="0"/>
                        </a:spcAft>
                      </a:pPr>
                      <a:r>
                        <a:rPr lang="en-GB" sz="1400" dirty="0">
                          <a:effectLst/>
                          <a:latin typeface="Calibri"/>
                          <a:ea typeface="Calibri"/>
                          <a:cs typeface="Times New Roman"/>
                        </a:rPr>
                        <a:t> </a:t>
                      </a:r>
                      <a:endParaRPr lang="en-US" sz="1400" dirty="0">
                        <a:effectLst/>
                        <a:latin typeface="Calibri"/>
                        <a:ea typeface="Calibri"/>
                        <a:cs typeface="Times New Roman"/>
                      </a:endParaRPr>
                    </a:p>
                  </a:txBody>
                  <a:tcPr marL="56982" marR="569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65</a:t>
            </a:fld>
            <a:endParaRPr lang="en-US">
              <a:solidFill>
                <a:prstClr val="black">
                  <a:tint val="75000"/>
                </a:prstClr>
              </a:solidFill>
            </a:endParaRPr>
          </a:p>
        </p:txBody>
      </p:sp>
    </p:spTree>
    <p:extLst>
      <p:ext uri="{BB962C8B-B14F-4D97-AF65-F5344CB8AC3E}">
        <p14:creationId xmlns:p14="http://schemas.microsoft.com/office/powerpoint/2010/main" val="21715938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600200" y="152400"/>
          <a:ext cx="8915400" cy="6333744"/>
        </p:xfrm>
        <a:graphic>
          <a:graphicData uri="http://schemas.openxmlformats.org/drawingml/2006/table">
            <a:tbl>
              <a:tblPr firstRow="1" bandRow="1">
                <a:tableStyleId>{5C22544A-7EE6-4342-B048-85BDC9FD1C3A}</a:tableStyleId>
              </a:tblPr>
              <a:tblGrid>
                <a:gridCol w="8915400">
                  <a:extLst>
                    <a:ext uri="{9D8B030D-6E8A-4147-A177-3AD203B41FA5}">
                      <a16:colId xmlns:a16="http://schemas.microsoft.com/office/drawing/2014/main" val="20000"/>
                    </a:ext>
                  </a:extLst>
                </a:gridCol>
              </a:tblGrid>
              <a:tr h="370840">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Times New Roman"/>
                          <a:ea typeface="Times New Roman"/>
                          <a:cs typeface="Times New Roman"/>
                        </a:rPr>
                        <a:t>Foodborne Illnesses</a:t>
                      </a:r>
                      <a:endParaRPr kumimoji="0" lang="en-US" sz="1600" b="1" i="1" u="none" strike="noStrike" kern="1200" cap="none" spc="0" normalizeH="0" baseline="0" noProof="0" dirty="0">
                        <a:ln>
                          <a:noFill/>
                        </a:ln>
                        <a:solidFill>
                          <a:prstClr val="black"/>
                        </a:solidFill>
                        <a:effectLst/>
                        <a:uLnTx/>
                        <a:uFillTx/>
                        <a:latin typeface="+mn-lt"/>
                        <a:ea typeface="Times New Roman"/>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Times New Roman"/>
                          <a:ea typeface="Calibri"/>
                          <a:cs typeface="Times New Roman"/>
                        </a:rPr>
                        <a:t>Standard case definition</a:t>
                      </a:r>
                      <a:endParaRPr kumimoji="0" lang="en-US" sz="1600" b="0" i="0" u="none" strike="noStrike" kern="1200" cap="none" spc="0" normalizeH="0" baseline="0" noProof="0" dirty="0">
                        <a:ln>
                          <a:noFill/>
                        </a:ln>
                        <a:solidFill>
                          <a:prstClr val="black"/>
                        </a:solidFill>
                        <a:effectLst/>
                        <a:uLnTx/>
                        <a:uFillTx/>
                        <a:latin typeface="+mn-lt"/>
                        <a:ea typeface="Calibri"/>
                        <a:cs typeface="Times New Roman"/>
                      </a:endParaRPr>
                    </a:p>
                    <a:p>
                      <a:endParaRPr lang="en-US" dirty="0"/>
                    </a:p>
                  </a:txBody>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rial"/>
                          <a:ea typeface="Calibri"/>
                          <a:cs typeface="Times New Roman"/>
                        </a:rPr>
                        <a:t>A foodborne illness is suspected when 2 or more people present with similar symptoms and who consumed common food or drink</a:t>
                      </a:r>
                      <a:endParaRPr kumimoji="0" lang="en-US" sz="16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rial"/>
                          <a:ea typeface="Calibri"/>
                          <a:cs typeface="Times New Roman"/>
                        </a:rPr>
                        <a:t> </a:t>
                      </a:r>
                      <a:endParaRPr kumimoji="0" lang="en-US" sz="16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rial"/>
                          <a:ea typeface="Calibri"/>
                          <a:cs typeface="Times New Roman"/>
                        </a:rPr>
                        <a:t>A foodborne illness is defined according to the specific agent causing the disease (for example, cholera, hepatitis A, salmonellosis, shigellosis). </a:t>
                      </a:r>
                      <a:endParaRPr kumimoji="0" lang="en-US" sz="16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rial"/>
                          <a:ea typeface="Calibri"/>
                          <a:cs typeface="Times New Roman"/>
                        </a:rPr>
                        <a:t> </a:t>
                      </a:r>
                      <a:endParaRPr kumimoji="0" lang="en-US" sz="16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rial"/>
                          <a:ea typeface="Calibri"/>
                          <a:cs typeface="Times New Roman"/>
                        </a:rPr>
                        <a:t>A confirmed foodborne illness is a laboratory confirmed case of a specific agent with a link to a common food or drink source.</a:t>
                      </a:r>
                      <a:endParaRPr kumimoji="0" lang="en-US" sz="16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NewRomanPSMT"/>
                          <a:ea typeface="Calibri"/>
                          <a:cs typeface="TimesNewRomanPSMT"/>
                        </a:rPr>
                        <a:t> </a:t>
                      </a:r>
                      <a:endParaRPr kumimoji="0" lang="en-US" sz="16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NewRomanPSMT"/>
                          <a:ea typeface="Calibri"/>
                          <a:cs typeface="TimesNewRomanPSMT"/>
                        </a:rPr>
                        <a:t> </a:t>
                      </a:r>
                      <a:endParaRPr kumimoji="0" lang="en-US" sz="1600" b="0" i="0" u="none" strike="noStrike" kern="1200" cap="none" spc="0" normalizeH="0" baseline="0" noProof="0" dirty="0">
                        <a:ln>
                          <a:noFill/>
                        </a:ln>
                        <a:solidFill>
                          <a:prstClr val="black"/>
                        </a:solidFill>
                        <a:effectLst/>
                        <a:uLnTx/>
                        <a:uFillTx/>
                        <a:latin typeface="+mn-lt"/>
                        <a:ea typeface="Calibri"/>
                        <a:cs typeface="Times New Roman"/>
                      </a:endParaRPr>
                    </a:p>
                    <a:p>
                      <a:endParaRPr lang="en-US" sz="1600" dirty="0"/>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Times New Roman"/>
                          <a:ea typeface="Calibri"/>
                          <a:cs typeface="Times New Roman"/>
                        </a:rPr>
                        <a:t>Prevention and control</a:t>
                      </a:r>
                      <a:endParaRPr kumimoji="0" lang="en-US" sz="1600" b="0" i="0" u="none" strike="noStrike" kern="1200" cap="none" spc="0" normalizeH="0" baseline="0" noProof="0" dirty="0">
                        <a:ln>
                          <a:noFill/>
                        </a:ln>
                        <a:solidFill>
                          <a:prstClr val="black"/>
                        </a:solidFill>
                        <a:effectLst/>
                        <a:uLnTx/>
                        <a:uFillTx/>
                        <a:latin typeface="+mn-lt"/>
                        <a:ea typeface="Calibri"/>
                        <a:cs typeface="Times New Roman"/>
                      </a:endParaRPr>
                    </a:p>
                    <a:p>
                      <a:endParaRPr lang="en-US" sz="1600" dirty="0"/>
                    </a:p>
                  </a:txBody>
                  <a:tcPr/>
                </a:tc>
                <a:extLst>
                  <a:ext uri="{0D108BD9-81ED-4DB2-BD59-A6C34878D82A}">
                    <a16:rowId xmlns:a16="http://schemas.microsoft.com/office/drawing/2014/main" val="10002"/>
                  </a:ext>
                </a:extLst>
              </a:tr>
              <a:tr h="370840">
                <a:tc>
                  <a:txBody>
                    <a:bodyPr/>
                    <a:lstStyle/>
                    <a:p>
                      <a:pPr marL="342900" marR="0" lvl="0" indent="-342900" algn="l" defTabSz="914400" rtl="0" eaLnBrk="1" fontAlgn="auto" latinLnBrk="0" hangingPunct="1">
                        <a:lnSpc>
                          <a:spcPct val="120000"/>
                        </a:lnSpc>
                        <a:spcBef>
                          <a:spcPts val="0"/>
                        </a:spcBef>
                        <a:spcAft>
                          <a:spcPts val="0"/>
                        </a:spcAft>
                        <a:buClrTx/>
                        <a:buSzTx/>
                        <a:buFont typeface="Wingdings"/>
                        <a:buChar char=""/>
                        <a:tabLst>
                          <a:tab pos="228600" algn="l"/>
                        </a:tabLst>
                        <a:defRPr/>
                      </a:pPr>
                      <a:r>
                        <a:rPr kumimoji="0" lang="en-GB" sz="1600" b="0" i="0" u="none" strike="noStrike" kern="1200" cap="none" spc="0" normalizeH="0" baseline="0" noProof="0" dirty="0">
                          <a:ln>
                            <a:noFill/>
                          </a:ln>
                          <a:solidFill>
                            <a:prstClr val="black"/>
                          </a:solidFill>
                          <a:effectLst/>
                          <a:uLnTx/>
                          <a:uFillTx/>
                          <a:latin typeface="Arial"/>
                          <a:ea typeface="Calibri"/>
                          <a:cs typeface="Times New Roman"/>
                        </a:rPr>
                        <a:t>Reduce sporadic and outbreak-related cases by promoting </a:t>
                      </a:r>
                      <a:r>
                        <a:rPr kumimoji="0" lang="en-GB" sz="1600" b="0" i="0" u="none" strike="noStrike" kern="1200" cap="none" spc="0" normalizeH="0" baseline="0" noProof="0" dirty="0" err="1">
                          <a:ln>
                            <a:noFill/>
                          </a:ln>
                          <a:solidFill>
                            <a:prstClr val="black"/>
                          </a:solidFill>
                          <a:effectLst/>
                          <a:uLnTx/>
                          <a:uFillTx/>
                          <a:latin typeface="Arial"/>
                          <a:ea typeface="Calibri"/>
                          <a:cs typeface="Times New Roman"/>
                        </a:rPr>
                        <a:t>handwashing</a:t>
                      </a:r>
                      <a:r>
                        <a:rPr kumimoji="0" lang="en-GB" sz="1600" b="0" i="0" u="none" strike="noStrike" kern="1200" cap="none" spc="0" normalizeH="0" baseline="0" noProof="0" dirty="0">
                          <a:ln>
                            <a:noFill/>
                          </a:ln>
                          <a:solidFill>
                            <a:prstClr val="black"/>
                          </a:solidFill>
                          <a:effectLst/>
                          <a:uLnTx/>
                          <a:uFillTx/>
                          <a:latin typeface="Arial"/>
                          <a:ea typeface="Calibri"/>
                          <a:cs typeface="Times New Roman"/>
                        </a:rPr>
                        <a:t> with soap and water after </a:t>
                      </a:r>
                      <a:r>
                        <a:rPr kumimoji="0" lang="en-GB" sz="1600" b="0" i="0" u="none" strike="noStrike" kern="1200" cap="none" spc="0" normalizeH="0" baseline="0" noProof="0" dirty="0" err="1">
                          <a:ln>
                            <a:noFill/>
                          </a:ln>
                          <a:solidFill>
                            <a:prstClr val="black"/>
                          </a:solidFill>
                          <a:effectLst/>
                          <a:uLnTx/>
                          <a:uFillTx/>
                          <a:latin typeface="Arial"/>
                          <a:ea typeface="Calibri"/>
                          <a:cs typeface="Times New Roman"/>
                        </a:rPr>
                        <a:t>defaecating</a:t>
                      </a:r>
                      <a:r>
                        <a:rPr kumimoji="0" lang="en-GB" sz="1600" b="0" i="0" u="none" strike="noStrike" kern="1200" cap="none" spc="0" normalizeH="0" baseline="0" noProof="0" dirty="0">
                          <a:ln>
                            <a:noFill/>
                          </a:ln>
                          <a:solidFill>
                            <a:prstClr val="black"/>
                          </a:solidFill>
                          <a:effectLst/>
                          <a:uLnTx/>
                          <a:uFillTx/>
                          <a:latin typeface="Arial"/>
                          <a:ea typeface="Calibri"/>
                          <a:cs typeface="Times New Roman"/>
                        </a:rPr>
                        <a:t>/urinating and before food handling/meals; strengthen access to safe water supply and storage, use of latrines and safe human waste disposal</a:t>
                      </a:r>
                      <a:endParaRPr kumimoji="0" lang="en-US" sz="1600" b="0" i="0" u="none" strike="noStrike" kern="1200" cap="none" spc="0" normalizeH="0" baseline="0" noProof="0" dirty="0">
                        <a:ln>
                          <a:noFill/>
                        </a:ln>
                        <a:solidFill>
                          <a:prstClr val="black"/>
                        </a:solidFill>
                        <a:effectLst/>
                        <a:uLnTx/>
                        <a:uFillTx/>
                        <a:latin typeface="+mn-lt"/>
                        <a:ea typeface="Calibri"/>
                        <a:cs typeface="Times New Roman"/>
                      </a:endParaRPr>
                    </a:p>
                    <a:p>
                      <a:pPr marL="342900" marR="0" lvl="0" indent="-342900" algn="l" defTabSz="914400" rtl="0" eaLnBrk="1" fontAlgn="auto" latinLnBrk="0" hangingPunct="1">
                        <a:lnSpc>
                          <a:spcPct val="120000"/>
                        </a:lnSpc>
                        <a:spcBef>
                          <a:spcPts val="0"/>
                        </a:spcBef>
                        <a:spcAft>
                          <a:spcPts val="0"/>
                        </a:spcAft>
                        <a:buClrTx/>
                        <a:buSzTx/>
                        <a:buFont typeface="Wingdings"/>
                        <a:buChar char=""/>
                        <a:tabLst>
                          <a:tab pos="228600" algn="l"/>
                        </a:tabLst>
                        <a:defRPr/>
                      </a:pPr>
                      <a:r>
                        <a:rPr kumimoji="0" lang="en-GB" sz="1600" b="0" i="0" u="none" strike="noStrike" kern="1200" cap="none" spc="0" normalizeH="0" baseline="0" noProof="0" dirty="0">
                          <a:ln>
                            <a:noFill/>
                          </a:ln>
                          <a:solidFill>
                            <a:prstClr val="black"/>
                          </a:solidFill>
                          <a:effectLst/>
                          <a:uLnTx/>
                          <a:uFillTx/>
                          <a:latin typeface="Arial"/>
                          <a:ea typeface="Calibri"/>
                          <a:cs typeface="Times New Roman"/>
                        </a:rPr>
                        <a:t>Scale-up food inspection activities</a:t>
                      </a:r>
                      <a:endParaRPr kumimoji="0" lang="en-US" sz="1600" b="0" i="0" u="none" strike="noStrike" kern="1200" cap="none" spc="0" normalizeH="0" baseline="0" noProof="0" dirty="0">
                        <a:ln>
                          <a:noFill/>
                        </a:ln>
                        <a:solidFill>
                          <a:prstClr val="black"/>
                        </a:solidFill>
                        <a:effectLst/>
                        <a:uLnTx/>
                        <a:uFillTx/>
                        <a:latin typeface="+mn-lt"/>
                        <a:ea typeface="Calibri"/>
                        <a:cs typeface="Times New Roman"/>
                      </a:endParaRPr>
                    </a:p>
                    <a:p>
                      <a:endParaRPr lang="en-US" sz="1600" dirty="0"/>
                    </a:p>
                  </a:txBody>
                  <a:tcPr/>
                </a:tc>
                <a:extLst>
                  <a:ext uri="{0D108BD9-81ED-4DB2-BD59-A6C34878D82A}">
                    <a16:rowId xmlns:a16="http://schemas.microsoft.com/office/drawing/2014/main" val="10003"/>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66</a:t>
            </a:fld>
            <a:endParaRPr lang="en-US">
              <a:solidFill>
                <a:prstClr val="black">
                  <a:tint val="75000"/>
                </a:prstClr>
              </a:solidFill>
            </a:endParaRPr>
          </a:p>
        </p:txBody>
      </p:sp>
    </p:spTree>
    <p:extLst>
      <p:ext uri="{BB962C8B-B14F-4D97-AF65-F5344CB8AC3E}">
        <p14:creationId xmlns:p14="http://schemas.microsoft.com/office/powerpoint/2010/main" val="27966865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676400" y="62033"/>
          <a:ext cx="8763000" cy="5203301"/>
        </p:xfrm>
        <a:graphic>
          <a:graphicData uri="http://schemas.openxmlformats.org/drawingml/2006/table">
            <a:tbl>
              <a:tblPr/>
              <a:tblGrid>
                <a:gridCol w="8763000">
                  <a:extLst>
                    <a:ext uri="{9D8B030D-6E8A-4147-A177-3AD203B41FA5}">
                      <a16:colId xmlns:a16="http://schemas.microsoft.com/office/drawing/2014/main" val="20000"/>
                    </a:ext>
                  </a:extLst>
                </a:gridCol>
              </a:tblGrid>
              <a:tr h="284718">
                <a:tc>
                  <a:txBody>
                    <a:bodyPr/>
                    <a:lstStyle/>
                    <a:p>
                      <a:pPr marL="0" marR="0" algn="ctr">
                        <a:lnSpc>
                          <a:spcPct val="115000"/>
                        </a:lnSpc>
                        <a:spcBef>
                          <a:spcPts val="0"/>
                        </a:spcBef>
                        <a:spcAft>
                          <a:spcPts val="0"/>
                        </a:spcAft>
                      </a:pPr>
                      <a:r>
                        <a:rPr lang="en-US" sz="1600" b="1" i="0" dirty="0">
                          <a:effectLst/>
                          <a:latin typeface="Times New Roman"/>
                          <a:ea typeface="Times New Roman"/>
                          <a:cs typeface="Times New Roman"/>
                        </a:rPr>
                        <a:t>Malaria</a:t>
                      </a:r>
                      <a:endParaRPr lang="en-US" sz="1600" b="1" i="1" dirty="0">
                        <a:effectLst/>
                        <a:latin typeface="Calibri"/>
                        <a:ea typeface="Times New Roman"/>
                        <a:cs typeface="Times New Roman"/>
                      </a:endParaRPr>
                    </a:p>
                  </a:txBody>
                  <a:tcPr marL="46421" marR="46421"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1076">
                <a:tc>
                  <a:txBody>
                    <a:bodyPr/>
                    <a:lstStyle/>
                    <a:p>
                      <a:pPr marL="0" marR="0">
                        <a:lnSpc>
                          <a:spcPct val="120000"/>
                        </a:lnSpc>
                        <a:spcBef>
                          <a:spcPts val="0"/>
                        </a:spcBef>
                        <a:spcAft>
                          <a:spcPts val="0"/>
                        </a:spcAft>
                      </a:pPr>
                      <a:r>
                        <a:rPr lang="en-US" sz="1600" b="1">
                          <a:solidFill>
                            <a:srgbClr val="000000"/>
                          </a:solidFill>
                          <a:effectLst/>
                          <a:latin typeface="Times New Roman"/>
                          <a:ea typeface="Calibri"/>
                          <a:cs typeface="Times New Roman"/>
                        </a:rPr>
                        <a:t>Background</a:t>
                      </a:r>
                      <a:endParaRPr lang="en-US" sz="1600">
                        <a:solidFill>
                          <a:srgbClr val="000000"/>
                        </a:solidFill>
                        <a:effectLst/>
                        <a:latin typeface="Calibri"/>
                        <a:ea typeface="Calibri"/>
                        <a:cs typeface="Times New Roman"/>
                      </a:endParaRPr>
                    </a:p>
                  </a:txBody>
                  <a:tcPr marL="46421" marR="464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387306">
                <a:tc>
                  <a:txBody>
                    <a:bodyPr/>
                    <a:lstStyle/>
                    <a:p>
                      <a:pPr marL="228600" marR="0">
                        <a:lnSpc>
                          <a:spcPct val="120000"/>
                        </a:lnSpc>
                        <a:spcBef>
                          <a:spcPts val="0"/>
                        </a:spcBef>
                        <a:spcAft>
                          <a:spcPts val="0"/>
                        </a:spcAft>
                      </a:pPr>
                      <a:r>
                        <a:rPr lang="en-US" sz="1600" i="1" dirty="0">
                          <a:solidFill>
                            <a:srgbClr val="000000"/>
                          </a:solidFill>
                          <a:effectLst/>
                          <a:latin typeface="Arial"/>
                          <a:ea typeface="Calibri"/>
                          <a:cs typeface="Times New Roman"/>
                        </a:rPr>
                        <a:t> </a:t>
                      </a:r>
                      <a:endParaRPr lang="en-US" sz="1600" dirty="0">
                        <a:solidFill>
                          <a:srgbClr val="000000"/>
                        </a:solidFill>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600" dirty="0">
                          <a:solidFill>
                            <a:srgbClr val="000000"/>
                          </a:solidFill>
                          <a:effectLst/>
                          <a:latin typeface="Arial"/>
                          <a:ea typeface="Calibri"/>
                          <a:cs typeface="Times New Roman"/>
                        </a:rPr>
                        <a:t>Malaria is a highly prevalent tropical illness with fever following the bite of infected female Anopheles mosquitoes which transmit a parasite, </a:t>
                      </a:r>
                      <a:r>
                        <a:rPr lang="en-GB" sz="1600" i="1" dirty="0">
                          <a:solidFill>
                            <a:srgbClr val="000000"/>
                          </a:solidFill>
                          <a:effectLst/>
                          <a:latin typeface="Arial"/>
                          <a:ea typeface="Calibri"/>
                          <a:cs typeface="Times New Roman"/>
                        </a:rPr>
                        <a:t>Plasmodium falciparum</a:t>
                      </a:r>
                      <a:r>
                        <a:rPr lang="en-GB" sz="1600" dirty="0">
                          <a:solidFill>
                            <a:srgbClr val="000000"/>
                          </a:solidFill>
                          <a:effectLst/>
                          <a:latin typeface="Arial"/>
                          <a:ea typeface="Calibri"/>
                          <a:cs typeface="Times New Roman"/>
                        </a:rPr>
                        <a:t>, </a:t>
                      </a:r>
                      <a:r>
                        <a:rPr lang="en-GB" sz="1600" i="1" dirty="0">
                          <a:solidFill>
                            <a:srgbClr val="000000"/>
                          </a:solidFill>
                          <a:effectLst/>
                          <a:latin typeface="Arial"/>
                          <a:ea typeface="Calibri"/>
                          <a:cs typeface="Times New Roman"/>
                        </a:rPr>
                        <a:t>P. </a:t>
                      </a:r>
                      <a:r>
                        <a:rPr lang="en-GB" sz="1600" i="1" dirty="0" err="1">
                          <a:solidFill>
                            <a:srgbClr val="000000"/>
                          </a:solidFill>
                          <a:effectLst/>
                          <a:latin typeface="Arial"/>
                          <a:ea typeface="Calibri"/>
                          <a:cs typeface="Times New Roman"/>
                        </a:rPr>
                        <a:t>ovale</a:t>
                      </a:r>
                      <a:r>
                        <a:rPr lang="en-GB" sz="1600" i="1" dirty="0">
                          <a:solidFill>
                            <a:srgbClr val="000000"/>
                          </a:solidFill>
                          <a:effectLst/>
                          <a:latin typeface="Arial"/>
                          <a:ea typeface="Calibri"/>
                          <a:cs typeface="Times New Roman"/>
                        </a:rPr>
                        <a:t>, P. </a:t>
                      </a:r>
                      <a:r>
                        <a:rPr lang="en-GB" sz="1600" i="1" dirty="0" err="1">
                          <a:solidFill>
                            <a:srgbClr val="000000"/>
                          </a:solidFill>
                          <a:effectLst/>
                          <a:latin typeface="Arial"/>
                          <a:ea typeface="Calibri"/>
                          <a:cs typeface="Times New Roman"/>
                        </a:rPr>
                        <a:t>vivax</a:t>
                      </a:r>
                      <a:r>
                        <a:rPr lang="en-GB" sz="1600" dirty="0">
                          <a:solidFill>
                            <a:srgbClr val="000000"/>
                          </a:solidFill>
                          <a:effectLst/>
                          <a:latin typeface="Arial"/>
                          <a:ea typeface="Calibri"/>
                          <a:cs typeface="Times New Roman"/>
                        </a:rPr>
                        <a:t>, or </a:t>
                      </a:r>
                      <a:r>
                        <a:rPr lang="en-GB" sz="1600" i="1" dirty="0">
                          <a:solidFill>
                            <a:srgbClr val="000000"/>
                          </a:solidFill>
                          <a:effectLst/>
                          <a:latin typeface="Arial"/>
                          <a:ea typeface="Calibri"/>
                          <a:cs typeface="Times New Roman"/>
                        </a:rPr>
                        <a:t>P. </a:t>
                      </a:r>
                      <a:r>
                        <a:rPr lang="en-GB" sz="1600" i="1" dirty="0" err="1">
                          <a:solidFill>
                            <a:srgbClr val="000000"/>
                          </a:solidFill>
                          <a:effectLst/>
                          <a:latin typeface="Arial"/>
                          <a:ea typeface="Calibri"/>
                          <a:cs typeface="Times New Roman"/>
                        </a:rPr>
                        <a:t>malariae</a:t>
                      </a:r>
                      <a:r>
                        <a:rPr lang="en-GB" sz="1600" dirty="0">
                          <a:solidFill>
                            <a:srgbClr val="000000"/>
                          </a:solidFill>
                          <a:effectLst/>
                          <a:latin typeface="Arial"/>
                          <a:ea typeface="Calibri"/>
                          <a:cs typeface="Times New Roman"/>
                        </a:rPr>
                        <a:t>. Serious malarial infections are usually due to </a:t>
                      </a:r>
                      <a:r>
                        <a:rPr lang="en-GB" sz="1600" i="1" dirty="0">
                          <a:solidFill>
                            <a:srgbClr val="000000"/>
                          </a:solidFill>
                          <a:effectLst/>
                          <a:latin typeface="Arial"/>
                          <a:ea typeface="Calibri"/>
                          <a:cs typeface="Times New Roman"/>
                        </a:rPr>
                        <a:t>P. falciparum</a:t>
                      </a:r>
                      <a:r>
                        <a:rPr lang="en-GB" sz="1600" dirty="0">
                          <a:solidFill>
                            <a:srgbClr val="000000"/>
                          </a:solidFill>
                          <a:effectLst/>
                          <a:latin typeface="Arial"/>
                          <a:ea typeface="Calibri"/>
                          <a:cs typeface="Times New Roman"/>
                        </a:rPr>
                        <a:t> which may result in severe anaemia and vital organ involvement.</a:t>
                      </a:r>
                      <a:endParaRPr lang="en-US" sz="1600" dirty="0">
                        <a:solidFill>
                          <a:srgbClr val="000000"/>
                        </a:solidFill>
                        <a:effectLst/>
                        <a:latin typeface="Calibri"/>
                        <a:ea typeface="Calibri"/>
                        <a:cs typeface="Times New Roman"/>
                      </a:endParaRPr>
                    </a:p>
                    <a:p>
                      <a:pPr marL="228600" marR="0">
                        <a:lnSpc>
                          <a:spcPct val="120000"/>
                        </a:lnSpc>
                        <a:spcBef>
                          <a:spcPts val="0"/>
                        </a:spcBef>
                        <a:spcAft>
                          <a:spcPts val="0"/>
                        </a:spcAft>
                      </a:pPr>
                      <a:r>
                        <a:rPr lang="en-US" sz="1600" i="1" dirty="0">
                          <a:solidFill>
                            <a:srgbClr val="000000"/>
                          </a:solidFill>
                          <a:effectLst/>
                          <a:latin typeface="Arial"/>
                          <a:ea typeface="Calibri"/>
                          <a:cs typeface="Times New Roman"/>
                        </a:rPr>
                        <a:t> </a:t>
                      </a:r>
                      <a:endParaRPr lang="en-US" sz="1600" dirty="0">
                        <a:solidFill>
                          <a:srgbClr val="000000"/>
                        </a:solidFill>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600" dirty="0">
                          <a:solidFill>
                            <a:srgbClr val="000000"/>
                          </a:solidFill>
                          <a:effectLst/>
                          <a:latin typeface="Arial"/>
                          <a:ea typeface="Calibri"/>
                          <a:cs typeface="Times New Roman"/>
                        </a:rPr>
                        <a:t>Malaria is one of the leading causes of illness and death in many African countries. There are 900 000 deaths per year in Africa mainly in children less than 5 years of age and pregnant women.</a:t>
                      </a:r>
                      <a:endParaRPr lang="en-US" sz="1600" dirty="0">
                        <a:solidFill>
                          <a:srgbClr val="000000"/>
                        </a:solidFill>
                        <a:effectLst/>
                        <a:latin typeface="Calibri"/>
                        <a:ea typeface="Calibri"/>
                        <a:cs typeface="Times New Roman"/>
                      </a:endParaRPr>
                    </a:p>
                    <a:p>
                      <a:pPr marL="0" marR="0">
                        <a:lnSpc>
                          <a:spcPct val="120000"/>
                        </a:lnSpc>
                        <a:spcBef>
                          <a:spcPts val="0"/>
                        </a:spcBef>
                        <a:spcAft>
                          <a:spcPts val="0"/>
                        </a:spcAft>
                      </a:pPr>
                      <a:r>
                        <a:rPr lang="en-US" sz="1600" i="1" dirty="0">
                          <a:solidFill>
                            <a:srgbClr val="000000"/>
                          </a:solidFill>
                          <a:effectLst/>
                          <a:latin typeface="Arial"/>
                          <a:ea typeface="Calibri"/>
                          <a:cs typeface="Times New Roman"/>
                        </a:rPr>
                        <a:t> </a:t>
                      </a:r>
                      <a:endParaRPr lang="en-US" sz="1600" dirty="0">
                        <a:solidFill>
                          <a:srgbClr val="000000"/>
                        </a:solidFill>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600" dirty="0">
                          <a:solidFill>
                            <a:srgbClr val="000000"/>
                          </a:solidFill>
                          <a:effectLst/>
                          <a:latin typeface="Arial"/>
                          <a:ea typeface="Calibri"/>
                          <a:cs typeface="Times New Roman"/>
                        </a:rPr>
                        <a:t>Incubation period from the time of being bitten to onset of symptoms is 7 to 30 days. The incubation period may be longer, especially with non- </a:t>
                      </a:r>
                      <a:r>
                        <a:rPr lang="en-GB" sz="1600" i="1" dirty="0">
                          <a:solidFill>
                            <a:srgbClr val="000000"/>
                          </a:solidFill>
                          <a:effectLst/>
                          <a:latin typeface="Arial"/>
                          <a:ea typeface="Calibri"/>
                          <a:cs typeface="Times New Roman"/>
                        </a:rPr>
                        <a:t>P.</a:t>
                      </a:r>
                      <a:r>
                        <a:rPr lang="en-GB" sz="1600" dirty="0">
                          <a:solidFill>
                            <a:srgbClr val="000000"/>
                          </a:solidFill>
                          <a:effectLst/>
                          <a:latin typeface="Arial"/>
                          <a:ea typeface="Calibri"/>
                          <a:cs typeface="Times New Roman"/>
                        </a:rPr>
                        <a:t> </a:t>
                      </a:r>
                      <a:r>
                        <a:rPr lang="en-GB" sz="1600" i="1" dirty="0">
                          <a:solidFill>
                            <a:srgbClr val="000000"/>
                          </a:solidFill>
                          <a:effectLst/>
                          <a:latin typeface="Arial"/>
                          <a:ea typeface="Calibri"/>
                          <a:cs typeface="Times New Roman"/>
                        </a:rPr>
                        <a:t>falciparum</a:t>
                      </a:r>
                      <a:r>
                        <a:rPr lang="en-GB" sz="1600" dirty="0">
                          <a:solidFill>
                            <a:srgbClr val="000000"/>
                          </a:solidFill>
                          <a:effectLst/>
                          <a:latin typeface="Arial"/>
                          <a:ea typeface="Calibri"/>
                          <a:cs typeface="Times New Roman"/>
                        </a:rPr>
                        <a:t> species.</a:t>
                      </a:r>
                      <a:endParaRPr lang="en-US" sz="1600" dirty="0">
                        <a:solidFill>
                          <a:srgbClr val="000000"/>
                        </a:solidFill>
                        <a:effectLst/>
                        <a:latin typeface="Calibri"/>
                        <a:ea typeface="Calibri"/>
                        <a:cs typeface="Times New Roman"/>
                      </a:endParaRPr>
                    </a:p>
                    <a:p>
                      <a:pPr marL="0" marR="0">
                        <a:lnSpc>
                          <a:spcPct val="120000"/>
                        </a:lnSpc>
                        <a:spcBef>
                          <a:spcPts val="0"/>
                        </a:spcBef>
                        <a:spcAft>
                          <a:spcPts val="0"/>
                        </a:spcAft>
                      </a:pPr>
                      <a:r>
                        <a:rPr lang="en-US" sz="1600" i="1" dirty="0">
                          <a:solidFill>
                            <a:srgbClr val="000000"/>
                          </a:solidFill>
                          <a:effectLst/>
                          <a:latin typeface="Arial"/>
                          <a:ea typeface="Calibri"/>
                          <a:cs typeface="Times New Roman"/>
                        </a:rPr>
                        <a:t> </a:t>
                      </a:r>
                      <a:endParaRPr lang="en-US" sz="1600" dirty="0">
                        <a:solidFill>
                          <a:srgbClr val="000000"/>
                        </a:solidFill>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600" dirty="0">
                          <a:solidFill>
                            <a:srgbClr val="000000"/>
                          </a:solidFill>
                          <a:effectLst/>
                          <a:latin typeface="Arial"/>
                          <a:ea typeface="Calibri"/>
                          <a:cs typeface="Times New Roman"/>
                        </a:rPr>
                        <a:t>Transmission of malaria is highly seasonal (rainy) in some areas in African countries but is perennial in the rest of the region</a:t>
                      </a:r>
                      <a:endParaRPr lang="en-US" sz="1600" dirty="0">
                        <a:solidFill>
                          <a:srgbClr val="000000"/>
                        </a:solidFill>
                        <a:effectLst/>
                        <a:latin typeface="Calibri"/>
                        <a:ea typeface="Calibri"/>
                        <a:cs typeface="Times New Roman"/>
                      </a:endParaRPr>
                    </a:p>
                    <a:p>
                      <a:pPr marL="457200" marR="0">
                        <a:lnSpc>
                          <a:spcPct val="115000"/>
                        </a:lnSpc>
                        <a:spcBef>
                          <a:spcPts val="0"/>
                        </a:spcBef>
                        <a:spcAft>
                          <a:spcPts val="0"/>
                        </a:spcAft>
                      </a:pPr>
                      <a:r>
                        <a:rPr lang="en-GB" sz="1600" dirty="0">
                          <a:solidFill>
                            <a:srgbClr val="000000"/>
                          </a:solidFill>
                          <a:effectLst/>
                          <a:latin typeface="Arial"/>
                          <a:ea typeface="Times New Roman"/>
                          <a:cs typeface="Times New Roman"/>
                        </a:rPr>
                        <a:t> </a:t>
                      </a:r>
                      <a:endParaRPr lang="en-US" sz="1600" dirty="0">
                        <a:solidFill>
                          <a:srgbClr val="000000"/>
                        </a:solidFill>
                        <a:effectLst/>
                        <a:latin typeface="Times New Roman"/>
                        <a:ea typeface="Times New Roman"/>
                        <a:cs typeface="Times New Roman"/>
                      </a:endParaRPr>
                    </a:p>
                  </a:txBody>
                  <a:tcPr marL="46421" marR="464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67</a:t>
            </a:fld>
            <a:endParaRPr lang="en-US">
              <a:solidFill>
                <a:prstClr val="black">
                  <a:tint val="75000"/>
                </a:prstClr>
              </a:solidFill>
            </a:endParaRPr>
          </a:p>
        </p:txBody>
      </p:sp>
    </p:spTree>
    <p:extLst>
      <p:ext uri="{BB962C8B-B14F-4D97-AF65-F5344CB8AC3E}">
        <p14:creationId xmlns:p14="http://schemas.microsoft.com/office/powerpoint/2010/main" val="28792610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524000" y="1"/>
          <a:ext cx="8991600" cy="6705599"/>
        </p:xfrm>
        <a:graphic>
          <a:graphicData uri="http://schemas.openxmlformats.org/drawingml/2006/table">
            <a:tbl>
              <a:tblPr firstRow="1" bandRow="1">
                <a:tableStyleId>{5C22544A-7EE6-4342-B048-85BDC9FD1C3A}</a:tableStyleId>
              </a:tblPr>
              <a:tblGrid>
                <a:gridCol w="1407381">
                  <a:extLst>
                    <a:ext uri="{9D8B030D-6E8A-4147-A177-3AD203B41FA5}">
                      <a16:colId xmlns:a16="http://schemas.microsoft.com/office/drawing/2014/main" val="20000"/>
                    </a:ext>
                  </a:extLst>
                </a:gridCol>
                <a:gridCol w="7584219">
                  <a:extLst>
                    <a:ext uri="{9D8B030D-6E8A-4147-A177-3AD203B41FA5}">
                      <a16:colId xmlns:a16="http://schemas.microsoft.com/office/drawing/2014/main" val="20001"/>
                    </a:ext>
                  </a:extLst>
                </a:gridCol>
              </a:tblGrid>
              <a:tr h="802642">
                <a:tc gridSpan="2">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Times New Roman"/>
                          <a:ea typeface="Times New Roman"/>
                          <a:cs typeface="Times New Roman"/>
                        </a:rPr>
                        <a:t>Malaria</a:t>
                      </a: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Times New Roman"/>
                          <a:ea typeface="Times New Roman"/>
                          <a:cs typeface="Times New Roman"/>
                        </a:rPr>
                        <a:t>Standard case definition</a:t>
                      </a:r>
                      <a:endParaRPr kumimoji="0" lang="en-US" sz="1400" b="0" i="0" u="none" strike="noStrike" kern="1200" cap="none" spc="0" normalizeH="0" baseline="0" noProof="0" dirty="0">
                        <a:ln>
                          <a:noFill/>
                        </a:ln>
                        <a:solidFill>
                          <a:srgbClr val="000000"/>
                        </a:solidFill>
                        <a:effectLst/>
                        <a:uLnTx/>
                        <a:uFillTx/>
                        <a:latin typeface="Times New Roman"/>
                        <a:ea typeface="Times New Roman"/>
                        <a:cs typeface="Times New Roman"/>
                      </a:endParaRPr>
                    </a:p>
                    <a:p>
                      <a:endParaRPr lang="en-US" sz="1400" dirty="0"/>
                    </a:p>
                  </a:txBody>
                  <a:tcPr/>
                </a:tc>
                <a:tc hMerge="1">
                  <a:txBody>
                    <a:bodyPr/>
                    <a:lstStyle/>
                    <a:p>
                      <a:endParaRPr lang="en-US"/>
                    </a:p>
                  </a:txBody>
                  <a:tcPr/>
                </a:tc>
                <a:extLst>
                  <a:ext uri="{0D108BD9-81ED-4DB2-BD59-A6C34878D82A}">
                    <a16:rowId xmlns:a16="http://schemas.microsoft.com/office/drawing/2014/main" val="10000"/>
                  </a:ext>
                </a:extLst>
              </a:tr>
              <a:tr h="2600131">
                <a:tc gridSpan="2">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000000"/>
                          </a:solidFill>
                          <a:effectLst/>
                          <a:uLnTx/>
                          <a:uFillTx/>
                          <a:latin typeface="Arial"/>
                          <a:ea typeface="Calibri"/>
                          <a:cs typeface="Times New Roman"/>
                        </a:rPr>
                        <a:t> </a:t>
                      </a:r>
                      <a:endParaRPr kumimoji="0" lang="en-US" sz="1400" b="0" i="0" u="none" strike="noStrike" kern="1200" cap="none" spc="0" normalizeH="0" baseline="0" noProof="0" dirty="0">
                        <a:ln>
                          <a:noFill/>
                        </a:ln>
                        <a:solidFill>
                          <a:srgbClr val="000000"/>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000000"/>
                          </a:solidFill>
                          <a:effectLst/>
                          <a:uLnTx/>
                          <a:uFillTx/>
                          <a:latin typeface="Arial"/>
                          <a:ea typeface="Calibri"/>
                          <a:cs typeface="Times New Roman"/>
                        </a:rPr>
                        <a:t>Uncomplicated malaria</a:t>
                      </a:r>
                      <a:endParaRPr kumimoji="0" lang="en-US" sz="1400" b="0" i="0" u="none" strike="noStrike" kern="1200" cap="none" spc="0" normalizeH="0" baseline="0" noProof="0" dirty="0">
                        <a:ln>
                          <a:noFill/>
                        </a:ln>
                        <a:solidFill>
                          <a:srgbClr val="000000"/>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Calibri"/>
                          <a:cs typeface="Times New Roman"/>
                        </a:rPr>
                        <a:t>Any person living in area at risk of malaria with fever or history of fever within 24 hours; without signs of severe disease (vital organ dysfunction) is diagnosed clinically as malaria. </a:t>
                      </a:r>
                      <a:endParaRPr kumimoji="0" lang="en-US" sz="1400" b="0" i="0" u="none" strike="noStrike" kern="1200" cap="none" spc="0" normalizeH="0" baseline="0" noProof="0" dirty="0">
                        <a:ln>
                          <a:noFill/>
                        </a:ln>
                        <a:solidFill>
                          <a:srgbClr val="000000"/>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Calibri"/>
                          <a:cs typeface="Times New Roman"/>
                        </a:rPr>
                        <a:t> </a:t>
                      </a:r>
                      <a:endParaRPr kumimoji="0" lang="en-US" sz="1400" b="0" i="0" u="none" strike="noStrike" kern="1200" cap="none" spc="0" normalizeH="0" baseline="0" noProof="0" dirty="0">
                        <a:ln>
                          <a:noFill/>
                        </a:ln>
                        <a:solidFill>
                          <a:srgbClr val="000000"/>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000000"/>
                          </a:solidFill>
                          <a:effectLst/>
                          <a:uLnTx/>
                          <a:uFillTx/>
                          <a:latin typeface="Arial"/>
                          <a:ea typeface="Calibri"/>
                          <a:cs typeface="Times New Roman"/>
                        </a:rPr>
                        <a:t>Severe malaria</a:t>
                      </a:r>
                      <a:endParaRPr kumimoji="0" lang="en-US" sz="1400" b="0" i="0" u="none" strike="noStrike" kern="1200" cap="none" spc="0" normalizeH="0" baseline="0" noProof="0" dirty="0">
                        <a:ln>
                          <a:noFill/>
                        </a:ln>
                        <a:solidFill>
                          <a:srgbClr val="000000"/>
                        </a:solidFill>
                        <a:effectLst/>
                        <a:uLnTx/>
                        <a:uFillTx/>
                        <a:latin typeface="+mn-lt"/>
                        <a:ea typeface="Calibri"/>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Times New Roman"/>
                          <a:cs typeface="Times New Roman"/>
                        </a:rPr>
                        <a:t>Any patient hospitalized with </a:t>
                      </a:r>
                      <a:r>
                        <a:rPr kumimoji="0" lang="en-US" sz="1400" b="0" i="1" u="none" strike="noStrike" kern="1200" cap="none" spc="0" normalizeH="0" baseline="0" noProof="0" dirty="0">
                          <a:ln>
                            <a:noFill/>
                          </a:ln>
                          <a:solidFill>
                            <a:srgbClr val="000000"/>
                          </a:solidFill>
                          <a:effectLst/>
                          <a:uLnTx/>
                          <a:uFillTx/>
                          <a:latin typeface="Arial"/>
                          <a:ea typeface="Times New Roman"/>
                          <a:cs typeface="Times New Roman"/>
                        </a:rPr>
                        <a:t>P. falciparum</a:t>
                      </a:r>
                      <a:r>
                        <a:rPr kumimoji="0" lang="en-US" sz="1400" b="0" i="0" u="none" strike="noStrike" kern="1200" cap="none" spc="0" normalizeH="0" baseline="0" noProof="0" dirty="0">
                          <a:ln>
                            <a:noFill/>
                          </a:ln>
                          <a:solidFill>
                            <a:srgbClr val="000000"/>
                          </a:solidFill>
                          <a:effectLst/>
                          <a:uLnTx/>
                          <a:uFillTx/>
                          <a:latin typeface="Arial"/>
                          <a:ea typeface="Times New Roman"/>
                          <a:cs typeface="Times New Roman"/>
                        </a:rPr>
                        <a:t> asexual </a:t>
                      </a:r>
                      <a:r>
                        <a:rPr kumimoji="0" lang="en-US" sz="1400" b="0" i="0" u="none" strike="noStrike" kern="1200" cap="none" spc="0" normalizeH="0" baseline="0" noProof="0" dirty="0" err="1">
                          <a:ln>
                            <a:noFill/>
                          </a:ln>
                          <a:solidFill>
                            <a:srgbClr val="000000"/>
                          </a:solidFill>
                          <a:effectLst/>
                          <a:uLnTx/>
                          <a:uFillTx/>
                          <a:latin typeface="Arial"/>
                          <a:ea typeface="Times New Roman"/>
                          <a:cs typeface="Times New Roman"/>
                        </a:rPr>
                        <a:t>parasitaemia</a:t>
                      </a:r>
                      <a:r>
                        <a:rPr kumimoji="0" lang="en-US" sz="1400" b="0" i="0" u="none" strike="noStrike" kern="1200" cap="none" spc="0" normalizeH="0" baseline="0" noProof="0" dirty="0">
                          <a:ln>
                            <a:noFill/>
                          </a:ln>
                          <a:solidFill>
                            <a:srgbClr val="000000"/>
                          </a:solidFill>
                          <a:effectLst/>
                          <a:uLnTx/>
                          <a:uFillTx/>
                          <a:latin typeface="Arial"/>
                          <a:ea typeface="Times New Roman"/>
                          <a:cs typeface="Times New Roman"/>
                        </a:rPr>
                        <a:t> as confirmed by laboratory tests with accompanying symptoms and signs of severe disease (vital organ dysfunction) diagnosed through laboratory. </a:t>
                      </a:r>
                      <a:endParaRPr kumimoji="0" lang="en-US" sz="1400" b="0" i="0" u="none" strike="noStrike" kern="1200" cap="none" spc="0" normalizeH="0" baseline="0" noProof="0" dirty="0">
                        <a:ln>
                          <a:noFill/>
                        </a:ln>
                        <a:solidFill>
                          <a:srgbClr val="000000"/>
                        </a:solidFill>
                        <a:effectLst/>
                        <a:uLnTx/>
                        <a:uFillTx/>
                        <a:latin typeface="+mn-lt"/>
                        <a:ea typeface="Times New Roman"/>
                        <a:cs typeface="Times New Roman"/>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Times New Roman"/>
                          <a:cs typeface="Times New Roman"/>
                        </a:rPr>
                        <a:t> </a:t>
                      </a:r>
                      <a:endParaRPr kumimoji="0" lang="en-US" sz="1400" b="0" i="0" u="none" strike="noStrike" kern="1200" cap="none" spc="0" normalizeH="0" baseline="0" noProof="0" dirty="0">
                        <a:ln>
                          <a:noFill/>
                        </a:ln>
                        <a:solidFill>
                          <a:srgbClr val="000000"/>
                        </a:solidFill>
                        <a:effectLst/>
                        <a:uLnTx/>
                        <a:uFillTx/>
                        <a:latin typeface="+mn-lt"/>
                        <a:ea typeface="Times New Roman"/>
                        <a:cs typeface="Times New Roman"/>
                      </a:endParaRPr>
                    </a:p>
                    <a:p>
                      <a:endParaRPr lang="en-US" sz="1400" dirty="0"/>
                    </a:p>
                  </a:txBody>
                  <a:tcPr/>
                </a:tc>
                <a:tc hMerge="1">
                  <a:txBody>
                    <a:bodyPr/>
                    <a:lstStyle/>
                    <a:p>
                      <a:endParaRPr lang="en-US"/>
                    </a:p>
                  </a:txBody>
                  <a:tcPr/>
                </a:tc>
                <a:extLst>
                  <a:ext uri="{0D108BD9-81ED-4DB2-BD59-A6C34878D82A}">
                    <a16:rowId xmlns:a16="http://schemas.microsoft.com/office/drawing/2014/main" val="10001"/>
                  </a:ext>
                </a:extLst>
              </a:tr>
              <a:tr h="565847">
                <a:tc gridSpan="2">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Times New Roman"/>
                          <a:ea typeface="Calibri"/>
                          <a:cs typeface="Times New Roman"/>
                        </a:rPr>
                        <a:t>Prevention and control</a:t>
                      </a:r>
                      <a:endParaRPr kumimoji="0" lang="en-US" sz="1400" b="0" i="0" u="none" strike="noStrike" kern="1200" cap="none" spc="0" normalizeH="0" baseline="0" noProof="0" dirty="0">
                        <a:ln>
                          <a:noFill/>
                        </a:ln>
                        <a:solidFill>
                          <a:srgbClr val="000000"/>
                        </a:solidFill>
                        <a:effectLst/>
                        <a:uLnTx/>
                        <a:uFillTx/>
                        <a:latin typeface="+mn-lt"/>
                        <a:ea typeface="Calibri"/>
                        <a:cs typeface="Times New Roman"/>
                      </a:endParaRPr>
                    </a:p>
                    <a:p>
                      <a:endParaRPr lang="en-US" sz="1400" dirty="0"/>
                    </a:p>
                  </a:txBody>
                  <a:tcPr/>
                </a:tc>
                <a:tc hMerge="1">
                  <a:txBody>
                    <a:bodyPr/>
                    <a:lstStyle/>
                    <a:p>
                      <a:endParaRPr lang="en-US"/>
                    </a:p>
                  </a:txBody>
                  <a:tcPr/>
                </a:tc>
                <a:extLst>
                  <a:ext uri="{0D108BD9-81ED-4DB2-BD59-A6C34878D82A}">
                    <a16:rowId xmlns:a16="http://schemas.microsoft.com/office/drawing/2014/main" val="10002"/>
                  </a:ext>
                </a:extLst>
              </a:tr>
              <a:tr h="1088641">
                <a:tc gridSpan="2">
                  <a:txBody>
                    <a:bodyPr/>
                    <a:lstStyle/>
                    <a:p>
                      <a:pPr marL="0" marR="0" lvl="0" indent="0" algn="l" defTabSz="914400" rtl="0" eaLnBrk="1" fontAlgn="auto" latinLnBrk="0" hangingPunct="1">
                        <a:lnSpc>
                          <a:spcPct val="115000"/>
                        </a:lnSpc>
                        <a:spcBef>
                          <a:spcPts val="0"/>
                        </a:spcBef>
                        <a:spcAft>
                          <a:spcPts val="255"/>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a:ea typeface="Times New Roman"/>
                          <a:cs typeface="Times New Roman"/>
                        </a:rPr>
                        <a:t>Evaluate and improve, as needed, prevention strategies, such as vector spraying, use of ITNs(Insecticide Treated Nets) and IRS (Indoor Residual Spraying) for all at risk of malaria, as well as Intermittent Preventive Therapy (IPT) for pregnant women and treatment of cases with </a:t>
                      </a:r>
                      <a:r>
                        <a:rPr kumimoji="0" lang="en-GB" sz="1400" b="0" i="0" u="none" strike="noStrike" kern="1200" cap="none" spc="0" normalizeH="0" baseline="0" noProof="0" dirty="0" err="1">
                          <a:ln>
                            <a:noFill/>
                          </a:ln>
                          <a:solidFill>
                            <a:srgbClr val="000000"/>
                          </a:solidFill>
                          <a:effectLst/>
                          <a:uLnTx/>
                          <a:uFillTx/>
                          <a:latin typeface="Arial"/>
                          <a:ea typeface="Times New Roman"/>
                          <a:cs typeface="Times New Roman"/>
                        </a:rPr>
                        <a:t>Coartem</a:t>
                      </a:r>
                      <a:r>
                        <a:rPr kumimoji="0" lang="en-GB" sz="1400" b="0" i="0" u="none" strike="noStrike" kern="1200" cap="none" spc="0" normalizeH="0" baseline="0" noProof="0" dirty="0">
                          <a:ln>
                            <a:noFill/>
                          </a:ln>
                          <a:solidFill>
                            <a:srgbClr val="000000"/>
                          </a:solidFill>
                          <a:effectLst/>
                          <a:uLnTx/>
                          <a:uFillTx/>
                          <a:latin typeface="Arial"/>
                          <a:ea typeface="Times New Roman"/>
                          <a:cs typeface="Times New Roman"/>
                        </a:rPr>
                        <a:t> (</a:t>
                      </a:r>
                      <a:r>
                        <a:rPr kumimoji="0" lang="en-GB" sz="1400" b="0" i="0" u="none" strike="noStrike" kern="1200" cap="none" spc="0" normalizeH="0" baseline="0" noProof="0" dirty="0" err="1">
                          <a:ln>
                            <a:noFill/>
                          </a:ln>
                          <a:solidFill>
                            <a:srgbClr val="000000"/>
                          </a:solidFill>
                          <a:effectLst/>
                          <a:uLnTx/>
                          <a:uFillTx/>
                          <a:latin typeface="Arial"/>
                          <a:ea typeface="Times New Roman"/>
                          <a:cs typeface="Times New Roman"/>
                        </a:rPr>
                        <a:t>Artemether</a:t>
                      </a:r>
                      <a:r>
                        <a:rPr kumimoji="0" lang="en-GB" sz="1400" b="0" i="0" u="none" strike="noStrike" kern="1200" cap="none" spc="0" normalizeH="0" baseline="0" noProof="0" dirty="0">
                          <a:ln>
                            <a:noFill/>
                          </a:ln>
                          <a:solidFill>
                            <a:srgbClr val="000000"/>
                          </a:solidFill>
                          <a:effectLst/>
                          <a:uLnTx/>
                          <a:uFillTx/>
                          <a:latin typeface="Arial"/>
                          <a:ea typeface="Times New Roman"/>
                          <a:cs typeface="Times New Roman"/>
                        </a:rPr>
                        <a:t> - </a:t>
                      </a:r>
                      <a:r>
                        <a:rPr kumimoji="0" lang="en-GB" sz="1400" b="0" i="0" u="none" strike="noStrike" kern="1200" cap="none" spc="0" normalizeH="0" baseline="0" noProof="0" dirty="0" err="1">
                          <a:ln>
                            <a:noFill/>
                          </a:ln>
                          <a:solidFill>
                            <a:srgbClr val="000000"/>
                          </a:solidFill>
                          <a:effectLst/>
                          <a:uLnTx/>
                          <a:uFillTx/>
                          <a:latin typeface="Arial"/>
                          <a:ea typeface="Times New Roman"/>
                          <a:cs typeface="Times New Roman"/>
                        </a:rPr>
                        <a:t>Lumefantrine</a:t>
                      </a:r>
                      <a:r>
                        <a:rPr kumimoji="0" lang="en-GB" sz="1400" b="0" i="0" u="none" strike="noStrike" kern="1200" cap="none" spc="0" normalizeH="0" baseline="0" noProof="0" dirty="0">
                          <a:ln>
                            <a:noFill/>
                          </a:ln>
                          <a:solidFill>
                            <a:srgbClr val="000000"/>
                          </a:solidFill>
                          <a:effectLst/>
                          <a:uLnTx/>
                          <a:uFillTx/>
                          <a:latin typeface="Arial"/>
                          <a:ea typeface="Times New Roman"/>
                          <a:cs typeface="Times New Roman"/>
                        </a:rPr>
                        <a:t>)</a:t>
                      </a:r>
                      <a:endParaRPr kumimoji="0" lang="en-US" sz="1400" b="0" i="0" u="none" strike="noStrike" kern="1200" cap="none" spc="0" normalizeH="0" baseline="0" noProof="0" dirty="0">
                        <a:ln>
                          <a:noFill/>
                        </a:ln>
                        <a:solidFill>
                          <a:srgbClr val="000000"/>
                        </a:solidFill>
                        <a:effectLst/>
                        <a:uLnTx/>
                        <a:uFillTx/>
                        <a:latin typeface="Times New Roman"/>
                        <a:ea typeface="Times New Roman"/>
                        <a:cs typeface="Times New Roman"/>
                      </a:endParaRPr>
                    </a:p>
                    <a:p>
                      <a:endParaRPr lang="en-US" sz="1400" dirty="0"/>
                    </a:p>
                  </a:txBody>
                  <a:tcPr/>
                </a:tc>
                <a:tc hMerge="1">
                  <a:txBody>
                    <a:bodyPr/>
                    <a:lstStyle/>
                    <a:p>
                      <a:endParaRPr lang="en-US"/>
                    </a:p>
                  </a:txBody>
                  <a:tcPr/>
                </a:tc>
                <a:extLst>
                  <a:ext uri="{0D108BD9-81ED-4DB2-BD59-A6C34878D82A}">
                    <a16:rowId xmlns:a16="http://schemas.microsoft.com/office/drawing/2014/main" val="10003"/>
                  </a:ext>
                </a:extLst>
              </a:tr>
              <a:tr h="565847">
                <a:tc gridSpan="2">
                  <a:txBody>
                    <a:bodyPr/>
                    <a:lstStyle/>
                    <a:p>
                      <a:pPr marL="914400" marR="0" lvl="0" indent="-914400" algn="l" defTabSz="914400" rtl="0" eaLnBrk="1" fontAlgn="auto" latinLnBrk="0" hangingPunct="1">
                        <a:lnSpc>
                          <a:spcPct val="12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Times New Roman"/>
                          <a:ea typeface="Calibri"/>
                          <a:cs typeface="Times New Roman"/>
                        </a:rPr>
                        <a:t>Laboratory confirmation</a:t>
                      </a:r>
                      <a:endParaRPr kumimoji="0" lang="en-US" sz="1400" b="0" i="0" u="none" strike="noStrike" kern="1200" cap="none" spc="0" normalizeH="0" baseline="0" noProof="0" dirty="0">
                        <a:ln>
                          <a:noFill/>
                        </a:ln>
                        <a:solidFill>
                          <a:srgbClr val="000000"/>
                        </a:solidFill>
                        <a:effectLst/>
                        <a:uLnTx/>
                        <a:uFillTx/>
                        <a:latin typeface="+mn-lt"/>
                        <a:ea typeface="Calibri"/>
                        <a:cs typeface="Times New Roman"/>
                      </a:endParaRPr>
                    </a:p>
                    <a:p>
                      <a:endParaRPr lang="en-US" sz="1400" dirty="0"/>
                    </a:p>
                  </a:txBody>
                  <a:tcPr/>
                </a:tc>
                <a:tc hMerge="1">
                  <a:txBody>
                    <a:bodyPr/>
                    <a:lstStyle/>
                    <a:p>
                      <a:endParaRPr lang="en-US"/>
                    </a:p>
                  </a:txBody>
                  <a:tcPr/>
                </a:tc>
                <a:extLst>
                  <a:ext uri="{0D108BD9-81ED-4DB2-BD59-A6C34878D82A}">
                    <a16:rowId xmlns:a16="http://schemas.microsoft.com/office/drawing/2014/main" val="10004"/>
                  </a:ext>
                </a:extLst>
              </a:tr>
              <a:tr h="1082491">
                <a:tc>
                  <a:txBody>
                    <a:bodyPr/>
                    <a:lstStyle/>
                    <a:p>
                      <a:pPr marL="0" marR="0" lvl="0" indent="0" algn="l" defTabSz="914400" rtl="0" eaLnBrk="1" fontAlgn="auto" latinLnBrk="0" hangingPunct="1">
                        <a:lnSpc>
                          <a:spcPct val="120000"/>
                        </a:lnSpc>
                        <a:spcBef>
                          <a:spcPts val="485"/>
                        </a:spcBef>
                        <a:spcAft>
                          <a:spcPts val="255"/>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Times New Roman"/>
                          <a:ea typeface="Calibri"/>
                          <a:cs typeface="Times New Roman"/>
                        </a:rPr>
                        <a:t>Diagnostic test</a:t>
                      </a:r>
                      <a:endParaRPr kumimoji="0" lang="en-US" sz="1400" b="0" i="0" u="none" strike="noStrike" kern="1200" cap="none" spc="0" normalizeH="0" baseline="0" noProof="0" dirty="0">
                        <a:ln>
                          <a:noFill/>
                        </a:ln>
                        <a:solidFill>
                          <a:srgbClr val="000000"/>
                        </a:solidFill>
                        <a:effectLst/>
                        <a:uLnTx/>
                        <a:uFillTx/>
                        <a:latin typeface="+mn-lt"/>
                        <a:ea typeface="Calibri"/>
                        <a:cs typeface="Times New Roman"/>
                      </a:endParaRPr>
                    </a:p>
                    <a:p>
                      <a:endParaRPr lang="en-US" sz="1400" dirty="0"/>
                    </a:p>
                  </a:txBody>
                  <a:tcPr/>
                </a:tc>
                <a:tc>
                  <a:txBody>
                    <a:bodyPr/>
                    <a:lstStyle/>
                    <a:p>
                      <a:pPr marL="228600" marR="0" lvl="0" indent="0" algn="l" defTabSz="914400" rtl="0" eaLnBrk="1" fontAlgn="auto" latinLnBrk="0" hangingPunct="1">
                        <a:lnSpc>
                          <a:spcPct val="120000"/>
                        </a:lnSpc>
                        <a:spcBef>
                          <a:spcPts val="0"/>
                        </a:spcBef>
                        <a:spcAft>
                          <a:spcPts val="0"/>
                        </a:spcAft>
                        <a:buClrTx/>
                        <a:buSzTx/>
                        <a:buFontTx/>
                        <a:buNone/>
                        <a:tabLst>
                          <a:tab pos="164465" algn="l"/>
                        </a:tabLst>
                        <a:defRPr/>
                      </a:pPr>
                      <a:endParaRPr kumimoji="0" lang="en-US" sz="1400" b="0" i="0" u="none" strike="noStrike" kern="1200" cap="none" spc="0" normalizeH="0" baseline="0" noProof="0" dirty="0">
                        <a:ln>
                          <a:noFill/>
                        </a:ln>
                        <a:solidFill>
                          <a:srgbClr val="000000"/>
                        </a:solidFill>
                        <a:effectLst/>
                        <a:uLnTx/>
                        <a:uFillTx/>
                        <a:latin typeface="Times New Roman"/>
                        <a:ea typeface="Times New Roman"/>
                        <a:cs typeface="Times New Roman"/>
                      </a:endParaRPr>
                    </a:p>
                    <a:p>
                      <a:pPr marL="342900" marR="0" lvl="0" indent="-342900" algn="l" defTabSz="914400" rtl="0" eaLnBrk="1" fontAlgn="auto" latinLnBrk="0" hangingPunct="1">
                        <a:lnSpc>
                          <a:spcPct val="120000"/>
                        </a:lnSpc>
                        <a:spcBef>
                          <a:spcPts val="0"/>
                        </a:spcBef>
                        <a:spcAft>
                          <a:spcPts val="0"/>
                        </a:spcAft>
                        <a:buClrTx/>
                        <a:buSzPts val="800"/>
                        <a:buFont typeface="Wingdings"/>
                        <a:buChar char=""/>
                        <a:tabLst>
                          <a:tab pos="164465" algn="l"/>
                          <a:tab pos="228600" algn="l"/>
                        </a:tabLst>
                        <a:defRPr/>
                      </a:pPr>
                      <a:r>
                        <a:rPr kumimoji="0" lang="en-US" sz="1400" b="0" i="0" u="none" strike="noStrike" kern="1200" cap="none" spc="0" normalizeH="0" baseline="0" noProof="0" dirty="0">
                          <a:ln>
                            <a:noFill/>
                          </a:ln>
                          <a:solidFill>
                            <a:srgbClr val="000000"/>
                          </a:solidFill>
                          <a:effectLst/>
                          <a:uLnTx/>
                          <a:uFillTx/>
                          <a:latin typeface="Arial"/>
                          <a:ea typeface="Times New Roman"/>
                          <a:cs typeface="Times New Roman"/>
                        </a:rPr>
                        <a:t>Microscopy: </a:t>
                      </a:r>
                      <a:r>
                        <a:rPr kumimoji="0" lang="en-GB" sz="1400" b="0" i="0" u="none" strike="noStrike" kern="1200" cap="none" spc="0" normalizeH="0" baseline="0" noProof="0" dirty="0">
                          <a:ln>
                            <a:noFill/>
                          </a:ln>
                          <a:solidFill>
                            <a:srgbClr val="000000"/>
                          </a:solidFill>
                          <a:effectLst/>
                          <a:uLnTx/>
                          <a:uFillTx/>
                          <a:latin typeface="Arial"/>
                          <a:ea typeface="Times New Roman"/>
                          <a:cs typeface="Times New Roman"/>
                        </a:rPr>
                        <a:t>Presence of malarial parasites in blood films for suspected cases </a:t>
                      </a:r>
                      <a:endParaRPr kumimoji="0" lang="en-US" sz="1400" b="0" i="0" u="none" strike="noStrike" kern="1200" cap="none" spc="0" normalizeH="0" baseline="0" noProof="0" dirty="0">
                        <a:ln>
                          <a:noFill/>
                        </a:ln>
                        <a:solidFill>
                          <a:srgbClr val="000000"/>
                        </a:solidFill>
                        <a:effectLst/>
                        <a:uLnTx/>
                        <a:uFillTx/>
                        <a:latin typeface="Times New Roman"/>
                        <a:ea typeface="Times New Roman"/>
                        <a:cs typeface="Times New Roman"/>
                      </a:endParaRPr>
                    </a:p>
                    <a:p>
                      <a:pPr marL="342900" marR="0" lvl="0" indent="-342900" algn="l" defTabSz="914400" rtl="0" eaLnBrk="1" fontAlgn="auto" latinLnBrk="0" hangingPunct="1">
                        <a:lnSpc>
                          <a:spcPct val="120000"/>
                        </a:lnSpc>
                        <a:spcBef>
                          <a:spcPts val="0"/>
                        </a:spcBef>
                        <a:spcAft>
                          <a:spcPts val="0"/>
                        </a:spcAft>
                        <a:buClrTx/>
                        <a:buSzPts val="800"/>
                        <a:buFont typeface="Wingdings"/>
                        <a:buChar char=""/>
                        <a:tabLst>
                          <a:tab pos="164465" algn="l"/>
                          <a:tab pos="228600" algn="l"/>
                        </a:tabLst>
                        <a:defRPr/>
                      </a:pPr>
                      <a:r>
                        <a:rPr kumimoji="0" lang="en-US" sz="1400" b="0" i="0" u="none" strike="noStrike" kern="1200" cap="none" spc="0" normalizeH="0" baseline="0" noProof="0" dirty="0">
                          <a:ln>
                            <a:noFill/>
                          </a:ln>
                          <a:solidFill>
                            <a:srgbClr val="000000"/>
                          </a:solidFill>
                          <a:effectLst/>
                          <a:uLnTx/>
                          <a:uFillTx/>
                          <a:latin typeface="Arial"/>
                          <a:ea typeface="Times New Roman"/>
                          <a:cs typeface="Times New Roman"/>
                        </a:rPr>
                        <a:t>Malaria Rapid diagnostic test (RDT): Positive or negative test</a:t>
                      </a:r>
                      <a:endParaRPr kumimoji="0" lang="en-US" sz="1400" b="0" i="0" u="none" strike="noStrike" kern="1200" cap="none" spc="0" normalizeH="0" baseline="0" noProof="0" dirty="0">
                        <a:ln>
                          <a:noFill/>
                        </a:ln>
                        <a:solidFill>
                          <a:srgbClr val="000000"/>
                        </a:solidFill>
                        <a:effectLst/>
                        <a:uLnTx/>
                        <a:uFillTx/>
                        <a:latin typeface="Times New Roman"/>
                        <a:ea typeface="Times New Roman"/>
                        <a:cs typeface="Times New Roman"/>
                      </a:endParaRPr>
                    </a:p>
                    <a:p>
                      <a:endParaRPr lang="en-US" sz="1400" dirty="0"/>
                    </a:p>
                  </a:txBody>
                  <a:tcPr/>
                </a:tc>
                <a:extLst>
                  <a:ext uri="{0D108BD9-81ED-4DB2-BD59-A6C34878D82A}">
                    <a16:rowId xmlns:a16="http://schemas.microsoft.com/office/drawing/2014/main" val="10005"/>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68</a:t>
            </a:fld>
            <a:endParaRPr lang="en-US">
              <a:solidFill>
                <a:prstClr val="black">
                  <a:tint val="75000"/>
                </a:prstClr>
              </a:solidFill>
            </a:endParaRPr>
          </a:p>
        </p:txBody>
      </p:sp>
    </p:spTree>
    <p:extLst>
      <p:ext uri="{BB962C8B-B14F-4D97-AF65-F5344CB8AC3E}">
        <p14:creationId xmlns:p14="http://schemas.microsoft.com/office/powerpoint/2010/main" val="35730597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676400" y="104013"/>
          <a:ext cx="8839200" cy="6936241"/>
        </p:xfrm>
        <a:graphic>
          <a:graphicData uri="http://schemas.openxmlformats.org/drawingml/2006/table">
            <a:tbl>
              <a:tblPr/>
              <a:tblGrid>
                <a:gridCol w="8839200">
                  <a:extLst>
                    <a:ext uri="{9D8B030D-6E8A-4147-A177-3AD203B41FA5}">
                      <a16:colId xmlns:a16="http://schemas.microsoft.com/office/drawing/2014/main" val="20000"/>
                    </a:ext>
                  </a:extLst>
                </a:gridCol>
              </a:tblGrid>
              <a:tr h="310716">
                <a:tc>
                  <a:txBody>
                    <a:bodyPr/>
                    <a:lstStyle/>
                    <a:p>
                      <a:pPr marL="0" marR="0" algn="ctr">
                        <a:lnSpc>
                          <a:spcPct val="115000"/>
                        </a:lnSpc>
                        <a:spcBef>
                          <a:spcPts val="0"/>
                        </a:spcBef>
                        <a:spcAft>
                          <a:spcPts val="0"/>
                        </a:spcAft>
                      </a:pPr>
                      <a:r>
                        <a:rPr lang="en-GB" sz="1200" b="1" i="0" dirty="0">
                          <a:effectLst/>
                          <a:latin typeface="Times New Roman"/>
                          <a:ea typeface="Times New Roman"/>
                          <a:cs typeface="Times New Roman"/>
                        </a:rPr>
                        <a:t>Meningococcal Meningitis</a:t>
                      </a:r>
                      <a:endParaRPr lang="en-US" sz="1200" b="1" i="1" dirty="0">
                        <a:effectLst/>
                        <a:latin typeface="Calibri"/>
                        <a:ea typeface="Times New Roman"/>
                        <a:cs typeface="Times New Roman"/>
                      </a:endParaRPr>
                    </a:p>
                  </a:txBody>
                  <a:tcPr marL="35823" marR="35823"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9012">
                <a:tc>
                  <a:txBody>
                    <a:bodyPr/>
                    <a:lstStyle/>
                    <a:p>
                      <a:pPr marL="0" marR="0">
                        <a:lnSpc>
                          <a:spcPct val="115000"/>
                        </a:lnSpc>
                        <a:spcBef>
                          <a:spcPts val="0"/>
                        </a:spcBef>
                        <a:spcAft>
                          <a:spcPts val="0"/>
                        </a:spcAft>
                      </a:pPr>
                      <a:r>
                        <a:rPr lang="en-GB" sz="1200" b="1">
                          <a:effectLst/>
                          <a:latin typeface="Times New Roman"/>
                          <a:ea typeface="Times New Roman"/>
                        </a:rPr>
                        <a:t>Background</a:t>
                      </a:r>
                      <a:endParaRPr lang="en-US" sz="1200">
                        <a:effectLst/>
                        <a:latin typeface="Times New Roman"/>
                        <a:ea typeface="Times New Roman"/>
                      </a:endParaRPr>
                    </a:p>
                  </a:txBody>
                  <a:tcPr marL="35823" marR="35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594659">
                <a:tc>
                  <a:txBody>
                    <a:bodyPr/>
                    <a:lstStyle/>
                    <a:p>
                      <a:pPr marL="228600" marR="0">
                        <a:lnSpc>
                          <a:spcPct val="120000"/>
                        </a:lnSpc>
                        <a:spcBef>
                          <a:spcPts val="0"/>
                        </a:spcBef>
                        <a:spcAft>
                          <a:spcPts val="255"/>
                        </a:spcAft>
                      </a:pPr>
                      <a:r>
                        <a:rPr lang="en-GB" sz="1200"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US" sz="1200" i="1" dirty="0">
                          <a:effectLst/>
                          <a:latin typeface="Arial"/>
                          <a:ea typeface="Calibri"/>
                          <a:cs typeface="Times New Roman"/>
                        </a:rPr>
                        <a:t>Neisseria </a:t>
                      </a:r>
                      <a:r>
                        <a:rPr lang="en-US" sz="1200" i="1" dirty="0" err="1">
                          <a:effectLst/>
                          <a:latin typeface="Arial"/>
                          <a:ea typeface="Calibri"/>
                          <a:cs typeface="Times New Roman"/>
                        </a:rPr>
                        <a:t>meningitidis</a:t>
                      </a:r>
                      <a:r>
                        <a:rPr lang="en-US" sz="1200" dirty="0">
                          <a:effectLst/>
                          <a:latin typeface="Arial"/>
                          <a:ea typeface="Calibri"/>
                          <a:cs typeface="Times New Roman"/>
                        </a:rPr>
                        <a:t>, </a:t>
                      </a:r>
                      <a:r>
                        <a:rPr lang="en-US" sz="1200" i="1" dirty="0" err="1">
                          <a:effectLst/>
                          <a:latin typeface="Arial"/>
                          <a:ea typeface="Calibri"/>
                          <a:cs typeface="Times New Roman"/>
                        </a:rPr>
                        <a:t>Haemophilus</a:t>
                      </a:r>
                      <a:r>
                        <a:rPr lang="en-US" sz="1200" i="1" dirty="0">
                          <a:effectLst/>
                          <a:latin typeface="Arial"/>
                          <a:ea typeface="Calibri"/>
                          <a:cs typeface="Times New Roman"/>
                        </a:rPr>
                        <a:t> </a:t>
                      </a:r>
                      <a:r>
                        <a:rPr lang="en-US" sz="1200" i="1" dirty="0" err="1">
                          <a:effectLst/>
                          <a:latin typeface="Arial"/>
                          <a:ea typeface="Calibri"/>
                          <a:cs typeface="Times New Roman"/>
                        </a:rPr>
                        <a:t>influenzae</a:t>
                      </a:r>
                      <a:r>
                        <a:rPr lang="en-US" sz="1200" dirty="0">
                          <a:effectLst/>
                          <a:latin typeface="Arial"/>
                          <a:ea typeface="Calibri"/>
                          <a:cs typeface="Times New Roman"/>
                        </a:rPr>
                        <a:t> type b (</a:t>
                      </a:r>
                      <a:r>
                        <a:rPr lang="en-US" sz="1200" dirty="0" err="1">
                          <a:effectLst/>
                          <a:latin typeface="Arial"/>
                          <a:ea typeface="Calibri"/>
                          <a:cs typeface="Times New Roman"/>
                        </a:rPr>
                        <a:t>Hib</a:t>
                      </a:r>
                      <a:r>
                        <a:rPr lang="en-US" sz="1200" dirty="0">
                          <a:effectLst/>
                          <a:latin typeface="Arial"/>
                          <a:ea typeface="Calibri"/>
                          <a:cs typeface="Times New Roman"/>
                        </a:rPr>
                        <a:t>), and </a:t>
                      </a:r>
                      <a:r>
                        <a:rPr lang="en-US" sz="1200" i="1" dirty="0">
                          <a:effectLst/>
                          <a:latin typeface="Arial"/>
                          <a:ea typeface="Calibri"/>
                          <a:cs typeface="Times New Roman"/>
                        </a:rPr>
                        <a:t>Streptococcus </a:t>
                      </a:r>
                      <a:r>
                        <a:rPr lang="en-US" sz="1200" i="1" dirty="0" err="1">
                          <a:effectLst/>
                          <a:latin typeface="Arial"/>
                          <a:ea typeface="Calibri"/>
                          <a:cs typeface="Times New Roman"/>
                        </a:rPr>
                        <a:t>pneumoniae</a:t>
                      </a:r>
                      <a:r>
                        <a:rPr lang="en-US" sz="1200" dirty="0">
                          <a:effectLst/>
                          <a:latin typeface="Arial"/>
                          <a:ea typeface="Calibri"/>
                          <a:cs typeface="Times New Roman"/>
                        </a:rPr>
                        <a:t> constitute the majority of all cases of bacterial meningitis and 90% of bacterial meningitis in children. </a:t>
                      </a:r>
                      <a:endParaRPr lang="en-US" sz="1200" dirty="0">
                        <a:effectLst/>
                        <a:latin typeface="Calibri"/>
                        <a:ea typeface="Calibri"/>
                        <a:cs typeface="Times New Roman"/>
                      </a:endParaRPr>
                    </a:p>
                    <a:p>
                      <a:pPr marL="228600" marR="0">
                        <a:lnSpc>
                          <a:spcPct val="120000"/>
                        </a:lnSpc>
                        <a:spcBef>
                          <a:spcPts val="0"/>
                        </a:spcBef>
                        <a:spcAft>
                          <a:spcPts val="0"/>
                        </a:spcAft>
                      </a:pPr>
                      <a:r>
                        <a:rPr lang="en-GB" sz="1200"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US" sz="1200" dirty="0">
                          <a:effectLst/>
                          <a:latin typeface="Arial"/>
                          <a:ea typeface="Calibri"/>
                          <a:cs typeface="Times New Roman"/>
                        </a:rPr>
                        <a:t>Meningococcal meningitis is the main form of meningitis to cause epidemics and remains a major public health challenge in the African meningitis belt, an area that extends from Senegal to Ethiopia.  In these countries, large outbreaks may occur during the dry season (e.g., November through May). Outside of the meningitis belt, smaller outbreaks may occur year-round.</a:t>
                      </a:r>
                      <a:endParaRPr lang="en-US" sz="1200" dirty="0">
                        <a:effectLst/>
                        <a:latin typeface="Calibri"/>
                        <a:ea typeface="Calibri"/>
                        <a:cs typeface="Times New Roman"/>
                      </a:endParaRPr>
                    </a:p>
                    <a:p>
                      <a:pPr marL="0" marR="0">
                        <a:lnSpc>
                          <a:spcPct val="120000"/>
                        </a:lnSpc>
                        <a:spcBef>
                          <a:spcPts val="0"/>
                        </a:spcBef>
                        <a:spcAft>
                          <a:spcPts val="0"/>
                        </a:spcAft>
                      </a:pPr>
                      <a:r>
                        <a:rPr lang="en-US" sz="1200"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US" sz="1200" dirty="0">
                          <a:effectLst/>
                          <a:latin typeface="Arial"/>
                          <a:ea typeface="Calibri"/>
                          <a:cs typeface="Times New Roman"/>
                        </a:rPr>
                        <a:t>Epidemics in the meningitis belt are traditionally associated with </a:t>
                      </a:r>
                      <a:r>
                        <a:rPr lang="en-US" sz="1200" i="1" dirty="0">
                          <a:effectLst/>
                          <a:latin typeface="Arial"/>
                          <a:ea typeface="Calibri"/>
                          <a:cs typeface="Times New Roman"/>
                        </a:rPr>
                        <a:t>Neisseria meningitides </a:t>
                      </a:r>
                      <a:r>
                        <a:rPr lang="en-US" sz="1200" dirty="0" err="1">
                          <a:effectLst/>
                          <a:latin typeface="Arial"/>
                          <a:ea typeface="Calibri"/>
                          <a:cs typeface="Times New Roman"/>
                        </a:rPr>
                        <a:t>serogroup</a:t>
                      </a:r>
                      <a:r>
                        <a:rPr lang="en-US" sz="1200" dirty="0">
                          <a:effectLst/>
                          <a:latin typeface="Arial"/>
                          <a:ea typeface="Calibri"/>
                          <a:cs typeface="Times New Roman"/>
                        </a:rPr>
                        <a:t> A although in 2002 an epidemic due to Nm </a:t>
                      </a:r>
                      <a:r>
                        <a:rPr lang="en-US" sz="1200" dirty="0" err="1">
                          <a:effectLst/>
                          <a:latin typeface="Arial"/>
                          <a:ea typeface="Calibri"/>
                          <a:cs typeface="Times New Roman"/>
                        </a:rPr>
                        <a:t>serogroup</a:t>
                      </a:r>
                      <a:r>
                        <a:rPr lang="en-US" sz="1200" dirty="0">
                          <a:effectLst/>
                          <a:latin typeface="Arial"/>
                          <a:ea typeface="Calibri"/>
                          <a:cs typeface="Times New Roman"/>
                        </a:rPr>
                        <a:t> W135 occurred in Burkina and in 2006 Nm </a:t>
                      </a:r>
                      <a:r>
                        <a:rPr lang="en-US" sz="1200" dirty="0" err="1">
                          <a:effectLst/>
                          <a:latin typeface="Arial"/>
                          <a:ea typeface="Calibri"/>
                          <a:cs typeface="Times New Roman"/>
                        </a:rPr>
                        <a:t>serogroup</a:t>
                      </a:r>
                      <a:r>
                        <a:rPr lang="en-US" sz="1200" dirty="0">
                          <a:effectLst/>
                          <a:latin typeface="Arial"/>
                          <a:ea typeface="Calibri"/>
                          <a:cs typeface="Times New Roman"/>
                        </a:rPr>
                        <a:t> X was isolated in Niger.  </a:t>
                      </a:r>
                      <a:endParaRPr lang="en-US" sz="1200" dirty="0">
                        <a:effectLst/>
                        <a:latin typeface="Calibri"/>
                        <a:ea typeface="Calibri"/>
                        <a:cs typeface="Times New Roman"/>
                      </a:endParaRPr>
                    </a:p>
                    <a:p>
                      <a:pPr marL="0" marR="0">
                        <a:lnSpc>
                          <a:spcPct val="120000"/>
                        </a:lnSpc>
                        <a:spcBef>
                          <a:spcPts val="0"/>
                        </a:spcBef>
                        <a:spcAft>
                          <a:spcPts val="0"/>
                        </a:spcAft>
                      </a:pPr>
                      <a:r>
                        <a:rPr lang="en-GB" sz="1200"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US" sz="1200" dirty="0">
                          <a:effectLst/>
                          <a:latin typeface="Arial"/>
                          <a:ea typeface="Calibri"/>
                          <a:cs typeface="Times New Roman"/>
                        </a:rPr>
                        <a:t>Human-to-human disease transmission is via large respiratory droplets from the nose and throats of infected people.  </a:t>
                      </a:r>
                      <a:endParaRPr lang="en-US" sz="1200" dirty="0">
                        <a:effectLst/>
                        <a:latin typeface="Calibri"/>
                        <a:ea typeface="Calibri"/>
                        <a:cs typeface="Times New Roman"/>
                      </a:endParaRPr>
                    </a:p>
                    <a:p>
                      <a:pPr marL="0" marR="0">
                        <a:lnSpc>
                          <a:spcPct val="120000"/>
                        </a:lnSpc>
                        <a:spcBef>
                          <a:spcPts val="0"/>
                        </a:spcBef>
                        <a:spcAft>
                          <a:spcPts val="0"/>
                        </a:spcAft>
                      </a:pPr>
                      <a:r>
                        <a:rPr lang="en-GB" sz="1200"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US" sz="1200" dirty="0">
                          <a:effectLst/>
                          <a:latin typeface="Arial"/>
                          <a:ea typeface="Calibri"/>
                          <a:cs typeface="Times New Roman"/>
                        </a:rPr>
                        <a:t>Incubation period is 2 to 10 days.</a:t>
                      </a:r>
                      <a:endParaRPr lang="en-US" sz="1200" dirty="0">
                        <a:effectLst/>
                        <a:latin typeface="Calibri"/>
                        <a:ea typeface="Calibri"/>
                        <a:cs typeface="Times New Roman"/>
                      </a:endParaRPr>
                    </a:p>
                    <a:p>
                      <a:pPr marL="0" marR="0">
                        <a:lnSpc>
                          <a:spcPct val="120000"/>
                        </a:lnSpc>
                        <a:spcBef>
                          <a:spcPts val="0"/>
                        </a:spcBef>
                        <a:spcAft>
                          <a:spcPts val="0"/>
                        </a:spcAft>
                      </a:pPr>
                      <a:r>
                        <a:rPr lang="en-GB" sz="1200"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US" sz="1200" dirty="0">
                          <a:effectLst/>
                          <a:latin typeface="Arial"/>
                          <a:ea typeface="Calibri"/>
                          <a:cs typeface="Times New Roman"/>
                        </a:rPr>
                        <a:t>Attack rates are highest among children aged less than 15 years. Case fatality rates are usually 8-15% among treated patients, and &gt;70% among untreated cases. Many survivors suffer long-term </a:t>
                      </a:r>
                      <a:r>
                        <a:rPr lang="en-US" sz="1200" dirty="0" err="1">
                          <a:effectLst/>
                          <a:latin typeface="Arial"/>
                          <a:ea typeface="Calibri"/>
                          <a:cs typeface="Times New Roman"/>
                        </a:rPr>
                        <a:t>sequelae</a:t>
                      </a:r>
                      <a:r>
                        <a:rPr lang="en-US" sz="1200" dirty="0">
                          <a:effectLst/>
                          <a:latin typeface="Arial"/>
                          <a:ea typeface="Calibri"/>
                          <a:cs typeface="Times New Roman"/>
                        </a:rPr>
                        <a:t> including mental retardation, hearing loss and loss of limb use.</a:t>
                      </a:r>
                      <a:endParaRPr lang="en-US" sz="1200" dirty="0">
                        <a:effectLst/>
                        <a:latin typeface="Calibri"/>
                        <a:ea typeface="Calibri"/>
                        <a:cs typeface="Times New Roman"/>
                      </a:endParaRPr>
                    </a:p>
                    <a:p>
                      <a:pPr marL="0" marR="0">
                        <a:lnSpc>
                          <a:spcPct val="120000"/>
                        </a:lnSpc>
                        <a:spcBef>
                          <a:spcPts val="0"/>
                        </a:spcBef>
                        <a:spcAft>
                          <a:spcPts val="0"/>
                        </a:spcAft>
                      </a:pPr>
                      <a:r>
                        <a:rPr lang="en-GB" sz="1200"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US" sz="1200" dirty="0">
                          <a:effectLst/>
                          <a:latin typeface="Arial"/>
                          <a:ea typeface="Calibri"/>
                          <a:cs typeface="Times New Roman"/>
                        </a:rPr>
                        <a:t>Oily chloramphenicol is the drug of choice during epidemics because a single dose of this long-acting formulation has been shown</a:t>
                      </a:r>
                      <a:r>
                        <a:rPr lang="en-US" sz="1200" dirty="0">
                          <a:solidFill>
                            <a:srgbClr val="000000"/>
                          </a:solidFill>
                          <a:effectLst/>
                          <a:latin typeface="Arial"/>
                          <a:ea typeface="Calibri"/>
                          <a:cs typeface="Times New Roman"/>
                        </a:rPr>
                        <a:t> to be effective.  </a:t>
                      </a:r>
                      <a:r>
                        <a:rPr lang="en-US" sz="1200" dirty="0">
                          <a:effectLst/>
                          <a:latin typeface="Arial"/>
                          <a:ea typeface="Calibri"/>
                          <a:cs typeface="Times New Roman"/>
                        </a:rPr>
                        <a:t>Antimicrobial resistance to chloramphenicol has not yet been detected in Africa, however, resistance to </a:t>
                      </a:r>
                      <a:r>
                        <a:rPr lang="en-US" sz="1200" dirty="0" err="1">
                          <a:effectLst/>
                          <a:latin typeface="Arial"/>
                          <a:ea typeface="Calibri"/>
                          <a:cs typeface="Times New Roman"/>
                        </a:rPr>
                        <a:t>sulphonamides</a:t>
                      </a:r>
                      <a:r>
                        <a:rPr lang="en-US" sz="1200" dirty="0">
                          <a:effectLst/>
                          <a:latin typeface="Arial"/>
                          <a:ea typeface="Calibri"/>
                          <a:cs typeface="Times New Roman"/>
                        </a:rPr>
                        <a:t> is widespread.</a:t>
                      </a:r>
                      <a:endParaRPr lang="en-US" sz="1200" dirty="0">
                        <a:effectLst/>
                        <a:latin typeface="Calibri"/>
                        <a:ea typeface="Calibri"/>
                        <a:cs typeface="Times New Roman"/>
                      </a:endParaRPr>
                    </a:p>
                    <a:p>
                      <a:pPr marL="0" marR="0">
                        <a:lnSpc>
                          <a:spcPct val="120000"/>
                        </a:lnSpc>
                        <a:spcBef>
                          <a:spcPts val="0"/>
                        </a:spcBef>
                        <a:spcAft>
                          <a:spcPts val="0"/>
                        </a:spcAft>
                      </a:pPr>
                      <a:r>
                        <a:rPr lang="en-GB" sz="1200"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US" sz="1200" dirty="0">
                          <a:effectLst/>
                          <a:latin typeface="Arial"/>
                          <a:ea typeface="MS Mincho"/>
                          <a:cs typeface="Times New Roman"/>
                        </a:rPr>
                        <a:t>The current response to meningitis epidemics consists of reactive mass vaccination campaigns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US" sz="1200" dirty="0">
                          <a:effectLst/>
                          <a:latin typeface="Arial"/>
                          <a:ea typeface="MS Mincho"/>
                          <a:cs typeface="Times New Roman"/>
                        </a:rPr>
                        <a:t>A meningococcal A conjugate vaccine has been developed which is immunogenic in both infants and adults and is expected to confer long-term protection.  It is expected that introduction of this conjugate vaccine into meningitis belt countries is likely to dramatically reduce the circulation of Nm A and eliminate Nm A epidemics.</a:t>
                      </a:r>
                      <a:r>
                        <a:rPr lang="en-US" sz="1200" dirty="0">
                          <a:effectLst/>
                          <a:latin typeface="Calibri"/>
                          <a:ea typeface="Calibri"/>
                          <a:cs typeface="Times New Roman"/>
                        </a:rPr>
                        <a:t> </a:t>
                      </a:r>
                    </a:p>
                    <a:p>
                      <a:pPr marL="228600" marR="0">
                        <a:lnSpc>
                          <a:spcPct val="120000"/>
                        </a:lnSpc>
                        <a:spcBef>
                          <a:spcPts val="0"/>
                        </a:spcBef>
                        <a:spcAft>
                          <a:spcPts val="0"/>
                        </a:spcAft>
                      </a:pPr>
                      <a:r>
                        <a:rPr lang="en-GB" sz="1200" dirty="0">
                          <a:effectLst/>
                          <a:latin typeface="Arial"/>
                          <a:ea typeface="Calibri"/>
                          <a:cs typeface="Times New Roman"/>
                        </a:rPr>
                        <a:t> </a:t>
                      </a:r>
                      <a:endParaRPr lang="en-US" sz="1200" dirty="0">
                        <a:effectLst/>
                        <a:latin typeface="Calibri"/>
                        <a:ea typeface="Calibri"/>
                        <a:cs typeface="Times New Roman"/>
                      </a:endParaRPr>
                    </a:p>
                  </a:txBody>
                  <a:tcPr marL="35823" marR="3582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69</a:t>
            </a:fld>
            <a:endParaRPr lang="en-US">
              <a:solidFill>
                <a:prstClr val="black">
                  <a:tint val="75000"/>
                </a:prstClr>
              </a:solidFill>
            </a:endParaRPr>
          </a:p>
        </p:txBody>
      </p:sp>
    </p:spTree>
    <p:extLst>
      <p:ext uri="{BB962C8B-B14F-4D97-AF65-F5344CB8AC3E}">
        <p14:creationId xmlns:p14="http://schemas.microsoft.com/office/powerpoint/2010/main" val="19387418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676400" y="228600"/>
          <a:ext cx="8763000" cy="6636258"/>
        </p:xfrm>
        <a:graphic>
          <a:graphicData uri="http://schemas.openxmlformats.org/drawingml/2006/table">
            <a:tbl>
              <a:tblPr firstRow="1" bandRow="1">
                <a:tableStyleId>{5C22544A-7EE6-4342-B048-85BDC9FD1C3A}</a:tableStyleId>
              </a:tblPr>
              <a:tblGrid>
                <a:gridCol w="8763000">
                  <a:extLst>
                    <a:ext uri="{9D8B030D-6E8A-4147-A177-3AD203B41FA5}">
                      <a16:colId xmlns:a16="http://schemas.microsoft.com/office/drawing/2014/main" val="20000"/>
                    </a:ext>
                  </a:extLst>
                </a:gridCol>
              </a:tblGrid>
              <a:tr h="370840">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GB" sz="1300" b="1" i="0" u="none" strike="noStrike" kern="1200" cap="none" spc="0" normalizeH="0" baseline="0" noProof="0" dirty="0">
                          <a:ln>
                            <a:noFill/>
                          </a:ln>
                          <a:solidFill>
                            <a:prstClr val="black"/>
                          </a:solidFill>
                          <a:effectLst/>
                          <a:uLnTx/>
                          <a:uFillTx/>
                          <a:latin typeface="Times New Roman"/>
                          <a:ea typeface="Times New Roman"/>
                          <a:cs typeface="Times New Roman"/>
                        </a:rPr>
                        <a:t>Meningococcal Meningitis</a:t>
                      </a:r>
                      <a:endParaRPr kumimoji="0" lang="en-US" sz="800" b="1" i="1" u="none" strike="noStrike" kern="1200" cap="none" spc="0" normalizeH="0" baseline="0" noProof="0" dirty="0">
                        <a:ln>
                          <a:noFill/>
                        </a:ln>
                        <a:solidFill>
                          <a:prstClr val="black"/>
                        </a:solidFill>
                        <a:effectLst/>
                        <a:uLnTx/>
                        <a:uFillTx/>
                        <a:latin typeface="+mn-lt"/>
                        <a:ea typeface="Times New Roman"/>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a:ea typeface="Calibri"/>
                          <a:cs typeface="Times New Roman"/>
                        </a:rPr>
                        <a:t>Standard case definition</a:t>
                      </a:r>
                      <a:endParaRPr kumimoji="0" lang="en-US" sz="1800" b="0" i="0" u="none" strike="noStrike" kern="1200" cap="none" spc="0" normalizeH="0" baseline="0" noProof="0" dirty="0">
                        <a:ln>
                          <a:noFill/>
                        </a:ln>
                        <a:solidFill>
                          <a:prstClr val="black"/>
                        </a:solidFill>
                        <a:effectLst/>
                        <a:uLnTx/>
                        <a:uFillTx/>
                        <a:latin typeface="+mn-lt"/>
                        <a:ea typeface="Calibri"/>
                        <a:cs typeface="Times New Roman"/>
                      </a:endParaRPr>
                    </a:p>
                    <a:p>
                      <a:endParaRPr lang="en-US" dirty="0"/>
                    </a:p>
                  </a:txBody>
                  <a:tcPr/>
                </a:tc>
                <a:extLst>
                  <a:ext uri="{0D108BD9-81ED-4DB2-BD59-A6C34878D82A}">
                    <a16:rowId xmlns:a16="http://schemas.microsoft.com/office/drawing/2014/main" val="10000"/>
                  </a:ext>
                </a:extLst>
              </a:tr>
              <a:tr h="370840">
                <a:tc>
                  <a:txBody>
                    <a:bodyPr/>
                    <a:lstStyle/>
                    <a:p>
                      <a:pPr marL="0" marR="0" lvl="0" indent="0" algn="l" defTabSz="914400" rtl="0" eaLnBrk="1" fontAlgn="auto" latinLnBrk="0" hangingPunct="1">
                        <a:lnSpc>
                          <a:spcPct val="120000"/>
                        </a:lnSpc>
                        <a:spcBef>
                          <a:spcPts val="0"/>
                        </a:spcBef>
                        <a:spcAft>
                          <a:spcPts val="0"/>
                        </a:spcAft>
                        <a:buClrTx/>
                        <a:buSzTx/>
                        <a:buFontTx/>
                        <a:buNone/>
                        <a:tabLst>
                          <a:tab pos="0" algn="l"/>
                        </a:tabLst>
                        <a:defRPr/>
                      </a:pPr>
                      <a:endParaRPr kumimoji="0" lang="en-US" sz="18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tab pos="0" algn="l"/>
                        </a:tabLst>
                        <a:defRPr/>
                      </a:pPr>
                      <a:r>
                        <a:rPr kumimoji="0" lang="en-GB" sz="1800" b="1" i="1" u="none" strike="noStrike" kern="1200" cap="none" spc="0" normalizeH="0" baseline="0" noProof="0" dirty="0">
                          <a:ln>
                            <a:noFill/>
                          </a:ln>
                          <a:solidFill>
                            <a:prstClr val="black"/>
                          </a:solidFill>
                          <a:effectLst/>
                          <a:uLnTx/>
                          <a:uFillTx/>
                          <a:latin typeface="Arial"/>
                          <a:ea typeface="Calibri"/>
                          <a:cs typeface="Times New Roman"/>
                        </a:rPr>
                        <a:t>Suspected case</a:t>
                      </a:r>
                      <a:r>
                        <a:rPr kumimoji="0" lang="en-GB" sz="1800" b="0" i="0" u="none" strike="noStrike" kern="1200" cap="none" spc="0" normalizeH="0" baseline="0" noProof="0" dirty="0">
                          <a:ln>
                            <a:noFill/>
                          </a:ln>
                          <a:solidFill>
                            <a:prstClr val="black"/>
                          </a:solidFill>
                          <a:effectLst/>
                          <a:uLnTx/>
                          <a:uFillTx/>
                          <a:latin typeface="Arial"/>
                          <a:ea typeface="Calibri"/>
                          <a:cs typeface="Times New Roman"/>
                        </a:rPr>
                        <a:t>:  Any person with sudden onset of fever (&gt;38.5ºC rectal or 38.0ºC axillary) and one of the following signs: neck stiffness, altered consciousness or other meningeal signs.</a:t>
                      </a:r>
                      <a:endParaRPr kumimoji="0" lang="en-US" sz="18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tab pos="0" algn="l"/>
                        </a:tabLst>
                        <a:defRPr/>
                      </a:pPr>
                      <a:r>
                        <a:rPr kumimoji="0" lang="en-GB" sz="1800" b="1" i="0" u="none" strike="noStrike" kern="1200" cap="none" spc="0" normalizeH="0" baseline="0" noProof="0" dirty="0">
                          <a:ln>
                            <a:noFill/>
                          </a:ln>
                          <a:solidFill>
                            <a:prstClr val="black"/>
                          </a:solidFill>
                          <a:effectLst/>
                          <a:uLnTx/>
                          <a:uFillTx/>
                          <a:latin typeface="Arial"/>
                          <a:ea typeface="Calibri"/>
                          <a:cs typeface="Times New Roman"/>
                        </a:rPr>
                        <a:t> </a:t>
                      </a:r>
                      <a:endParaRPr kumimoji="0" lang="en-US" sz="18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255"/>
                        </a:spcAft>
                        <a:buClrTx/>
                        <a:buSzTx/>
                        <a:buFontTx/>
                        <a:buNone/>
                        <a:tabLst>
                          <a:tab pos="0" algn="l"/>
                        </a:tabLst>
                        <a:defRPr/>
                      </a:pPr>
                      <a:r>
                        <a:rPr kumimoji="0" lang="en-GB" sz="1800" b="1" i="1" u="none" strike="noStrike" kern="1200" cap="none" spc="0" normalizeH="0" baseline="0" noProof="0" dirty="0">
                          <a:ln>
                            <a:noFill/>
                          </a:ln>
                          <a:solidFill>
                            <a:prstClr val="black"/>
                          </a:solidFill>
                          <a:effectLst/>
                          <a:uLnTx/>
                          <a:uFillTx/>
                          <a:latin typeface="Arial"/>
                          <a:ea typeface="Calibri"/>
                          <a:cs typeface="Times New Roman"/>
                        </a:rPr>
                        <a:t>Confirmed case</a:t>
                      </a:r>
                      <a:r>
                        <a:rPr kumimoji="0" lang="en-GB" sz="1800" b="0" i="0" u="none" strike="noStrike" kern="1200" cap="none" spc="0" normalizeH="0" baseline="0" noProof="0" dirty="0">
                          <a:ln>
                            <a:noFill/>
                          </a:ln>
                          <a:solidFill>
                            <a:prstClr val="black"/>
                          </a:solidFill>
                          <a:effectLst/>
                          <a:uLnTx/>
                          <a:uFillTx/>
                          <a:latin typeface="Arial"/>
                          <a:ea typeface="Calibri"/>
                          <a:cs typeface="Times New Roman"/>
                        </a:rPr>
                        <a:t>: A suspected case confirmed by isolation of </a:t>
                      </a:r>
                      <a:r>
                        <a:rPr kumimoji="0" lang="en-GB" sz="1800" b="0" i="1" u="none" strike="noStrike" kern="1200" cap="none" spc="0" normalizeH="0" baseline="0" noProof="0" dirty="0">
                          <a:ln>
                            <a:noFill/>
                          </a:ln>
                          <a:solidFill>
                            <a:prstClr val="black"/>
                          </a:solidFill>
                          <a:effectLst/>
                          <a:uLnTx/>
                          <a:uFillTx/>
                          <a:latin typeface="Arial"/>
                          <a:ea typeface="Calibri"/>
                          <a:cs typeface="Times New Roman"/>
                        </a:rPr>
                        <a:t>N. </a:t>
                      </a:r>
                      <a:r>
                        <a:rPr kumimoji="0" lang="en-GB" sz="1800" b="0" i="1" u="none" strike="noStrike" kern="1200" cap="none" spc="0" normalizeH="0" baseline="0" noProof="0" dirty="0" err="1">
                          <a:ln>
                            <a:noFill/>
                          </a:ln>
                          <a:solidFill>
                            <a:prstClr val="black"/>
                          </a:solidFill>
                          <a:effectLst/>
                          <a:uLnTx/>
                          <a:uFillTx/>
                          <a:latin typeface="Arial"/>
                          <a:ea typeface="Calibri"/>
                          <a:cs typeface="Times New Roman"/>
                        </a:rPr>
                        <a:t>meningitidis</a:t>
                      </a:r>
                      <a:r>
                        <a:rPr kumimoji="0" lang="en-GB" sz="1800" b="0" i="0" u="none" strike="noStrike" kern="1200" cap="none" spc="0" normalizeH="0" baseline="0" noProof="0" dirty="0">
                          <a:ln>
                            <a:noFill/>
                          </a:ln>
                          <a:solidFill>
                            <a:prstClr val="black"/>
                          </a:solidFill>
                          <a:effectLst/>
                          <a:uLnTx/>
                          <a:uFillTx/>
                          <a:latin typeface="Arial"/>
                          <a:ea typeface="Calibri"/>
                          <a:cs typeface="Times New Roman"/>
                        </a:rPr>
                        <a:t> from cerebrospinal fluid (CSF) or blood.</a:t>
                      </a:r>
                      <a:endParaRPr kumimoji="0" lang="en-US" sz="1800" b="0" i="0" u="none" strike="noStrike" kern="1200" cap="none" spc="0" normalizeH="0" baseline="0" noProof="0" dirty="0">
                        <a:ln>
                          <a:noFill/>
                        </a:ln>
                        <a:solidFill>
                          <a:prstClr val="black"/>
                        </a:solidFill>
                        <a:effectLst/>
                        <a:uLnTx/>
                        <a:uFillTx/>
                        <a:latin typeface="+mn-lt"/>
                        <a:ea typeface="Calibri"/>
                        <a:cs typeface="Times New Roman"/>
                      </a:endParaRPr>
                    </a:p>
                    <a:p>
                      <a:endParaRPr lang="en-US" sz="1800" dirty="0"/>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Times New Roman"/>
                          <a:ea typeface="Calibri"/>
                          <a:cs typeface="Times New Roman"/>
                        </a:rPr>
                        <a:t>Prevention and control </a:t>
                      </a:r>
                      <a:endParaRPr kumimoji="0" lang="en-US" sz="1800" b="0" i="0" u="none" strike="noStrike" kern="1200" cap="none" spc="0" normalizeH="0" baseline="0" noProof="0" dirty="0">
                        <a:ln>
                          <a:noFill/>
                        </a:ln>
                        <a:solidFill>
                          <a:prstClr val="black"/>
                        </a:solidFill>
                        <a:effectLst/>
                        <a:uLnTx/>
                        <a:uFillTx/>
                        <a:latin typeface="+mn-lt"/>
                        <a:ea typeface="Calibri"/>
                        <a:cs typeface="Times New Roman"/>
                      </a:endParaRPr>
                    </a:p>
                    <a:p>
                      <a:endParaRPr lang="en-US" sz="1800" dirty="0"/>
                    </a:p>
                  </a:txBody>
                  <a:tcPr/>
                </a:tc>
                <a:extLst>
                  <a:ext uri="{0D108BD9-81ED-4DB2-BD59-A6C34878D82A}">
                    <a16:rowId xmlns:a16="http://schemas.microsoft.com/office/drawing/2014/main" val="10002"/>
                  </a:ext>
                </a:extLst>
              </a:tr>
              <a:tr h="370840">
                <a:tc>
                  <a:txBody>
                    <a:bodyPr/>
                    <a:lstStyle/>
                    <a:p>
                      <a:pPr marL="316865" marR="0" lvl="0" indent="-316865" algn="l" defTabSz="914400" rtl="0" eaLnBrk="1" fontAlgn="auto" latinLnBrk="0" hangingPunct="1">
                        <a:lnSpc>
                          <a:spcPct val="120000"/>
                        </a:lnSpc>
                        <a:spcBef>
                          <a:spcPts val="0"/>
                        </a:spcBef>
                        <a:spcAft>
                          <a:spcPts val="0"/>
                        </a:spcAft>
                        <a:buClrTx/>
                        <a:buSzTx/>
                        <a:buFontTx/>
                        <a:buNone/>
                        <a:tabLst>
                          <a:tab pos="316865" algn="l"/>
                        </a:tabLst>
                        <a:defRPr/>
                      </a:pPr>
                      <a:r>
                        <a:rPr kumimoji="0" lang="en-GB" sz="1800" b="1" i="0" u="none" strike="noStrike" kern="1200" cap="none" spc="0" normalizeH="0" baseline="0" noProof="0" dirty="0">
                          <a:ln>
                            <a:noFill/>
                          </a:ln>
                          <a:solidFill>
                            <a:prstClr val="black"/>
                          </a:solidFill>
                          <a:effectLst/>
                          <a:uLnTx/>
                          <a:uFillTx/>
                          <a:latin typeface="Arial"/>
                          <a:ea typeface="Calibri"/>
                          <a:cs typeface="Times New Roman"/>
                        </a:rPr>
                        <a:t>Respond to epidemic threshold:</a:t>
                      </a:r>
                      <a:endParaRPr kumimoji="0" lang="en-US" sz="1800" b="0" i="0" u="none" strike="noStrike" kern="1200" cap="none" spc="0" normalizeH="0" baseline="0" noProof="0" dirty="0">
                        <a:ln>
                          <a:noFill/>
                        </a:ln>
                        <a:solidFill>
                          <a:prstClr val="black"/>
                        </a:solidFill>
                        <a:effectLst/>
                        <a:uLnTx/>
                        <a:uFillTx/>
                        <a:latin typeface="+mn-lt"/>
                        <a:ea typeface="Calibri"/>
                        <a:cs typeface="Times New Roman"/>
                      </a:endParaRPr>
                    </a:p>
                    <a:p>
                      <a:pPr marL="342900" marR="0" lvl="0" indent="-342900" algn="l" defTabSz="914400" rtl="0" eaLnBrk="1" fontAlgn="auto" latinLnBrk="0" hangingPunct="1">
                        <a:lnSpc>
                          <a:spcPct val="115000"/>
                        </a:lnSpc>
                        <a:spcBef>
                          <a:spcPts val="0"/>
                        </a:spcBef>
                        <a:spcAft>
                          <a:spcPts val="0"/>
                        </a:spcAft>
                        <a:buClrTx/>
                        <a:buSzTx/>
                        <a:buFont typeface="Wingdings"/>
                        <a:buChar char=""/>
                        <a:tabLst>
                          <a:tab pos="316865" algn="l"/>
                          <a:tab pos="634365" algn="l"/>
                        </a:tabLst>
                        <a:defRPr/>
                      </a:pPr>
                      <a:r>
                        <a:rPr kumimoji="0" lang="en-GB" sz="1800" b="0" i="0" u="none" strike="noStrike" kern="1200" cap="none" spc="0" normalizeH="0" baseline="0" noProof="0" dirty="0">
                          <a:ln>
                            <a:noFill/>
                          </a:ln>
                          <a:solidFill>
                            <a:prstClr val="black"/>
                          </a:solidFill>
                          <a:effectLst/>
                          <a:uLnTx/>
                          <a:uFillTx/>
                          <a:latin typeface="Arial"/>
                          <a:ea typeface="Times New Roman"/>
                          <a:cs typeface="+mn-cs"/>
                        </a:rPr>
                        <a:t>Immediately vaccinate the epidemic district as well as any contiguous districts in alert phase.  </a:t>
                      </a:r>
                      <a:endParaRPr kumimoji="0" lang="en-US" sz="1800" b="0" i="0" u="none" strike="noStrike" kern="1200" cap="none" spc="0" normalizeH="0" baseline="0" noProof="0" dirty="0">
                        <a:ln>
                          <a:noFill/>
                        </a:ln>
                        <a:solidFill>
                          <a:prstClr val="black"/>
                        </a:solidFill>
                        <a:effectLst/>
                        <a:uLnTx/>
                        <a:uFillTx/>
                        <a:latin typeface="Times New Roman"/>
                        <a:ea typeface="Times New Roman"/>
                        <a:cs typeface="+mn-cs"/>
                      </a:endParaRPr>
                    </a:p>
                    <a:p>
                      <a:pPr marL="342900" marR="0" lvl="0" indent="-342900" algn="l" defTabSz="914400" rtl="0" eaLnBrk="1" fontAlgn="auto" latinLnBrk="0" hangingPunct="1">
                        <a:lnSpc>
                          <a:spcPct val="115000"/>
                        </a:lnSpc>
                        <a:spcBef>
                          <a:spcPts val="0"/>
                        </a:spcBef>
                        <a:spcAft>
                          <a:spcPts val="0"/>
                        </a:spcAft>
                        <a:buClrTx/>
                        <a:buSzTx/>
                        <a:buFont typeface="Wingdings"/>
                        <a:buChar char=""/>
                        <a:tabLst>
                          <a:tab pos="316865" algn="l"/>
                          <a:tab pos="634365" algn="l"/>
                        </a:tabLst>
                        <a:defRPr/>
                      </a:pPr>
                      <a:r>
                        <a:rPr kumimoji="0" lang="en-GB" sz="1800" b="0" i="0" u="none" strike="noStrike" kern="1200" cap="none" spc="0" normalizeH="0" baseline="0" noProof="0" dirty="0">
                          <a:ln>
                            <a:noFill/>
                          </a:ln>
                          <a:solidFill>
                            <a:prstClr val="black"/>
                          </a:solidFill>
                          <a:effectLst/>
                          <a:uLnTx/>
                          <a:uFillTx/>
                          <a:latin typeface="Arial"/>
                          <a:ea typeface="Times New Roman"/>
                          <a:cs typeface="+mn-cs"/>
                        </a:rPr>
                        <a:t>Mobilize community to permit early case detection and treatment, and improve vaccine coverage during mass vaccination campaigns for outbreak control.</a:t>
                      </a:r>
                      <a:endParaRPr kumimoji="0" lang="en-US" sz="1800" b="0" i="0" u="none" strike="noStrike" kern="1200" cap="none" spc="0" normalizeH="0" baseline="0" noProof="0" dirty="0">
                        <a:ln>
                          <a:noFill/>
                        </a:ln>
                        <a:solidFill>
                          <a:prstClr val="black"/>
                        </a:solidFill>
                        <a:effectLst/>
                        <a:uLnTx/>
                        <a:uFillTx/>
                        <a:latin typeface="Times New Roman"/>
                        <a:ea typeface="Times New Roman"/>
                        <a:cs typeface="+mn-cs"/>
                      </a:endParaRPr>
                    </a:p>
                    <a:p>
                      <a:pPr marL="342900" marR="0" lvl="0" indent="-342900" algn="l" defTabSz="914400" rtl="0" eaLnBrk="1" fontAlgn="auto" latinLnBrk="0" hangingPunct="1">
                        <a:lnSpc>
                          <a:spcPct val="115000"/>
                        </a:lnSpc>
                        <a:spcBef>
                          <a:spcPts val="0"/>
                        </a:spcBef>
                        <a:spcAft>
                          <a:spcPts val="255"/>
                        </a:spcAft>
                        <a:buClrTx/>
                        <a:buSzTx/>
                        <a:buFont typeface="Wingdings"/>
                        <a:buChar char=""/>
                        <a:tabLst>
                          <a:tab pos="316865" algn="l"/>
                          <a:tab pos="634365" algn="l"/>
                        </a:tabLst>
                        <a:defRPr/>
                      </a:pPr>
                      <a:r>
                        <a:rPr kumimoji="0" lang="en-GB" sz="1800" b="0" i="0" u="none" strike="noStrike" kern="1200" cap="none" spc="0" normalizeH="0" baseline="0" noProof="0" dirty="0">
                          <a:ln>
                            <a:noFill/>
                          </a:ln>
                          <a:solidFill>
                            <a:prstClr val="black"/>
                          </a:solidFill>
                          <a:effectLst/>
                          <a:uLnTx/>
                          <a:uFillTx/>
                          <a:latin typeface="Arial"/>
                          <a:ea typeface="Times New Roman"/>
                          <a:cs typeface="+mn-cs"/>
                        </a:rPr>
                        <a:t>Treat all cases with appropriate antibiotics as recommended.  </a:t>
                      </a:r>
                      <a:endParaRPr kumimoji="0" lang="en-US" sz="1800" b="0" i="0" u="none" strike="noStrike" kern="1200" cap="none" spc="0" normalizeH="0" baseline="0" noProof="0" dirty="0">
                        <a:ln>
                          <a:noFill/>
                        </a:ln>
                        <a:solidFill>
                          <a:prstClr val="black"/>
                        </a:solidFill>
                        <a:effectLst/>
                        <a:uLnTx/>
                        <a:uFillTx/>
                        <a:latin typeface="Times New Roman"/>
                        <a:ea typeface="Times New Roman"/>
                        <a:cs typeface="+mn-cs"/>
                      </a:endParaRPr>
                    </a:p>
                    <a:p>
                      <a:endParaRPr lang="en-US" sz="1800" dirty="0"/>
                    </a:p>
                  </a:txBody>
                  <a:tcPr/>
                </a:tc>
                <a:extLst>
                  <a:ext uri="{0D108BD9-81ED-4DB2-BD59-A6C34878D82A}">
                    <a16:rowId xmlns:a16="http://schemas.microsoft.com/office/drawing/2014/main" val="10003"/>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70</a:t>
            </a:fld>
            <a:endParaRPr lang="en-US">
              <a:solidFill>
                <a:prstClr val="black">
                  <a:tint val="75000"/>
                </a:prstClr>
              </a:solidFill>
            </a:endParaRPr>
          </a:p>
        </p:txBody>
      </p:sp>
    </p:spTree>
    <p:extLst>
      <p:ext uri="{BB962C8B-B14F-4D97-AF65-F5344CB8AC3E}">
        <p14:creationId xmlns:p14="http://schemas.microsoft.com/office/powerpoint/2010/main" val="29458356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676400" y="304801"/>
          <a:ext cx="8839200" cy="6400801"/>
        </p:xfrm>
        <a:graphic>
          <a:graphicData uri="http://schemas.openxmlformats.org/drawingml/2006/table">
            <a:tbl>
              <a:tblPr/>
              <a:tblGrid>
                <a:gridCol w="8839200">
                  <a:extLst>
                    <a:ext uri="{9D8B030D-6E8A-4147-A177-3AD203B41FA5}">
                      <a16:colId xmlns:a16="http://schemas.microsoft.com/office/drawing/2014/main" val="20000"/>
                    </a:ext>
                  </a:extLst>
                </a:gridCol>
              </a:tblGrid>
              <a:tr h="456885">
                <a:tc>
                  <a:txBody>
                    <a:bodyPr/>
                    <a:lstStyle/>
                    <a:p>
                      <a:pPr marL="0" marR="0" algn="ctr">
                        <a:lnSpc>
                          <a:spcPct val="115000"/>
                        </a:lnSpc>
                        <a:spcBef>
                          <a:spcPts val="0"/>
                        </a:spcBef>
                        <a:spcAft>
                          <a:spcPts val="0"/>
                        </a:spcAft>
                      </a:pPr>
                      <a:r>
                        <a:rPr lang="en-GB" sz="1400" b="1" i="0" dirty="0">
                          <a:effectLst/>
                          <a:latin typeface="Times New Roman"/>
                          <a:ea typeface="Times New Roman"/>
                          <a:cs typeface="Times New Roman"/>
                        </a:rPr>
                        <a:t>Poliomyelitis (Acute flaccid paralysis)</a:t>
                      </a:r>
                      <a:endParaRPr lang="en-US" sz="1400" b="1" i="1" dirty="0">
                        <a:effectLst/>
                        <a:latin typeface="Calibri"/>
                        <a:ea typeface="Times New Roman"/>
                        <a:cs typeface="Times New Roman"/>
                      </a:endParaRPr>
                    </a:p>
                  </a:txBody>
                  <a:tcPr marL="51435" marR="51435"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5355">
                <a:tc>
                  <a:txBody>
                    <a:bodyPr/>
                    <a:lstStyle/>
                    <a:p>
                      <a:pPr marL="0" marR="0">
                        <a:lnSpc>
                          <a:spcPct val="115000"/>
                        </a:lnSpc>
                        <a:spcBef>
                          <a:spcPts val="0"/>
                        </a:spcBef>
                        <a:spcAft>
                          <a:spcPts val="0"/>
                        </a:spcAft>
                      </a:pPr>
                      <a:r>
                        <a:rPr lang="en-GB" sz="1400" b="1" dirty="0">
                          <a:effectLst/>
                          <a:latin typeface="Times New Roman"/>
                          <a:ea typeface="Times New Roman"/>
                        </a:rPr>
                        <a:t>Background</a:t>
                      </a:r>
                      <a:endParaRPr lang="en-US" sz="1400" dirty="0">
                        <a:effectLst/>
                        <a:latin typeface="Times New Roman"/>
                        <a:ea typeface="Times New Roman"/>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588561">
                <a:tc>
                  <a:txBody>
                    <a:bodyPr/>
                    <a:lstStyle/>
                    <a:p>
                      <a:pPr marL="228600" marR="0">
                        <a:lnSpc>
                          <a:spcPct val="120000"/>
                        </a:lnSpc>
                        <a:spcBef>
                          <a:spcPts val="0"/>
                        </a:spcBef>
                        <a:spcAft>
                          <a:spcPts val="0"/>
                        </a:spcAft>
                      </a:pPr>
                      <a:r>
                        <a:rPr lang="en-GB" sz="1400" i="1"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400" dirty="0">
                          <a:effectLst/>
                          <a:latin typeface="Arial"/>
                          <a:ea typeface="Calibri"/>
                          <a:cs typeface="Times New Roman"/>
                        </a:rPr>
                        <a:t>Poliovirus is transmitted from person-to-person via faecal-oral spread.</a:t>
                      </a:r>
                      <a:endParaRPr lang="en-US" sz="1400" dirty="0">
                        <a:effectLst/>
                        <a:latin typeface="Calibri"/>
                        <a:ea typeface="Calibri"/>
                        <a:cs typeface="Times New Roman"/>
                      </a:endParaRPr>
                    </a:p>
                    <a:p>
                      <a:pPr marL="228600" marR="0">
                        <a:lnSpc>
                          <a:spcPct val="120000"/>
                        </a:lnSpc>
                        <a:spcBef>
                          <a:spcPts val="0"/>
                        </a:spcBef>
                        <a:spcAft>
                          <a:spcPts val="0"/>
                        </a:spcAft>
                      </a:pPr>
                      <a:r>
                        <a:rPr lang="en-GB" sz="1400" i="1"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400" dirty="0">
                          <a:effectLst/>
                          <a:latin typeface="Arial"/>
                          <a:ea typeface="Calibri"/>
                          <a:cs typeface="Times New Roman"/>
                        </a:rPr>
                        <a:t>Incubation period is 7 to 14 days for paralytic cases and the range is approximately 3 to 35 days. The virus may be shed for several years by </a:t>
                      </a:r>
                      <a:r>
                        <a:rPr lang="en-GB" sz="1400" dirty="0" err="1">
                          <a:effectLst/>
                          <a:latin typeface="Arial"/>
                          <a:ea typeface="Calibri"/>
                          <a:cs typeface="Times New Roman"/>
                        </a:rPr>
                        <a:t>immuno</a:t>
                      </a:r>
                      <a:r>
                        <a:rPr lang="en-GB" sz="1400" dirty="0">
                          <a:effectLst/>
                          <a:latin typeface="Arial"/>
                          <a:ea typeface="Calibri"/>
                          <a:cs typeface="Times New Roman"/>
                        </a:rPr>
                        <a:t>-compromised persons.</a:t>
                      </a:r>
                      <a:endParaRPr lang="en-US" sz="1400" dirty="0">
                        <a:effectLst/>
                        <a:latin typeface="Calibri"/>
                        <a:ea typeface="Calibri"/>
                        <a:cs typeface="Times New Roman"/>
                      </a:endParaRPr>
                    </a:p>
                    <a:p>
                      <a:pPr marL="0" marR="0">
                        <a:lnSpc>
                          <a:spcPct val="120000"/>
                        </a:lnSpc>
                        <a:spcBef>
                          <a:spcPts val="0"/>
                        </a:spcBef>
                        <a:spcAft>
                          <a:spcPts val="0"/>
                        </a:spcAft>
                      </a:pPr>
                      <a:r>
                        <a:rPr lang="en-GB" sz="1400" i="1"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400" dirty="0">
                          <a:effectLst/>
                          <a:latin typeface="Arial"/>
                          <a:ea typeface="Calibri"/>
                          <a:cs typeface="Times New Roman"/>
                        </a:rPr>
                        <a:t>Infection is usually asymptomatic, but may cause a febrile syndrome with or without meningitis. In less than 5% of infections paralysis results, often of a single leg.</a:t>
                      </a:r>
                      <a:endParaRPr lang="en-US" sz="1400" dirty="0">
                        <a:effectLst/>
                        <a:latin typeface="Calibri"/>
                        <a:ea typeface="Calibri"/>
                        <a:cs typeface="Times New Roman"/>
                      </a:endParaRPr>
                    </a:p>
                    <a:p>
                      <a:pPr marL="0" marR="0">
                        <a:lnSpc>
                          <a:spcPct val="120000"/>
                        </a:lnSpc>
                        <a:spcBef>
                          <a:spcPts val="0"/>
                        </a:spcBef>
                        <a:spcAft>
                          <a:spcPts val="0"/>
                        </a:spcAft>
                      </a:pPr>
                      <a:r>
                        <a:rPr lang="en-GB" sz="1400" i="1"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400" dirty="0">
                          <a:effectLst/>
                          <a:latin typeface="Arial"/>
                          <a:ea typeface="Calibri"/>
                          <a:cs typeface="Times New Roman"/>
                        </a:rPr>
                        <a:t>Polio infection occurs almost exclusively among children. Infection may occur with any of 3 serotypes of Poliovirus. Immunity is serotype-specific and lifelong.</a:t>
                      </a:r>
                      <a:endParaRPr lang="en-US" sz="1400" dirty="0">
                        <a:effectLst/>
                        <a:latin typeface="Calibri"/>
                        <a:ea typeface="Calibri"/>
                        <a:cs typeface="Times New Roman"/>
                      </a:endParaRPr>
                    </a:p>
                    <a:p>
                      <a:pPr marL="0" marR="0">
                        <a:lnSpc>
                          <a:spcPct val="120000"/>
                        </a:lnSpc>
                        <a:spcBef>
                          <a:spcPts val="0"/>
                        </a:spcBef>
                        <a:spcAft>
                          <a:spcPts val="0"/>
                        </a:spcAft>
                      </a:pPr>
                      <a:r>
                        <a:rPr lang="en-GB" sz="1400" i="1"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400" dirty="0">
                          <a:effectLst/>
                          <a:latin typeface="Arial"/>
                          <a:ea typeface="Calibri"/>
                          <a:cs typeface="Times New Roman"/>
                        </a:rPr>
                        <a:t>Paralytic polio, though not fatal, has devastating social and economic consequences among affected individuals.</a:t>
                      </a:r>
                      <a:endParaRPr lang="en-US" sz="1400" dirty="0">
                        <a:effectLst/>
                        <a:latin typeface="Calibri"/>
                        <a:ea typeface="Calibri"/>
                        <a:cs typeface="Times New Roman"/>
                      </a:endParaRPr>
                    </a:p>
                    <a:p>
                      <a:pPr marL="0" marR="0">
                        <a:lnSpc>
                          <a:spcPct val="120000"/>
                        </a:lnSpc>
                        <a:spcBef>
                          <a:spcPts val="0"/>
                        </a:spcBef>
                        <a:spcAft>
                          <a:spcPts val="0"/>
                        </a:spcAft>
                      </a:pPr>
                      <a:r>
                        <a:rPr lang="en-GB" sz="1400" i="1"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400" dirty="0">
                          <a:effectLst/>
                          <a:latin typeface="Arial"/>
                          <a:ea typeface="Calibri"/>
                          <a:cs typeface="Times New Roman"/>
                        </a:rPr>
                        <a:t>The Polio Eradication Program has nearly halted </a:t>
                      </a:r>
                      <a:r>
                        <a:rPr lang="en-GB" sz="1400" dirty="0" err="1">
                          <a:effectLst/>
                          <a:latin typeface="Arial"/>
                          <a:ea typeface="Calibri"/>
                          <a:cs typeface="Times New Roman"/>
                        </a:rPr>
                        <a:t>ongoing</a:t>
                      </a:r>
                      <a:r>
                        <a:rPr lang="en-GB" sz="1400" dirty="0">
                          <a:effectLst/>
                          <a:latin typeface="Arial"/>
                          <a:ea typeface="Calibri"/>
                          <a:cs typeface="Times New Roman"/>
                        </a:rPr>
                        <a:t> wild-type polio transmission worldwide through use of oral poliovirus (OPV) vaccine.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400" dirty="0">
                          <a:effectLst/>
                          <a:latin typeface="Arial"/>
                          <a:ea typeface="Calibri"/>
                          <a:cs typeface="Times New Roman"/>
                        </a:rPr>
                        <a:t>Areas with low vaccine coverage may allow </a:t>
                      </a:r>
                      <a:r>
                        <a:rPr lang="en-GB" sz="1400" dirty="0" err="1">
                          <a:effectLst/>
                          <a:latin typeface="Arial"/>
                          <a:ea typeface="Calibri"/>
                          <a:cs typeface="Times New Roman"/>
                        </a:rPr>
                        <a:t>ongoing</a:t>
                      </a:r>
                      <a:r>
                        <a:rPr lang="en-GB" sz="1400" dirty="0">
                          <a:effectLst/>
                          <a:latin typeface="Arial"/>
                          <a:ea typeface="Calibri"/>
                          <a:cs typeface="Times New Roman"/>
                        </a:rPr>
                        <a:t> wild-type transmission.</a:t>
                      </a:r>
                      <a:endParaRPr lang="en-US" sz="1400" dirty="0">
                        <a:effectLst/>
                        <a:latin typeface="Calibri"/>
                        <a:ea typeface="Calibri"/>
                        <a:cs typeface="Times New Roman"/>
                      </a:endParaRPr>
                    </a:p>
                    <a:p>
                      <a:pPr marL="0" marR="0">
                        <a:lnSpc>
                          <a:spcPct val="120000"/>
                        </a:lnSpc>
                        <a:spcBef>
                          <a:spcPts val="0"/>
                        </a:spcBef>
                        <a:spcAft>
                          <a:spcPts val="0"/>
                        </a:spcAft>
                      </a:pPr>
                      <a:r>
                        <a:rPr lang="en-GB" sz="1400" i="1" dirty="0">
                          <a:effectLst/>
                          <a:latin typeface="Arial"/>
                          <a:ea typeface="Calibri"/>
                          <a:cs typeface="Times New Roman"/>
                        </a:rPr>
                        <a:t> </a:t>
                      </a:r>
                      <a:endParaRPr lang="en-US" sz="14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400" dirty="0">
                          <a:effectLst/>
                          <a:latin typeface="Arial"/>
                          <a:ea typeface="Calibri"/>
                          <a:cs typeface="Times New Roman"/>
                        </a:rPr>
                        <a:t>Other neurological illnesses may cause AFP, for example, </a:t>
                      </a:r>
                      <a:r>
                        <a:rPr lang="en-GB" sz="1400" dirty="0" err="1">
                          <a:effectLst/>
                          <a:latin typeface="Arial"/>
                          <a:ea typeface="Calibri"/>
                          <a:cs typeface="Times New Roman"/>
                        </a:rPr>
                        <a:t>Guillain-Barré</a:t>
                      </a:r>
                      <a:r>
                        <a:rPr lang="en-GB" sz="1400" dirty="0">
                          <a:effectLst/>
                          <a:latin typeface="Arial"/>
                          <a:ea typeface="Calibri"/>
                          <a:cs typeface="Times New Roman"/>
                        </a:rPr>
                        <a:t> syndrome and transverse myelitis.</a:t>
                      </a:r>
                      <a:endParaRPr lang="en-US" sz="1400" dirty="0">
                        <a:effectLst/>
                        <a:latin typeface="Calibri"/>
                        <a:ea typeface="Calibri"/>
                        <a:cs typeface="Times New Roman"/>
                      </a:endParaRPr>
                    </a:p>
                    <a:p>
                      <a:pPr marL="228600" marR="0">
                        <a:lnSpc>
                          <a:spcPct val="120000"/>
                        </a:lnSpc>
                        <a:spcBef>
                          <a:spcPts val="0"/>
                        </a:spcBef>
                        <a:spcAft>
                          <a:spcPts val="0"/>
                        </a:spcAft>
                      </a:pPr>
                      <a:r>
                        <a:rPr lang="en-GB" sz="1400" i="1" dirty="0">
                          <a:effectLst/>
                          <a:latin typeface="Arial"/>
                          <a:ea typeface="Calibri"/>
                          <a:cs typeface="Times New Roman"/>
                        </a:rPr>
                        <a:t> </a:t>
                      </a:r>
                      <a:endParaRPr lang="en-US" sz="1400" dirty="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71</a:t>
            </a:fld>
            <a:endParaRPr lang="en-US">
              <a:solidFill>
                <a:prstClr val="black">
                  <a:tint val="75000"/>
                </a:prstClr>
              </a:solidFill>
            </a:endParaRPr>
          </a:p>
        </p:txBody>
      </p:sp>
    </p:spTree>
    <p:extLst>
      <p:ext uri="{BB962C8B-B14F-4D97-AF65-F5344CB8AC3E}">
        <p14:creationId xmlns:p14="http://schemas.microsoft.com/office/powerpoint/2010/main" val="27368794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676400" y="152402"/>
          <a:ext cx="8991600" cy="6746011"/>
        </p:xfrm>
        <a:graphic>
          <a:graphicData uri="http://schemas.openxmlformats.org/drawingml/2006/table">
            <a:tbl>
              <a:tblPr/>
              <a:tblGrid>
                <a:gridCol w="1892968">
                  <a:extLst>
                    <a:ext uri="{9D8B030D-6E8A-4147-A177-3AD203B41FA5}">
                      <a16:colId xmlns:a16="http://schemas.microsoft.com/office/drawing/2014/main" val="20000"/>
                    </a:ext>
                  </a:extLst>
                </a:gridCol>
                <a:gridCol w="7098632">
                  <a:extLst>
                    <a:ext uri="{9D8B030D-6E8A-4147-A177-3AD203B41FA5}">
                      <a16:colId xmlns:a16="http://schemas.microsoft.com/office/drawing/2014/main" val="20001"/>
                    </a:ext>
                  </a:extLst>
                </a:gridCol>
              </a:tblGrid>
              <a:tr h="331362">
                <a:tc gridSpan="2">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Times New Roman"/>
                          <a:ea typeface="Times New Roman"/>
                          <a:cs typeface="Times New Roman"/>
                        </a:rPr>
                        <a:t>Poliomyelitis (Acute flaccid paralysis)</a:t>
                      </a:r>
                      <a:endParaRPr kumimoji="0" lang="en-US" sz="1400" b="1" i="1" u="none" strike="noStrike" kern="1200" cap="none" spc="0" normalizeH="0" baseline="0" noProof="0" dirty="0">
                        <a:ln>
                          <a:noFill/>
                        </a:ln>
                        <a:solidFill>
                          <a:prstClr val="black"/>
                        </a:solidFill>
                        <a:effectLst/>
                        <a:uLnTx/>
                        <a:uFillTx/>
                        <a:latin typeface="+mn-lt"/>
                        <a:ea typeface="Times New Roman"/>
                        <a:cs typeface="Times New Roman"/>
                      </a:endParaRPr>
                    </a:p>
                    <a:p>
                      <a:pPr marL="0" marR="0">
                        <a:lnSpc>
                          <a:spcPct val="115000"/>
                        </a:lnSpc>
                        <a:spcBef>
                          <a:spcPts val="0"/>
                        </a:spcBef>
                        <a:spcAft>
                          <a:spcPts val="0"/>
                        </a:spcAft>
                      </a:pPr>
                      <a:r>
                        <a:rPr lang="en-GB" sz="1400" b="1" dirty="0">
                          <a:effectLst/>
                          <a:latin typeface="Times New Roman"/>
                          <a:ea typeface="Times New Roman"/>
                        </a:rPr>
                        <a:t>Standard case definition</a:t>
                      </a:r>
                      <a:endParaRPr lang="en-US" sz="1400" dirty="0">
                        <a:effectLst/>
                        <a:latin typeface="Times New Roman"/>
                        <a:ea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0"/>
                  </a:ext>
                </a:extLst>
              </a:tr>
              <a:tr h="1481869">
                <a:tc gridSpan="2">
                  <a:txBody>
                    <a:bodyPr/>
                    <a:lstStyle/>
                    <a:p>
                      <a:pPr marL="0" marR="0">
                        <a:lnSpc>
                          <a:spcPct val="120000"/>
                        </a:lnSpc>
                        <a:spcBef>
                          <a:spcPts val="0"/>
                        </a:spcBef>
                        <a:spcAft>
                          <a:spcPts val="0"/>
                        </a:spcAft>
                      </a:pPr>
                      <a:r>
                        <a:rPr lang="en-GB" sz="1400" b="1" i="1">
                          <a:effectLst/>
                          <a:latin typeface="Arial"/>
                          <a:ea typeface="Calibri"/>
                          <a:cs typeface="Times New Roman"/>
                        </a:rPr>
                        <a:t> </a:t>
                      </a:r>
                      <a:endParaRPr lang="en-US" sz="1400">
                        <a:effectLst/>
                        <a:latin typeface="Calibri"/>
                        <a:ea typeface="Calibri"/>
                        <a:cs typeface="Times New Roman"/>
                      </a:endParaRPr>
                    </a:p>
                    <a:p>
                      <a:pPr marL="0" marR="0">
                        <a:lnSpc>
                          <a:spcPct val="120000"/>
                        </a:lnSpc>
                        <a:spcBef>
                          <a:spcPts val="0"/>
                        </a:spcBef>
                        <a:spcAft>
                          <a:spcPts val="0"/>
                        </a:spcAft>
                      </a:pPr>
                      <a:r>
                        <a:rPr lang="en-GB" sz="1400" b="1" i="1">
                          <a:effectLst/>
                          <a:latin typeface="Arial"/>
                          <a:ea typeface="Calibri"/>
                          <a:cs typeface="Times New Roman"/>
                        </a:rPr>
                        <a:t>Suspected case:</a:t>
                      </a:r>
                      <a:endParaRPr lang="en-US" sz="1400">
                        <a:effectLst/>
                        <a:latin typeface="Calibri"/>
                        <a:ea typeface="Calibri"/>
                        <a:cs typeface="Times New Roman"/>
                      </a:endParaRPr>
                    </a:p>
                    <a:p>
                      <a:pPr marL="202565" marR="0">
                        <a:lnSpc>
                          <a:spcPct val="120000"/>
                        </a:lnSpc>
                        <a:spcBef>
                          <a:spcPts val="0"/>
                        </a:spcBef>
                        <a:spcAft>
                          <a:spcPts val="0"/>
                        </a:spcAft>
                      </a:pPr>
                      <a:r>
                        <a:rPr lang="en-GB" sz="1400">
                          <a:effectLst/>
                          <a:latin typeface="Arial"/>
                          <a:ea typeface="Calibri"/>
                          <a:cs typeface="Times New Roman"/>
                        </a:rPr>
                        <a:t>Any child under 15 years of age with acute flaccid paralysis or any person with paralytic illness at any age in whom the clinician suspects poliomyelitis.</a:t>
                      </a:r>
                      <a:endParaRPr lang="en-US" sz="1400">
                        <a:effectLst/>
                        <a:latin typeface="Calibri"/>
                        <a:ea typeface="Calibri"/>
                        <a:cs typeface="Times New Roman"/>
                      </a:endParaRPr>
                    </a:p>
                    <a:p>
                      <a:pPr marL="0" marR="0">
                        <a:lnSpc>
                          <a:spcPct val="120000"/>
                        </a:lnSpc>
                        <a:spcBef>
                          <a:spcPts val="0"/>
                        </a:spcBef>
                        <a:spcAft>
                          <a:spcPts val="0"/>
                        </a:spcAft>
                      </a:pPr>
                      <a:r>
                        <a:rPr lang="en-GB" sz="1400">
                          <a:effectLst/>
                          <a:latin typeface="Arial"/>
                          <a:ea typeface="Calibri"/>
                          <a:cs typeface="Times New Roman"/>
                        </a:rPr>
                        <a:t> </a:t>
                      </a:r>
                      <a:endParaRPr lang="en-US" sz="1400">
                        <a:effectLst/>
                        <a:latin typeface="Calibri"/>
                        <a:ea typeface="Calibri"/>
                        <a:cs typeface="Times New Roman"/>
                      </a:endParaRPr>
                    </a:p>
                    <a:p>
                      <a:pPr marL="0" marR="0">
                        <a:lnSpc>
                          <a:spcPct val="120000"/>
                        </a:lnSpc>
                        <a:spcBef>
                          <a:spcPts val="0"/>
                        </a:spcBef>
                        <a:spcAft>
                          <a:spcPts val="255"/>
                        </a:spcAft>
                      </a:pPr>
                      <a:r>
                        <a:rPr lang="en-GB" sz="1400" b="1" i="1">
                          <a:effectLst/>
                          <a:latin typeface="Arial"/>
                          <a:ea typeface="Calibri"/>
                          <a:cs typeface="Times New Roman"/>
                        </a:rPr>
                        <a:t>Confirmed case</a:t>
                      </a:r>
                      <a:r>
                        <a:rPr lang="en-GB" sz="1400">
                          <a:effectLst/>
                          <a:latin typeface="Arial"/>
                          <a:ea typeface="Calibri"/>
                          <a:cs typeface="Times New Roman"/>
                        </a:rPr>
                        <a:t>: A suspected case with virus isolation in stool.</a:t>
                      </a:r>
                      <a:endParaRPr lang="en-US" sz="140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1"/>
                  </a:ext>
                </a:extLst>
              </a:tr>
              <a:tr h="345769">
                <a:tc gridSpan="2">
                  <a:txBody>
                    <a:bodyPr/>
                    <a:lstStyle/>
                    <a:p>
                      <a:pPr marL="0" marR="0">
                        <a:lnSpc>
                          <a:spcPct val="120000"/>
                        </a:lnSpc>
                        <a:spcBef>
                          <a:spcPts val="0"/>
                        </a:spcBef>
                        <a:spcAft>
                          <a:spcPts val="0"/>
                        </a:spcAft>
                      </a:pPr>
                      <a:r>
                        <a:rPr lang="en-GB" sz="1400" b="1" dirty="0">
                          <a:effectLst/>
                          <a:latin typeface="Times New Roman"/>
                          <a:ea typeface="Calibri"/>
                          <a:cs typeface="Times New Roman"/>
                        </a:rPr>
                        <a:t>Prevention and control</a:t>
                      </a:r>
                      <a:endParaRPr lang="en-US" sz="1400" dirty="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2"/>
                  </a:ext>
                </a:extLst>
              </a:tr>
              <a:tr h="2984318">
                <a:tc gridSpan="2">
                  <a:txBody>
                    <a:bodyPr/>
                    <a:lstStyle/>
                    <a:p>
                      <a:pPr marL="0" marR="0">
                        <a:lnSpc>
                          <a:spcPct val="120000"/>
                        </a:lnSpc>
                        <a:spcBef>
                          <a:spcPts val="0"/>
                        </a:spcBef>
                        <a:spcAft>
                          <a:spcPts val="0"/>
                        </a:spcAft>
                      </a:pPr>
                      <a:r>
                        <a:rPr lang="en-GB" sz="1400" b="1">
                          <a:effectLst/>
                          <a:latin typeface="Arial"/>
                          <a:ea typeface="Calibri"/>
                          <a:cs typeface="Times New Roman"/>
                        </a:rPr>
                        <a:t> </a:t>
                      </a:r>
                      <a:endParaRPr lang="en-US" sz="1400">
                        <a:effectLst/>
                        <a:latin typeface="Calibri"/>
                        <a:ea typeface="Calibri"/>
                        <a:cs typeface="Times New Roman"/>
                      </a:endParaRPr>
                    </a:p>
                    <a:p>
                      <a:pPr marL="0" marR="0">
                        <a:lnSpc>
                          <a:spcPct val="120000"/>
                        </a:lnSpc>
                        <a:spcBef>
                          <a:spcPts val="0"/>
                        </a:spcBef>
                        <a:spcAft>
                          <a:spcPts val="0"/>
                        </a:spcAft>
                      </a:pPr>
                      <a:r>
                        <a:rPr lang="en-GB" sz="1400" b="1">
                          <a:effectLst/>
                          <a:latin typeface="Arial"/>
                          <a:ea typeface="Calibri"/>
                          <a:cs typeface="Times New Roman"/>
                        </a:rPr>
                        <a:t>If a case is confirmed:</a:t>
                      </a:r>
                      <a:endParaRPr lang="en-US" sz="1400">
                        <a:effectLst/>
                        <a:latin typeface="Calibri"/>
                        <a:ea typeface="Calibri"/>
                        <a:cs typeface="Times New Roman"/>
                      </a:endParaRPr>
                    </a:p>
                    <a:p>
                      <a:pPr marL="342900" marR="0" lvl="0" indent="-342900">
                        <a:lnSpc>
                          <a:spcPct val="115000"/>
                        </a:lnSpc>
                        <a:spcBef>
                          <a:spcPts val="0"/>
                        </a:spcBef>
                        <a:spcAft>
                          <a:spcPts val="0"/>
                        </a:spcAft>
                        <a:buFont typeface="Wingdings"/>
                        <a:buChar char=""/>
                      </a:pPr>
                      <a:r>
                        <a:rPr lang="en-GB" sz="1400">
                          <a:effectLst/>
                          <a:latin typeface="Arial"/>
                          <a:ea typeface="Times New Roman"/>
                        </a:rPr>
                        <a:t>If wild polio virus is isolated from stool specimen, refer to national polio eradication program guidelines for recommended response actions. The national level will decide which actions to take.  They may include the following:</a:t>
                      </a:r>
                      <a:endParaRPr lang="en-US" sz="1400">
                        <a:effectLst/>
                        <a:latin typeface="Times New Roman"/>
                        <a:ea typeface="Times New Roman"/>
                      </a:endParaRPr>
                    </a:p>
                    <a:p>
                      <a:pPr marL="342900" marR="0" lvl="0" indent="-342900">
                        <a:lnSpc>
                          <a:spcPct val="120000"/>
                        </a:lnSpc>
                        <a:spcBef>
                          <a:spcPts val="0"/>
                        </a:spcBef>
                        <a:spcAft>
                          <a:spcPts val="0"/>
                        </a:spcAft>
                        <a:buFont typeface="Wingdings"/>
                        <a:buChar char=""/>
                      </a:pPr>
                      <a:r>
                        <a:rPr lang="en-GB" sz="1400">
                          <a:effectLst/>
                          <a:latin typeface="Arial"/>
                          <a:ea typeface="Calibri"/>
                          <a:cs typeface="Times New Roman"/>
                        </a:rPr>
                        <a:t>Immediately conduct “mopping-up” vaccination campaign around the vicinity of the case.</a:t>
                      </a:r>
                      <a:endParaRPr lang="en-US" sz="140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400">
                          <a:effectLst/>
                          <a:latin typeface="Arial"/>
                          <a:ea typeface="Calibri"/>
                          <a:cs typeface="Times New Roman"/>
                        </a:rPr>
                        <a:t>Conduct surveys to identify areas of low OPV coverage during routine EPI activities, and improve routine vaccine coverage of OPV and other EPI antigens.</a:t>
                      </a:r>
                      <a:endParaRPr lang="en-US" sz="1400">
                        <a:effectLst/>
                        <a:latin typeface="Calibri"/>
                        <a:ea typeface="Calibri"/>
                        <a:cs typeface="Times New Roman"/>
                      </a:endParaRPr>
                    </a:p>
                    <a:p>
                      <a:pPr marL="342900" marR="0" lvl="0" indent="-342900">
                        <a:lnSpc>
                          <a:spcPct val="120000"/>
                        </a:lnSpc>
                        <a:spcBef>
                          <a:spcPts val="0"/>
                        </a:spcBef>
                        <a:spcAft>
                          <a:spcPts val="255"/>
                        </a:spcAft>
                        <a:buFont typeface="Wingdings"/>
                        <a:buChar char=""/>
                      </a:pPr>
                      <a:r>
                        <a:rPr lang="en-GB" sz="1400">
                          <a:effectLst/>
                          <a:latin typeface="Arial"/>
                          <a:ea typeface="Calibri"/>
                          <a:cs typeface="Times New Roman"/>
                        </a:rPr>
                        <a:t>Lead supplemental vaccination campaigns during National Immunization Days (NIDs) or Sub-National Immunization Days (SNIDs). Focus supplemental vaccination activities in areas of low vaccine coverage during EPI. Consider use of house-to-house vaccination teams in selected areas.</a:t>
                      </a:r>
                      <a:endParaRPr lang="en-US" sz="1400">
                        <a:effectLst/>
                        <a:latin typeface="Calibri"/>
                        <a:ea typeface="Calibri"/>
                        <a:cs typeface="Times New Roman"/>
                      </a:endParaRPr>
                    </a:p>
                    <a:p>
                      <a:pPr marL="914400" marR="0" indent="-457200">
                        <a:lnSpc>
                          <a:spcPct val="120000"/>
                        </a:lnSpc>
                        <a:spcBef>
                          <a:spcPts val="0"/>
                        </a:spcBef>
                        <a:spcAft>
                          <a:spcPts val="255"/>
                        </a:spcAft>
                      </a:pPr>
                      <a:r>
                        <a:rPr lang="en-GB" sz="1400">
                          <a:effectLst/>
                          <a:latin typeface="Arial"/>
                          <a:ea typeface="Calibri"/>
                          <a:cs typeface="Times New Roman"/>
                        </a:rPr>
                        <a:t> </a:t>
                      </a:r>
                      <a:endParaRPr lang="en-US" sz="140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3"/>
                  </a:ext>
                </a:extLst>
              </a:tr>
              <a:tr h="345769">
                <a:tc gridSpan="2">
                  <a:txBody>
                    <a:bodyPr/>
                    <a:lstStyle/>
                    <a:p>
                      <a:pPr marL="914400" marR="0" indent="-914400">
                        <a:lnSpc>
                          <a:spcPct val="120000"/>
                        </a:lnSpc>
                        <a:spcBef>
                          <a:spcPts val="0"/>
                        </a:spcBef>
                        <a:spcAft>
                          <a:spcPts val="0"/>
                        </a:spcAft>
                      </a:pPr>
                      <a:r>
                        <a:rPr lang="en-GB" sz="1400" b="1">
                          <a:effectLst/>
                          <a:latin typeface="Times New Roman"/>
                          <a:ea typeface="Calibri"/>
                          <a:cs typeface="Times New Roman"/>
                        </a:rPr>
                        <a:t>Laboratory confirmation</a:t>
                      </a:r>
                      <a:endParaRPr lang="en-US" sz="140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4"/>
                  </a:ext>
                </a:extLst>
              </a:tr>
              <a:tr h="987912">
                <a:tc>
                  <a:txBody>
                    <a:bodyPr/>
                    <a:lstStyle/>
                    <a:p>
                      <a:pPr marL="0" marR="0">
                        <a:lnSpc>
                          <a:spcPct val="120000"/>
                        </a:lnSpc>
                        <a:spcBef>
                          <a:spcPts val="485"/>
                        </a:spcBef>
                        <a:spcAft>
                          <a:spcPts val="255"/>
                        </a:spcAft>
                      </a:pPr>
                      <a:r>
                        <a:rPr lang="en-US" sz="1400" b="1">
                          <a:effectLst/>
                          <a:latin typeface="Times New Roman"/>
                          <a:ea typeface="Calibri"/>
                          <a:cs typeface="Times New Roman"/>
                        </a:rPr>
                        <a:t>Diagnostic test</a:t>
                      </a:r>
                      <a:endParaRPr lang="en-US" sz="140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20000"/>
                        </a:lnSpc>
                        <a:spcBef>
                          <a:spcPts val="0"/>
                        </a:spcBef>
                        <a:spcAft>
                          <a:spcPts val="0"/>
                        </a:spcAft>
                      </a:pPr>
                      <a:r>
                        <a:rPr lang="en-US" sz="1400" dirty="0">
                          <a:solidFill>
                            <a:srgbClr val="000000"/>
                          </a:solidFill>
                          <a:effectLst/>
                          <a:latin typeface="Arial"/>
                          <a:ea typeface="Calibri"/>
                          <a:cs typeface="Times New Roman"/>
                        </a:rPr>
                        <a:t> </a:t>
                      </a:r>
                      <a:endParaRPr lang="en-US" sz="1400" dirty="0">
                        <a:effectLst/>
                        <a:latin typeface="Calibri"/>
                        <a:ea typeface="Calibri"/>
                        <a:cs typeface="Times New Roman"/>
                      </a:endParaRPr>
                    </a:p>
                    <a:p>
                      <a:pPr marL="0" marR="0">
                        <a:lnSpc>
                          <a:spcPct val="120000"/>
                        </a:lnSpc>
                        <a:spcBef>
                          <a:spcPts val="0"/>
                        </a:spcBef>
                        <a:spcAft>
                          <a:spcPts val="0"/>
                        </a:spcAft>
                      </a:pPr>
                      <a:r>
                        <a:rPr lang="en-US" sz="1400" dirty="0">
                          <a:solidFill>
                            <a:srgbClr val="000000"/>
                          </a:solidFill>
                          <a:effectLst/>
                          <a:latin typeface="Arial"/>
                          <a:ea typeface="Calibri"/>
                          <a:cs typeface="Times New Roman"/>
                        </a:rPr>
                        <a:t>Isolation of polio virus from stool</a:t>
                      </a:r>
                      <a:endParaRPr lang="en-US" sz="1400" dirty="0">
                        <a:effectLst/>
                        <a:latin typeface="Calibri"/>
                        <a:ea typeface="Calibri"/>
                        <a:cs typeface="Times New Roman"/>
                      </a:endParaRPr>
                    </a:p>
                    <a:p>
                      <a:pPr marL="914400" marR="0" indent="-914400">
                        <a:lnSpc>
                          <a:spcPct val="120000"/>
                        </a:lnSpc>
                        <a:spcBef>
                          <a:spcPts val="0"/>
                        </a:spcBef>
                        <a:spcAft>
                          <a:spcPts val="0"/>
                        </a:spcAft>
                      </a:pPr>
                      <a:r>
                        <a:rPr lang="en-US" sz="1400" b="1" dirty="0">
                          <a:effectLst/>
                          <a:latin typeface="Arial"/>
                          <a:ea typeface="Calibri"/>
                          <a:cs typeface="Times New Roman"/>
                        </a:rPr>
                        <a:t> </a:t>
                      </a:r>
                      <a:endParaRPr lang="en-US" sz="1400" dirty="0">
                        <a:effectLst/>
                        <a:latin typeface="Calibri"/>
                        <a:ea typeface="Calibri"/>
                        <a:cs typeface="Times New Roman"/>
                      </a:endParaRPr>
                    </a:p>
                    <a:p>
                      <a:pPr marL="914400" marR="0" indent="-914400">
                        <a:lnSpc>
                          <a:spcPct val="120000"/>
                        </a:lnSpc>
                        <a:spcBef>
                          <a:spcPts val="0"/>
                        </a:spcBef>
                        <a:spcAft>
                          <a:spcPts val="0"/>
                        </a:spcAft>
                      </a:pPr>
                      <a:r>
                        <a:rPr lang="en-US" sz="1400" b="1" dirty="0">
                          <a:effectLst/>
                          <a:latin typeface="Arial"/>
                          <a:ea typeface="Calibri"/>
                          <a:cs typeface="Times New Roman"/>
                        </a:rPr>
                        <a:t> </a:t>
                      </a:r>
                      <a:endParaRPr lang="en-US" sz="1400" dirty="0">
                        <a:effectLst/>
                        <a:latin typeface="Calibri"/>
                        <a:ea typeface="Calibri"/>
                        <a:cs typeface="Times New Roman"/>
                      </a:endParaRPr>
                    </a:p>
                  </a:txBody>
                  <a:tcPr marL="51435" marR="51435"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72</a:t>
            </a:fld>
            <a:endParaRPr lang="en-US">
              <a:solidFill>
                <a:prstClr val="black">
                  <a:tint val="75000"/>
                </a:prstClr>
              </a:solidFill>
            </a:endParaRPr>
          </a:p>
        </p:txBody>
      </p:sp>
    </p:spTree>
    <p:extLst>
      <p:ext uri="{BB962C8B-B14F-4D97-AF65-F5344CB8AC3E}">
        <p14:creationId xmlns:p14="http://schemas.microsoft.com/office/powerpoint/2010/main" val="40132538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676400" y="228601"/>
          <a:ext cx="8801100" cy="6400799"/>
        </p:xfrm>
        <a:graphic>
          <a:graphicData uri="http://schemas.openxmlformats.org/drawingml/2006/table">
            <a:tbl>
              <a:tblPr/>
              <a:tblGrid>
                <a:gridCol w="8801100">
                  <a:extLst>
                    <a:ext uri="{9D8B030D-6E8A-4147-A177-3AD203B41FA5}">
                      <a16:colId xmlns:a16="http://schemas.microsoft.com/office/drawing/2014/main" val="20000"/>
                    </a:ext>
                  </a:extLst>
                </a:gridCol>
              </a:tblGrid>
              <a:tr h="309580">
                <a:tc>
                  <a:txBody>
                    <a:bodyPr/>
                    <a:lstStyle/>
                    <a:p>
                      <a:pPr marL="0" marR="0" algn="ctr">
                        <a:lnSpc>
                          <a:spcPct val="115000"/>
                        </a:lnSpc>
                        <a:spcBef>
                          <a:spcPts val="0"/>
                        </a:spcBef>
                        <a:spcAft>
                          <a:spcPts val="0"/>
                        </a:spcAft>
                      </a:pPr>
                      <a:r>
                        <a:rPr lang="en-GB" sz="1600" b="1" i="0" dirty="0">
                          <a:effectLst/>
                          <a:latin typeface="Times New Roman"/>
                          <a:ea typeface="Times New Roman"/>
                          <a:cs typeface="Times New Roman"/>
                        </a:rPr>
                        <a:t>Sexually transmitted infections</a:t>
                      </a:r>
                      <a:endParaRPr lang="en-US" sz="1600" b="1" i="1" dirty="0">
                        <a:effectLst/>
                        <a:latin typeface="Calibri"/>
                        <a:ea typeface="Times New Roman"/>
                        <a:cs typeface="Times New Roman"/>
                      </a:endParaRPr>
                    </a:p>
                  </a:txBody>
                  <a:tcPr marL="51435" marR="51435"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9580">
                <a:tc>
                  <a:txBody>
                    <a:bodyPr/>
                    <a:lstStyle/>
                    <a:p>
                      <a:pPr marL="0" marR="0">
                        <a:lnSpc>
                          <a:spcPct val="115000"/>
                        </a:lnSpc>
                        <a:spcBef>
                          <a:spcPts val="0"/>
                        </a:spcBef>
                        <a:spcAft>
                          <a:spcPts val="0"/>
                        </a:spcAft>
                      </a:pPr>
                      <a:r>
                        <a:rPr lang="en-GB" sz="1600" b="1" dirty="0">
                          <a:effectLst/>
                          <a:latin typeface="Times New Roman"/>
                          <a:ea typeface="Times New Roman"/>
                        </a:rPr>
                        <a:t>Background</a:t>
                      </a:r>
                      <a:endParaRPr lang="en-US" sz="1600" dirty="0">
                        <a:effectLst/>
                        <a:latin typeface="Times New Roman"/>
                        <a:ea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81639">
                <a:tc>
                  <a:txBody>
                    <a:bodyPr/>
                    <a:lstStyle/>
                    <a:p>
                      <a:pPr marL="342900" marR="0" lvl="0" indent="-342900">
                        <a:lnSpc>
                          <a:spcPct val="115000"/>
                        </a:lnSpc>
                        <a:spcBef>
                          <a:spcPts val="1200"/>
                        </a:spcBef>
                        <a:spcAft>
                          <a:spcPts val="0"/>
                        </a:spcAft>
                        <a:buFont typeface="Wingdings"/>
                        <a:buChar char=""/>
                      </a:pPr>
                      <a:r>
                        <a:rPr lang="en-GB" sz="1600" dirty="0">
                          <a:effectLst/>
                          <a:latin typeface="Arial"/>
                          <a:ea typeface="Calibri"/>
                          <a:cs typeface="Times New Roman"/>
                        </a:rPr>
                        <a:t>Infections of the human </a:t>
                      </a:r>
                      <a:r>
                        <a:rPr lang="en-GB" sz="1600" dirty="0" err="1">
                          <a:effectLst/>
                          <a:latin typeface="Arial"/>
                          <a:ea typeface="Calibri"/>
                          <a:cs typeface="Times New Roman"/>
                        </a:rPr>
                        <a:t>genito</a:t>
                      </a:r>
                      <a:r>
                        <a:rPr lang="en-GB" sz="1600" dirty="0">
                          <a:effectLst/>
                          <a:latin typeface="Arial"/>
                          <a:ea typeface="Calibri"/>
                          <a:cs typeface="Times New Roman"/>
                        </a:rPr>
                        <a:t>-urinary and reproductive systems transmitted via human sexual contact (sexually transmitted disease, STIs). The most common causes of male urethral discharge are a) the gonococcus </a:t>
                      </a:r>
                      <a:r>
                        <a:rPr lang="en-GB" sz="1600" i="1" dirty="0">
                          <a:effectLst/>
                          <a:latin typeface="Arial"/>
                          <a:ea typeface="Calibri"/>
                          <a:cs typeface="Times New Roman"/>
                        </a:rPr>
                        <a:t>Neisseria gonorrhoea</a:t>
                      </a:r>
                      <a:r>
                        <a:rPr lang="en-GB" sz="1600" dirty="0">
                          <a:effectLst/>
                          <a:latin typeface="Arial"/>
                          <a:ea typeface="Calibri"/>
                          <a:cs typeface="Times New Roman"/>
                        </a:rPr>
                        <a:t> and b) </a:t>
                      </a:r>
                      <a:r>
                        <a:rPr lang="en-GB" sz="1600" i="1" dirty="0">
                          <a:effectLst/>
                          <a:latin typeface="Arial"/>
                          <a:ea typeface="Calibri"/>
                          <a:cs typeface="Times New Roman"/>
                        </a:rPr>
                        <a:t>Chlamydia trachomatis</a:t>
                      </a:r>
                      <a:r>
                        <a:rPr lang="en-GB" sz="1600" dirty="0">
                          <a:effectLst/>
                          <a:latin typeface="Arial"/>
                          <a:ea typeface="Calibri"/>
                          <a:cs typeface="Times New Roman"/>
                        </a:rPr>
                        <a:t>. The most common causes of male and female genital ulcer are c) syphilis (</a:t>
                      </a:r>
                      <a:r>
                        <a:rPr lang="en-GB" sz="1600" i="1" dirty="0" err="1">
                          <a:effectLst/>
                          <a:latin typeface="Arial"/>
                          <a:ea typeface="Calibri"/>
                          <a:cs typeface="Times New Roman"/>
                        </a:rPr>
                        <a:t>Treponema</a:t>
                      </a:r>
                      <a:r>
                        <a:rPr lang="en-GB" sz="1600" i="1" dirty="0">
                          <a:effectLst/>
                          <a:latin typeface="Arial"/>
                          <a:ea typeface="Calibri"/>
                          <a:cs typeface="Times New Roman"/>
                        </a:rPr>
                        <a:t> </a:t>
                      </a:r>
                      <a:r>
                        <a:rPr lang="en-GB" sz="1600" i="1" dirty="0" err="1">
                          <a:effectLst/>
                          <a:latin typeface="Arial"/>
                          <a:ea typeface="Calibri"/>
                          <a:cs typeface="Times New Roman"/>
                        </a:rPr>
                        <a:t>pallidum</a:t>
                      </a:r>
                      <a:r>
                        <a:rPr lang="en-GB" sz="1600" dirty="0">
                          <a:effectLst/>
                          <a:latin typeface="Arial"/>
                          <a:ea typeface="Calibri"/>
                          <a:cs typeface="Times New Roman"/>
                        </a:rPr>
                        <a:t>), d) herpes simplex virus (HSV1 or 2) and e) </a:t>
                      </a:r>
                      <a:r>
                        <a:rPr lang="en-GB" sz="1600" dirty="0" err="1">
                          <a:effectLst/>
                          <a:latin typeface="Arial"/>
                          <a:ea typeface="Calibri"/>
                          <a:cs typeface="Times New Roman"/>
                        </a:rPr>
                        <a:t>chancroid</a:t>
                      </a:r>
                      <a:r>
                        <a:rPr lang="en-GB" sz="1600" dirty="0">
                          <a:effectLst/>
                          <a:latin typeface="Arial"/>
                          <a:ea typeface="Calibri"/>
                          <a:cs typeface="Times New Roman"/>
                        </a:rPr>
                        <a:t> </a:t>
                      </a:r>
                      <a:r>
                        <a:rPr lang="en-GB" sz="1600" i="1" dirty="0">
                          <a:effectLst/>
                          <a:latin typeface="Arial"/>
                          <a:ea typeface="Calibri"/>
                          <a:cs typeface="Times New Roman"/>
                        </a:rPr>
                        <a:t>(</a:t>
                      </a:r>
                      <a:r>
                        <a:rPr lang="en-GB" sz="1600" i="1" dirty="0" err="1">
                          <a:effectLst/>
                          <a:latin typeface="Arial"/>
                          <a:ea typeface="Calibri"/>
                          <a:cs typeface="Times New Roman"/>
                        </a:rPr>
                        <a:t>Haemophilus</a:t>
                      </a:r>
                      <a:r>
                        <a:rPr lang="en-GB" sz="1600" i="1" dirty="0">
                          <a:effectLst/>
                          <a:latin typeface="Arial"/>
                          <a:ea typeface="Calibri"/>
                          <a:cs typeface="Times New Roman"/>
                        </a:rPr>
                        <a:t> </a:t>
                      </a:r>
                      <a:r>
                        <a:rPr lang="en-GB" sz="1600" i="1" dirty="0" err="1">
                          <a:effectLst/>
                          <a:latin typeface="Arial"/>
                          <a:ea typeface="Calibri"/>
                          <a:cs typeface="Times New Roman"/>
                        </a:rPr>
                        <a:t>ducreyi</a:t>
                      </a:r>
                      <a:r>
                        <a:rPr lang="en-GB" sz="1600" dirty="0">
                          <a:effectLst/>
                          <a:latin typeface="Arial"/>
                          <a:ea typeface="Calibri"/>
                          <a:cs typeface="Times New Roman"/>
                        </a:rPr>
                        <a:t>).</a:t>
                      </a:r>
                      <a:endParaRPr lang="en-US" sz="1600" dirty="0">
                        <a:effectLst/>
                        <a:latin typeface="Calibri"/>
                        <a:ea typeface="Calibri"/>
                        <a:cs typeface="Times New Roman"/>
                      </a:endParaRPr>
                    </a:p>
                    <a:p>
                      <a:pPr marL="342900" marR="0" lvl="0" indent="-342900">
                        <a:lnSpc>
                          <a:spcPct val="115000"/>
                        </a:lnSpc>
                        <a:spcBef>
                          <a:spcPts val="485"/>
                        </a:spcBef>
                        <a:spcAft>
                          <a:spcPts val="250"/>
                        </a:spcAft>
                        <a:buFont typeface="Wingdings"/>
                        <a:buChar char=""/>
                      </a:pPr>
                      <a:r>
                        <a:rPr lang="en-GB" sz="1600" dirty="0">
                          <a:effectLst/>
                          <a:latin typeface="Arial"/>
                          <a:ea typeface="Calibri"/>
                          <a:cs typeface="Times New Roman"/>
                        </a:rPr>
                        <a:t>STIs are endemic in most countries of the world, including countries in Africa. Multiple simultaneous STIs are common (for example, gonorrhoea plus </a:t>
                      </a:r>
                      <a:r>
                        <a:rPr lang="en-GB" sz="1600" i="1" dirty="0">
                          <a:effectLst/>
                          <a:latin typeface="Arial"/>
                          <a:ea typeface="Calibri"/>
                          <a:cs typeface="Times New Roman"/>
                        </a:rPr>
                        <a:t>Chlamydia</a:t>
                      </a:r>
                      <a:r>
                        <a:rPr lang="en-GB" sz="1600" dirty="0">
                          <a:effectLst/>
                          <a:latin typeface="Arial"/>
                          <a:ea typeface="Calibri"/>
                          <a:cs typeface="Times New Roman"/>
                        </a:rPr>
                        <a:t>). STIs may be most highly prevalent in areas where HIV occurs and may facilitate HIV transmission. STIs may be primary or from repeated attacks of urethral discharge.</a:t>
                      </a:r>
                      <a:endParaRPr lang="en-US" sz="1600" dirty="0">
                        <a:effectLst/>
                        <a:latin typeface="Calibri"/>
                        <a:ea typeface="Calibri"/>
                        <a:cs typeface="Times New Roman"/>
                      </a:endParaRPr>
                    </a:p>
                    <a:p>
                      <a:pPr marL="342900" marR="0" lvl="0" indent="-342900">
                        <a:lnSpc>
                          <a:spcPct val="115000"/>
                        </a:lnSpc>
                        <a:spcBef>
                          <a:spcPts val="485"/>
                        </a:spcBef>
                        <a:spcAft>
                          <a:spcPts val="250"/>
                        </a:spcAft>
                        <a:buFont typeface="Wingdings"/>
                        <a:buChar char=""/>
                      </a:pPr>
                      <a:r>
                        <a:rPr lang="en-GB" sz="1600" dirty="0">
                          <a:effectLst/>
                          <a:latin typeface="Arial"/>
                          <a:ea typeface="Calibri"/>
                          <a:cs typeface="Times New Roman"/>
                        </a:rPr>
                        <a:t>STIs are a leading cause of abortion and stillbirth, prematurity, and congenital infections. They may lead to pelvic inflammatory disease (PID), a major cause of decreased fertility.</a:t>
                      </a:r>
                      <a:endParaRPr lang="en-US" sz="1600" dirty="0">
                        <a:effectLst/>
                        <a:latin typeface="Calibri"/>
                        <a:ea typeface="Calibri"/>
                        <a:cs typeface="Times New Roman"/>
                      </a:endParaRPr>
                    </a:p>
                    <a:p>
                      <a:pPr marL="342900" marR="0" lvl="0" indent="-342900">
                        <a:lnSpc>
                          <a:spcPct val="115000"/>
                        </a:lnSpc>
                        <a:spcBef>
                          <a:spcPts val="485"/>
                        </a:spcBef>
                        <a:spcAft>
                          <a:spcPts val="250"/>
                        </a:spcAft>
                        <a:buFont typeface="Wingdings"/>
                        <a:buChar char=""/>
                      </a:pPr>
                      <a:r>
                        <a:rPr lang="en-GB" sz="1600" dirty="0">
                          <a:effectLst/>
                          <a:latin typeface="Arial"/>
                          <a:ea typeface="Calibri"/>
                          <a:cs typeface="Times New Roman"/>
                        </a:rPr>
                        <a:t>Incubation periods for gonorrhoea are 2 to 7 days; </a:t>
                      </a:r>
                      <a:r>
                        <a:rPr lang="en-GB" sz="1600" i="1" dirty="0">
                          <a:effectLst/>
                          <a:latin typeface="Arial"/>
                          <a:ea typeface="Calibri"/>
                          <a:cs typeface="Times New Roman"/>
                        </a:rPr>
                        <a:t>Chlamydia</a:t>
                      </a:r>
                      <a:r>
                        <a:rPr lang="en-GB" sz="1600" dirty="0">
                          <a:effectLst/>
                          <a:latin typeface="Arial"/>
                          <a:ea typeface="Calibri"/>
                          <a:cs typeface="Times New Roman"/>
                        </a:rPr>
                        <a:t> 7 to 14 days (or longer); syphilis, 10 days to 12 weeks (usually around 3 weeks), and </a:t>
                      </a:r>
                      <a:r>
                        <a:rPr lang="en-GB" sz="1600" dirty="0" err="1">
                          <a:effectLst/>
                          <a:latin typeface="Arial"/>
                          <a:ea typeface="Calibri"/>
                          <a:cs typeface="Times New Roman"/>
                        </a:rPr>
                        <a:t>chancroid</a:t>
                      </a:r>
                      <a:r>
                        <a:rPr lang="en-GB" sz="1600" dirty="0">
                          <a:effectLst/>
                          <a:latin typeface="Arial"/>
                          <a:ea typeface="Calibri"/>
                          <a:cs typeface="Times New Roman"/>
                        </a:rPr>
                        <a:t>, 3 to 14 days.</a:t>
                      </a:r>
                      <a:endParaRPr lang="en-US" sz="1600" dirty="0">
                        <a:effectLst/>
                        <a:latin typeface="Calibri"/>
                        <a:ea typeface="Calibri"/>
                        <a:cs typeface="Times New Roman"/>
                      </a:endParaRPr>
                    </a:p>
                    <a:p>
                      <a:pPr marL="342900" marR="0" lvl="0" indent="-342900">
                        <a:lnSpc>
                          <a:spcPct val="115000"/>
                        </a:lnSpc>
                        <a:spcBef>
                          <a:spcPts val="485"/>
                        </a:spcBef>
                        <a:spcAft>
                          <a:spcPts val="250"/>
                        </a:spcAft>
                        <a:buFont typeface="Wingdings"/>
                        <a:buChar char=""/>
                      </a:pPr>
                      <a:r>
                        <a:rPr lang="en-GB" sz="1600" dirty="0">
                          <a:effectLst/>
                          <a:latin typeface="Arial"/>
                          <a:ea typeface="Calibri"/>
                          <a:cs typeface="Times New Roman"/>
                        </a:rPr>
                        <a:t>STIs may be more commonly diagnosed in men, in whom clinical evidence of infection may be more readily apparent.</a:t>
                      </a:r>
                      <a:endParaRPr lang="en-US" sz="1600" dirty="0">
                        <a:effectLst/>
                        <a:latin typeface="Calibri"/>
                        <a:ea typeface="Calibri"/>
                        <a:cs typeface="Times New Roman"/>
                      </a:endParaRPr>
                    </a:p>
                    <a:p>
                      <a:pPr marL="228600" marR="0">
                        <a:lnSpc>
                          <a:spcPct val="115000"/>
                        </a:lnSpc>
                        <a:spcBef>
                          <a:spcPts val="485"/>
                        </a:spcBef>
                        <a:spcAft>
                          <a:spcPts val="250"/>
                        </a:spcAft>
                      </a:pPr>
                      <a:r>
                        <a:rPr lang="en-GB" sz="1600" i="1" dirty="0">
                          <a:effectLst/>
                          <a:latin typeface="Arial"/>
                          <a:ea typeface="Calibri"/>
                          <a:cs typeface="Times New Roman"/>
                        </a:rPr>
                        <a:t> </a:t>
                      </a:r>
                      <a:endParaRPr lang="en-US" sz="1600" dirty="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73</a:t>
            </a:fld>
            <a:endParaRPr lang="en-US">
              <a:solidFill>
                <a:prstClr val="black">
                  <a:tint val="75000"/>
                </a:prstClr>
              </a:solidFill>
            </a:endParaRPr>
          </a:p>
        </p:txBody>
      </p:sp>
    </p:spTree>
    <p:extLst>
      <p:ext uri="{BB962C8B-B14F-4D97-AF65-F5344CB8AC3E}">
        <p14:creationId xmlns:p14="http://schemas.microsoft.com/office/powerpoint/2010/main" val="5779299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752600" y="152399"/>
          <a:ext cx="8610600" cy="6751692"/>
        </p:xfrm>
        <a:graphic>
          <a:graphicData uri="http://schemas.openxmlformats.org/drawingml/2006/table">
            <a:tbl>
              <a:tblPr/>
              <a:tblGrid>
                <a:gridCol w="8610600">
                  <a:extLst>
                    <a:ext uri="{9D8B030D-6E8A-4147-A177-3AD203B41FA5}">
                      <a16:colId xmlns:a16="http://schemas.microsoft.com/office/drawing/2014/main" val="20000"/>
                    </a:ext>
                  </a:extLst>
                </a:gridCol>
              </a:tblGrid>
              <a:tr h="399202">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Times New Roman"/>
                          <a:ea typeface="Times New Roman"/>
                          <a:cs typeface="Times New Roman"/>
                        </a:rPr>
                        <a:t>Sexually transmitted infections</a:t>
                      </a:r>
                      <a:endParaRPr kumimoji="0" lang="en-US" sz="1600" b="1" i="1" u="none" strike="noStrike" kern="1200" cap="none" spc="0" normalizeH="0" baseline="0" noProof="0" dirty="0">
                        <a:ln>
                          <a:noFill/>
                        </a:ln>
                        <a:solidFill>
                          <a:prstClr val="black"/>
                        </a:solidFill>
                        <a:effectLst/>
                        <a:uLnTx/>
                        <a:uFillTx/>
                        <a:latin typeface="+mn-lt"/>
                        <a:ea typeface="Times New Roman"/>
                        <a:cs typeface="Times New Roman"/>
                      </a:endParaRPr>
                    </a:p>
                    <a:p>
                      <a:pPr marL="0" marR="0">
                        <a:lnSpc>
                          <a:spcPct val="115000"/>
                        </a:lnSpc>
                        <a:spcBef>
                          <a:spcPts val="0"/>
                        </a:spcBef>
                        <a:spcAft>
                          <a:spcPts val="0"/>
                        </a:spcAft>
                      </a:pPr>
                      <a:r>
                        <a:rPr lang="en-GB" sz="1600" b="1" dirty="0">
                          <a:effectLst/>
                          <a:latin typeface="Times New Roman"/>
                          <a:ea typeface="Times New Roman"/>
                        </a:rPr>
                        <a:t>Standard case definition</a:t>
                      </a:r>
                      <a:endParaRPr lang="en-US" sz="1600" dirty="0">
                        <a:effectLst/>
                        <a:latin typeface="Times New Roman"/>
                        <a:ea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15755">
                <a:tc>
                  <a:txBody>
                    <a:bodyPr/>
                    <a:lstStyle/>
                    <a:p>
                      <a:pPr marL="0" marR="0">
                        <a:lnSpc>
                          <a:spcPct val="120000"/>
                        </a:lnSpc>
                        <a:spcBef>
                          <a:spcPts val="600"/>
                        </a:spcBef>
                        <a:spcAft>
                          <a:spcPts val="600"/>
                        </a:spcAft>
                      </a:pPr>
                      <a:r>
                        <a:rPr lang="en-GB" sz="1600" b="1" u="sng">
                          <a:effectLst/>
                          <a:latin typeface="Arial"/>
                          <a:ea typeface="Calibri"/>
                          <a:cs typeface="Times New Roman"/>
                        </a:rPr>
                        <a:t>Genital ulcer syndrome (non-vesicular): </a:t>
                      </a:r>
                      <a:endParaRPr lang="en-US" sz="1600">
                        <a:effectLst/>
                        <a:latin typeface="Calibri"/>
                        <a:ea typeface="Calibri"/>
                        <a:cs typeface="Times New Roman"/>
                      </a:endParaRPr>
                    </a:p>
                    <a:p>
                      <a:pPr marL="0" marR="0">
                        <a:lnSpc>
                          <a:spcPct val="120000"/>
                        </a:lnSpc>
                        <a:spcBef>
                          <a:spcPts val="600"/>
                        </a:spcBef>
                        <a:spcAft>
                          <a:spcPts val="600"/>
                        </a:spcAft>
                      </a:pPr>
                      <a:r>
                        <a:rPr lang="en-GB" sz="1600" b="1">
                          <a:effectLst/>
                          <a:latin typeface="Arial"/>
                          <a:ea typeface="Calibri"/>
                          <a:cs typeface="Times New Roman"/>
                        </a:rPr>
                        <a:t>Suspected case</a:t>
                      </a:r>
                      <a:r>
                        <a:rPr lang="en-GB" sz="1600">
                          <a:effectLst/>
                          <a:latin typeface="Arial"/>
                          <a:ea typeface="Calibri"/>
                          <a:cs typeface="Times New Roman"/>
                        </a:rPr>
                        <a:t>: Any male with an ulcer on the penis, scrotum, or rectum, with or without inguinal adenopathy, or any female with ulcer on labia, vagina, or rectum, with or without inguinal adenopathy.</a:t>
                      </a:r>
                      <a:endParaRPr lang="en-US" sz="1600">
                        <a:effectLst/>
                        <a:latin typeface="Calibri"/>
                        <a:ea typeface="Calibri"/>
                        <a:cs typeface="Times New Roman"/>
                      </a:endParaRPr>
                    </a:p>
                    <a:p>
                      <a:pPr marL="0" marR="0">
                        <a:lnSpc>
                          <a:spcPct val="115000"/>
                        </a:lnSpc>
                        <a:spcBef>
                          <a:spcPts val="600"/>
                        </a:spcBef>
                        <a:spcAft>
                          <a:spcPts val="600"/>
                        </a:spcAft>
                      </a:pPr>
                      <a:r>
                        <a:rPr lang="en-GB" sz="1600" b="1" u="sng">
                          <a:effectLst/>
                          <a:latin typeface="Arial"/>
                          <a:ea typeface="Times New Roman"/>
                        </a:rPr>
                        <a:t>Urethral discharge syndrome: </a:t>
                      </a:r>
                      <a:endParaRPr lang="en-US" sz="1600">
                        <a:effectLst/>
                        <a:latin typeface="Times New Roman"/>
                        <a:ea typeface="Times New Roman"/>
                      </a:endParaRPr>
                    </a:p>
                    <a:p>
                      <a:pPr marL="0" marR="0">
                        <a:lnSpc>
                          <a:spcPct val="120000"/>
                        </a:lnSpc>
                        <a:spcBef>
                          <a:spcPts val="600"/>
                        </a:spcBef>
                        <a:spcAft>
                          <a:spcPts val="600"/>
                        </a:spcAft>
                      </a:pPr>
                      <a:r>
                        <a:rPr lang="en-GB" sz="1600" b="1">
                          <a:effectLst/>
                          <a:latin typeface="Arial"/>
                          <a:ea typeface="Calibri"/>
                          <a:cs typeface="Times New Roman"/>
                        </a:rPr>
                        <a:t>Suspected case</a:t>
                      </a:r>
                      <a:r>
                        <a:rPr lang="en-GB" sz="1600">
                          <a:effectLst/>
                          <a:latin typeface="Arial"/>
                          <a:ea typeface="Calibri"/>
                          <a:cs typeface="Times New Roman"/>
                        </a:rPr>
                        <a:t>: Any male with urethral discharge with or without dysuria.</a:t>
                      </a:r>
                      <a:endParaRPr lang="en-US" sz="1600">
                        <a:effectLst/>
                        <a:latin typeface="Calibri"/>
                        <a:ea typeface="Calibri"/>
                        <a:cs typeface="Times New Roman"/>
                      </a:endParaRPr>
                    </a:p>
                    <a:p>
                      <a:pPr marL="0" marR="0">
                        <a:lnSpc>
                          <a:spcPct val="115000"/>
                        </a:lnSpc>
                        <a:spcBef>
                          <a:spcPts val="0"/>
                        </a:spcBef>
                        <a:spcAft>
                          <a:spcPts val="250"/>
                        </a:spcAft>
                      </a:pPr>
                      <a:r>
                        <a:rPr lang="en-GB" sz="1600" b="1">
                          <a:effectLst/>
                          <a:latin typeface="Arial"/>
                          <a:ea typeface="Times New Roman"/>
                        </a:rPr>
                        <a:t>Confirmed case</a:t>
                      </a:r>
                      <a:r>
                        <a:rPr lang="en-GB" sz="1600">
                          <a:effectLst/>
                          <a:latin typeface="Arial"/>
                          <a:ea typeface="Times New Roman"/>
                        </a:rPr>
                        <a:t>: </a:t>
                      </a:r>
                      <a:r>
                        <a:rPr lang="en-GB" sz="1600" i="1">
                          <a:effectLst/>
                          <a:latin typeface="Arial"/>
                          <a:ea typeface="Times New Roman"/>
                        </a:rPr>
                        <a:t>Urethral discharge syndrome</a:t>
                      </a:r>
                      <a:r>
                        <a:rPr lang="en-GB" sz="1600">
                          <a:effectLst/>
                          <a:latin typeface="Arial"/>
                          <a:ea typeface="Times New Roman"/>
                        </a:rPr>
                        <a:t>: A suspected case confirmed by a laboratory method (for example Gram stain showing intracellular Gram-negative diplococci).</a:t>
                      </a:r>
                      <a:endParaRPr lang="en-US" sz="1600">
                        <a:effectLst/>
                        <a:latin typeface="Times New Roman"/>
                        <a:ea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6558">
                <a:tc>
                  <a:txBody>
                    <a:bodyPr/>
                    <a:lstStyle/>
                    <a:p>
                      <a:pPr marL="0" marR="0">
                        <a:lnSpc>
                          <a:spcPct val="120000"/>
                        </a:lnSpc>
                        <a:spcBef>
                          <a:spcPts val="0"/>
                        </a:spcBef>
                        <a:spcAft>
                          <a:spcPts val="0"/>
                        </a:spcAft>
                      </a:pPr>
                      <a:r>
                        <a:rPr lang="en-GB" sz="1600" b="1">
                          <a:effectLst/>
                          <a:latin typeface="Times New Roman"/>
                          <a:ea typeface="Calibri"/>
                          <a:cs typeface="Times New Roman"/>
                        </a:rPr>
                        <a:t>Prevention and control</a:t>
                      </a:r>
                      <a:endParaRPr lang="en-US" sz="160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881026">
                <a:tc>
                  <a:txBody>
                    <a:bodyPr/>
                    <a:lstStyle/>
                    <a:p>
                      <a:pPr marL="457200" marR="0">
                        <a:lnSpc>
                          <a:spcPct val="115000"/>
                        </a:lnSpc>
                        <a:spcBef>
                          <a:spcPts val="0"/>
                        </a:spcBef>
                        <a:spcAft>
                          <a:spcPts val="0"/>
                        </a:spcAft>
                      </a:pPr>
                      <a:r>
                        <a:rPr lang="en-GB" sz="1600" dirty="0">
                          <a:effectLst/>
                          <a:latin typeface="Arial"/>
                          <a:ea typeface="Times New Roman"/>
                        </a:rPr>
                        <a:t> </a:t>
                      </a:r>
                      <a:endParaRPr lang="en-US" sz="1600" dirty="0">
                        <a:effectLst/>
                        <a:latin typeface="Times New Roman"/>
                        <a:ea typeface="Times New Roman"/>
                      </a:endParaRPr>
                    </a:p>
                    <a:p>
                      <a:pPr marL="342900" marR="0" lvl="0" indent="-342900">
                        <a:lnSpc>
                          <a:spcPct val="115000"/>
                        </a:lnSpc>
                        <a:spcBef>
                          <a:spcPts val="0"/>
                        </a:spcBef>
                        <a:spcAft>
                          <a:spcPts val="0"/>
                        </a:spcAft>
                        <a:buFont typeface="Wingdings"/>
                        <a:buChar char=""/>
                        <a:tabLst>
                          <a:tab pos="457200" algn="l"/>
                        </a:tabLst>
                      </a:pPr>
                      <a:r>
                        <a:rPr lang="en-GB" sz="1600" dirty="0">
                          <a:effectLst/>
                          <a:latin typeface="Arial"/>
                          <a:ea typeface="Times New Roman"/>
                        </a:rPr>
                        <a:t>Conduct active case finding for specific target groups.</a:t>
                      </a:r>
                      <a:endParaRPr lang="en-US" sz="1600" dirty="0">
                        <a:effectLst/>
                        <a:latin typeface="Times New Roman"/>
                        <a:ea typeface="Times New Roman"/>
                      </a:endParaRPr>
                    </a:p>
                    <a:p>
                      <a:pPr marL="342900" marR="0" lvl="0" indent="-342900">
                        <a:lnSpc>
                          <a:spcPct val="115000"/>
                        </a:lnSpc>
                        <a:spcBef>
                          <a:spcPts val="0"/>
                        </a:spcBef>
                        <a:spcAft>
                          <a:spcPts val="0"/>
                        </a:spcAft>
                        <a:buFont typeface="Wingdings"/>
                        <a:buChar char=""/>
                        <a:tabLst>
                          <a:tab pos="457200" algn="l"/>
                        </a:tabLst>
                      </a:pPr>
                      <a:r>
                        <a:rPr lang="en-GB" sz="1600" dirty="0">
                          <a:effectLst/>
                          <a:latin typeface="Arial"/>
                          <a:ea typeface="Times New Roman"/>
                        </a:rPr>
                        <a:t>Conduct primary prevention activities such as promotion of safer sexual behaviours and provision of condoms.</a:t>
                      </a:r>
                      <a:endParaRPr lang="en-US" sz="1600" dirty="0">
                        <a:effectLst/>
                        <a:latin typeface="Times New Roman"/>
                        <a:ea typeface="Times New Roman"/>
                      </a:endParaRPr>
                    </a:p>
                    <a:p>
                      <a:pPr marL="342900" marR="0" lvl="0" indent="-342900">
                        <a:lnSpc>
                          <a:spcPct val="115000"/>
                        </a:lnSpc>
                        <a:spcBef>
                          <a:spcPts val="0"/>
                        </a:spcBef>
                        <a:spcAft>
                          <a:spcPts val="0"/>
                        </a:spcAft>
                        <a:buFont typeface="Wingdings"/>
                        <a:buChar char=""/>
                        <a:tabLst>
                          <a:tab pos="457200" algn="l"/>
                        </a:tabLst>
                      </a:pPr>
                      <a:r>
                        <a:rPr lang="en-GB" sz="1600" dirty="0">
                          <a:effectLst/>
                          <a:latin typeface="Arial"/>
                          <a:ea typeface="Times New Roman"/>
                        </a:rPr>
                        <a:t>Train health workers in the detection and treatment of STIs. </a:t>
                      </a:r>
                      <a:endParaRPr lang="en-US" sz="1600" dirty="0">
                        <a:effectLst/>
                        <a:latin typeface="Times New Roman"/>
                        <a:ea typeface="Times New Roman"/>
                      </a:endParaRPr>
                    </a:p>
                    <a:p>
                      <a:pPr marL="342900" marR="0" lvl="0" indent="-342900">
                        <a:lnSpc>
                          <a:spcPct val="115000"/>
                        </a:lnSpc>
                        <a:spcBef>
                          <a:spcPts val="0"/>
                        </a:spcBef>
                        <a:spcAft>
                          <a:spcPts val="0"/>
                        </a:spcAft>
                        <a:buFont typeface="Wingdings"/>
                        <a:buChar char=""/>
                        <a:tabLst>
                          <a:tab pos="457200" algn="l"/>
                        </a:tabLst>
                      </a:pPr>
                      <a:r>
                        <a:rPr lang="en-GB" sz="1600" dirty="0">
                          <a:effectLst/>
                          <a:latin typeface="Arial"/>
                          <a:ea typeface="Times New Roman"/>
                        </a:rPr>
                        <a:t>Include STI prevention and care services in maternal and child health, and family planning services.</a:t>
                      </a:r>
                      <a:endParaRPr lang="en-US" sz="1600" dirty="0">
                        <a:effectLst/>
                        <a:latin typeface="Times New Roman"/>
                        <a:ea typeface="Times New Roman"/>
                      </a:endParaRPr>
                    </a:p>
                    <a:p>
                      <a:pPr marL="342900" marR="0" lvl="0" indent="-342900">
                        <a:lnSpc>
                          <a:spcPct val="115000"/>
                        </a:lnSpc>
                        <a:spcBef>
                          <a:spcPts val="0"/>
                        </a:spcBef>
                        <a:spcAft>
                          <a:spcPts val="0"/>
                        </a:spcAft>
                        <a:buFont typeface="Wingdings"/>
                        <a:buChar char=""/>
                        <a:tabLst>
                          <a:tab pos="457200" algn="l"/>
                        </a:tabLst>
                      </a:pPr>
                      <a:r>
                        <a:rPr lang="en-GB" sz="1600" dirty="0">
                          <a:effectLst/>
                          <a:latin typeface="Arial"/>
                          <a:ea typeface="Times New Roman"/>
                        </a:rPr>
                        <a:t>Target acceptable and effective STI prevention and care services to populations identified as vulnerable to STI transmission.</a:t>
                      </a:r>
                      <a:endParaRPr lang="en-US" sz="1600" dirty="0">
                        <a:effectLst/>
                        <a:latin typeface="Times New Roman"/>
                        <a:ea typeface="Times New Roman"/>
                      </a:endParaRPr>
                    </a:p>
                    <a:p>
                      <a:pPr marL="342900" marR="0" lvl="0" indent="-342900">
                        <a:lnSpc>
                          <a:spcPct val="115000"/>
                        </a:lnSpc>
                        <a:spcBef>
                          <a:spcPts val="0"/>
                        </a:spcBef>
                        <a:spcAft>
                          <a:spcPts val="250"/>
                        </a:spcAft>
                        <a:buFont typeface="Wingdings"/>
                        <a:buChar char=""/>
                        <a:tabLst>
                          <a:tab pos="457200" algn="l"/>
                        </a:tabLst>
                      </a:pPr>
                      <a:r>
                        <a:rPr lang="en-GB" sz="1600" dirty="0">
                          <a:effectLst/>
                          <a:latin typeface="Arial"/>
                          <a:ea typeface="Times New Roman"/>
                        </a:rPr>
                        <a:t>Promote early STI health seeking behaviour.</a:t>
                      </a:r>
                      <a:endParaRPr lang="en-US" sz="1600" dirty="0">
                        <a:effectLst/>
                        <a:latin typeface="Times New Roman"/>
                        <a:ea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74</a:t>
            </a:fld>
            <a:endParaRPr lang="en-US">
              <a:solidFill>
                <a:prstClr val="black">
                  <a:tint val="75000"/>
                </a:prstClr>
              </a:solidFill>
            </a:endParaRPr>
          </a:p>
        </p:txBody>
      </p:sp>
    </p:spTree>
    <p:extLst>
      <p:ext uri="{BB962C8B-B14F-4D97-AF65-F5344CB8AC3E}">
        <p14:creationId xmlns:p14="http://schemas.microsoft.com/office/powerpoint/2010/main" val="8012086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676400" y="152401"/>
          <a:ext cx="8839200" cy="6790035"/>
        </p:xfrm>
        <a:graphic>
          <a:graphicData uri="http://schemas.openxmlformats.org/drawingml/2006/table">
            <a:tbl>
              <a:tblPr/>
              <a:tblGrid>
                <a:gridCol w="8839200">
                  <a:extLst>
                    <a:ext uri="{9D8B030D-6E8A-4147-A177-3AD203B41FA5}">
                      <a16:colId xmlns:a16="http://schemas.microsoft.com/office/drawing/2014/main" val="20000"/>
                    </a:ext>
                  </a:extLst>
                </a:gridCol>
              </a:tblGrid>
              <a:tr h="466797">
                <a:tc>
                  <a:txBody>
                    <a:bodyPr/>
                    <a:lstStyle/>
                    <a:p>
                      <a:pPr marL="0" marR="0" algn="ctr">
                        <a:lnSpc>
                          <a:spcPct val="115000"/>
                        </a:lnSpc>
                        <a:spcBef>
                          <a:spcPts val="0"/>
                        </a:spcBef>
                        <a:spcAft>
                          <a:spcPts val="0"/>
                        </a:spcAft>
                      </a:pPr>
                      <a:r>
                        <a:rPr lang="en-US" sz="1400" b="1" i="0" dirty="0">
                          <a:effectLst/>
                          <a:latin typeface="Times New Roman"/>
                          <a:ea typeface="Times New Roman"/>
                          <a:cs typeface="Times New Roman"/>
                        </a:rPr>
                        <a:t>Trachoma</a:t>
                      </a:r>
                      <a:endParaRPr lang="en-US" sz="1400" b="1" i="1" dirty="0">
                        <a:effectLst/>
                        <a:latin typeface="Calibri"/>
                        <a:ea typeface="Times New Roman"/>
                        <a:cs typeface="Times New Roman"/>
                      </a:endParaRPr>
                    </a:p>
                  </a:txBody>
                  <a:tcPr marL="51435" marR="51435"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3064">
                <a:tc>
                  <a:txBody>
                    <a:bodyPr/>
                    <a:lstStyle/>
                    <a:p>
                      <a:pPr marL="0" marR="0">
                        <a:lnSpc>
                          <a:spcPct val="115000"/>
                        </a:lnSpc>
                        <a:spcBef>
                          <a:spcPts val="0"/>
                        </a:spcBef>
                        <a:spcAft>
                          <a:spcPts val="0"/>
                        </a:spcAft>
                      </a:pPr>
                      <a:r>
                        <a:rPr lang="en-GB" sz="1400" b="1">
                          <a:solidFill>
                            <a:srgbClr val="000000"/>
                          </a:solidFill>
                          <a:effectLst/>
                          <a:latin typeface="Times New Roman"/>
                          <a:ea typeface="Times New Roman"/>
                          <a:cs typeface="Times New Roman"/>
                        </a:rPr>
                        <a:t>Background</a:t>
                      </a:r>
                      <a:endParaRPr lang="en-US" sz="1400">
                        <a:solidFill>
                          <a:srgbClr val="000000"/>
                        </a:solidFill>
                        <a:effectLst/>
                        <a:latin typeface="Times New Roman"/>
                        <a:ea typeface="Times New Roman"/>
                        <a:cs typeface="Times New Roman"/>
                      </a:endParaRPr>
                    </a:p>
                  </a:txBody>
                  <a:tcPr marL="51435" marR="5143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23338">
                <a:tc>
                  <a:txBody>
                    <a:bodyPr/>
                    <a:lstStyle/>
                    <a:p>
                      <a:pPr marL="228600" marR="0">
                        <a:lnSpc>
                          <a:spcPct val="120000"/>
                        </a:lnSpc>
                        <a:spcBef>
                          <a:spcPts val="0"/>
                        </a:spcBef>
                        <a:spcAft>
                          <a:spcPts val="0"/>
                        </a:spcAft>
                      </a:pPr>
                      <a:r>
                        <a:rPr lang="en-GB" sz="1400" i="1" dirty="0">
                          <a:solidFill>
                            <a:srgbClr val="000000"/>
                          </a:solidFill>
                          <a:effectLst/>
                          <a:latin typeface="Arial"/>
                          <a:ea typeface="Calibri"/>
                          <a:cs typeface="Times New Roman"/>
                        </a:rPr>
                        <a:t> </a:t>
                      </a:r>
                      <a:endParaRPr lang="en-US" sz="1400" dirty="0">
                        <a:solidFill>
                          <a:srgbClr val="000000"/>
                        </a:solidFill>
                        <a:effectLst/>
                        <a:latin typeface="Calibri"/>
                        <a:ea typeface="Calibri"/>
                        <a:cs typeface="Times New Roman"/>
                      </a:endParaRPr>
                    </a:p>
                    <a:p>
                      <a:pPr marL="342900" marR="0" lvl="0" indent="-342900" algn="just">
                        <a:lnSpc>
                          <a:spcPct val="115000"/>
                        </a:lnSpc>
                        <a:spcBef>
                          <a:spcPts val="0"/>
                        </a:spcBef>
                        <a:spcAft>
                          <a:spcPts val="1200"/>
                        </a:spcAft>
                        <a:buFont typeface="Wingdings"/>
                        <a:buChar char=""/>
                      </a:pPr>
                      <a:r>
                        <a:rPr lang="en-GB" sz="1400" u="none" strike="noStrike" dirty="0">
                          <a:solidFill>
                            <a:srgbClr val="836D3E"/>
                          </a:solidFill>
                          <a:effectLst/>
                          <a:latin typeface="Arial"/>
                          <a:ea typeface="Times New Roman"/>
                          <a:cs typeface="Times New Roman"/>
                        </a:rPr>
                        <a:t>Trachoma is the leading cause of preventable blindness worldwide. It is caused by infection with </a:t>
                      </a:r>
                      <a:r>
                        <a:rPr lang="en-GB" sz="1400" i="1" u="none" strike="noStrike" dirty="0">
                          <a:solidFill>
                            <a:srgbClr val="836D3E"/>
                          </a:solidFill>
                          <a:effectLst/>
                          <a:latin typeface="Arial"/>
                          <a:ea typeface="Times New Roman"/>
                          <a:cs typeface="Times New Roman"/>
                        </a:rPr>
                        <a:t>Chlamydia trachomatis</a:t>
                      </a:r>
                      <a:r>
                        <a:rPr lang="en-GB" sz="1400" u="none" strike="noStrike" dirty="0">
                          <a:solidFill>
                            <a:srgbClr val="836D3E"/>
                          </a:solidFill>
                          <a:effectLst/>
                          <a:latin typeface="Arial"/>
                          <a:ea typeface="Times New Roman"/>
                          <a:cs typeface="Times New Roman"/>
                        </a:rPr>
                        <a:t> bacteria, and is both treatable and preventable.</a:t>
                      </a:r>
                      <a:endParaRPr lang="en-US" sz="1400" dirty="0">
                        <a:solidFill>
                          <a:srgbClr val="000000"/>
                        </a:solidFill>
                        <a:effectLst/>
                        <a:latin typeface="Times New Roman"/>
                        <a:ea typeface="Times New Roman"/>
                        <a:cs typeface="Times New Roman"/>
                      </a:endParaRPr>
                    </a:p>
                    <a:p>
                      <a:pPr marL="342900" marR="0" lvl="0" indent="-342900" algn="just">
                        <a:lnSpc>
                          <a:spcPct val="115000"/>
                        </a:lnSpc>
                        <a:spcBef>
                          <a:spcPts val="0"/>
                        </a:spcBef>
                        <a:spcAft>
                          <a:spcPts val="1200"/>
                        </a:spcAft>
                        <a:buFont typeface="Wingdings"/>
                        <a:buChar char=""/>
                      </a:pPr>
                      <a:r>
                        <a:rPr lang="en-GB" sz="1400" dirty="0">
                          <a:solidFill>
                            <a:srgbClr val="000000"/>
                          </a:solidFill>
                          <a:effectLst/>
                          <a:latin typeface="Arial"/>
                          <a:ea typeface="Times New Roman"/>
                          <a:cs typeface="Times New Roman"/>
                        </a:rPr>
                        <a:t>Infections often begin during infancy or childhood and can become chronic. If left untreated, the infection eventually causes the eyelid to turn inwards, which in turn causes the eyelashes to rub on the eyeball, resulting in intense pain and scarring of the front of the eye. This ultimately leads to irreversible blindness, typically between 30 and 40 years of age. </a:t>
                      </a:r>
                      <a:endParaRPr lang="en-US" sz="1400" dirty="0">
                        <a:solidFill>
                          <a:srgbClr val="000000"/>
                        </a:solidFill>
                        <a:effectLst/>
                        <a:latin typeface="Calibri"/>
                        <a:ea typeface="Times New Roman"/>
                        <a:cs typeface="Times New Roman"/>
                      </a:endParaRPr>
                    </a:p>
                    <a:p>
                      <a:pPr marL="342900" marR="0" lvl="0" indent="-342900" algn="just">
                        <a:lnSpc>
                          <a:spcPct val="115000"/>
                        </a:lnSpc>
                        <a:spcBef>
                          <a:spcPts val="0"/>
                        </a:spcBef>
                        <a:spcAft>
                          <a:spcPts val="1200"/>
                        </a:spcAft>
                        <a:buFont typeface="Wingdings"/>
                        <a:buChar char=""/>
                      </a:pPr>
                      <a:r>
                        <a:rPr lang="en-GB" sz="1400" dirty="0">
                          <a:solidFill>
                            <a:srgbClr val="000000"/>
                          </a:solidFill>
                          <a:effectLst/>
                          <a:latin typeface="Arial"/>
                          <a:ea typeface="Times New Roman"/>
                          <a:cs typeface="Times New Roman"/>
                        </a:rPr>
                        <a:t>Trachoma is easily spread through direct personal contact, shared towels and cloths, and flies that have come in contact with the eyes or nose of an infected person. </a:t>
                      </a:r>
                      <a:endParaRPr lang="en-US" sz="1400" dirty="0">
                        <a:solidFill>
                          <a:srgbClr val="000000"/>
                        </a:solidFill>
                        <a:effectLst/>
                        <a:latin typeface="Times New Roman"/>
                        <a:ea typeface="Times New Roman"/>
                        <a:cs typeface="Times New Roman"/>
                      </a:endParaRPr>
                    </a:p>
                    <a:p>
                      <a:pPr marL="342900" marR="0" lvl="0" indent="-342900" algn="just">
                        <a:lnSpc>
                          <a:spcPct val="115000"/>
                        </a:lnSpc>
                        <a:spcBef>
                          <a:spcPts val="0"/>
                        </a:spcBef>
                        <a:spcAft>
                          <a:spcPts val="1200"/>
                        </a:spcAft>
                        <a:buFont typeface="Wingdings"/>
                        <a:buChar char=""/>
                      </a:pPr>
                      <a:r>
                        <a:rPr lang="en-GB" sz="1400" dirty="0">
                          <a:solidFill>
                            <a:srgbClr val="000000"/>
                          </a:solidFill>
                          <a:effectLst/>
                          <a:latin typeface="Arial"/>
                          <a:ea typeface="Times New Roman"/>
                          <a:cs typeface="Times New Roman"/>
                        </a:rPr>
                        <a:t>WHO estimates that approximately 6 million cases of blindness due to trachoma and 11 million cases of </a:t>
                      </a:r>
                      <a:r>
                        <a:rPr lang="en-GB" sz="1400" dirty="0" err="1">
                          <a:solidFill>
                            <a:srgbClr val="000000"/>
                          </a:solidFill>
                          <a:effectLst/>
                          <a:latin typeface="Arial"/>
                          <a:ea typeface="Times New Roman"/>
                          <a:cs typeface="Times New Roman"/>
                        </a:rPr>
                        <a:t>trichiasis</a:t>
                      </a:r>
                      <a:r>
                        <a:rPr lang="en-GB" sz="1400" dirty="0">
                          <a:solidFill>
                            <a:srgbClr val="000000"/>
                          </a:solidFill>
                          <a:effectLst/>
                          <a:latin typeface="Arial"/>
                          <a:ea typeface="Times New Roman"/>
                          <a:cs typeface="Times New Roman"/>
                        </a:rPr>
                        <a:t> occur worldwide each year. Prevalence of active disease in children varies from 10-40% in some African countries.</a:t>
                      </a:r>
                      <a:endParaRPr lang="en-US" sz="1400" dirty="0">
                        <a:solidFill>
                          <a:srgbClr val="000000"/>
                        </a:solidFill>
                        <a:effectLst/>
                        <a:latin typeface="Calibri"/>
                        <a:ea typeface="Times New Roman"/>
                        <a:cs typeface="Times New Roman"/>
                      </a:endParaRPr>
                    </a:p>
                    <a:p>
                      <a:pPr marL="342900" marR="0" lvl="0" indent="-342900" algn="just">
                        <a:lnSpc>
                          <a:spcPct val="115000"/>
                        </a:lnSpc>
                        <a:spcBef>
                          <a:spcPts val="0"/>
                        </a:spcBef>
                        <a:spcAft>
                          <a:spcPts val="1200"/>
                        </a:spcAft>
                        <a:buFont typeface="Wingdings"/>
                        <a:buChar char=""/>
                      </a:pPr>
                      <a:r>
                        <a:rPr lang="en-GB" sz="1400" dirty="0">
                          <a:solidFill>
                            <a:srgbClr val="000000"/>
                          </a:solidFill>
                          <a:effectLst/>
                          <a:latin typeface="Arial"/>
                          <a:ea typeface="Times New Roman"/>
                          <a:cs typeface="Times New Roman"/>
                        </a:rPr>
                        <a:t>The infection primarily affects young children, with blindness occurring later in life.  Females are three times more likely than males to suffer from </a:t>
                      </a:r>
                      <a:r>
                        <a:rPr lang="en-GB" sz="1400" dirty="0" err="1">
                          <a:solidFill>
                            <a:srgbClr val="7E7E7E"/>
                          </a:solidFill>
                          <a:effectLst/>
                          <a:latin typeface="Arial"/>
                          <a:ea typeface="Times New Roman"/>
                          <a:cs typeface="Helvetica"/>
                        </a:rPr>
                        <a:t>trichiasis</a:t>
                      </a:r>
                      <a:r>
                        <a:rPr lang="en-GB" sz="1400" dirty="0">
                          <a:solidFill>
                            <a:srgbClr val="7E7E7E"/>
                          </a:solidFill>
                          <a:effectLst/>
                          <a:latin typeface="Arial"/>
                          <a:ea typeface="Times New Roman"/>
                          <a:cs typeface="Helvetica"/>
                        </a:rPr>
                        <a:t>, the in-turning of the eyelashes that can lead to blindness.  People are most at risk for trachoma infection in areas where there is poor sanitation, lack of latrines, poor sources of clean water, and the presence of flies.</a:t>
                      </a:r>
                      <a:endParaRPr lang="en-US" sz="1400" dirty="0">
                        <a:solidFill>
                          <a:srgbClr val="000000"/>
                        </a:solidFill>
                        <a:effectLst/>
                        <a:latin typeface="Calibri"/>
                        <a:ea typeface="Times New Roman"/>
                        <a:cs typeface="Times New Roman"/>
                      </a:endParaRPr>
                    </a:p>
                    <a:p>
                      <a:pPr marL="0" marR="0">
                        <a:lnSpc>
                          <a:spcPct val="120000"/>
                        </a:lnSpc>
                        <a:spcBef>
                          <a:spcPts val="0"/>
                        </a:spcBef>
                        <a:spcAft>
                          <a:spcPts val="0"/>
                        </a:spcAft>
                      </a:pPr>
                      <a:r>
                        <a:rPr lang="en-GB" sz="1400" dirty="0">
                          <a:solidFill>
                            <a:srgbClr val="000000"/>
                          </a:solidFill>
                          <a:effectLst/>
                          <a:latin typeface="Arial"/>
                          <a:ea typeface="Calibri"/>
                          <a:cs typeface="Times New Roman"/>
                        </a:rPr>
                        <a:t>Primary interventions advocated for preventing trachoma infection include improved sanitation, reduction of fly breeding sites and increased facial cleanliness (with clean water) among children at risk of disease. The scaring and visual change for trachoma can be reversed by a simple surgical procedure performed at village level which reverses the in-turned eyelashes.</a:t>
                      </a:r>
                      <a:endParaRPr lang="en-US" sz="1400" dirty="0">
                        <a:solidFill>
                          <a:srgbClr val="000000"/>
                        </a:solidFill>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400" i="1" dirty="0">
                          <a:solidFill>
                            <a:srgbClr val="000000"/>
                          </a:solidFill>
                          <a:effectLst/>
                          <a:latin typeface="Arial"/>
                          <a:ea typeface="Calibri"/>
                          <a:cs typeface="Times New Roman"/>
                        </a:rPr>
                        <a:t> </a:t>
                      </a:r>
                      <a:endParaRPr lang="en-US" sz="1400" dirty="0">
                        <a:solidFill>
                          <a:srgbClr val="000000"/>
                        </a:solidFill>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75</a:t>
            </a:fld>
            <a:endParaRPr lang="en-US">
              <a:solidFill>
                <a:prstClr val="black">
                  <a:tint val="75000"/>
                </a:prstClr>
              </a:solidFill>
            </a:endParaRPr>
          </a:p>
        </p:txBody>
      </p:sp>
    </p:spTree>
    <p:extLst>
      <p:ext uri="{BB962C8B-B14F-4D97-AF65-F5344CB8AC3E}">
        <p14:creationId xmlns:p14="http://schemas.microsoft.com/office/powerpoint/2010/main" val="4452782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752600" y="228600"/>
          <a:ext cx="8915400" cy="6629998"/>
        </p:xfrm>
        <a:graphic>
          <a:graphicData uri="http://schemas.openxmlformats.org/drawingml/2006/table">
            <a:tbl>
              <a:tblPr/>
              <a:tblGrid>
                <a:gridCol w="8915400">
                  <a:extLst>
                    <a:ext uri="{9D8B030D-6E8A-4147-A177-3AD203B41FA5}">
                      <a16:colId xmlns:a16="http://schemas.microsoft.com/office/drawing/2014/main" val="20000"/>
                    </a:ext>
                  </a:extLst>
                </a:gridCol>
              </a:tblGrid>
              <a:tr h="605064">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a:ea typeface="Times New Roman"/>
                          <a:cs typeface="Times New Roman"/>
                        </a:rPr>
                        <a:t>Trachoma</a:t>
                      </a:r>
                      <a:endParaRPr kumimoji="0" lang="en-US" sz="1800" b="1" i="1" u="none" strike="noStrike" kern="1200" cap="none" spc="0" normalizeH="0" baseline="0" noProof="0" dirty="0">
                        <a:ln>
                          <a:noFill/>
                        </a:ln>
                        <a:solidFill>
                          <a:prstClr val="black"/>
                        </a:solidFill>
                        <a:effectLst/>
                        <a:uLnTx/>
                        <a:uFillTx/>
                        <a:latin typeface="+mn-lt"/>
                        <a:ea typeface="Times New Roman"/>
                        <a:cs typeface="Times New Roman"/>
                      </a:endParaRPr>
                    </a:p>
                    <a:p>
                      <a:pPr marL="0" marR="0">
                        <a:lnSpc>
                          <a:spcPct val="115000"/>
                        </a:lnSpc>
                        <a:spcBef>
                          <a:spcPts val="0"/>
                        </a:spcBef>
                        <a:spcAft>
                          <a:spcPts val="0"/>
                        </a:spcAft>
                      </a:pPr>
                      <a:r>
                        <a:rPr lang="en-GB" sz="1800" b="1" dirty="0">
                          <a:effectLst/>
                          <a:latin typeface="Times New Roman"/>
                          <a:ea typeface="Times New Roman"/>
                        </a:rPr>
                        <a:t>Standard case definition</a:t>
                      </a:r>
                      <a:endParaRPr lang="en-US" sz="1800" dirty="0">
                        <a:effectLst/>
                        <a:latin typeface="Times New Roman"/>
                        <a:ea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52939">
                <a:tc>
                  <a:txBody>
                    <a:bodyPr/>
                    <a:lstStyle/>
                    <a:p>
                      <a:pPr marL="0" marR="0">
                        <a:lnSpc>
                          <a:spcPct val="120000"/>
                        </a:lnSpc>
                        <a:spcBef>
                          <a:spcPts val="1200"/>
                        </a:spcBef>
                        <a:spcAft>
                          <a:spcPts val="0"/>
                        </a:spcAft>
                      </a:pPr>
                      <a:r>
                        <a:rPr lang="en-GB" sz="1800" b="1" i="1">
                          <a:effectLst/>
                          <a:latin typeface="Arial"/>
                          <a:ea typeface="Calibri"/>
                          <a:cs typeface="Times New Roman"/>
                        </a:rPr>
                        <a:t>Suspected case</a:t>
                      </a:r>
                      <a:r>
                        <a:rPr lang="en-GB" sz="1800">
                          <a:effectLst/>
                          <a:latin typeface="Arial"/>
                          <a:ea typeface="Calibri"/>
                          <a:cs typeface="Times New Roman"/>
                        </a:rPr>
                        <a:t>:</a:t>
                      </a:r>
                      <a:endParaRPr lang="en-US" sz="1800">
                        <a:effectLst/>
                        <a:latin typeface="Calibri"/>
                        <a:ea typeface="Calibri"/>
                        <a:cs typeface="Times New Roman"/>
                      </a:endParaRPr>
                    </a:p>
                    <a:p>
                      <a:pPr marL="0" marR="0">
                        <a:lnSpc>
                          <a:spcPct val="120000"/>
                        </a:lnSpc>
                        <a:spcBef>
                          <a:spcPts val="0"/>
                        </a:spcBef>
                        <a:spcAft>
                          <a:spcPts val="0"/>
                        </a:spcAft>
                      </a:pPr>
                      <a:r>
                        <a:rPr lang="en-GB" sz="1800">
                          <a:effectLst/>
                          <a:latin typeface="Arial"/>
                          <a:ea typeface="Calibri"/>
                          <a:cs typeface="Times New Roman"/>
                        </a:rPr>
                        <a:t>Any patient with red sticky eyes who complains of pain and itchiness of the eyes.</a:t>
                      </a:r>
                      <a:endParaRPr lang="en-US" sz="1800">
                        <a:effectLst/>
                        <a:latin typeface="Calibri"/>
                        <a:ea typeface="Calibri"/>
                        <a:cs typeface="Times New Roman"/>
                      </a:endParaRPr>
                    </a:p>
                    <a:p>
                      <a:pPr marL="0" marR="0">
                        <a:lnSpc>
                          <a:spcPct val="120000"/>
                        </a:lnSpc>
                        <a:spcBef>
                          <a:spcPts val="0"/>
                        </a:spcBef>
                        <a:spcAft>
                          <a:spcPts val="0"/>
                        </a:spcAft>
                      </a:pPr>
                      <a:r>
                        <a:rPr lang="en-GB" sz="1800">
                          <a:effectLst/>
                          <a:latin typeface="Arial"/>
                          <a:ea typeface="Calibri"/>
                          <a:cs typeface="Times New Roman"/>
                        </a:rPr>
                        <a:t> </a:t>
                      </a:r>
                      <a:endParaRPr lang="en-US" sz="180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31371">
                <a:tc>
                  <a:txBody>
                    <a:bodyPr/>
                    <a:lstStyle/>
                    <a:p>
                      <a:pPr marL="0" marR="0">
                        <a:lnSpc>
                          <a:spcPct val="120000"/>
                        </a:lnSpc>
                        <a:spcBef>
                          <a:spcPts val="0"/>
                        </a:spcBef>
                        <a:spcAft>
                          <a:spcPts val="0"/>
                        </a:spcAft>
                      </a:pPr>
                      <a:r>
                        <a:rPr lang="en-GB" sz="1800" b="1">
                          <a:effectLst/>
                          <a:latin typeface="Times New Roman"/>
                          <a:ea typeface="Calibri"/>
                          <a:cs typeface="Times New Roman"/>
                        </a:rPr>
                        <a:t>Prevention and control</a:t>
                      </a:r>
                      <a:endParaRPr lang="en-US" sz="180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40025">
                <a:tc>
                  <a:txBody>
                    <a:bodyPr/>
                    <a:lstStyle/>
                    <a:p>
                      <a:pPr marL="0" marR="0">
                        <a:lnSpc>
                          <a:spcPct val="120000"/>
                        </a:lnSpc>
                        <a:spcBef>
                          <a:spcPts val="1200"/>
                        </a:spcBef>
                        <a:spcAft>
                          <a:spcPts val="0"/>
                        </a:spcAft>
                      </a:pPr>
                      <a:r>
                        <a:rPr lang="en-GB" sz="1800" dirty="0">
                          <a:effectLst/>
                          <a:latin typeface="Arial"/>
                          <a:ea typeface="Calibri"/>
                          <a:cs typeface="Times New Roman"/>
                        </a:rPr>
                        <a:t>The World Health Organization has developed a series of interventions to control trachoma known by the acronym SAFE: Surgery, Antibiotics, Facial cleanliness, and Environmental improvement. </a:t>
                      </a:r>
                      <a:endParaRPr lang="en-US" sz="1800" dirty="0">
                        <a:effectLst/>
                        <a:latin typeface="Calibri"/>
                        <a:ea typeface="Calibri"/>
                        <a:cs typeface="Times New Roman"/>
                      </a:endParaRPr>
                    </a:p>
                    <a:p>
                      <a:pPr marL="0" marR="0">
                        <a:lnSpc>
                          <a:spcPct val="120000"/>
                        </a:lnSpc>
                        <a:spcBef>
                          <a:spcPts val="0"/>
                        </a:spcBef>
                        <a:spcAft>
                          <a:spcPts val="0"/>
                        </a:spcAft>
                      </a:pPr>
                      <a:r>
                        <a:rPr lang="en-GB" sz="1800" dirty="0">
                          <a:effectLst/>
                          <a:latin typeface="Arial"/>
                          <a:ea typeface="Calibri"/>
                          <a:cs typeface="Times New Roman"/>
                        </a:rPr>
                        <a:t>Effective Trachoma control has four main components:</a:t>
                      </a:r>
                      <a:endParaRPr lang="en-US" sz="18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800" dirty="0">
                          <a:effectLst/>
                          <a:latin typeface="Arial"/>
                          <a:ea typeface="Calibri"/>
                          <a:cs typeface="Times New Roman"/>
                        </a:rPr>
                        <a:t>Eye lid surgery for those at immediate risk of blindness </a:t>
                      </a:r>
                      <a:endParaRPr lang="en-US" sz="18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800" dirty="0">
                          <a:effectLst/>
                          <a:latin typeface="Arial"/>
                          <a:ea typeface="Calibri"/>
                          <a:cs typeface="Times New Roman"/>
                        </a:rPr>
                        <a:t>Antibiotics to treat individual cases and to reduce infection in a community </a:t>
                      </a:r>
                      <a:endParaRPr lang="en-US" sz="18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800" dirty="0">
                          <a:effectLst/>
                          <a:latin typeface="Arial"/>
                          <a:ea typeface="Calibri"/>
                          <a:cs typeface="Times New Roman"/>
                        </a:rPr>
                        <a:t>The promotion of facial cleanliness and hygiene to reduce transmission</a:t>
                      </a:r>
                      <a:endParaRPr lang="en-US" sz="18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800" dirty="0">
                          <a:effectLst/>
                          <a:latin typeface="Arial"/>
                          <a:ea typeface="Calibri"/>
                          <a:cs typeface="Times New Roman"/>
                        </a:rPr>
                        <a:t>Environmental improvements such as provision of water and household sanitation</a:t>
                      </a:r>
                      <a:endParaRPr lang="en-US" sz="1800" dirty="0">
                        <a:effectLst/>
                        <a:latin typeface="Calibri"/>
                        <a:ea typeface="Calibri"/>
                        <a:cs typeface="Times New Roman"/>
                      </a:endParaRPr>
                    </a:p>
                    <a:p>
                      <a:pPr marL="0" marR="0">
                        <a:lnSpc>
                          <a:spcPct val="120000"/>
                        </a:lnSpc>
                        <a:spcBef>
                          <a:spcPts val="0"/>
                        </a:spcBef>
                        <a:spcAft>
                          <a:spcPts val="0"/>
                        </a:spcAft>
                      </a:pPr>
                      <a:r>
                        <a:rPr lang="en-GB" sz="1800" b="1" dirty="0">
                          <a:effectLst/>
                          <a:latin typeface="Arial"/>
                          <a:ea typeface="Calibri"/>
                          <a:cs typeface="Times New Roman"/>
                        </a:rPr>
                        <a:t> </a:t>
                      </a:r>
                      <a:endParaRPr lang="en-US" sz="1800" dirty="0">
                        <a:effectLst/>
                        <a:latin typeface="Calibri"/>
                        <a:ea typeface="Calibri"/>
                        <a:cs typeface="Times New Roman"/>
                      </a:endParaRPr>
                    </a:p>
                    <a:p>
                      <a:pPr marL="202565" marR="0">
                        <a:lnSpc>
                          <a:spcPct val="115000"/>
                        </a:lnSpc>
                        <a:spcBef>
                          <a:spcPts val="0"/>
                        </a:spcBef>
                        <a:spcAft>
                          <a:spcPts val="255"/>
                        </a:spcAft>
                      </a:pPr>
                      <a:r>
                        <a:rPr lang="en-GB" sz="1800" dirty="0">
                          <a:effectLst/>
                          <a:latin typeface="Arial"/>
                          <a:ea typeface="Times New Roman"/>
                        </a:rPr>
                        <a:t> </a:t>
                      </a:r>
                      <a:endParaRPr lang="en-US" sz="1800" dirty="0">
                        <a:effectLst/>
                        <a:latin typeface="Times New Roman"/>
                        <a:ea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76</a:t>
            </a:fld>
            <a:endParaRPr lang="en-US">
              <a:solidFill>
                <a:prstClr val="black">
                  <a:tint val="75000"/>
                </a:prstClr>
              </a:solidFill>
            </a:endParaRPr>
          </a:p>
        </p:txBody>
      </p:sp>
    </p:spTree>
    <p:extLst>
      <p:ext uri="{BB962C8B-B14F-4D97-AF65-F5344CB8AC3E}">
        <p14:creationId xmlns:p14="http://schemas.microsoft.com/office/powerpoint/2010/main" val="37809326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676400" y="152400"/>
          <a:ext cx="8763000" cy="6705600"/>
        </p:xfrm>
        <a:graphic>
          <a:graphicData uri="http://schemas.openxmlformats.org/drawingml/2006/table">
            <a:tbl>
              <a:tblPr/>
              <a:tblGrid>
                <a:gridCol w="8763000">
                  <a:extLst>
                    <a:ext uri="{9D8B030D-6E8A-4147-A177-3AD203B41FA5}">
                      <a16:colId xmlns:a16="http://schemas.microsoft.com/office/drawing/2014/main" val="20000"/>
                    </a:ext>
                  </a:extLst>
                </a:gridCol>
              </a:tblGrid>
              <a:tr h="330255">
                <a:tc>
                  <a:txBody>
                    <a:bodyPr/>
                    <a:lstStyle/>
                    <a:p>
                      <a:pPr marL="0" marR="0" algn="ctr">
                        <a:lnSpc>
                          <a:spcPct val="115000"/>
                        </a:lnSpc>
                        <a:spcBef>
                          <a:spcPts val="0"/>
                        </a:spcBef>
                        <a:spcAft>
                          <a:spcPts val="0"/>
                        </a:spcAft>
                      </a:pPr>
                      <a:r>
                        <a:rPr lang="en-GB" sz="1200" b="1" i="0" dirty="0">
                          <a:effectLst/>
                          <a:latin typeface="Times New Roman"/>
                          <a:ea typeface="Times New Roman"/>
                          <a:cs typeface="Times New Roman"/>
                        </a:rPr>
                        <a:t>Typhoid Fever</a:t>
                      </a:r>
                      <a:endParaRPr lang="en-US" sz="1200" b="1" i="1" dirty="0">
                        <a:effectLst/>
                        <a:latin typeface="Calibri"/>
                        <a:ea typeface="Times New Roman"/>
                        <a:cs typeface="Times New Roman"/>
                      </a:endParaRPr>
                    </a:p>
                  </a:txBody>
                  <a:tcPr marL="38779" marR="38779"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0767">
                <a:tc>
                  <a:txBody>
                    <a:bodyPr/>
                    <a:lstStyle/>
                    <a:p>
                      <a:pPr marL="0" marR="0">
                        <a:lnSpc>
                          <a:spcPct val="120000"/>
                        </a:lnSpc>
                        <a:spcBef>
                          <a:spcPts val="0"/>
                        </a:spcBef>
                        <a:spcAft>
                          <a:spcPts val="0"/>
                        </a:spcAft>
                      </a:pPr>
                      <a:r>
                        <a:rPr lang="en-GB" sz="1200" b="1">
                          <a:effectLst/>
                          <a:latin typeface="Times New Roman"/>
                          <a:ea typeface="Calibri"/>
                          <a:cs typeface="Times New Roman"/>
                        </a:rPr>
                        <a:t>Background</a:t>
                      </a:r>
                      <a:endParaRPr lang="en-US" sz="1200">
                        <a:effectLst/>
                        <a:latin typeface="Calibri"/>
                        <a:ea typeface="Calibri"/>
                        <a:cs typeface="Times New Roman"/>
                      </a:endParaRPr>
                    </a:p>
                  </a:txBody>
                  <a:tcPr marL="38779" marR="38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104578">
                <a:tc>
                  <a:txBody>
                    <a:bodyPr/>
                    <a:lstStyle/>
                    <a:p>
                      <a:pPr marL="228600" marR="0">
                        <a:lnSpc>
                          <a:spcPct val="120000"/>
                        </a:lnSpc>
                        <a:spcBef>
                          <a:spcPts val="0"/>
                        </a:spcBef>
                        <a:spcAft>
                          <a:spcPts val="0"/>
                        </a:spcAft>
                      </a:pPr>
                      <a:r>
                        <a:rPr lang="en-GB" sz="1200" b="1"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200" dirty="0">
                          <a:effectLst/>
                          <a:latin typeface="Arial"/>
                          <a:ea typeface="Calibri"/>
                          <a:cs typeface="Times New Roman"/>
                        </a:rPr>
                        <a:t>Typhoid fever is a bacterial disease, caused by Salmonella </a:t>
                      </a:r>
                      <a:r>
                        <a:rPr lang="en-GB" sz="1200" dirty="0" err="1">
                          <a:effectLst/>
                          <a:latin typeface="Arial"/>
                          <a:ea typeface="Calibri"/>
                          <a:cs typeface="Times New Roman"/>
                        </a:rPr>
                        <a:t>typhi</a:t>
                      </a:r>
                      <a:r>
                        <a:rPr lang="en-GB" sz="1200" dirty="0">
                          <a:effectLst/>
                          <a:latin typeface="Arial"/>
                          <a:ea typeface="Calibri"/>
                          <a:cs typeface="Times New Roman"/>
                        </a:rPr>
                        <a:t>. Symptoms usually develop 1–3 weeks after exposure, and may be mild or severe. They include high fever, malaise, headache, constipation or diarrhoea, rose-coloured spots on the chest, and enlarged spleen and liver. Healthy carrier state may follow acute illness.</a:t>
                      </a:r>
                      <a:endParaRPr lang="en-US" sz="1200" dirty="0">
                        <a:effectLst/>
                        <a:latin typeface="Calibri"/>
                        <a:ea typeface="Calibri"/>
                        <a:cs typeface="Times New Roman"/>
                      </a:endParaRPr>
                    </a:p>
                    <a:p>
                      <a:pPr marL="228600" marR="0">
                        <a:lnSpc>
                          <a:spcPct val="120000"/>
                        </a:lnSpc>
                        <a:spcBef>
                          <a:spcPts val="0"/>
                        </a:spcBef>
                        <a:spcAft>
                          <a:spcPts val="0"/>
                        </a:spcAft>
                      </a:pPr>
                      <a:r>
                        <a:rPr lang="en-GB" sz="1200"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200" dirty="0">
                          <a:effectLst/>
                          <a:latin typeface="Arial"/>
                          <a:ea typeface="Calibri"/>
                          <a:cs typeface="Times New Roman"/>
                        </a:rPr>
                        <a:t>Typhoid fever remains a serious public health problem throughout the world, with an estimated 16–33 million cases and 500 000 to 600 000 deaths annually. In the last outbreak in the Democratic Republic of Congo, between 27 September 2004 and early January 2005, no less than 42 564 cases of typhoid fever were reported, including 214 deaths and 696 cases of peritonitis and intestinal perforations. </a:t>
                      </a:r>
                      <a:endParaRPr lang="en-US" sz="1200" dirty="0">
                        <a:effectLst/>
                        <a:latin typeface="Calibri"/>
                        <a:ea typeface="Calibri"/>
                        <a:cs typeface="Times New Roman"/>
                      </a:endParaRPr>
                    </a:p>
                    <a:p>
                      <a:pPr marL="0" marR="0">
                        <a:lnSpc>
                          <a:spcPct val="120000"/>
                        </a:lnSpc>
                        <a:spcBef>
                          <a:spcPts val="0"/>
                        </a:spcBef>
                        <a:spcAft>
                          <a:spcPts val="0"/>
                        </a:spcAft>
                      </a:pPr>
                      <a:r>
                        <a:rPr lang="en-GB" sz="1200" b="1"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200" dirty="0">
                          <a:effectLst/>
                          <a:latin typeface="Arial"/>
                          <a:ea typeface="Calibri"/>
                          <a:cs typeface="Times New Roman"/>
                        </a:rPr>
                        <a:t>In virtually all endemic areas, the incidence of typhoid fever is highest in children from 5–19 years old. The disease is almost exclusively transmitted by food and water contaminated by the faeces and urine of patients and carriers. </a:t>
                      </a:r>
                      <a:endParaRPr lang="en-US" sz="1200" dirty="0">
                        <a:effectLst/>
                        <a:latin typeface="Calibri"/>
                        <a:ea typeface="Calibri"/>
                        <a:cs typeface="Times New Roman"/>
                      </a:endParaRPr>
                    </a:p>
                    <a:p>
                      <a:pPr marL="0" marR="0">
                        <a:lnSpc>
                          <a:spcPct val="120000"/>
                        </a:lnSpc>
                        <a:spcBef>
                          <a:spcPts val="0"/>
                        </a:spcBef>
                        <a:spcAft>
                          <a:spcPts val="0"/>
                        </a:spcAft>
                      </a:pPr>
                      <a:r>
                        <a:rPr lang="en-GB" sz="1200" b="1"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200" dirty="0">
                          <a:effectLst/>
                          <a:latin typeface="Arial"/>
                          <a:ea typeface="Calibri"/>
                          <a:cs typeface="Times New Roman"/>
                        </a:rPr>
                        <a:t>Polluted water is the most common source of typhoid transmission. In addition, shellfish taken from sewage-contaminated beds, vegetables fertilized with night-soil and eaten raw, contaminated milk and milk products have been shown to be a source of infection. </a:t>
                      </a:r>
                      <a:endParaRPr lang="en-US" sz="1200" dirty="0">
                        <a:effectLst/>
                        <a:latin typeface="Calibri"/>
                        <a:ea typeface="Calibri"/>
                        <a:cs typeface="Times New Roman"/>
                      </a:endParaRPr>
                    </a:p>
                    <a:p>
                      <a:pPr marL="0" marR="0">
                        <a:lnSpc>
                          <a:spcPct val="120000"/>
                        </a:lnSpc>
                        <a:spcBef>
                          <a:spcPts val="0"/>
                        </a:spcBef>
                        <a:spcAft>
                          <a:spcPts val="0"/>
                        </a:spcAft>
                      </a:pPr>
                      <a:r>
                        <a:rPr lang="en-GB" sz="1200" b="1"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200" dirty="0">
                          <a:effectLst/>
                          <a:latin typeface="Arial"/>
                          <a:ea typeface="Calibri"/>
                          <a:cs typeface="Times New Roman"/>
                        </a:rPr>
                        <a:t>Typhoid fever has been virtually eliminated in most areas of the industrialized world with the advent of proper sanitary facilities. Most cases in developed countries are imported from endemic countries. </a:t>
                      </a:r>
                      <a:endParaRPr lang="en-US" sz="1200" dirty="0">
                        <a:effectLst/>
                        <a:latin typeface="Calibri"/>
                        <a:ea typeface="Calibri"/>
                        <a:cs typeface="Times New Roman"/>
                      </a:endParaRPr>
                    </a:p>
                    <a:p>
                      <a:pPr marL="0" marR="0">
                        <a:lnSpc>
                          <a:spcPct val="120000"/>
                        </a:lnSpc>
                        <a:spcBef>
                          <a:spcPts val="0"/>
                        </a:spcBef>
                        <a:spcAft>
                          <a:spcPts val="0"/>
                        </a:spcAft>
                      </a:pPr>
                      <a:r>
                        <a:rPr lang="en-GB" sz="1200" b="1"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200" dirty="0">
                          <a:effectLst/>
                          <a:latin typeface="Arial"/>
                          <a:ea typeface="Calibri"/>
                          <a:cs typeface="Times New Roman"/>
                        </a:rPr>
                        <a:t>People can transmit the disease as long as the bacteria remain in their body; most people are infectious prior to and during the first week of convalescence, but 10% of untreated patients will discharge bacteria for up to 3 months. </a:t>
                      </a:r>
                      <a:endParaRPr lang="en-US" sz="1200" dirty="0">
                        <a:effectLst/>
                        <a:latin typeface="Calibri"/>
                        <a:ea typeface="Calibri"/>
                        <a:cs typeface="Times New Roman"/>
                      </a:endParaRPr>
                    </a:p>
                    <a:p>
                      <a:pPr marL="0" marR="0">
                        <a:lnSpc>
                          <a:spcPct val="120000"/>
                        </a:lnSpc>
                        <a:spcBef>
                          <a:spcPts val="0"/>
                        </a:spcBef>
                        <a:spcAft>
                          <a:spcPts val="0"/>
                        </a:spcAft>
                      </a:pPr>
                      <a:r>
                        <a:rPr lang="en-GB" sz="1200" b="1" dirty="0">
                          <a:effectLst/>
                          <a:latin typeface="Arial"/>
                          <a:ea typeface="Calibri"/>
                          <a:cs typeface="Times New Roman"/>
                        </a:rPr>
                        <a:t> </a:t>
                      </a:r>
                      <a:endParaRPr lang="en-US" sz="1200" dirty="0">
                        <a:effectLst/>
                        <a:latin typeface="Calibri"/>
                        <a:ea typeface="Calibri"/>
                        <a:cs typeface="Times New Roman"/>
                      </a:endParaRPr>
                    </a:p>
                    <a:p>
                      <a:pPr marL="342900" marR="0" lvl="0" indent="-342900">
                        <a:lnSpc>
                          <a:spcPct val="120000"/>
                        </a:lnSpc>
                        <a:spcBef>
                          <a:spcPts val="0"/>
                        </a:spcBef>
                        <a:spcAft>
                          <a:spcPts val="0"/>
                        </a:spcAft>
                        <a:buFont typeface="Wingdings"/>
                        <a:buChar char=""/>
                      </a:pPr>
                      <a:r>
                        <a:rPr lang="en-GB" sz="1200" dirty="0">
                          <a:effectLst/>
                          <a:latin typeface="Arial"/>
                          <a:ea typeface="Calibri"/>
                          <a:cs typeface="Times New Roman"/>
                        </a:rPr>
                        <a:t>Typhoid fever can be treated with antibiotics. However, resistance to common antimicrobials is widespread. Healthy carriers should be excluded from handling food.      </a:t>
                      </a:r>
                      <a:endParaRPr lang="en-US" sz="1200" dirty="0">
                        <a:effectLst/>
                        <a:latin typeface="Calibri"/>
                        <a:ea typeface="Calibri"/>
                        <a:cs typeface="Times New Roman"/>
                      </a:endParaRPr>
                    </a:p>
                    <a:p>
                      <a:pPr marL="0" marR="0">
                        <a:lnSpc>
                          <a:spcPct val="120000"/>
                        </a:lnSpc>
                        <a:spcBef>
                          <a:spcPts val="0"/>
                        </a:spcBef>
                        <a:spcAft>
                          <a:spcPts val="0"/>
                        </a:spcAft>
                      </a:pPr>
                      <a:r>
                        <a:rPr lang="en-GB" sz="1200" b="1" dirty="0">
                          <a:effectLst/>
                          <a:latin typeface="Arial"/>
                          <a:ea typeface="Calibri"/>
                          <a:cs typeface="Times New Roman"/>
                        </a:rPr>
                        <a:t> </a:t>
                      </a:r>
                      <a:endParaRPr lang="en-US" sz="1200" dirty="0">
                        <a:effectLst/>
                        <a:latin typeface="Calibri"/>
                        <a:ea typeface="Calibri"/>
                        <a:cs typeface="Times New Roman"/>
                      </a:endParaRPr>
                    </a:p>
                  </a:txBody>
                  <a:tcPr marL="38779" marR="387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77</a:t>
            </a:fld>
            <a:endParaRPr lang="en-US">
              <a:solidFill>
                <a:prstClr val="black">
                  <a:tint val="75000"/>
                </a:prstClr>
              </a:solidFill>
            </a:endParaRPr>
          </a:p>
        </p:txBody>
      </p:sp>
    </p:spTree>
    <p:extLst>
      <p:ext uri="{BB962C8B-B14F-4D97-AF65-F5344CB8AC3E}">
        <p14:creationId xmlns:p14="http://schemas.microsoft.com/office/powerpoint/2010/main" val="23300614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600200" y="304801"/>
          <a:ext cx="8915400" cy="6293613"/>
        </p:xfrm>
        <a:graphic>
          <a:graphicData uri="http://schemas.openxmlformats.org/drawingml/2006/table">
            <a:tbl>
              <a:tblPr/>
              <a:tblGrid>
                <a:gridCol w="8915400">
                  <a:extLst>
                    <a:ext uri="{9D8B030D-6E8A-4147-A177-3AD203B41FA5}">
                      <a16:colId xmlns:a16="http://schemas.microsoft.com/office/drawing/2014/main" val="20000"/>
                    </a:ext>
                  </a:extLst>
                </a:gridCol>
              </a:tblGrid>
              <a:tr h="838200">
                <a:tc>
                  <a:txBody>
                    <a:bodyPr/>
                    <a:lstStyle/>
                    <a:p>
                      <a:pPr marL="0" marR="0">
                        <a:lnSpc>
                          <a:spcPct val="120000"/>
                        </a:lnSpc>
                        <a:spcBef>
                          <a:spcPts val="0"/>
                        </a:spcBef>
                        <a:spcAft>
                          <a:spcPts val="0"/>
                        </a:spcAft>
                      </a:pPr>
                      <a:r>
                        <a:rPr lang="en-GB" sz="1400" b="1" dirty="0">
                          <a:effectLst/>
                          <a:latin typeface="Times New Roman"/>
                          <a:ea typeface="Calibri"/>
                          <a:cs typeface="Times New Roman"/>
                        </a:rPr>
                        <a:t> Typhoid Fever</a:t>
                      </a:r>
                    </a:p>
                    <a:p>
                      <a:pPr marL="0" marR="0">
                        <a:lnSpc>
                          <a:spcPct val="120000"/>
                        </a:lnSpc>
                        <a:spcBef>
                          <a:spcPts val="0"/>
                        </a:spcBef>
                        <a:spcAft>
                          <a:spcPts val="0"/>
                        </a:spcAft>
                      </a:pPr>
                      <a:r>
                        <a:rPr lang="en-GB" sz="1400" b="1" dirty="0">
                          <a:effectLst/>
                          <a:latin typeface="Times New Roman"/>
                          <a:ea typeface="Calibri"/>
                          <a:cs typeface="Times New Roman"/>
                        </a:rPr>
                        <a:t>Standard case definitions</a:t>
                      </a:r>
                      <a:endParaRPr lang="en-US" sz="1400" dirty="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30480">
                <a:tc>
                  <a:txBody>
                    <a:bodyPr/>
                    <a:lstStyle/>
                    <a:p>
                      <a:pPr marL="294640" marR="0" indent="-294640">
                        <a:lnSpc>
                          <a:spcPct val="120000"/>
                        </a:lnSpc>
                        <a:spcBef>
                          <a:spcPts val="0"/>
                        </a:spcBef>
                        <a:spcAft>
                          <a:spcPts val="0"/>
                        </a:spcAft>
                      </a:pPr>
                      <a:r>
                        <a:rPr lang="en-GB" sz="1400" b="1" i="1" dirty="0">
                          <a:effectLst/>
                          <a:latin typeface="Arial"/>
                          <a:ea typeface="Calibri"/>
                          <a:cs typeface="Times New Roman"/>
                        </a:rPr>
                        <a:t> </a:t>
                      </a:r>
                      <a:endParaRPr lang="en-US" sz="1400" dirty="0">
                        <a:effectLst/>
                        <a:latin typeface="Calibri"/>
                        <a:ea typeface="Calibri"/>
                        <a:cs typeface="Times New Roman"/>
                      </a:endParaRPr>
                    </a:p>
                    <a:p>
                      <a:pPr marL="294640" marR="0" indent="-294640">
                        <a:lnSpc>
                          <a:spcPct val="120000"/>
                        </a:lnSpc>
                        <a:spcBef>
                          <a:spcPts val="0"/>
                        </a:spcBef>
                        <a:spcAft>
                          <a:spcPts val="0"/>
                        </a:spcAft>
                      </a:pPr>
                      <a:r>
                        <a:rPr lang="en-GB" sz="1400" b="1" i="1" dirty="0">
                          <a:effectLst/>
                          <a:latin typeface="Arial"/>
                          <a:ea typeface="Calibri"/>
                          <a:cs typeface="Times New Roman"/>
                        </a:rPr>
                        <a:t>Suspected case</a:t>
                      </a:r>
                      <a:r>
                        <a:rPr lang="en-GB" sz="1400" dirty="0">
                          <a:effectLst/>
                          <a:latin typeface="Arial"/>
                          <a:ea typeface="Calibri"/>
                          <a:cs typeface="Times New Roman"/>
                        </a:rPr>
                        <a:t>: </a:t>
                      </a:r>
                      <a:r>
                        <a:rPr lang="en-US" sz="1400" dirty="0">
                          <a:effectLst/>
                          <a:latin typeface="Arial"/>
                          <a:ea typeface="Calibri"/>
                          <a:cs typeface="Times New Roman"/>
                        </a:rPr>
                        <a:t>Any person with gradual onset of steadily increasing and then persistently high fever, chills, malaise, headache, sore throat, cough, and, sometimes, abdominal pain and constipation or </a:t>
                      </a:r>
                      <a:r>
                        <a:rPr lang="en-US" sz="1400" dirty="0" err="1">
                          <a:effectLst/>
                          <a:latin typeface="Arial"/>
                          <a:ea typeface="Calibri"/>
                          <a:cs typeface="Times New Roman"/>
                        </a:rPr>
                        <a:t>diarrhoea</a:t>
                      </a:r>
                      <a:r>
                        <a:rPr lang="en-US" sz="1400" dirty="0">
                          <a:effectLst/>
                          <a:latin typeface="Arial"/>
                          <a:ea typeface="Calibri"/>
                          <a:cs typeface="Times New Roman"/>
                        </a:rPr>
                        <a:t>.</a:t>
                      </a:r>
                      <a:endParaRPr lang="en-US" sz="1400" dirty="0">
                        <a:effectLst/>
                        <a:latin typeface="Calibri"/>
                        <a:ea typeface="Calibri"/>
                        <a:cs typeface="Times New Roman"/>
                      </a:endParaRPr>
                    </a:p>
                    <a:p>
                      <a:pPr marL="0" marR="0">
                        <a:lnSpc>
                          <a:spcPct val="120000"/>
                        </a:lnSpc>
                        <a:spcBef>
                          <a:spcPts val="0"/>
                        </a:spcBef>
                        <a:spcAft>
                          <a:spcPts val="255"/>
                        </a:spcAft>
                      </a:pPr>
                      <a:r>
                        <a:rPr lang="en-GB" sz="1400" b="1" i="1" dirty="0">
                          <a:effectLst/>
                          <a:latin typeface="Arial"/>
                          <a:ea typeface="Calibri"/>
                          <a:cs typeface="Times New Roman"/>
                        </a:rPr>
                        <a:t> </a:t>
                      </a:r>
                      <a:endParaRPr lang="en-US" sz="1400" dirty="0">
                        <a:effectLst/>
                        <a:latin typeface="Calibri"/>
                        <a:ea typeface="Calibri"/>
                        <a:cs typeface="Times New Roman"/>
                      </a:endParaRPr>
                    </a:p>
                    <a:p>
                      <a:pPr marL="294640" marR="0" indent="-294640">
                        <a:lnSpc>
                          <a:spcPct val="120000"/>
                        </a:lnSpc>
                        <a:spcBef>
                          <a:spcPts val="0"/>
                        </a:spcBef>
                        <a:spcAft>
                          <a:spcPts val="255"/>
                        </a:spcAft>
                      </a:pPr>
                      <a:r>
                        <a:rPr lang="en-GB" sz="1400" b="1" i="1" dirty="0">
                          <a:effectLst/>
                          <a:latin typeface="Arial"/>
                          <a:ea typeface="Calibri"/>
                          <a:cs typeface="Times New Roman"/>
                        </a:rPr>
                        <a:t>Confirmed case:</a:t>
                      </a:r>
                      <a:r>
                        <a:rPr lang="en-US" sz="1400" dirty="0">
                          <a:effectLst/>
                          <a:latin typeface="Arial"/>
                          <a:ea typeface="Calibri"/>
                          <a:cs typeface="Times New Roman"/>
                        </a:rPr>
                        <a:t> Suspected case confirmed by isolation of </a:t>
                      </a:r>
                      <a:r>
                        <a:rPr lang="en-US" sz="1400" i="1" dirty="0">
                          <a:effectLst/>
                          <a:latin typeface="Arial"/>
                          <a:ea typeface="Calibri"/>
                          <a:cs typeface="Times New Roman"/>
                        </a:rPr>
                        <a:t>Salmonella </a:t>
                      </a:r>
                      <a:r>
                        <a:rPr lang="en-US" sz="1400" i="1" dirty="0" err="1">
                          <a:effectLst/>
                          <a:latin typeface="Arial"/>
                          <a:ea typeface="Calibri"/>
                          <a:cs typeface="Times New Roman"/>
                        </a:rPr>
                        <a:t>typhi</a:t>
                      </a:r>
                      <a:r>
                        <a:rPr lang="en-US" sz="1400" dirty="0">
                          <a:effectLst/>
                          <a:latin typeface="Arial"/>
                          <a:ea typeface="Calibri"/>
                          <a:cs typeface="Times New Roman"/>
                        </a:rPr>
                        <a:t> from blood, bone marrow, bowel fluid or stool.</a:t>
                      </a:r>
                      <a:endParaRPr lang="en-US" sz="1400" dirty="0">
                        <a:effectLst/>
                        <a:latin typeface="Calibri"/>
                        <a:ea typeface="Calibri"/>
                        <a:cs typeface="Times New Roman"/>
                      </a:endParaRPr>
                    </a:p>
                    <a:p>
                      <a:pPr marL="0" marR="0">
                        <a:lnSpc>
                          <a:spcPct val="120000"/>
                        </a:lnSpc>
                        <a:spcBef>
                          <a:spcPts val="0"/>
                        </a:spcBef>
                        <a:spcAft>
                          <a:spcPts val="255"/>
                        </a:spcAft>
                      </a:pPr>
                      <a:r>
                        <a:rPr lang="en-GB" sz="1400" dirty="0">
                          <a:effectLst/>
                          <a:latin typeface="Arial"/>
                          <a:ea typeface="Calibri"/>
                          <a:cs typeface="Times New Roman"/>
                        </a:rPr>
                        <a:t> </a:t>
                      </a:r>
                      <a:endParaRPr lang="en-US" sz="1400" dirty="0">
                        <a:effectLst/>
                        <a:latin typeface="Calibri"/>
                        <a:ea typeface="Calibri"/>
                        <a:cs typeface="Times New Roman"/>
                      </a:endParaRPr>
                    </a:p>
                    <a:p>
                      <a:pPr marL="0" marR="0">
                        <a:lnSpc>
                          <a:spcPct val="120000"/>
                        </a:lnSpc>
                        <a:spcBef>
                          <a:spcPts val="0"/>
                        </a:spcBef>
                        <a:spcAft>
                          <a:spcPts val="255"/>
                        </a:spcAft>
                      </a:pPr>
                      <a:r>
                        <a:rPr lang="en-GB" sz="1400" dirty="0">
                          <a:effectLst/>
                          <a:latin typeface="Arial"/>
                          <a:ea typeface="Calibri"/>
                          <a:cs typeface="Times New Roman"/>
                        </a:rPr>
                        <a:t> </a:t>
                      </a:r>
                      <a:endParaRPr lang="en-US" sz="1400" dirty="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34649">
                <a:tc>
                  <a:txBody>
                    <a:bodyPr/>
                    <a:lstStyle/>
                    <a:p>
                      <a:pPr marL="0" marR="0">
                        <a:lnSpc>
                          <a:spcPct val="120000"/>
                        </a:lnSpc>
                        <a:spcBef>
                          <a:spcPts val="0"/>
                        </a:spcBef>
                        <a:spcAft>
                          <a:spcPts val="0"/>
                        </a:spcAft>
                      </a:pPr>
                      <a:r>
                        <a:rPr lang="en-GB" sz="1400" b="1" dirty="0">
                          <a:effectLst/>
                          <a:latin typeface="Times New Roman"/>
                          <a:ea typeface="Calibri"/>
                          <a:cs typeface="Times New Roman"/>
                        </a:rPr>
                        <a:t>Respond to action threshold</a:t>
                      </a:r>
                    </a:p>
                    <a:p>
                      <a:pPr marL="0" marR="0">
                        <a:lnSpc>
                          <a:spcPct val="120000"/>
                        </a:lnSpc>
                        <a:spcBef>
                          <a:spcPts val="0"/>
                        </a:spcBef>
                        <a:spcAft>
                          <a:spcPts val="0"/>
                        </a:spcAft>
                      </a:pPr>
                      <a:r>
                        <a:rPr lang="en-US" sz="1400" b="1" dirty="0">
                          <a:effectLst/>
                          <a:latin typeface="Arial"/>
                          <a:ea typeface="Calibri"/>
                          <a:cs typeface="Times New Roman"/>
                        </a:rPr>
                        <a:t> </a:t>
                      </a:r>
                      <a:endParaRPr lang="en-US" sz="1400" dirty="0">
                        <a:effectLst/>
                        <a:latin typeface="+mn-lt"/>
                        <a:ea typeface="Calibri"/>
                        <a:cs typeface="Times New Roman"/>
                      </a:endParaRPr>
                    </a:p>
                    <a:p>
                      <a:pPr marL="0" marR="0">
                        <a:lnSpc>
                          <a:spcPct val="120000"/>
                        </a:lnSpc>
                        <a:spcBef>
                          <a:spcPts val="0"/>
                        </a:spcBef>
                        <a:spcAft>
                          <a:spcPts val="0"/>
                        </a:spcAft>
                      </a:pPr>
                      <a:r>
                        <a:rPr lang="en-US" sz="1400" b="1" dirty="0">
                          <a:effectLst/>
                          <a:latin typeface="Arial"/>
                          <a:ea typeface="Calibri"/>
                          <a:cs typeface="Times New Roman"/>
                        </a:rPr>
                        <a:t>If Typhoid Fever cases are confirmed </a:t>
                      </a:r>
                      <a:endParaRPr lang="en-US" sz="1400" dirty="0">
                        <a:effectLst/>
                        <a:latin typeface="+mn-lt"/>
                        <a:ea typeface="Calibri"/>
                        <a:cs typeface="Times New Roman"/>
                      </a:endParaRPr>
                    </a:p>
                    <a:p>
                      <a:pPr marL="342900" marR="0" lvl="0" indent="-342900">
                        <a:lnSpc>
                          <a:spcPct val="120000"/>
                        </a:lnSpc>
                        <a:spcBef>
                          <a:spcPts val="0"/>
                        </a:spcBef>
                        <a:spcAft>
                          <a:spcPts val="0"/>
                        </a:spcAft>
                        <a:buFont typeface="Wingdings"/>
                        <a:buChar char=""/>
                        <a:tabLst>
                          <a:tab pos="228600" algn="l"/>
                        </a:tabLst>
                      </a:pPr>
                      <a:r>
                        <a:rPr lang="en-GB" sz="1400" dirty="0">
                          <a:effectLst/>
                          <a:latin typeface="Arial"/>
                          <a:ea typeface="Calibri"/>
                          <a:cs typeface="Times New Roman"/>
                        </a:rPr>
                        <a:t>Identify areas/populations at high risk to identify source(s) and mode(s) of transmission in order </a:t>
                      </a:r>
                      <a:r>
                        <a:rPr lang="en-US" sz="1400" dirty="0">
                          <a:effectLst/>
                          <a:latin typeface="Arial"/>
                          <a:ea typeface="Calibri"/>
                          <a:cs typeface="Times New Roman"/>
                        </a:rPr>
                        <a:t>to prevent and control the disease.  </a:t>
                      </a:r>
                      <a:endParaRPr lang="en-US" sz="1400" dirty="0">
                        <a:effectLst/>
                        <a:latin typeface="+mn-lt"/>
                        <a:ea typeface="Calibri"/>
                        <a:cs typeface="Times New Roman"/>
                      </a:endParaRPr>
                    </a:p>
                    <a:p>
                      <a:pPr marL="342900" marR="0" lvl="0" indent="-342900">
                        <a:lnSpc>
                          <a:spcPct val="120000"/>
                        </a:lnSpc>
                        <a:spcBef>
                          <a:spcPts val="0"/>
                        </a:spcBef>
                        <a:spcAft>
                          <a:spcPts val="0"/>
                        </a:spcAft>
                        <a:buFont typeface="Wingdings"/>
                        <a:buChar char=""/>
                        <a:tabLst>
                          <a:tab pos="228600" algn="l"/>
                        </a:tabLst>
                      </a:pPr>
                      <a:r>
                        <a:rPr lang="en-GB" sz="1400" dirty="0">
                          <a:effectLst/>
                          <a:latin typeface="Arial"/>
                          <a:ea typeface="Calibri"/>
                          <a:cs typeface="Times New Roman"/>
                        </a:rPr>
                        <a:t>Conduct health education programmes on hygiene with simple messages on safe water, safe food handling practices, hygiene and </a:t>
                      </a:r>
                      <a:r>
                        <a:rPr lang="en-GB" sz="1400" dirty="0" err="1">
                          <a:effectLst/>
                          <a:latin typeface="Arial"/>
                          <a:ea typeface="Calibri"/>
                          <a:cs typeface="Times New Roman"/>
                        </a:rPr>
                        <a:t>handwashing</a:t>
                      </a:r>
                      <a:r>
                        <a:rPr lang="en-GB" sz="1400" dirty="0">
                          <a:effectLst/>
                          <a:latin typeface="Arial"/>
                          <a:ea typeface="Calibri"/>
                          <a:cs typeface="Times New Roman"/>
                        </a:rPr>
                        <a:t>.  </a:t>
                      </a:r>
                      <a:endParaRPr lang="en-US" sz="1400" dirty="0">
                        <a:effectLst/>
                        <a:latin typeface="+mn-lt"/>
                        <a:ea typeface="Calibri"/>
                        <a:cs typeface="Times New Roman"/>
                      </a:endParaRPr>
                    </a:p>
                    <a:p>
                      <a:pPr marL="342900" marR="0" lvl="0" indent="-342900">
                        <a:lnSpc>
                          <a:spcPct val="120000"/>
                        </a:lnSpc>
                        <a:spcBef>
                          <a:spcPts val="0"/>
                        </a:spcBef>
                        <a:spcAft>
                          <a:spcPts val="0"/>
                        </a:spcAft>
                        <a:buFont typeface="Wingdings"/>
                        <a:buChar char=""/>
                        <a:tabLst>
                          <a:tab pos="228600" algn="l"/>
                        </a:tabLst>
                      </a:pPr>
                      <a:r>
                        <a:rPr lang="en-GB" sz="1400" dirty="0">
                          <a:effectLst/>
                          <a:latin typeface="Arial"/>
                          <a:ea typeface="Calibri"/>
                          <a:cs typeface="Times New Roman"/>
                        </a:rPr>
                        <a:t>Support provision of clean water and proper sanitation to affected population(s).  Chlorinate suspected water supplies.  All drinking water should be chlorinated or boiled before use.  </a:t>
                      </a:r>
                      <a:endParaRPr lang="en-US" sz="1400" dirty="0">
                        <a:effectLst/>
                        <a:latin typeface="+mn-lt"/>
                        <a:ea typeface="Calibri"/>
                        <a:cs typeface="Times New Roman"/>
                      </a:endParaRPr>
                    </a:p>
                    <a:p>
                      <a:pPr marL="342900" marR="0" lvl="0" indent="-342900">
                        <a:lnSpc>
                          <a:spcPct val="120000"/>
                        </a:lnSpc>
                        <a:spcBef>
                          <a:spcPts val="0"/>
                        </a:spcBef>
                        <a:spcAft>
                          <a:spcPts val="0"/>
                        </a:spcAft>
                        <a:buFont typeface="Wingdings"/>
                        <a:buChar char=""/>
                        <a:tabLst>
                          <a:tab pos="228600" algn="l"/>
                        </a:tabLst>
                      </a:pPr>
                      <a:r>
                        <a:rPr lang="en-GB" sz="1400" dirty="0">
                          <a:effectLst/>
                          <a:latin typeface="Arial"/>
                          <a:ea typeface="Calibri"/>
                          <a:cs typeface="Times New Roman"/>
                        </a:rPr>
                        <a:t>More than 90% of patients can be managed at home with oral antibiotics, reliable care and close medical follow-up for complications or failure to respond to therapy. Patients with persistent vomiting, severe diarrhoea and abdominal distension may require hospitalization and parenteral antibiotic therapy.</a:t>
                      </a:r>
                      <a:endParaRPr lang="en-US" sz="1400" dirty="0">
                        <a:effectLst/>
                        <a:latin typeface="+mn-lt"/>
                        <a:ea typeface="Calibri"/>
                        <a:cs typeface="Times New Roman"/>
                      </a:endParaRPr>
                    </a:p>
                    <a:p>
                      <a:pPr marL="0" marR="0">
                        <a:lnSpc>
                          <a:spcPct val="120000"/>
                        </a:lnSpc>
                        <a:spcBef>
                          <a:spcPts val="0"/>
                        </a:spcBef>
                        <a:spcAft>
                          <a:spcPts val="0"/>
                        </a:spcAft>
                      </a:pPr>
                      <a:endParaRPr lang="en-US" sz="1400" dirty="0">
                        <a:effectLst/>
                        <a:latin typeface="Calibri"/>
                        <a:ea typeface="Calibri"/>
                        <a:cs typeface="Times New Roman"/>
                      </a:endParaRP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Footer Placeholder 5"/>
          <p:cNvSpPr>
            <a:spLocks noGrp="1"/>
          </p:cNvSpPr>
          <p:nvPr>
            <p:ph type="ftr" sz="quarter" idx="11"/>
          </p:nvPr>
        </p:nvSpPr>
        <p:spPr/>
        <p:txBody>
          <a:bodyPr/>
          <a:lstStyle/>
          <a:p>
            <a:r>
              <a:rPr lang="en-US">
                <a:solidFill>
                  <a:prstClr val="black">
                    <a:tint val="75000"/>
                  </a:prstClr>
                </a:solidFill>
              </a:rPr>
              <a:t>Dr. E. Mwaniki</a:t>
            </a:r>
          </a:p>
        </p:txBody>
      </p:sp>
      <p:sp>
        <p:nvSpPr>
          <p:cNvPr id="7" name="Slide Number Placeholder 6"/>
          <p:cNvSpPr>
            <a:spLocks noGrp="1"/>
          </p:cNvSpPr>
          <p:nvPr>
            <p:ph type="sldNum" sz="quarter" idx="12"/>
          </p:nvPr>
        </p:nvSpPr>
        <p:spPr/>
        <p:txBody>
          <a:bodyPr/>
          <a:lstStyle/>
          <a:p>
            <a:fld id="{B6F15528-21DE-4FAA-801E-634DDDAF4B2B}" type="slidenum">
              <a:rPr lang="en-US">
                <a:solidFill>
                  <a:prstClr val="black">
                    <a:tint val="75000"/>
                  </a:prstClr>
                </a:solidFill>
              </a:rPr>
              <a:pPr/>
              <a:t>78</a:t>
            </a:fld>
            <a:endParaRPr lang="en-US">
              <a:solidFill>
                <a:prstClr val="black">
                  <a:tint val="75000"/>
                </a:prstClr>
              </a:solidFill>
            </a:endParaRPr>
          </a:p>
        </p:txBody>
      </p:sp>
    </p:spTree>
    <p:extLst>
      <p:ext uri="{BB962C8B-B14F-4D97-AF65-F5344CB8AC3E}">
        <p14:creationId xmlns:p14="http://schemas.microsoft.com/office/powerpoint/2010/main" val="37925876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2362201"/>
            <a:ext cx="7772400" cy="1295399"/>
          </a:xfrm>
        </p:spPr>
        <p:txBody>
          <a:bodyPr/>
          <a:lstStyle/>
          <a:p>
            <a:r>
              <a:rPr lang="en-ZA" sz="4400" dirty="0"/>
              <a:t>Communicable Diseases:</a:t>
            </a:r>
          </a:p>
        </p:txBody>
      </p:sp>
      <p:sp>
        <p:nvSpPr>
          <p:cNvPr id="3" name="Subtitle 2"/>
          <p:cNvSpPr>
            <a:spLocks noGrp="1"/>
          </p:cNvSpPr>
          <p:nvPr>
            <p:ph type="subTitle" idx="1"/>
          </p:nvPr>
        </p:nvSpPr>
        <p:spPr/>
        <p:txBody>
          <a:bodyPr/>
          <a:lstStyle/>
          <a:p>
            <a:r>
              <a:rPr lang="en-ZA" dirty="0"/>
              <a:t>Helminth Infections</a:t>
            </a:r>
          </a:p>
        </p:txBody>
      </p:sp>
    </p:spTree>
    <p:extLst>
      <p:ext uri="{BB962C8B-B14F-4D97-AF65-F5344CB8AC3E}">
        <p14:creationId xmlns:p14="http://schemas.microsoft.com/office/powerpoint/2010/main" val="284572342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Types of internal parasites</a:t>
            </a:r>
          </a:p>
        </p:txBody>
      </p:sp>
      <p:sp>
        <p:nvSpPr>
          <p:cNvPr id="3" name="Content Placeholder 2"/>
          <p:cNvSpPr>
            <a:spLocks noGrp="1"/>
          </p:cNvSpPr>
          <p:nvPr>
            <p:ph idx="1"/>
          </p:nvPr>
        </p:nvSpPr>
        <p:spPr/>
        <p:txBody>
          <a:bodyPr/>
          <a:lstStyle/>
          <a:p>
            <a:r>
              <a:rPr lang="en-ZA" dirty="0" err="1"/>
              <a:t>Ascaris</a:t>
            </a:r>
            <a:r>
              <a:rPr lang="en-ZA" dirty="0"/>
              <a:t> – Roundworms</a:t>
            </a:r>
          </a:p>
          <a:p>
            <a:r>
              <a:rPr lang="en-ZA" dirty="0" err="1"/>
              <a:t>Necator</a:t>
            </a:r>
            <a:r>
              <a:rPr lang="en-ZA" dirty="0"/>
              <a:t> – Hookworms</a:t>
            </a:r>
          </a:p>
          <a:p>
            <a:r>
              <a:rPr lang="en-ZA" dirty="0" err="1"/>
              <a:t>Trichuris</a:t>
            </a:r>
            <a:r>
              <a:rPr lang="en-ZA" dirty="0"/>
              <a:t> – Whipworm</a:t>
            </a:r>
          </a:p>
          <a:p>
            <a:r>
              <a:rPr lang="en-ZA" dirty="0" err="1"/>
              <a:t>Strongyloides</a:t>
            </a:r>
            <a:endParaRPr lang="en-ZA" dirty="0"/>
          </a:p>
          <a:p>
            <a:r>
              <a:rPr lang="en-ZA" dirty="0" err="1"/>
              <a:t>Taenia</a:t>
            </a:r>
            <a:r>
              <a:rPr lang="en-ZA" dirty="0"/>
              <a:t> - Tapeworm</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C5F668DA-195F-4DFD-BA80-77CF5DD98AD6}" type="slidenum">
              <a:rPr lang="en-ZA">
                <a:solidFill>
                  <a:prstClr val="black">
                    <a:tint val="75000"/>
                  </a:prstClr>
                </a:solidFill>
              </a:rPr>
              <a:pPr/>
              <a:t>80</a:t>
            </a:fld>
            <a:endParaRPr lang="en-ZA">
              <a:solidFill>
                <a:prstClr val="black">
                  <a:tint val="75000"/>
                </a:prstClr>
              </a:solidFill>
            </a:endParaRPr>
          </a:p>
        </p:txBody>
      </p:sp>
    </p:spTree>
    <p:extLst>
      <p:ext uri="{BB962C8B-B14F-4D97-AF65-F5344CB8AC3E}">
        <p14:creationId xmlns:p14="http://schemas.microsoft.com/office/powerpoint/2010/main" val="380114914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Roundworm</a:t>
            </a:r>
          </a:p>
        </p:txBody>
      </p:sp>
      <p:sp>
        <p:nvSpPr>
          <p:cNvPr id="3" name="Content Placeholder 2"/>
          <p:cNvSpPr>
            <a:spLocks noGrp="1"/>
          </p:cNvSpPr>
          <p:nvPr>
            <p:ph idx="1"/>
          </p:nvPr>
        </p:nvSpPr>
        <p:spPr/>
        <p:txBody>
          <a:bodyPr>
            <a:normAutofit/>
          </a:bodyPr>
          <a:lstStyle/>
          <a:p>
            <a:r>
              <a:rPr lang="en-ZA" dirty="0"/>
              <a:t>Common, 15-25cm long, lives in small intestine.</a:t>
            </a:r>
          </a:p>
          <a:p>
            <a:r>
              <a:rPr lang="en-ZA" dirty="0"/>
              <a:t>Adult female produces 200,000 eggs a day</a:t>
            </a:r>
          </a:p>
          <a:p>
            <a:r>
              <a:rPr lang="en-ZA" dirty="0"/>
              <a:t>Eggs pass out thru faeces</a:t>
            </a:r>
          </a:p>
          <a:p>
            <a:r>
              <a:rPr lang="en-ZA" dirty="0"/>
              <a:t>Infection is by swallowing eggs from dirt or food</a:t>
            </a:r>
          </a:p>
          <a:p>
            <a:r>
              <a:rPr lang="en-ZA" dirty="0"/>
              <a:t>Diagnosis: see adult worms passed out, or examine stool for eggs</a:t>
            </a:r>
          </a:p>
          <a:p>
            <a:r>
              <a:rPr lang="en-ZA" dirty="0"/>
              <a:t>Prevention: use of proper toilets by everyone.</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C5F668DA-195F-4DFD-BA80-77CF5DD98AD6}" type="slidenum">
              <a:rPr lang="en-ZA">
                <a:solidFill>
                  <a:prstClr val="black">
                    <a:tint val="75000"/>
                  </a:prstClr>
                </a:solidFill>
              </a:rPr>
              <a:pPr/>
              <a:t>81</a:t>
            </a:fld>
            <a:endParaRPr lang="en-ZA">
              <a:solidFill>
                <a:prstClr val="black">
                  <a:tint val="75000"/>
                </a:prstClr>
              </a:solidFill>
            </a:endParaRPr>
          </a:p>
        </p:txBody>
      </p:sp>
    </p:spTree>
    <p:extLst>
      <p:ext uri="{BB962C8B-B14F-4D97-AF65-F5344CB8AC3E}">
        <p14:creationId xmlns:p14="http://schemas.microsoft.com/office/powerpoint/2010/main" val="341882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Hookworm</a:t>
            </a:r>
          </a:p>
        </p:txBody>
      </p:sp>
      <p:sp>
        <p:nvSpPr>
          <p:cNvPr id="3" name="Content Placeholder 2"/>
          <p:cNvSpPr>
            <a:spLocks noGrp="1"/>
          </p:cNvSpPr>
          <p:nvPr>
            <p:ph idx="1"/>
          </p:nvPr>
        </p:nvSpPr>
        <p:spPr/>
        <p:txBody>
          <a:bodyPr>
            <a:normAutofit/>
          </a:bodyPr>
          <a:lstStyle/>
          <a:p>
            <a:r>
              <a:rPr lang="en-ZA" dirty="0"/>
              <a:t>Common. 1 cm in length.</a:t>
            </a:r>
          </a:p>
          <a:p>
            <a:r>
              <a:rPr lang="en-ZA" dirty="0"/>
              <a:t>Live in upper small intestine</a:t>
            </a:r>
          </a:p>
          <a:p>
            <a:r>
              <a:rPr lang="en-ZA" dirty="0"/>
              <a:t>Hook onto intestine and such blood and proteins</a:t>
            </a:r>
          </a:p>
          <a:p>
            <a:r>
              <a:rPr lang="en-ZA" dirty="0"/>
              <a:t>Eggs passed out in </a:t>
            </a:r>
            <a:r>
              <a:rPr lang="en-ZA" dirty="0" err="1"/>
              <a:t>feces</a:t>
            </a:r>
            <a:r>
              <a:rPr lang="en-ZA" dirty="0"/>
              <a:t> hatch in moist soil into larva</a:t>
            </a:r>
          </a:p>
          <a:p>
            <a:r>
              <a:rPr lang="en-ZA" dirty="0"/>
              <a:t>Larva can penetrate skin, travel thru the body into small intestine where they develop into adults.</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C5F668DA-195F-4DFD-BA80-77CF5DD98AD6}" type="slidenum">
              <a:rPr lang="en-ZA">
                <a:solidFill>
                  <a:prstClr val="black">
                    <a:tint val="75000"/>
                  </a:prstClr>
                </a:solidFill>
              </a:rPr>
              <a:pPr/>
              <a:t>82</a:t>
            </a:fld>
            <a:endParaRPr lang="en-ZA">
              <a:solidFill>
                <a:prstClr val="black">
                  <a:tint val="75000"/>
                </a:prstClr>
              </a:solidFill>
            </a:endParaRPr>
          </a:p>
        </p:txBody>
      </p:sp>
    </p:spTree>
    <p:extLst>
      <p:ext uri="{BB962C8B-B14F-4D97-AF65-F5344CB8AC3E}">
        <p14:creationId xmlns:p14="http://schemas.microsoft.com/office/powerpoint/2010/main" val="26512455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Hookworm cont.</a:t>
            </a:r>
          </a:p>
        </p:txBody>
      </p:sp>
      <p:sp>
        <p:nvSpPr>
          <p:cNvPr id="3" name="Content Placeholder 2"/>
          <p:cNvSpPr>
            <a:spLocks noGrp="1"/>
          </p:cNvSpPr>
          <p:nvPr>
            <p:ph idx="1"/>
          </p:nvPr>
        </p:nvSpPr>
        <p:spPr/>
        <p:txBody>
          <a:bodyPr/>
          <a:lstStyle/>
          <a:p>
            <a:r>
              <a:rPr lang="en-ZA" dirty="0"/>
              <a:t>Main problem is anaemia: weak, tired, dizzy due to loss of blood</a:t>
            </a:r>
          </a:p>
          <a:p>
            <a:endParaRPr lang="en-ZA" dirty="0"/>
          </a:p>
          <a:p>
            <a:r>
              <a:rPr lang="en-ZA" dirty="0"/>
              <a:t>Diagnosis: examine stool for eggs</a:t>
            </a:r>
          </a:p>
          <a:p>
            <a:r>
              <a:rPr lang="en-ZA" dirty="0"/>
              <a:t>Prevention: Use toilets, where shoes if possible</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C5F668DA-195F-4DFD-BA80-77CF5DD98AD6}" type="slidenum">
              <a:rPr lang="en-ZA">
                <a:solidFill>
                  <a:prstClr val="black">
                    <a:tint val="75000"/>
                  </a:prstClr>
                </a:solidFill>
              </a:rPr>
              <a:pPr/>
              <a:t>83</a:t>
            </a:fld>
            <a:endParaRPr lang="en-ZA">
              <a:solidFill>
                <a:prstClr val="black">
                  <a:tint val="75000"/>
                </a:prstClr>
              </a:solidFill>
            </a:endParaRPr>
          </a:p>
        </p:txBody>
      </p:sp>
    </p:spTree>
    <p:extLst>
      <p:ext uri="{BB962C8B-B14F-4D97-AF65-F5344CB8AC3E}">
        <p14:creationId xmlns:p14="http://schemas.microsoft.com/office/powerpoint/2010/main" val="34310581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Whipworm</a:t>
            </a:r>
          </a:p>
        </p:txBody>
      </p:sp>
      <p:sp>
        <p:nvSpPr>
          <p:cNvPr id="3" name="Content Placeholder 2"/>
          <p:cNvSpPr>
            <a:spLocks noGrp="1"/>
          </p:cNvSpPr>
          <p:nvPr>
            <p:ph idx="1"/>
          </p:nvPr>
        </p:nvSpPr>
        <p:spPr/>
        <p:txBody>
          <a:bodyPr/>
          <a:lstStyle/>
          <a:p>
            <a:r>
              <a:rPr lang="en-ZA" dirty="0"/>
              <a:t>2.5 cm</a:t>
            </a:r>
          </a:p>
          <a:p>
            <a:r>
              <a:rPr lang="en-ZA" dirty="0"/>
              <a:t>Affects humans and pigs</a:t>
            </a:r>
          </a:p>
          <a:p>
            <a:r>
              <a:rPr lang="en-ZA" dirty="0" err="1"/>
              <a:t>Diarhea</a:t>
            </a:r>
            <a:r>
              <a:rPr lang="en-ZA" dirty="0"/>
              <a:t> with blood, anaemia</a:t>
            </a:r>
          </a:p>
          <a:p>
            <a:endParaRPr lang="en-ZA" dirty="0"/>
          </a:p>
          <a:p>
            <a:r>
              <a:rPr lang="en-ZA" dirty="0"/>
              <a:t>STRONGYLOIDES</a:t>
            </a:r>
          </a:p>
          <a:p>
            <a:r>
              <a:rPr lang="en-ZA" dirty="0" err="1"/>
              <a:t>V.small</a:t>
            </a:r>
            <a:r>
              <a:rPr lang="en-ZA" dirty="0"/>
              <a:t>, upper intestine</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C5F668DA-195F-4DFD-BA80-77CF5DD98AD6}" type="slidenum">
              <a:rPr lang="en-ZA">
                <a:solidFill>
                  <a:prstClr val="black">
                    <a:tint val="75000"/>
                  </a:prstClr>
                </a:solidFill>
              </a:rPr>
              <a:pPr/>
              <a:t>84</a:t>
            </a:fld>
            <a:endParaRPr lang="en-ZA">
              <a:solidFill>
                <a:prstClr val="black">
                  <a:tint val="75000"/>
                </a:prstClr>
              </a:solidFill>
            </a:endParaRPr>
          </a:p>
        </p:txBody>
      </p:sp>
    </p:spTree>
    <p:extLst>
      <p:ext uri="{BB962C8B-B14F-4D97-AF65-F5344CB8AC3E}">
        <p14:creationId xmlns:p14="http://schemas.microsoft.com/office/powerpoint/2010/main" val="39977597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tapeworms</a:t>
            </a:r>
          </a:p>
        </p:txBody>
      </p:sp>
      <p:sp>
        <p:nvSpPr>
          <p:cNvPr id="3" name="Content Placeholder 2"/>
          <p:cNvSpPr>
            <a:spLocks noGrp="1"/>
          </p:cNvSpPr>
          <p:nvPr>
            <p:ph idx="1"/>
          </p:nvPr>
        </p:nvSpPr>
        <p:spPr/>
        <p:txBody>
          <a:bodyPr>
            <a:normAutofit/>
          </a:bodyPr>
          <a:lstStyle/>
          <a:p>
            <a:r>
              <a:rPr lang="en-ZA" dirty="0"/>
              <a:t>Different types of </a:t>
            </a:r>
            <a:r>
              <a:rPr lang="en-ZA" dirty="0" err="1"/>
              <a:t>Taenia</a:t>
            </a:r>
            <a:r>
              <a:rPr lang="en-ZA" dirty="0"/>
              <a:t>. Common is Beef TW and Pork TW.</a:t>
            </a:r>
          </a:p>
          <a:p>
            <a:r>
              <a:rPr lang="en-ZA" dirty="0"/>
              <a:t>Infection is from eating infected beef or pork</a:t>
            </a:r>
          </a:p>
          <a:p>
            <a:r>
              <a:rPr lang="en-ZA" dirty="0"/>
              <a:t>Metres long!, but little harm</a:t>
            </a:r>
          </a:p>
          <a:p>
            <a:endParaRPr lang="en-ZA" dirty="0"/>
          </a:p>
          <a:p>
            <a:r>
              <a:rPr lang="en-ZA" dirty="0"/>
              <a:t>Prevention:</a:t>
            </a:r>
          </a:p>
          <a:p>
            <a:r>
              <a:rPr lang="en-ZA" dirty="0"/>
              <a:t>Treat patients</a:t>
            </a:r>
          </a:p>
          <a:p>
            <a:r>
              <a:rPr lang="en-ZA" dirty="0"/>
              <a:t>Inspect meat and pork</a:t>
            </a:r>
          </a:p>
          <a:p>
            <a:r>
              <a:rPr lang="en-ZA" dirty="0"/>
              <a:t>Properly cook meat</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C5F668DA-195F-4DFD-BA80-77CF5DD98AD6}" type="slidenum">
              <a:rPr lang="en-ZA">
                <a:solidFill>
                  <a:prstClr val="black">
                    <a:tint val="75000"/>
                  </a:prstClr>
                </a:solidFill>
              </a:rPr>
              <a:pPr/>
              <a:t>85</a:t>
            </a:fld>
            <a:endParaRPr lang="en-ZA">
              <a:solidFill>
                <a:prstClr val="black">
                  <a:tint val="75000"/>
                </a:prstClr>
              </a:solidFill>
            </a:endParaRPr>
          </a:p>
        </p:txBody>
      </p:sp>
    </p:spTree>
    <p:extLst>
      <p:ext uri="{BB962C8B-B14F-4D97-AF65-F5344CB8AC3E}">
        <p14:creationId xmlns:p14="http://schemas.microsoft.com/office/powerpoint/2010/main" val="16474327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Treatment of worms</a:t>
            </a:r>
          </a:p>
        </p:txBody>
      </p:sp>
      <p:sp>
        <p:nvSpPr>
          <p:cNvPr id="3" name="Content Placeholder 2"/>
          <p:cNvSpPr>
            <a:spLocks noGrp="1"/>
          </p:cNvSpPr>
          <p:nvPr>
            <p:ph idx="1"/>
          </p:nvPr>
        </p:nvSpPr>
        <p:spPr/>
        <p:txBody>
          <a:bodyPr/>
          <a:lstStyle/>
          <a:p>
            <a:r>
              <a:rPr lang="en-ZA" dirty="0"/>
              <a:t>Different drugs available:</a:t>
            </a:r>
          </a:p>
          <a:p>
            <a:r>
              <a:rPr lang="en-ZA" dirty="0" err="1"/>
              <a:t>Pyrantel</a:t>
            </a:r>
            <a:endParaRPr lang="en-ZA" dirty="0"/>
          </a:p>
          <a:p>
            <a:r>
              <a:rPr lang="en-ZA" dirty="0" err="1"/>
              <a:t>Albendazole</a:t>
            </a:r>
            <a:endParaRPr lang="en-ZA" dirty="0"/>
          </a:p>
          <a:p>
            <a:r>
              <a:rPr lang="en-ZA" dirty="0" err="1"/>
              <a:t>Mebendazole</a:t>
            </a:r>
            <a:endParaRPr lang="en-ZA" dirty="0"/>
          </a:p>
          <a:p>
            <a:r>
              <a:rPr lang="en-ZA"/>
              <a:t>Levamisole</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C5F668DA-195F-4DFD-BA80-77CF5DD98AD6}" type="slidenum">
              <a:rPr lang="en-ZA">
                <a:solidFill>
                  <a:prstClr val="black">
                    <a:tint val="75000"/>
                  </a:prstClr>
                </a:solidFill>
              </a:rPr>
              <a:pPr/>
              <a:t>86</a:t>
            </a:fld>
            <a:endParaRPr lang="en-ZA">
              <a:solidFill>
                <a:prstClr val="black">
                  <a:tint val="75000"/>
                </a:prstClr>
              </a:solidFill>
            </a:endParaRPr>
          </a:p>
        </p:txBody>
      </p:sp>
    </p:spTree>
    <p:extLst>
      <p:ext uri="{BB962C8B-B14F-4D97-AF65-F5344CB8AC3E}">
        <p14:creationId xmlns:p14="http://schemas.microsoft.com/office/powerpoint/2010/main" val="40137543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965961"/>
            <a:ext cx="7772400" cy="1981199"/>
          </a:xfrm>
        </p:spPr>
        <p:txBody>
          <a:bodyPr/>
          <a:lstStyle/>
          <a:p>
            <a:r>
              <a:rPr lang="en-ZA" sz="4400" dirty="0"/>
              <a:t>Communicable Diseases:</a:t>
            </a:r>
          </a:p>
        </p:txBody>
      </p:sp>
      <p:sp>
        <p:nvSpPr>
          <p:cNvPr id="3" name="Subtitle 2"/>
          <p:cNvSpPr>
            <a:spLocks noGrp="1"/>
          </p:cNvSpPr>
          <p:nvPr>
            <p:ph type="subTitle" idx="1"/>
          </p:nvPr>
        </p:nvSpPr>
        <p:spPr/>
        <p:txBody>
          <a:bodyPr/>
          <a:lstStyle/>
          <a:p>
            <a:r>
              <a:rPr lang="en-ZA" dirty="0"/>
              <a:t>Diarrheal Diseases</a:t>
            </a:r>
          </a:p>
        </p:txBody>
      </p:sp>
    </p:spTree>
    <p:extLst>
      <p:ext uri="{BB962C8B-B14F-4D97-AF65-F5344CB8AC3E}">
        <p14:creationId xmlns:p14="http://schemas.microsoft.com/office/powerpoint/2010/main" val="8787484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introduction</a:t>
            </a:r>
          </a:p>
        </p:txBody>
      </p:sp>
      <p:sp>
        <p:nvSpPr>
          <p:cNvPr id="3" name="Content Placeholder 2"/>
          <p:cNvSpPr>
            <a:spLocks noGrp="1"/>
          </p:cNvSpPr>
          <p:nvPr>
            <p:ph idx="1"/>
          </p:nvPr>
        </p:nvSpPr>
        <p:spPr/>
        <p:txBody>
          <a:bodyPr/>
          <a:lstStyle/>
          <a:p>
            <a:r>
              <a:rPr lang="en-ZA" dirty="0"/>
              <a:t>Leading cause of preventable death</a:t>
            </a:r>
          </a:p>
          <a:p>
            <a:r>
              <a:rPr lang="en-ZA" dirty="0"/>
              <a:t>Especially among children under 5 yrs</a:t>
            </a:r>
          </a:p>
          <a:p>
            <a:r>
              <a:rPr lang="en-ZA" dirty="0"/>
              <a:t>Definition: 3 or more stools in 24 hrs, liquid to take shape of container.</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7F2C526E-17EF-4233-8063-6DE82F6E5822}" type="slidenum">
              <a:rPr lang="en-ZA">
                <a:solidFill>
                  <a:prstClr val="black">
                    <a:tint val="75000"/>
                  </a:prstClr>
                </a:solidFill>
              </a:rPr>
              <a:pPr/>
              <a:t>88</a:t>
            </a:fld>
            <a:endParaRPr lang="en-ZA">
              <a:solidFill>
                <a:prstClr val="black">
                  <a:tint val="75000"/>
                </a:prstClr>
              </a:solidFill>
            </a:endParaRPr>
          </a:p>
        </p:txBody>
      </p:sp>
    </p:spTree>
    <p:extLst>
      <p:ext uri="{BB962C8B-B14F-4D97-AF65-F5344CB8AC3E}">
        <p14:creationId xmlns:p14="http://schemas.microsoft.com/office/powerpoint/2010/main" val="17149947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transmission</a:t>
            </a:r>
          </a:p>
        </p:txBody>
      </p:sp>
      <p:sp>
        <p:nvSpPr>
          <p:cNvPr id="3" name="Content Placeholder 2"/>
          <p:cNvSpPr>
            <a:spLocks noGrp="1"/>
          </p:cNvSpPr>
          <p:nvPr>
            <p:ph idx="1"/>
          </p:nvPr>
        </p:nvSpPr>
        <p:spPr/>
        <p:txBody>
          <a:bodyPr/>
          <a:lstStyle/>
          <a:p>
            <a:r>
              <a:rPr lang="en-ZA" dirty="0" err="1"/>
              <a:t>Fecal</a:t>
            </a:r>
            <a:r>
              <a:rPr lang="en-ZA" dirty="0"/>
              <a:t>-oral: from stool of one individual to mouth of another.</a:t>
            </a:r>
          </a:p>
          <a:p>
            <a:r>
              <a:rPr lang="en-ZA" dirty="0"/>
              <a:t>Bacteria: </a:t>
            </a:r>
            <a:r>
              <a:rPr lang="en-ZA" dirty="0" err="1"/>
              <a:t>Shigella</a:t>
            </a:r>
            <a:r>
              <a:rPr lang="en-ZA" dirty="0"/>
              <a:t>, cholera, salmonella (typhoid), pathogenic </a:t>
            </a:r>
            <a:r>
              <a:rPr lang="en-ZA" dirty="0" err="1"/>
              <a:t>E.coli</a:t>
            </a:r>
            <a:r>
              <a:rPr lang="en-ZA" dirty="0"/>
              <a:t>, staphylococcus</a:t>
            </a:r>
          </a:p>
          <a:p>
            <a:r>
              <a:rPr lang="en-ZA" dirty="0"/>
              <a:t>Viruses: rotavirus</a:t>
            </a:r>
          </a:p>
          <a:p>
            <a:r>
              <a:rPr lang="en-ZA" dirty="0"/>
              <a:t>Protozoa: </a:t>
            </a:r>
            <a:r>
              <a:rPr lang="en-ZA" dirty="0" err="1"/>
              <a:t>amoebiasis</a:t>
            </a:r>
            <a:r>
              <a:rPr lang="en-ZA" dirty="0"/>
              <a:t>, </a:t>
            </a:r>
            <a:r>
              <a:rPr lang="en-ZA" dirty="0" err="1"/>
              <a:t>giardiasis</a:t>
            </a:r>
            <a:r>
              <a:rPr lang="en-ZA" dirty="0"/>
              <a:t>, cryptosporidium</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7F2C526E-17EF-4233-8063-6DE82F6E5822}" type="slidenum">
              <a:rPr lang="en-ZA">
                <a:solidFill>
                  <a:prstClr val="black">
                    <a:tint val="75000"/>
                  </a:prstClr>
                </a:solidFill>
              </a:rPr>
              <a:pPr/>
              <a:t>89</a:t>
            </a:fld>
            <a:endParaRPr lang="en-ZA">
              <a:solidFill>
                <a:prstClr val="black">
                  <a:tint val="75000"/>
                </a:prstClr>
              </a:solidFill>
            </a:endParaRPr>
          </a:p>
        </p:txBody>
      </p:sp>
    </p:spTree>
    <p:extLst>
      <p:ext uri="{BB962C8B-B14F-4D97-AF65-F5344CB8AC3E}">
        <p14:creationId xmlns:p14="http://schemas.microsoft.com/office/powerpoint/2010/main" val="40353887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Classification (types)</a:t>
            </a:r>
          </a:p>
        </p:txBody>
      </p:sp>
      <p:sp>
        <p:nvSpPr>
          <p:cNvPr id="3" name="Content Placeholder 2"/>
          <p:cNvSpPr>
            <a:spLocks noGrp="1"/>
          </p:cNvSpPr>
          <p:nvPr>
            <p:ph idx="1"/>
          </p:nvPr>
        </p:nvSpPr>
        <p:spPr/>
        <p:txBody>
          <a:bodyPr/>
          <a:lstStyle/>
          <a:p>
            <a:r>
              <a:rPr lang="en-ZA" dirty="0"/>
              <a:t>Acute Watery: rapidly dehydrating (rotavirus, </a:t>
            </a:r>
            <a:r>
              <a:rPr lang="en-ZA" dirty="0" err="1"/>
              <a:t>etc</a:t>
            </a:r>
            <a:r>
              <a:rPr lang="en-ZA" dirty="0"/>
              <a:t>, cholera)</a:t>
            </a:r>
          </a:p>
          <a:p>
            <a:r>
              <a:rPr lang="en-ZA" dirty="0"/>
              <a:t>Persistent </a:t>
            </a:r>
            <a:r>
              <a:rPr lang="en-ZA" dirty="0" err="1"/>
              <a:t>Diarrhea</a:t>
            </a:r>
            <a:r>
              <a:rPr lang="en-ZA" dirty="0"/>
              <a:t>: malnutrition, wasting</a:t>
            </a:r>
          </a:p>
          <a:p>
            <a:r>
              <a:rPr lang="en-ZA" dirty="0"/>
              <a:t>Bloody </a:t>
            </a:r>
            <a:r>
              <a:rPr lang="en-ZA" dirty="0" err="1"/>
              <a:t>diarrhea</a:t>
            </a:r>
            <a:r>
              <a:rPr lang="en-ZA" dirty="0"/>
              <a:t>: bloody stools, intestinal damage</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7F2C526E-17EF-4233-8063-6DE82F6E5822}" type="slidenum">
              <a:rPr lang="en-ZA">
                <a:solidFill>
                  <a:prstClr val="black">
                    <a:tint val="75000"/>
                  </a:prstClr>
                </a:solidFill>
              </a:rPr>
              <a:pPr/>
              <a:t>90</a:t>
            </a:fld>
            <a:endParaRPr lang="en-ZA">
              <a:solidFill>
                <a:prstClr val="black">
                  <a:tint val="75000"/>
                </a:prstClr>
              </a:solidFill>
            </a:endParaRPr>
          </a:p>
        </p:txBody>
      </p:sp>
    </p:spTree>
    <p:extLst>
      <p:ext uri="{BB962C8B-B14F-4D97-AF65-F5344CB8AC3E}">
        <p14:creationId xmlns:p14="http://schemas.microsoft.com/office/powerpoint/2010/main" val="30216224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Who is affected</a:t>
            </a:r>
          </a:p>
        </p:txBody>
      </p:sp>
      <p:sp>
        <p:nvSpPr>
          <p:cNvPr id="3" name="Content Placeholder 2"/>
          <p:cNvSpPr>
            <a:spLocks noGrp="1"/>
          </p:cNvSpPr>
          <p:nvPr>
            <p:ph idx="1"/>
          </p:nvPr>
        </p:nvSpPr>
        <p:spPr/>
        <p:txBody>
          <a:bodyPr/>
          <a:lstStyle/>
          <a:p>
            <a:r>
              <a:rPr lang="en-ZA" dirty="0"/>
              <a:t>All: rich, poor, old, young are affected.</a:t>
            </a:r>
          </a:p>
          <a:p>
            <a:r>
              <a:rPr lang="en-ZA" dirty="0"/>
              <a:t>But Especially: Poor</a:t>
            </a:r>
          </a:p>
          <a:p>
            <a:r>
              <a:rPr lang="en-ZA" dirty="0"/>
              <a:t>Poor housing</a:t>
            </a:r>
          </a:p>
          <a:p>
            <a:r>
              <a:rPr lang="en-ZA" dirty="0"/>
              <a:t>Unhygienic environment</a:t>
            </a:r>
          </a:p>
          <a:p>
            <a:r>
              <a:rPr lang="en-ZA" dirty="0"/>
              <a:t>Crowding</a:t>
            </a:r>
          </a:p>
          <a:p>
            <a:r>
              <a:rPr lang="en-ZA" dirty="0"/>
              <a:t>Dirty floors poor sanitary disposal of faeces</a:t>
            </a:r>
          </a:p>
          <a:p>
            <a:r>
              <a:rPr lang="en-ZA" dirty="0"/>
              <a:t>Lack of refrigerated storage of food</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7F2C526E-17EF-4233-8063-6DE82F6E5822}" type="slidenum">
              <a:rPr lang="en-ZA">
                <a:solidFill>
                  <a:prstClr val="black">
                    <a:tint val="75000"/>
                  </a:prstClr>
                </a:solidFill>
              </a:rPr>
              <a:pPr/>
              <a:t>91</a:t>
            </a:fld>
            <a:endParaRPr lang="en-ZA">
              <a:solidFill>
                <a:prstClr val="black">
                  <a:tint val="75000"/>
                </a:prstClr>
              </a:solidFill>
            </a:endParaRPr>
          </a:p>
        </p:txBody>
      </p:sp>
    </p:spTree>
    <p:extLst>
      <p:ext uri="{BB962C8B-B14F-4D97-AF65-F5344CB8AC3E}">
        <p14:creationId xmlns:p14="http://schemas.microsoft.com/office/powerpoint/2010/main" val="205999220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Controlling diarrhoea in children</a:t>
            </a:r>
          </a:p>
        </p:txBody>
      </p:sp>
      <p:sp>
        <p:nvSpPr>
          <p:cNvPr id="3" name="Content Placeholder 2"/>
          <p:cNvSpPr>
            <a:spLocks noGrp="1"/>
          </p:cNvSpPr>
          <p:nvPr>
            <p:ph idx="1"/>
          </p:nvPr>
        </p:nvSpPr>
        <p:spPr/>
        <p:txBody>
          <a:bodyPr>
            <a:normAutofit/>
          </a:bodyPr>
          <a:lstStyle/>
          <a:p>
            <a:r>
              <a:rPr lang="en-ZA" dirty="0"/>
              <a:t>Exclusive breastfeeding </a:t>
            </a:r>
            <a:r>
              <a:rPr lang="en-ZA" dirty="0" err="1"/>
              <a:t>upto</a:t>
            </a:r>
            <a:r>
              <a:rPr lang="en-ZA" dirty="0"/>
              <a:t> age 6 months</a:t>
            </a:r>
          </a:p>
          <a:p>
            <a:r>
              <a:rPr lang="en-ZA" dirty="0"/>
              <a:t>Encourage BF, discourage bottle feeding</a:t>
            </a:r>
          </a:p>
          <a:p>
            <a:r>
              <a:rPr lang="en-ZA" dirty="0"/>
              <a:t>Treating mild to moderate Diarrhoea with New ORS</a:t>
            </a:r>
          </a:p>
          <a:p>
            <a:r>
              <a:rPr lang="en-ZA" dirty="0"/>
              <a:t>Continue breastfeeding and complementary foods during Diarrhoea</a:t>
            </a:r>
          </a:p>
          <a:p>
            <a:r>
              <a:rPr lang="en-ZA" dirty="0"/>
              <a:t>Zinc supplements</a:t>
            </a:r>
          </a:p>
          <a:p>
            <a:r>
              <a:rPr lang="en-ZA" dirty="0"/>
              <a:t>Mothers to increase fluids during Diarrhoea</a:t>
            </a:r>
          </a:p>
          <a:p>
            <a:r>
              <a:rPr lang="en-ZA" dirty="0"/>
              <a:t>Measles vaccination</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7F2C526E-17EF-4233-8063-6DE82F6E5822}" type="slidenum">
              <a:rPr lang="en-ZA">
                <a:solidFill>
                  <a:prstClr val="black">
                    <a:tint val="75000"/>
                  </a:prstClr>
                </a:solidFill>
              </a:rPr>
              <a:pPr/>
              <a:t>92</a:t>
            </a:fld>
            <a:endParaRPr lang="en-ZA">
              <a:solidFill>
                <a:prstClr val="black">
                  <a:tint val="75000"/>
                </a:prstClr>
              </a:solidFill>
            </a:endParaRPr>
          </a:p>
        </p:txBody>
      </p:sp>
    </p:spTree>
    <p:extLst>
      <p:ext uri="{BB962C8B-B14F-4D97-AF65-F5344CB8AC3E}">
        <p14:creationId xmlns:p14="http://schemas.microsoft.com/office/powerpoint/2010/main" val="131496652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General control</a:t>
            </a:r>
          </a:p>
        </p:txBody>
      </p:sp>
      <p:sp>
        <p:nvSpPr>
          <p:cNvPr id="3" name="Content Placeholder 2"/>
          <p:cNvSpPr>
            <a:spLocks noGrp="1"/>
          </p:cNvSpPr>
          <p:nvPr>
            <p:ph idx="1"/>
          </p:nvPr>
        </p:nvSpPr>
        <p:spPr/>
        <p:txBody>
          <a:bodyPr/>
          <a:lstStyle/>
          <a:p>
            <a:r>
              <a:rPr lang="en-ZA" dirty="0"/>
              <a:t>Safe and adequate water supply</a:t>
            </a:r>
          </a:p>
          <a:p>
            <a:r>
              <a:rPr lang="en-ZA" dirty="0"/>
              <a:t>Proper disposal of human waste</a:t>
            </a:r>
          </a:p>
          <a:p>
            <a:r>
              <a:rPr lang="en-ZA" dirty="0"/>
              <a:t>Boiling drinking water</a:t>
            </a:r>
          </a:p>
          <a:p>
            <a:r>
              <a:rPr lang="en-ZA" dirty="0"/>
              <a:t>Cooking food</a:t>
            </a:r>
          </a:p>
          <a:p>
            <a:r>
              <a:rPr lang="en-ZA" dirty="0"/>
              <a:t>Thorough washing of vegetables, salads, fruits</a:t>
            </a:r>
          </a:p>
          <a:p>
            <a:r>
              <a:rPr lang="en-ZA" dirty="0"/>
              <a:t>Examination and treatment of food handlers</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7F2C526E-17EF-4233-8063-6DE82F6E5822}" type="slidenum">
              <a:rPr lang="en-ZA">
                <a:solidFill>
                  <a:prstClr val="black">
                    <a:tint val="75000"/>
                  </a:prstClr>
                </a:solidFill>
              </a:rPr>
              <a:pPr/>
              <a:t>93</a:t>
            </a:fld>
            <a:endParaRPr lang="en-ZA">
              <a:solidFill>
                <a:prstClr val="black">
                  <a:tint val="75000"/>
                </a:prstClr>
              </a:solidFill>
            </a:endParaRPr>
          </a:p>
        </p:txBody>
      </p:sp>
    </p:spTree>
    <p:extLst>
      <p:ext uri="{BB962C8B-B14F-4D97-AF65-F5344CB8AC3E}">
        <p14:creationId xmlns:p14="http://schemas.microsoft.com/office/powerpoint/2010/main" val="34310061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Signs of dehydration in children</a:t>
            </a:r>
          </a:p>
        </p:txBody>
      </p:sp>
      <p:sp>
        <p:nvSpPr>
          <p:cNvPr id="3" name="Content Placeholder 2"/>
          <p:cNvSpPr>
            <a:spLocks noGrp="1"/>
          </p:cNvSpPr>
          <p:nvPr>
            <p:ph idx="1"/>
          </p:nvPr>
        </p:nvSpPr>
        <p:spPr/>
        <p:txBody>
          <a:bodyPr>
            <a:normAutofit/>
          </a:bodyPr>
          <a:lstStyle/>
          <a:p>
            <a:r>
              <a:rPr lang="en-ZA" dirty="0"/>
              <a:t>Restlessness</a:t>
            </a:r>
          </a:p>
          <a:p>
            <a:r>
              <a:rPr lang="en-ZA" dirty="0"/>
              <a:t>Irritability</a:t>
            </a:r>
          </a:p>
          <a:p>
            <a:r>
              <a:rPr lang="en-ZA" dirty="0"/>
              <a:t>Sunken eyes</a:t>
            </a:r>
          </a:p>
          <a:p>
            <a:r>
              <a:rPr lang="en-ZA" dirty="0"/>
              <a:t>Thirsty</a:t>
            </a:r>
          </a:p>
          <a:p>
            <a:r>
              <a:rPr lang="en-ZA" dirty="0"/>
              <a:t>Skin pinch goes back slowly</a:t>
            </a:r>
          </a:p>
          <a:p>
            <a:r>
              <a:rPr lang="en-ZA" dirty="0"/>
              <a:t>Sunken eyes</a:t>
            </a:r>
          </a:p>
          <a:p>
            <a:r>
              <a:rPr lang="en-ZA" dirty="0"/>
              <a:t>Drinking poorly</a:t>
            </a:r>
          </a:p>
          <a:p>
            <a:r>
              <a:rPr lang="en-ZA" dirty="0"/>
              <a:t>unconsciousness</a:t>
            </a:r>
          </a:p>
        </p:txBody>
      </p:sp>
      <p:sp>
        <p:nvSpPr>
          <p:cNvPr id="4" name="Footer Placeholder 3"/>
          <p:cNvSpPr>
            <a:spLocks noGrp="1"/>
          </p:cNvSpPr>
          <p:nvPr>
            <p:ph type="ftr" sz="quarter" idx="11"/>
          </p:nvPr>
        </p:nvSpPr>
        <p:spPr/>
        <p:txBody>
          <a:bodyPr/>
          <a:lstStyle/>
          <a:p>
            <a:r>
              <a:rPr lang="en-ZA">
                <a:solidFill>
                  <a:prstClr val="black">
                    <a:tint val="75000"/>
                  </a:prstClr>
                </a:solidFill>
              </a:rPr>
              <a:t>Dr. E. Mwaniki</a:t>
            </a:r>
          </a:p>
        </p:txBody>
      </p:sp>
      <p:sp>
        <p:nvSpPr>
          <p:cNvPr id="5" name="Slide Number Placeholder 4"/>
          <p:cNvSpPr>
            <a:spLocks noGrp="1"/>
          </p:cNvSpPr>
          <p:nvPr>
            <p:ph type="sldNum" sz="quarter" idx="12"/>
          </p:nvPr>
        </p:nvSpPr>
        <p:spPr/>
        <p:txBody>
          <a:bodyPr/>
          <a:lstStyle/>
          <a:p>
            <a:fld id="{7F2C526E-17EF-4233-8063-6DE82F6E5822}" type="slidenum">
              <a:rPr lang="en-ZA">
                <a:solidFill>
                  <a:prstClr val="black">
                    <a:tint val="75000"/>
                  </a:prstClr>
                </a:solidFill>
              </a:rPr>
              <a:pPr/>
              <a:t>94</a:t>
            </a:fld>
            <a:endParaRPr lang="en-ZA">
              <a:solidFill>
                <a:prstClr val="black">
                  <a:tint val="75000"/>
                </a:prstClr>
              </a:solidFill>
            </a:endParaRPr>
          </a:p>
        </p:txBody>
      </p:sp>
    </p:spTree>
    <p:extLst>
      <p:ext uri="{BB962C8B-B14F-4D97-AF65-F5344CB8AC3E}">
        <p14:creationId xmlns:p14="http://schemas.microsoft.com/office/powerpoint/2010/main" val="17354478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828800" y="228601"/>
          <a:ext cx="8610600" cy="4219169"/>
        </p:xfrm>
        <a:graphic>
          <a:graphicData uri="http://schemas.openxmlformats.org/drawingml/2006/table">
            <a:tbl>
              <a:tblPr firstRow="1" firstCol="1" bandRow="1"/>
              <a:tblGrid>
                <a:gridCol w="8610600">
                  <a:extLst>
                    <a:ext uri="{9D8B030D-6E8A-4147-A177-3AD203B41FA5}">
                      <a16:colId xmlns:a16="http://schemas.microsoft.com/office/drawing/2014/main" val="20000"/>
                    </a:ext>
                  </a:extLst>
                </a:gridCol>
              </a:tblGrid>
              <a:tr h="379705">
                <a:tc>
                  <a:txBody>
                    <a:bodyPr/>
                    <a:lstStyle/>
                    <a:p>
                      <a:pPr marL="0" marR="0" algn="ctr">
                        <a:lnSpc>
                          <a:spcPct val="115000"/>
                        </a:lnSpc>
                        <a:spcBef>
                          <a:spcPts val="0"/>
                        </a:spcBef>
                        <a:spcAft>
                          <a:spcPts val="0"/>
                        </a:spcAft>
                      </a:pPr>
                      <a:r>
                        <a:rPr lang="en-GB" sz="1800" b="1" i="0" dirty="0">
                          <a:effectLst/>
                          <a:latin typeface="Times New Roman"/>
                          <a:ea typeface="Times New Roman"/>
                          <a:cs typeface="Times New Roman"/>
                        </a:rPr>
                        <a:t>Diarrhoea with dehydration in children less than 5 years of age</a:t>
                      </a:r>
                      <a:endParaRPr lang="en-US" sz="1800" b="1" i="1" dirty="0">
                        <a:effectLst/>
                        <a:latin typeface="Calibri"/>
                        <a:ea typeface="Times New Roman"/>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8167">
                <a:tc>
                  <a:txBody>
                    <a:bodyPr/>
                    <a:lstStyle/>
                    <a:p>
                      <a:pPr marL="0" marR="0">
                        <a:lnSpc>
                          <a:spcPct val="120000"/>
                        </a:lnSpc>
                        <a:spcBef>
                          <a:spcPts val="0"/>
                        </a:spcBef>
                        <a:spcAft>
                          <a:spcPts val="0"/>
                        </a:spcAft>
                      </a:pPr>
                      <a:r>
                        <a:rPr lang="en-GB" sz="1800" b="1" dirty="0">
                          <a:effectLst/>
                          <a:latin typeface="Times New Roman"/>
                          <a:ea typeface="Calibri"/>
                          <a:cs typeface="Times New Roman"/>
                        </a:rPr>
                        <a:t>Background</a:t>
                      </a:r>
                      <a:endParaRPr lang="en-US" sz="18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04640">
                <a:tc>
                  <a:txBody>
                    <a:bodyPr/>
                    <a:lstStyle/>
                    <a:p>
                      <a:pPr marL="342900" marR="0" lvl="0" indent="-342900">
                        <a:lnSpc>
                          <a:spcPct val="115000"/>
                        </a:lnSpc>
                        <a:spcBef>
                          <a:spcPts val="720"/>
                        </a:spcBef>
                        <a:spcAft>
                          <a:spcPts val="720"/>
                        </a:spcAft>
                        <a:buFont typeface="Wingdings"/>
                        <a:buChar char=""/>
                        <a:tabLst>
                          <a:tab pos="202565" algn="l"/>
                        </a:tabLst>
                      </a:pPr>
                      <a:r>
                        <a:rPr lang="en-GB" sz="1800" dirty="0">
                          <a:effectLst/>
                          <a:latin typeface="Arial"/>
                          <a:ea typeface="Times New Roman"/>
                        </a:rPr>
                        <a:t>Diarrhoea with dehydration in children less than 5 years of age is due to infections of the gastrointestinal tract caused by viruses (especially </a:t>
                      </a:r>
                      <a:r>
                        <a:rPr lang="en-GB" sz="1800" i="1" dirty="0">
                          <a:effectLst/>
                          <a:latin typeface="Arial"/>
                          <a:ea typeface="Times New Roman"/>
                        </a:rPr>
                        <a:t>Rotavirus</a:t>
                      </a:r>
                      <a:r>
                        <a:rPr lang="en-GB" sz="1800" dirty="0">
                          <a:effectLst/>
                          <a:latin typeface="Arial"/>
                          <a:ea typeface="Times New Roman"/>
                        </a:rPr>
                        <a:t>), bacteria </a:t>
                      </a:r>
                      <a:r>
                        <a:rPr lang="en-GB" sz="1800" i="1" dirty="0">
                          <a:effectLst/>
                          <a:latin typeface="Arial"/>
                          <a:ea typeface="Times New Roman"/>
                        </a:rPr>
                        <a:t>(E. Coli, Salmonellae, </a:t>
                      </a:r>
                      <a:r>
                        <a:rPr lang="en-GB" sz="1800" i="1" dirty="0" err="1">
                          <a:effectLst/>
                          <a:latin typeface="Arial"/>
                          <a:ea typeface="Times New Roman"/>
                        </a:rPr>
                        <a:t>shigellae</a:t>
                      </a:r>
                      <a:r>
                        <a:rPr lang="en-GB" sz="1800" i="1" dirty="0">
                          <a:effectLst/>
                          <a:latin typeface="Arial"/>
                          <a:ea typeface="Times New Roman"/>
                        </a:rPr>
                        <a:t>, Campylobacter, Yersinia</a:t>
                      </a:r>
                      <a:r>
                        <a:rPr lang="en-GB" sz="1800" dirty="0">
                          <a:effectLst/>
                          <a:latin typeface="Arial"/>
                          <a:ea typeface="Times New Roman"/>
                        </a:rPr>
                        <a:t>, and others), and parasites (</a:t>
                      </a:r>
                      <a:r>
                        <a:rPr lang="en-GB" sz="1800" i="1" dirty="0">
                          <a:effectLst/>
                          <a:latin typeface="Arial"/>
                          <a:ea typeface="Times New Roman"/>
                        </a:rPr>
                        <a:t>Giardia, </a:t>
                      </a:r>
                      <a:r>
                        <a:rPr lang="en-GB" sz="1800" i="1" dirty="0" err="1">
                          <a:effectLst/>
                          <a:latin typeface="Arial"/>
                          <a:ea typeface="Times New Roman"/>
                        </a:rPr>
                        <a:t>Entamoeba</a:t>
                      </a:r>
                      <a:r>
                        <a:rPr lang="en-GB" sz="1800" dirty="0">
                          <a:effectLst/>
                          <a:latin typeface="Arial"/>
                          <a:ea typeface="Times New Roman"/>
                        </a:rPr>
                        <a:t>, </a:t>
                      </a:r>
                      <a:r>
                        <a:rPr lang="en-GB" sz="1800" dirty="0" err="1">
                          <a:effectLst/>
                          <a:latin typeface="Arial"/>
                          <a:ea typeface="Times New Roman"/>
                        </a:rPr>
                        <a:t>cryptosporidia</a:t>
                      </a:r>
                      <a:r>
                        <a:rPr lang="en-GB" sz="1800" dirty="0">
                          <a:effectLst/>
                          <a:latin typeface="Arial"/>
                          <a:ea typeface="Times New Roman"/>
                        </a:rPr>
                        <a:t>, and </a:t>
                      </a:r>
                      <a:r>
                        <a:rPr lang="en-GB" sz="1800" dirty="0" err="1">
                          <a:effectLst/>
                          <a:latin typeface="Arial"/>
                          <a:ea typeface="Times New Roman"/>
                        </a:rPr>
                        <a:t>cyclospora</a:t>
                      </a:r>
                      <a:r>
                        <a:rPr lang="en-GB" sz="1800" dirty="0">
                          <a:effectLst/>
                          <a:latin typeface="Arial"/>
                          <a:ea typeface="Times New Roman"/>
                        </a:rPr>
                        <a:t>). These diseases are transmitted through eating contaminated food or water, or through faecal-oral spread.</a:t>
                      </a:r>
                      <a:endParaRPr lang="en-US" sz="1800" dirty="0">
                        <a:effectLst/>
                        <a:latin typeface="Times New Roman"/>
                        <a:ea typeface="Times New Roman"/>
                      </a:endParaRPr>
                    </a:p>
                    <a:p>
                      <a:pPr marL="342900" marR="0" lvl="0" indent="-342900">
                        <a:lnSpc>
                          <a:spcPct val="115000"/>
                        </a:lnSpc>
                        <a:spcBef>
                          <a:spcPts val="720"/>
                        </a:spcBef>
                        <a:spcAft>
                          <a:spcPts val="720"/>
                        </a:spcAft>
                        <a:buFont typeface="Wingdings"/>
                        <a:buChar char=""/>
                        <a:tabLst>
                          <a:tab pos="202565" algn="l"/>
                        </a:tabLst>
                      </a:pPr>
                      <a:r>
                        <a:rPr lang="en-GB" sz="1800" dirty="0">
                          <a:effectLst/>
                          <a:latin typeface="Arial"/>
                          <a:ea typeface="Times New Roman"/>
                        </a:rPr>
                        <a:t>Diarrhoeal diseases represent the second leading cause of death among children less than 5 years of age in many African countries, with more than 3 million deaths per year.</a:t>
                      </a:r>
                      <a:endParaRPr lang="en-US" sz="1800" dirty="0">
                        <a:effectLst/>
                        <a:latin typeface="Times New Roman"/>
                        <a:ea typeface="Times New Roman"/>
                      </a:endParaRPr>
                    </a:p>
                    <a:p>
                      <a:pPr marL="202565" marR="0">
                        <a:lnSpc>
                          <a:spcPct val="115000"/>
                        </a:lnSpc>
                        <a:spcBef>
                          <a:spcPts val="720"/>
                        </a:spcBef>
                        <a:spcAft>
                          <a:spcPts val="720"/>
                        </a:spcAft>
                      </a:pPr>
                      <a:r>
                        <a:rPr lang="en-GB" sz="1800" dirty="0">
                          <a:effectLst/>
                          <a:latin typeface="Arial"/>
                          <a:ea typeface="Times New Roman"/>
                        </a:rPr>
                        <a:t> </a:t>
                      </a:r>
                      <a:endParaRPr lang="en-US" sz="1800" dirty="0">
                        <a:effectLst/>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95</a:t>
            </a:fld>
            <a:endParaRPr lang="en-US">
              <a:solidFill>
                <a:prstClr val="black">
                  <a:tint val="75000"/>
                </a:prstClr>
              </a:solidFill>
            </a:endParaRPr>
          </a:p>
        </p:txBody>
      </p:sp>
    </p:spTree>
    <p:extLst>
      <p:ext uri="{BB962C8B-B14F-4D97-AF65-F5344CB8AC3E}">
        <p14:creationId xmlns:p14="http://schemas.microsoft.com/office/powerpoint/2010/main" val="406250399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1676400" y="228600"/>
          <a:ext cx="8763000" cy="6544516"/>
        </p:xfrm>
        <a:graphic>
          <a:graphicData uri="http://schemas.openxmlformats.org/drawingml/2006/table">
            <a:tbl>
              <a:tblPr firstRow="1" bandRow="1">
                <a:tableStyleId>{5C22544A-7EE6-4342-B048-85BDC9FD1C3A}</a:tableStyleId>
              </a:tblPr>
              <a:tblGrid>
                <a:gridCol w="8763000">
                  <a:extLst>
                    <a:ext uri="{9D8B030D-6E8A-4147-A177-3AD203B41FA5}">
                      <a16:colId xmlns:a16="http://schemas.microsoft.com/office/drawing/2014/main" val="20000"/>
                    </a:ext>
                  </a:extLst>
                </a:gridCol>
              </a:tblGrid>
              <a:tr h="723439">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Times New Roman"/>
                          <a:ea typeface="Times New Roman"/>
                          <a:cs typeface="Times New Roman"/>
                        </a:rPr>
                        <a:t>Diarrhoea with dehydration in children less than 5 years of age</a:t>
                      </a:r>
                      <a:endParaRPr kumimoji="0" lang="en-US" sz="1400" b="1" i="1" u="none" strike="noStrike" kern="1200" cap="none" spc="0" normalizeH="0" baseline="0" noProof="0" dirty="0">
                        <a:ln>
                          <a:noFill/>
                        </a:ln>
                        <a:solidFill>
                          <a:prstClr val="black"/>
                        </a:solidFill>
                        <a:effectLst/>
                        <a:uLnTx/>
                        <a:uFillTx/>
                        <a:latin typeface="+mn-lt"/>
                        <a:ea typeface="Times New Roman"/>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Times New Roman"/>
                          <a:ea typeface="Calibri"/>
                          <a:cs typeface="Times New Roman"/>
                        </a:rPr>
                        <a:t>Standard case definition</a:t>
                      </a:r>
                      <a:endParaRPr kumimoji="0" lang="en-US" sz="1400" b="0" i="0" u="none" strike="noStrike" kern="1200" cap="none" spc="0" normalizeH="0" baseline="0" noProof="0" dirty="0">
                        <a:ln>
                          <a:noFill/>
                        </a:ln>
                        <a:solidFill>
                          <a:prstClr val="black"/>
                        </a:solidFill>
                        <a:effectLst/>
                        <a:uLnTx/>
                        <a:uFillTx/>
                        <a:latin typeface="+mn-lt"/>
                        <a:ea typeface="Calibri"/>
                        <a:cs typeface="Times New Roman"/>
                      </a:endParaRPr>
                    </a:p>
                    <a:p>
                      <a:endParaRPr lang="en-US" dirty="0"/>
                    </a:p>
                  </a:txBody>
                  <a:tcPr/>
                </a:tc>
                <a:extLst>
                  <a:ext uri="{0D108BD9-81ED-4DB2-BD59-A6C34878D82A}">
                    <a16:rowId xmlns:a16="http://schemas.microsoft.com/office/drawing/2014/main" val="10000"/>
                  </a:ext>
                </a:extLst>
              </a:tr>
              <a:tr h="3361645">
                <a:tc>
                  <a:txBody>
                    <a:bodyPr/>
                    <a:lstStyle/>
                    <a:p>
                      <a:pPr marL="0" marR="0" lvl="0" indent="0" algn="l" defTabSz="914400" rtl="0" eaLnBrk="1" fontAlgn="auto" latinLnBrk="0" hangingPunct="1">
                        <a:lnSpc>
                          <a:spcPct val="120000"/>
                        </a:lnSpc>
                        <a:spcBef>
                          <a:spcPts val="485"/>
                        </a:spcBef>
                        <a:spcAft>
                          <a:spcPts val="0"/>
                        </a:spcAft>
                        <a:buClrTx/>
                        <a:buSzTx/>
                        <a:buFontTx/>
                        <a:buNone/>
                        <a:tabLst/>
                        <a:defRPr/>
                      </a:pPr>
                      <a:r>
                        <a:rPr kumimoji="0" lang="en-GB" sz="1400" b="1" i="1" u="none" strike="noStrike" kern="1200" cap="none" spc="0" normalizeH="0" baseline="0" noProof="0" dirty="0">
                          <a:ln>
                            <a:noFill/>
                          </a:ln>
                          <a:solidFill>
                            <a:prstClr val="black"/>
                          </a:solidFill>
                          <a:effectLst/>
                          <a:uLnTx/>
                          <a:uFillTx/>
                          <a:latin typeface="Arial"/>
                          <a:ea typeface="Calibri"/>
                          <a:cs typeface="Times New Roman"/>
                        </a:rPr>
                        <a:t>Suspected case</a:t>
                      </a:r>
                      <a:r>
                        <a:rPr kumimoji="0" lang="en-GB" sz="1400" b="0" i="0" u="none" strike="noStrike" kern="1200" cap="none" spc="0" normalizeH="0" baseline="0" noProof="0" dirty="0">
                          <a:ln>
                            <a:noFill/>
                          </a:ln>
                          <a:solidFill>
                            <a:prstClr val="black"/>
                          </a:solidFill>
                          <a:effectLst/>
                          <a:uLnTx/>
                          <a:uFillTx/>
                          <a:latin typeface="Arial"/>
                          <a:ea typeface="Calibri"/>
                          <a:cs typeface="Times New Roman"/>
                        </a:rPr>
                        <a:t>:</a:t>
                      </a:r>
                      <a:endParaRPr kumimoji="0" lang="en-US" sz="14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rial"/>
                          <a:ea typeface="Calibri"/>
                          <a:cs typeface="Times New Roman"/>
                        </a:rPr>
                        <a:t>Passage of 3 or more loose or watery stools in the past 24 hours with or without dehydration and:</a:t>
                      </a:r>
                      <a:endParaRPr kumimoji="0" lang="en-US" sz="14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rial"/>
                          <a:ea typeface="Calibri"/>
                          <a:cs typeface="Times New Roman"/>
                        </a:rPr>
                        <a:t> </a:t>
                      </a:r>
                      <a:endParaRPr kumimoji="0" lang="en-US" sz="1400" b="0" i="0" u="none" strike="noStrike" kern="1200" cap="none" spc="0" normalizeH="0" baseline="0" noProof="0" dirty="0">
                        <a:ln>
                          <a:noFill/>
                        </a:ln>
                        <a:solidFill>
                          <a:prstClr val="black"/>
                        </a:solidFill>
                        <a:effectLst/>
                        <a:uLnTx/>
                        <a:uFillTx/>
                        <a:latin typeface="+mn-lt"/>
                        <a:ea typeface="Calibri"/>
                        <a:cs typeface="Times New Roman"/>
                      </a:endParaRPr>
                    </a:p>
                    <a:p>
                      <a:pPr marL="457200" marR="0" lvl="0" indent="0" algn="l" defTabSz="914400" rtl="0" eaLnBrk="1" fontAlgn="auto" latinLnBrk="0" hangingPunct="1">
                        <a:lnSpc>
                          <a:spcPct val="120000"/>
                        </a:lnSpc>
                        <a:spcBef>
                          <a:spcPts val="0"/>
                        </a:spcBef>
                        <a:spcAft>
                          <a:spcPts val="0"/>
                        </a:spcAft>
                        <a:buClrTx/>
                        <a:buSzTx/>
                        <a:buFontTx/>
                        <a:buNone/>
                        <a:tabLst/>
                        <a:defRPr/>
                      </a:pPr>
                      <a:r>
                        <a:rPr kumimoji="0" lang="en-GB" sz="1400" b="0" i="1" u="none" strike="noStrike" kern="1200" cap="none" spc="0" normalizeH="0" baseline="0" noProof="0" dirty="0">
                          <a:ln>
                            <a:noFill/>
                          </a:ln>
                          <a:solidFill>
                            <a:prstClr val="black"/>
                          </a:solidFill>
                          <a:effectLst/>
                          <a:uLnTx/>
                          <a:uFillTx/>
                          <a:latin typeface="Arial"/>
                          <a:ea typeface="Calibri"/>
                          <a:cs typeface="Times New Roman"/>
                        </a:rPr>
                        <a:t>Some dehydration</a:t>
                      </a:r>
                      <a:r>
                        <a:rPr kumimoji="0" lang="en-GB" sz="1400" b="0" i="0" u="none" strike="noStrike" kern="1200" cap="none" spc="0" normalizeH="0" baseline="0" noProof="0" dirty="0">
                          <a:ln>
                            <a:noFill/>
                          </a:ln>
                          <a:solidFill>
                            <a:prstClr val="black"/>
                          </a:solidFill>
                          <a:effectLst/>
                          <a:uLnTx/>
                          <a:uFillTx/>
                          <a:latin typeface="Arial"/>
                          <a:ea typeface="Calibri"/>
                          <a:cs typeface="Times New Roman"/>
                        </a:rPr>
                        <a:t> -- two or more of the following signs: restlessness, irritability; sunken eyes; thirsty; skin pinch goes back slowly, or</a:t>
                      </a:r>
                      <a:endParaRPr kumimoji="0" lang="en-US" sz="1400" b="0" i="0" u="none" strike="noStrike" kern="1200" cap="none" spc="0" normalizeH="0" baseline="0" noProof="0" dirty="0">
                        <a:ln>
                          <a:noFill/>
                        </a:ln>
                        <a:solidFill>
                          <a:prstClr val="black"/>
                        </a:solidFill>
                        <a:effectLst/>
                        <a:uLnTx/>
                        <a:uFillTx/>
                        <a:latin typeface="+mn-lt"/>
                        <a:ea typeface="Calibri"/>
                        <a:cs typeface="Times New Roman"/>
                      </a:endParaRPr>
                    </a:p>
                    <a:p>
                      <a:pPr marL="457200" marR="0" lvl="0" indent="0" algn="l" defTabSz="914400" rtl="0" eaLnBrk="1" fontAlgn="auto" latinLnBrk="0" hangingPunct="1">
                        <a:lnSpc>
                          <a:spcPct val="12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rial"/>
                          <a:ea typeface="Calibri"/>
                          <a:cs typeface="Times New Roman"/>
                        </a:rPr>
                        <a:t> </a:t>
                      </a:r>
                      <a:endParaRPr kumimoji="0" lang="en-US" sz="1400" b="0" i="0" u="none" strike="noStrike" kern="1200" cap="none" spc="0" normalizeH="0" baseline="0" noProof="0" dirty="0">
                        <a:ln>
                          <a:noFill/>
                        </a:ln>
                        <a:solidFill>
                          <a:prstClr val="black"/>
                        </a:solidFill>
                        <a:effectLst/>
                        <a:uLnTx/>
                        <a:uFillTx/>
                        <a:latin typeface="+mn-lt"/>
                        <a:ea typeface="Calibri"/>
                        <a:cs typeface="Times New Roman"/>
                      </a:endParaRPr>
                    </a:p>
                    <a:p>
                      <a:pPr marL="457200" marR="0" lvl="0" indent="0" algn="l" defTabSz="914400" rtl="0" eaLnBrk="1" fontAlgn="auto" latinLnBrk="0" hangingPunct="1">
                        <a:lnSpc>
                          <a:spcPct val="120000"/>
                        </a:lnSpc>
                        <a:spcBef>
                          <a:spcPts val="0"/>
                        </a:spcBef>
                        <a:spcAft>
                          <a:spcPts val="0"/>
                        </a:spcAft>
                        <a:buClrTx/>
                        <a:buSzTx/>
                        <a:buFontTx/>
                        <a:buNone/>
                        <a:tabLst/>
                        <a:defRPr/>
                      </a:pPr>
                      <a:r>
                        <a:rPr kumimoji="0" lang="en-GB" sz="1400" b="0" i="1" u="none" strike="noStrike" kern="1200" cap="none" spc="0" normalizeH="0" baseline="0" noProof="0" dirty="0">
                          <a:ln>
                            <a:noFill/>
                          </a:ln>
                          <a:solidFill>
                            <a:prstClr val="black"/>
                          </a:solidFill>
                          <a:effectLst/>
                          <a:uLnTx/>
                          <a:uFillTx/>
                          <a:latin typeface="Arial"/>
                          <a:ea typeface="Calibri"/>
                          <a:cs typeface="Times New Roman"/>
                        </a:rPr>
                        <a:t>Severe dehydration</a:t>
                      </a:r>
                      <a:r>
                        <a:rPr kumimoji="0" lang="en-GB" sz="1400" b="0" i="0" u="none" strike="noStrike" kern="1200" cap="none" spc="0" normalizeH="0" baseline="0" noProof="0" dirty="0">
                          <a:ln>
                            <a:noFill/>
                          </a:ln>
                          <a:solidFill>
                            <a:prstClr val="black"/>
                          </a:solidFill>
                          <a:effectLst/>
                          <a:uLnTx/>
                          <a:uFillTx/>
                          <a:latin typeface="Arial"/>
                          <a:ea typeface="Calibri"/>
                          <a:cs typeface="Times New Roman"/>
                        </a:rPr>
                        <a:t> -- two or more of the following signs: lethargy or unconsciousness; sunken eyes; not able to drink or drinking poorly; skin pinch goes back very slowly.</a:t>
                      </a:r>
                      <a:endParaRPr kumimoji="0" lang="en-US" sz="14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Arial"/>
                          <a:ea typeface="Calibri"/>
                          <a:cs typeface="Times New Roman"/>
                        </a:rPr>
                        <a:t> </a:t>
                      </a:r>
                      <a:endParaRPr kumimoji="0" lang="en-US" sz="14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400" b="1" i="1" u="none" strike="noStrike" kern="1200" cap="none" spc="0" normalizeH="0" baseline="0" noProof="0" dirty="0">
                          <a:ln>
                            <a:noFill/>
                          </a:ln>
                          <a:solidFill>
                            <a:prstClr val="black"/>
                          </a:solidFill>
                          <a:effectLst/>
                          <a:uLnTx/>
                          <a:uFillTx/>
                          <a:latin typeface="Arial"/>
                          <a:ea typeface="Calibri"/>
                          <a:cs typeface="Times New Roman"/>
                        </a:rPr>
                        <a:t>Confirmed case</a:t>
                      </a:r>
                      <a:r>
                        <a:rPr kumimoji="0" lang="en-GB" sz="1400" b="0" i="0" u="none" strike="noStrike" kern="1200" cap="none" spc="0" normalizeH="0" baseline="0" noProof="0" dirty="0">
                          <a:ln>
                            <a:noFill/>
                          </a:ln>
                          <a:solidFill>
                            <a:prstClr val="black"/>
                          </a:solidFill>
                          <a:effectLst/>
                          <a:uLnTx/>
                          <a:uFillTx/>
                          <a:latin typeface="Arial"/>
                          <a:ea typeface="Calibri"/>
                          <a:cs typeface="Times New Roman"/>
                        </a:rPr>
                        <a:t>:</a:t>
                      </a:r>
                      <a:endParaRPr kumimoji="0" lang="en-US" sz="1400" b="0" i="0" u="none" strike="noStrike" kern="1200" cap="none" spc="0" normalizeH="0" baseline="0" noProof="0" dirty="0">
                        <a:ln>
                          <a:noFill/>
                        </a:ln>
                        <a:solidFill>
                          <a:prstClr val="black"/>
                        </a:solidFill>
                        <a:effectLst/>
                        <a:uLnTx/>
                        <a:uFillTx/>
                        <a:latin typeface="+mn-lt"/>
                        <a:ea typeface="Calibri"/>
                        <a:cs typeface="Times New Roman"/>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rial"/>
                          <a:ea typeface="Calibri"/>
                          <a:cs typeface="Times New Roman"/>
                        </a:rPr>
                        <a:t>Suspected case confirmed with stool culture for a known enteric pathogen</a:t>
                      </a:r>
                      <a:endParaRPr lang="en-US" dirty="0"/>
                    </a:p>
                  </a:txBody>
                  <a:tcPr/>
                </a:tc>
                <a:extLst>
                  <a:ext uri="{0D108BD9-81ED-4DB2-BD59-A6C34878D82A}">
                    <a16:rowId xmlns:a16="http://schemas.microsoft.com/office/drawing/2014/main" val="10001"/>
                  </a:ext>
                </a:extLst>
              </a:tr>
              <a:tr h="723439">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Times New Roman"/>
                          <a:ea typeface="Calibri"/>
                          <a:cs typeface="Times New Roman"/>
                        </a:rPr>
                        <a:t>Prevention and control</a:t>
                      </a:r>
                      <a:endParaRPr kumimoji="0" lang="en-US" sz="1400" b="0" i="0" u="none" strike="noStrike" kern="1200" cap="none" spc="0" normalizeH="0" baseline="0" noProof="0" dirty="0">
                        <a:ln>
                          <a:noFill/>
                        </a:ln>
                        <a:solidFill>
                          <a:prstClr val="black"/>
                        </a:solidFill>
                        <a:effectLst/>
                        <a:uLnTx/>
                        <a:uFillTx/>
                        <a:latin typeface="+mn-lt"/>
                        <a:ea typeface="Calibri"/>
                        <a:cs typeface="Times New Roman"/>
                      </a:endParaRPr>
                    </a:p>
                    <a:p>
                      <a:endParaRPr lang="en-US" dirty="0"/>
                    </a:p>
                  </a:txBody>
                  <a:tcPr/>
                </a:tc>
                <a:extLst>
                  <a:ext uri="{0D108BD9-81ED-4DB2-BD59-A6C34878D82A}">
                    <a16:rowId xmlns:a16="http://schemas.microsoft.com/office/drawing/2014/main" val="10002"/>
                  </a:ext>
                </a:extLst>
              </a:tr>
              <a:tr h="1592276">
                <a:tc>
                  <a:txBody>
                    <a:bodyPr/>
                    <a:lstStyle/>
                    <a:p>
                      <a:pPr marL="342900" marR="0" lvl="0" indent="-342900" algn="just" defTabSz="914400" rtl="0" eaLnBrk="1" fontAlgn="auto" latinLnBrk="0" hangingPunct="1">
                        <a:lnSpc>
                          <a:spcPct val="115000"/>
                        </a:lnSpc>
                        <a:spcBef>
                          <a:spcPts val="720"/>
                        </a:spcBef>
                        <a:spcAft>
                          <a:spcPts val="720"/>
                        </a:spcAft>
                        <a:buClrTx/>
                        <a:buSzTx/>
                        <a:buFont typeface="Wingdings"/>
                        <a:buChar char=""/>
                        <a:tabLst>
                          <a:tab pos="291465" algn="l"/>
                        </a:tabLst>
                        <a:defRPr/>
                      </a:pPr>
                      <a:r>
                        <a:rPr kumimoji="0" lang="en-GB" sz="1400" b="0" i="0" u="none" strike="noStrike" kern="1200" cap="none" spc="0" normalizeH="0" baseline="0" noProof="0" dirty="0">
                          <a:ln>
                            <a:noFill/>
                          </a:ln>
                          <a:solidFill>
                            <a:prstClr val="black"/>
                          </a:solidFill>
                          <a:effectLst/>
                          <a:uLnTx/>
                          <a:uFillTx/>
                          <a:latin typeface="Arial"/>
                          <a:ea typeface="Times New Roman"/>
                          <a:cs typeface="+mn-cs"/>
                        </a:rPr>
                        <a:t>Teach mothers about home treatment with oral rehydration.</a:t>
                      </a:r>
                      <a:endParaRPr kumimoji="0" lang="en-US" sz="1400" b="0" i="0" u="none" strike="noStrike" kern="1200" cap="none" spc="0" normalizeH="0" baseline="0" noProof="0" dirty="0">
                        <a:ln>
                          <a:noFill/>
                        </a:ln>
                        <a:solidFill>
                          <a:prstClr val="black"/>
                        </a:solidFill>
                        <a:effectLst/>
                        <a:uLnTx/>
                        <a:uFillTx/>
                        <a:latin typeface="Times New Roman"/>
                        <a:ea typeface="Times New Roman"/>
                        <a:cs typeface="+mn-cs"/>
                      </a:endParaRPr>
                    </a:p>
                    <a:p>
                      <a:pPr marL="342900" marR="0" lvl="0" indent="-342900" algn="just" defTabSz="914400" rtl="0" eaLnBrk="1" fontAlgn="auto" latinLnBrk="0" hangingPunct="1">
                        <a:lnSpc>
                          <a:spcPct val="115000"/>
                        </a:lnSpc>
                        <a:spcBef>
                          <a:spcPts val="720"/>
                        </a:spcBef>
                        <a:spcAft>
                          <a:spcPts val="720"/>
                        </a:spcAft>
                        <a:buClrTx/>
                        <a:buSzTx/>
                        <a:buFont typeface="Wingdings"/>
                        <a:buChar char=""/>
                        <a:tabLst>
                          <a:tab pos="291465" algn="l"/>
                        </a:tabLst>
                        <a:defRPr/>
                      </a:pPr>
                      <a:r>
                        <a:rPr kumimoji="0" lang="en-GB" sz="1400" b="0" i="0" u="none" strike="noStrike" kern="1200" cap="none" spc="0" normalizeH="0" baseline="0" noProof="0" dirty="0">
                          <a:ln>
                            <a:noFill/>
                          </a:ln>
                          <a:solidFill>
                            <a:prstClr val="black"/>
                          </a:solidFill>
                          <a:effectLst/>
                          <a:uLnTx/>
                          <a:uFillTx/>
                          <a:latin typeface="Arial"/>
                          <a:ea typeface="Times New Roman"/>
                          <a:cs typeface="+mn-cs"/>
                        </a:rPr>
                        <a:t>Conduct community education about boiling and chlorinating water, and safe water storage and preparation of foods.</a:t>
                      </a:r>
                      <a:endParaRPr kumimoji="0" lang="en-US" sz="1400" b="0" i="0" u="none" strike="noStrike" kern="1200" cap="none" spc="0" normalizeH="0" baseline="0" noProof="0" dirty="0">
                        <a:ln>
                          <a:noFill/>
                        </a:ln>
                        <a:solidFill>
                          <a:prstClr val="black"/>
                        </a:solidFill>
                        <a:effectLst/>
                        <a:uLnTx/>
                        <a:uFillTx/>
                        <a:latin typeface="Times New Roman"/>
                        <a:ea typeface="Times New Roman"/>
                        <a:cs typeface="+mn-cs"/>
                      </a:endParaRPr>
                    </a:p>
                    <a:p>
                      <a:endParaRPr lang="en-US" dirty="0"/>
                    </a:p>
                  </a:txBody>
                  <a:tcPr/>
                </a:tc>
                <a:extLst>
                  <a:ext uri="{0D108BD9-81ED-4DB2-BD59-A6C34878D82A}">
                    <a16:rowId xmlns:a16="http://schemas.microsoft.com/office/drawing/2014/main" val="10003"/>
                  </a:ext>
                </a:extLst>
              </a:tr>
            </a:tbl>
          </a:graphicData>
        </a:graphic>
      </p:graphicFrame>
      <p:sp>
        <p:nvSpPr>
          <p:cNvPr id="5" name="Footer Placeholder 4"/>
          <p:cNvSpPr>
            <a:spLocks noGrp="1"/>
          </p:cNvSpPr>
          <p:nvPr>
            <p:ph type="ftr" sz="quarter" idx="11"/>
          </p:nvPr>
        </p:nvSpPr>
        <p:spPr/>
        <p:txBody>
          <a:bodyPr/>
          <a:lstStyle/>
          <a:p>
            <a:r>
              <a:rPr lang="en-US">
                <a:solidFill>
                  <a:prstClr val="black">
                    <a:tint val="75000"/>
                  </a:prstClr>
                </a:solidFill>
              </a:rPr>
              <a:t>Dr. E. Mwaniki</a:t>
            </a: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rPr>
              <a:pPr/>
              <a:t>96</a:t>
            </a:fld>
            <a:endParaRPr lang="en-US">
              <a:solidFill>
                <a:prstClr val="black">
                  <a:tint val="75000"/>
                </a:prstClr>
              </a:solidFill>
            </a:endParaRPr>
          </a:p>
        </p:txBody>
      </p:sp>
    </p:spTree>
    <p:extLst>
      <p:ext uri="{BB962C8B-B14F-4D97-AF65-F5344CB8AC3E}">
        <p14:creationId xmlns:p14="http://schemas.microsoft.com/office/powerpoint/2010/main" val="325031906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381000"/>
            <a:ext cx="8839200" cy="6172200"/>
          </a:xfrm>
        </p:spPr>
        <p:txBody>
          <a:bodyPr/>
          <a:lstStyle/>
          <a:p>
            <a:r>
              <a:rPr lang="en-US" dirty="0">
                <a:solidFill>
                  <a:srgbClr val="FF0000"/>
                </a:solidFill>
              </a:rPr>
              <a:t>Review Question</a:t>
            </a:r>
          </a:p>
          <a:p>
            <a:r>
              <a:rPr lang="en-US" dirty="0">
                <a:solidFill>
                  <a:srgbClr val="FF0000"/>
                </a:solidFill>
              </a:rPr>
              <a:t>1. In </a:t>
            </a:r>
            <a:r>
              <a:rPr lang="en-US" dirty="0" err="1">
                <a:solidFill>
                  <a:srgbClr val="FF0000"/>
                </a:solidFill>
              </a:rPr>
              <a:t>Kibra</a:t>
            </a:r>
            <a:r>
              <a:rPr lang="en-US" dirty="0">
                <a:solidFill>
                  <a:srgbClr val="FF0000"/>
                </a:solidFill>
              </a:rPr>
              <a:t> one of the slums in Nairobi Kenya Cholera is an endemic disease. </a:t>
            </a:r>
          </a:p>
          <a:p>
            <a:r>
              <a:rPr lang="en-US" dirty="0">
                <a:solidFill>
                  <a:srgbClr val="FF0000"/>
                </a:solidFill>
              </a:rPr>
              <a:t>1. Give 4 possible reasons and give a solution for each.</a:t>
            </a:r>
          </a:p>
          <a:p>
            <a:endParaRPr lang="en-US" dirty="0">
              <a:solidFill>
                <a:srgbClr val="FF0000"/>
              </a:solidFill>
            </a:endParaRPr>
          </a:p>
          <a:p>
            <a:r>
              <a:rPr lang="en-US" dirty="0">
                <a:solidFill>
                  <a:srgbClr val="FF0000"/>
                </a:solidFill>
              </a:rPr>
              <a:t>Post your answers in the e-learning </a:t>
            </a:r>
            <a:r>
              <a:rPr lang="en-US">
                <a:solidFill>
                  <a:srgbClr val="FF0000"/>
                </a:solidFill>
              </a:rPr>
              <a:t>discussion forum </a:t>
            </a:r>
            <a:endParaRPr lang="en-US" dirty="0">
              <a:solidFill>
                <a:srgbClr val="FF0000"/>
              </a:solidFill>
            </a:endParaRPr>
          </a:p>
          <a:p>
            <a:endParaRPr lang="en-US" dirty="0">
              <a:solidFill>
                <a:srgbClr val="FF0000"/>
              </a:solidFill>
            </a:endParaRPr>
          </a:p>
        </p:txBody>
      </p:sp>
      <p:sp>
        <p:nvSpPr>
          <p:cNvPr id="4" name="Footer Placeholder 3"/>
          <p:cNvSpPr>
            <a:spLocks noGrp="1"/>
          </p:cNvSpPr>
          <p:nvPr>
            <p:ph type="ftr" sz="quarter" idx="11"/>
          </p:nvPr>
        </p:nvSpPr>
        <p:spPr/>
        <p:txBody>
          <a:bodyPr/>
          <a:lstStyle/>
          <a:p>
            <a:pPr>
              <a:defRPr/>
            </a:pPr>
            <a:r>
              <a:rPr lang="en-GB">
                <a:solidFill>
                  <a:prstClr val="white">
                    <a:tint val="75000"/>
                  </a:prstClr>
                </a:solidFill>
              </a:rPr>
              <a:t>Dr. Mwaniki. E</a:t>
            </a:r>
          </a:p>
        </p:txBody>
      </p:sp>
      <p:sp>
        <p:nvSpPr>
          <p:cNvPr id="5" name="Slide Number Placeholder 4"/>
          <p:cNvSpPr>
            <a:spLocks noGrp="1"/>
          </p:cNvSpPr>
          <p:nvPr>
            <p:ph type="sldNum" sz="quarter" idx="12"/>
          </p:nvPr>
        </p:nvSpPr>
        <p:spPr/>
        <p:txBody>
          <a:bodyPr/>
          <a:lstStyle/>
          <a:p>
            <a:pPr>
              <a:defRPr/>
            </a:pPr>
            <a:fld id="{B049B128-3F98-4D0C-B8BF-019537F274F2}" type="slidenum">
              <a:rPr lang="en-GB">
                <a:solidFill>
                  <a:prstClr val="white">
                    <a:tint val="75000"/>
                  </a:prstClr>
                </a:solidFill>
              </a:rPr>
              <a:pPr>
                <a:defRPr/>
              </a:pPr>
              <a:t>97</a:t>
            </a:fld>
            <a:endParaRPr lang="en-GB">
              <a:solidFill>
                <a:prstClr val="white">
                  <a:tint val="75000"/>
                </a:prstClr>
              </a:solidFill>
            </a:endParaRPr>
          </a:p>
        </p:txBody>
      </p:sp>
    </p:spTree>
    <p:extLst>
      <p:ext uri="{BB962C8B-B14F-4D97-AF65-F5344CB8AC3E}">
        <p14:creationId xmlns:p14="http://schemas.microsoft.com/office/powerpoint/2010/main" val="137841563"/>
      </p:ext>
    </p:extLst>
  </p:cSld>
  <p:clrMapOvr>
    <a:masterClrMapping/>
  </p:clrMapOvr>
</p:sld>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18_Office Theme">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6.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8.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3827</Words>
  <Application>Microsoft Office PowerPoint</Application>
  <PresentationFormat>Widescreen</PresentationFormat>
  <Paragraphs>846</Paragraphs>
  <Slides>97</Slides>
  <Notes>1</Notes>
  <HiddenSlides>0</HiddenSlides>
  <MMClips>0</MMClips>
  <ScaleCrop>false</ScaleCrop>
  <HeadingPairs>
    <vt:vector size="6" baseType="variant">
      <vt:variant>
        <vt:lpstr>Fonts Used</vt:lpstr>
      </vt:variant>
      <vt:variant>
        <vt:i4>14</vt:i4>
      </vt:variant>
      <vt:variant>
        <vt:lpstr>Theme</vt:lpstr>
      </vt:variant>
      <vt:variant>
        <vt:i4>8</vt:i4>
      </vt:variant>
      <vt:variant>
        <vt:lpstr>Slide Titles</vt:lpstr>
      </vt:variant>
      <vt:variant>
        <vt:i4>97</vt:i4>
      </vt:variant>
    </vt:vector>
  </HeadingPairs>
  <TitlesOfParts>
    <vt:vector size="119" baseType="lpstr">
      <vt:lpstr>Arial</vt:lpstr>
      <vt:lpstr>Calibri</vt:lpstr>
      <vt:lpstr>Calibri Light</vt:lpstr>
      <vt:lpstr>Century Gothic</vt:lpstr>
      <vt:lpstr>Courier New</vt:lpstr>
      <vt:lpstr>Helvetica</vt:lpstr>
      <vt:lpstr>Letter Gothic</vt:lpstr>
      <vt:lpstr>MS Mincho</vt:lpstr>
      <vt:lpstr>Palatino Linotype</vt:lpstr>
      <vt:lpstr>Symbol</vt:lpstr>
      <vt:lpstr>Times New Roman</vt:lpstr>
      <vt:lpstr>TimesNewRomanPSMT</vt:lpstr>
      <vt:lpstr>Wingdings</vt:lpstr>
      <vt:lpstr>Wingdings 3</vt:lpstr>
      <vt:lpstr>18_Office Theme</vt:lpstr>
      <vt:lpstr>1_Office Theme</vt:lpstr>
      <vt:lpstr>2_Office Theme</vt:lpstr>
      <vt:lpstr>Office Theme</vt:lpstr>
      <vt:lpstr>Ion</vt:lpstr>
      <vt:lpstr>3_Office Theme</vt:lpstr>
      <vt:lpstr>1_Ion</vt:lpstr>
      <vt:lpstr>Executive</vt:lpstr>
      <vt:lpstr>Communicable diseases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Six links of the chain</vt:lpstr>
      <vt:lpstr>PowerPoint Presentation</vt:lpstr>
      <vt:lpstr>PowerPoint Presentation</vt:lpstr>
      <vt:lpstr>PowerPoint Presentation</vt:lpstr>
      <vt:lpstr>PowerPoint Presentation</vt:lpstr>
      <vt:lpstr>PowerPoint Presentation</vt:lpstr>
      <vt:lpstr>PowerPoint Presentation</vt:lpstr>
      <vt:lpstr>Transmission of diseases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vt:lpstr>
      <vt:lpstr>Cont…</vt:lpstr>
      <vt:lpstr>PowerPoint Presentation</vt:lpstr>
      <vt:lpstr>UCCC 1201:  Interrelated Concepts in Prevention of Communicable Diseases </vt:lpstr>
      <vt:lpstr>PowerPoint Presentation</vt:lpstr>
      <vt:lpstr>PowerPoint Presentation</vt:lpstr>
      <vt:lpstr>PowerPoint Presentation</vt:lpstr>
      <vt:lpstr>PREVENTION OF  DISEASES (cont’d.)</vt:lpstr>
      <vt:lpstr>PREVENTION OF DISEASES (cont’d.)</vt:lpstr>
      <vt:lpstr>PREVENTION OF DISEASES (cont’d.)</vt:lpstr>
      <vt:lpstr>Control</vt:lpstr>
      <vt:lpstr>CONTROL</vt:lpstr>
      <vt:lpstr>Disease Elimination </vt:lpstr>
      <vt:lpstr>Disease Eradication</vt:lpstr>
      <vt:lpstr>Immunity and communicable diseases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Epidemiology, Prevention, Control and Treatment of communicable diseases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Communicable Diseases:</vt:lpstr>
      <vt:lpstr>Types of internal parasites</vt:lpstr>
      <vt:lpstr>Roundworm</vt:lpstr>
      <vt:lpstr>Hookworm</vt:lpstr>
      <vt:lpstr>Hookworm cont.</vt:lpstr>
      <vt:lpstr>Whipworm</vt:lpstr>
      <vt:lpstr>tapeworms</vt:lpstr>
      <vt:lpstr>Treatment of worms</vt:lpstr>
      <vt:lpstr>Communicable Diseases:</vt:lpstr>
      <vt:lpstr>introduction</vt:lpstr>
      <vt:lpstr>transmission</vt:lpstr>
      <vt:lpstr>Classification (types)</vt:lpstr>
      <vt:lpstr>Who is affected</vt:lpstr>
      <vt:lpstr>Controlling diarrhoea in children</vt:lpstr>
      <vt:lpstr>General control</vt:lpstr>
      <vt:lpstr>Signs of dehydration in children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Communicable diseases</dc:title>
  <dc:creator>User</dc:creator>
  <cp:lastModifiedBy>HP</cp:lastModifiedBy>
  <cp:revision>3</cp:revision>
  <dcterms:created xsi:type="dcterms:W3CDTF">2024-01-15T06:33:15Z</dcterms:created>
  <dcterms:modified xsi:type="dcterms:W3CDTF">2024-10-25T06:07:23Z</dcterms:modified>
</cp:coreProperties>
</file>